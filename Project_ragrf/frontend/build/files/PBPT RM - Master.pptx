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4"/>
    <p:sldMasterId id="2147483695" r:id="rId5"/>
    <p:sldMasterId id="2147483707" r:id="rId6"/>
  </p:sldMasterIdLst>
  <p:notesMasterIdLst>
    <p:notesMasterId r:id="rId63"/>
  </p:notesMasterIdLst>
  <p:handoutMasterIdLst>
    <p:handoutMasterId r:id="rId64"/>
  </p:handoutMasterIdLst>
  <p:sldIdLst>
    <p:sldId id="20598" r:id="rId7"/>
    <p:sldId id="2147483469" r:id="rId8"/>
    <p:sldId id="21212" r:id="rId9"/>
    <p:sldId id="20974" r:id="rId10"/>
    <p:sldId id="2147483438" r:id="rId11"/>
    <p:sldId id="21052" r:id="rId12"/>
    <p:sldId id="20927" r:id="rId13"/>
    <p:sldId id="20978" r:id="rId14"/>
    <p:sldId id="1549" r:id="rId15"/>
    <p:sldId id="21137" r:id="rId16"/>
    <p:sldId id="21045" r:id="rId17"/>
    <p:sldId id="21226" r:id="rId18"/>
    <p:sldId id="21238" r:id="rId19"/>
    <p:sldId id="21239" r:id="rId20"/>
    <p:sldId id="2147483439" r:id="rId21"/>
    <p:sldId id="21241" r:id="rId22"/>
    <p:sldId id="2147483433" r:id="rId23"/>
    <p:sldId id="2147483446" r:id="rId24"/>
    <p:sldId id="2147483468" r:id="rId25"/>
    <p:sldId id="21244" r:id="rId26"/>
    <p:sldId id="21245" r:id="rId27"/>
    <p:sldId id="21246" r:id="rId28"/>
    <p:sldId id="21247" r:id="rId29"/>
    <p:sldId id="21248" r:id="rId30"/>
    <p:sldId id="21249" r:id="rId31"/>
    <p:sldId id="2147483448" r:id="rId32"/>
    <p:sldId id="2147483470" r:id="rId33"/>
    <p:sldId id="2147483450" r:id="rId34"/>
    <p:sldId id="2147483451" r:id="rId35"/>
    <p:sldId id="2147483452" r:id="rId36"/>
    <p:sldId id="2147483453" r:id="rId37"/>
    <p:sldId id="2147483455" r:id="rId38"/>
    <p:sldId id="2147483458" r:id="rId39"/>
    <p:sldId id="2147483459" r:id="rId40"/>
    <p:sldId id="2147483460" r:id="rId41"/>
    <p:sldId id="2147483461" r:id="rId42"/>
    <p:sldId id="2147483462" r:id="rId43"/>
    <p:sldId id="2147483463" r:id="rId44"/>
    <p:sldId id="2147483464" r:id="rId45"/>
    <p:sldId id="2147483465" r:id="rId46"/>
    <p:sldId id="2147483466" r:id="rId47"/>
    <p:sldId id="2147483467" r:id="rId48"/>
    <p:sldId id="21196" r:id="rId49"/>
    <p:sldId id="21200" r:id="rId50"/>
    <p:sldId id="1709" r:id="rId51"/>
    <p:sldId id="1710" r:id="rId52"/>
    <p:sldId id="1705" r:id="rId53"/>
    <p:sldId id="1706" r:id="rId54"/>
    <p:sldId id="1707" r:id="rId55"/>
    <p:sldId id="1704" r:id="rId56"/>
    <p:sldId id="1700" r:id="rId57"/>
    <p:sldId id="1680" r:id="rId58"/>
    <p:sldId id="21227" r:id="rId59"/>
    <p:sldId id="21223" r:id="rId60"/>
    <p:sldId id="21224" r:id="rId61"/>
    <p:sldId id="21225" r:id="rId62"/>
  </p:sldIdLst>
  <p:sldSz cx="11887200" cy="6858000"/>
  <p:notesSz cx="7315200" cy="12344400"/>
  <p:defaultTextStyle>
    <a:defPPr>
      <a:defRPr lang="en-US"/>
    </a:defPPr>
    <a:lvl1pPr marL="0" algn="l" defTabSz="1199693" rtl="0" eaLnBrk="1" latinLnBrk="0" hangingPunct="1">
      <a:defRPr sz="2400" kern="1200">
        <a:solidFill>
          <a:schemeClr val="tx1"/>
        </a:solidFill>
        <a:latin typeface="+mn-lt"/>
        <a:ea typeface="+mn-ea"/>
        <a:cs typeface="+mn-cs"/>
      </a:defRPr>
    </a:lvl1pPr>
    <a:lvl2pPr marL="599846" algn="l" defTabSz="1199693" rtl="0" eaLnBrk="1" latinLnBrk="0" hangingPunct="1">
      <a:defRPr sz="2400" kern="1200">
        <a:solidFill>
          <a:schemeClr val="tx1"/>
        </a:solidFill>
        <a:latin typeface="+mn-lt"/>
        <a:ea typeface="+mn-ea"/>
        <a:cs typeface="+mn-cs"/>
      </a:defRPr>
    </a:lvl2pPr>
    <a:lvl3pPr marL="1199693" algn="l" defTabSz="1199693" rtl="0" eaLnBrk="1" latinLnBrk="0" hangingPunct="1">
      <a:defRPr sz="2400" kern="1200">
        <a:solidFill>
          <a:schemeClr val="tx1"/>
        </a:solidFill>
        <a:latin typeface="+mn-lt"/>
        <a:ea typeface="+mn-ea"/>
        <a:cs typeface="+mn-cs"/>
      </a:defRPr>
    </a:lvl3pPr>
    <a:lvl4pPr marL="1799539" algn="l" defTabSz="1199693" rtl="0" eaLnBrk="1" latinLnBrk="0" hangingPunct="1">
      <a:defRPr sz="2400" kern="1200">
        <a:solidFill>
          <a:schemeClr val="tx1"/>
        </a:solidFill>
        <a:latin typeface="+mn-lt"/>
        <a:ea typeface="+mn-ea"/>
        <a:cs typeface="+mn-cs"/>
      </a:defRPr>
    </a:lvl4pPr>
    <a:lvl5pPr marL="2399386" algn="l" defTabSz="1199693" rtl="0" eaLnBrk="1" latinLnBrk="0" hangingPunct="1">
      <a:defRPr sz="2400" kern="1200">
        <a:solidFill>
          <a:schemeClr val="tx1"/>
        </a:solidFill>
        <a:latin typeface="+mn-lt"/>
        <a:ea typeface="+mn-ea"/>
        <a:cs typeface="+mn-cs"/>
      </a:defRPr>
    </a:lvl5pPr>
    <a:lvl6pPr marL="2999232" algn="l" defTabSz="1199693" rtl="0" eaLnBrk="1" latinLnBrk="0" hangingPunct="1">
      <a:defRPr sz="2400" kern="1200">
        <a:solidFill>
          <a:schemeClr val="tx1"/>
        </a:solidFill>
        <a:latin typeface="+mn-lt"/>
        <a:ea typeface="+mn-ea"/>
        <a:cs typeface="+mn-cs"/>
      </a:defRPr>
    </a:lvl6pPr>
    <a:lvl7pPr marL="3599078" algn="l" defTabSz="1199693" rtl="0" eaLnBrk="1" latinLnBrk="0" hangingPunct="1">
      <a:defRPr sz="2400" kern="1200">
        <a:solidFill>
          <a:schemeClr val="tx1"/>
        </a:solidFill>
        <a:latin typeface="+mn-lt"/>
        <a:ea typeface="+mn-ea"/>
        <a:cs typeface="+mn-cs"/>
      </a:defRPr>
    </a:lvl7pPr>
    <a:lvl8pPr marL="4198925" algn="l" defTabSz="1199693" rtl="0" eaLnBrk="1" latinLnBrk="0" hangingPunct="1">
      <a:defRPr sz="2400" kern="1200">
        <a:solidFill>
          <a:schemeClr val="tx1"/>
        </a:solidFill>
        <a:latin typeface="+mn-lt"/>
        <a:ea typeface="+mn-ea"/>
        <a:cs typeface="+mn-cs"/>
      </a:defRPr>
    </a:lvl8pPr>
    <a:lvl9pPr marL="4798771" algn="l" defTabSz="1199693"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1478D422-22D9-49A5-BCC0-71D43F9116F5}">
          <p14:sldIdLst>
            <p14:sldId id="20598"/>
            <p14:sldId id="2147483469"/>
          </p14:sldIdLst>
        </p14:section>
        <p14:section name="Other" id="{2E9384DC-3B14-4D8E-A383-0C6008710BA1}">
          <p14:sldIdLst>
            <p14:sldId id="21212"/>
            <p14:sldId id="20974"/>
            <p14:sldId id="2147483438"/>
            <p14:sldId id="21052"/>
            <p14:sldId id="20927"/>
            <p14:sldId id="20978"/>
          </p14:sldIdLst>
        </p14:section>
        <p14:section name="Upcoming Changes" id="{76762D86-479D-4B12-980D-3668DE6106CB}">
          <p14:sldIdLst>
            <p14:sldId id="1549"/>
            <p14:sldId id="21137"/>
            <p14:sldId id="21045"/>
          </p14:sldIdLst>
        </p14:section>
        <p14:section name="Sep 20" id="{56463DE1-D000-4A5D-B844-324C0BBB688B}">
          <p14:sldIdLst>
            <p14:sldId id="21226"/>
          </p14:sldIdLst>
        </p14:section>
        <p14:section name="Nov 16" id="{F73DDBBD-6BB4-4FDC-9FF2-92B7D6E1DDD4}">
          <p14:sldIdLst>
            <p14:sldId id="21238"/>
            <p14:sldId id="21239"/>
            <p14:sldId id="2147483439"/>
            <p14:sldId id="21241"/>
            <p14:sldId id="2147483433"/>
            <p14:sldId id="2147483446"/>
            <p14:sldId id="2147483468"/>
            <p14:sldId id="21244"/>
            <p14:sldId id="21245"/>
            <p14:sldId id="21246"/>
            <p14:sldId id="21247"/>
            <p14:sldId id="21248"/>
            <p14:sldId id="21249"/>
            <p14:sldId id="2147483448"/>
            <p14:sldId id="2147483470"/>
            <p14:sldId id="2147483450"/>
            <p14:sldId id="2147483451"/>
          </p14:sldIdLst>
        </p14:section>
        <p14:section name="Feb 1" id="{DBC00D5E-42D2-4A96-AE85-64F4C4050F56}">
          <p14:sldIdLst>
            <p14:sldId id="2147483452"/>
            <p14:sldId id="2147483453"/>
            <p14:sldId id="2147483455"/>
            <p14:sldId id="2147483458"/>
            <p14:sldId id="2147483459"/>
            <p14:sldId id="2147483460"/>
            <p14:sldId id="2147483461"/>
            <p14:sldId id="2147483462"/>
            <p14:sldId id="2147483463"/>
            <p14:sldId id="2147483464"/>
            <p14:sldId id="2147483465"/>
            <p14:sldId id="2147483466"/>
            <p14:sldId id="2147483467"/>
          </p14:sldIdLst>
        </p14:section>
        <p14:section name="Templates" id="{8459C5C6-F23C-4891-BD0E-536A0F74FB42}">
          <p14:sldIdLst>
            <p14:sldId id="21196"/>
            <p14:sldId id="21200"/>
            <p14:sldId id="1709"/>
            <p14:sldId id="1710"/>
            <p14:sldId id="1705"/>
            <p14:sldId id="1706"/>
            <p14:sldId id="1707"/>
            <p14:sldId id="1704"/>
            <p14:sldId id="1700"/>
            <p14:sldId id="1680"/>
            <p14:sldId id="21227"/>
            <p14:sldId id="21223"/>
            <p14:sldId id="21224"/>
            <p14:sldId id="21225"/>
          </p14:sldIdLst>
        </p14:section>
      </p14:sectionLst>
    </p:ext>
    <p:ext uri="{EFAFB233-063F-42B5-8137-9DF3F51BA10A}">
      <p15:sldGuideLst xmlns:p15="http://schemas.microsoft.com/office/powerpoint/2012/main">
        <p15:guide id="1" orient="horz" pos="3952">
          <p15:clr>
            <a:srgbClr val="A4A3A4"/>
          </p15:clr>
        </p15:guide>
        <p15:guide id="2" orient="horz" pos="2512">
          <p15:clr>
            <a:srgbClr val="A4A3A4"/>
          </p15:clr>
        </p15:guide>
        <p15:guide id="3" orient="horz" pos="1584">
          <p15:clr>
            <a:srgbClr val="A4A3A4"/>
          </p15:clr>
        </p15:guide>
        <p15:guide id="4" pos="3744">
          <p15:clr>
            <a:srgbClr val="A4A3A4"/>
          </p15:clr>
        </p15:guide>
        <p15:guide id="5" pos="187">
          <p15:clr>
            <a:srgbClr val="A4A3A4"/>
          </p15:clr>
        </p15:guide>
        <p15:guide id="6" pos="7301">
          <p15:clr>
            <a:srgbClr val="A4A3A4"/>
          </p15:clr>
        </p15:guide>
        <p15:guide id="7" pos="6646">
          <p15:clr>
            <a:srgbClr val="A4A3A4"/>
          </p15:clr>
        </p15:guide>
        <p15:guide id="8" pos="3682">
          <p15:clr>
            <a:srgbClr val="A4A3A4"/>
          </p15:clr>
        </p15:guide>
        <p15:guide id="9" pos="3806">
          <p15:clr>
            <a:srgbClr val="A4A3A4"/>
          </p15:clr>
        </p15:guide>
        <p15:guide id="10" pos="7032" userDrawn="1">
          <p15:clr>
            <a:srgbClr val="A4A3A4"/>
          </p15:clr>
        </p15:guide>
        <p15:guide id="11" pos="1973">
          <p15:clr>
            <a:srgbClr val="A4A3A4"/>
          </p15:clr>
        </p15:guide>
      </p15:sldGuideLst>
    </p:ext>
    <p:ext uri="{2D200454-40CA-4A62-9FC3-DE9A4176ACB9}">
      <p15:notesGuideLst xmlns:p15="http://schemas.microsoft.com/office/powerpoint/2012/main">
        <p15:guide id="1" orient="horz" pos="3888" userDrawn="1">
          <p15:clr>
            <a:srgbClr val="A4A3A4"/>
          </p15:clr>
        </p15:guide>
        <p15:guide id="2" pos="2305"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2F791BB-C24F-EBAF-2944-2B290DED305D}" name="Victor, Sivin" initials="SV" userId="S::Sivin.Victor@cibc.com::01129f3f-41e0-43b0-93a8-2c011cf5c08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g, Saurabh" initials="GS" lastIdx="1" clrIdx="0">
    <p:extLst>
      <p:ext uri="{19B8F6BF-5375-455C-9EA6-DF929625EA0E}">
        <p15:presenceInfo xmlns:p15="http://schemas.microsoft.com/office/powerpoint/2012/main" userId="S::Saurabh.Garg@cibc.com::2b9adfa1-b2d4-4e83-a541-b9c9e6647672" providerId="AD"/>
      </p:ext>
    </p:extLst>
  </p:cmAuthor>
  <p:cmAuthor id="2" name="Patel, Vedant" initials="PV" lastIdx="1" clrIdx="1">
    <p:extLst>
      <p:ext uri="{19B8F6BF-5375-455C-9EA6-DF929625EA0E}">
        <p15:presenceInfo xmlns:p15="http://schemas.microsoft.com/office/powerpoint/2012/main" userId="S::Vedant.Patel@cibc.com::d9754cd9-3929-4755-9364-2257e12eeaa8" providerId="AD"/>
      </p:ext>
    </p:extLst>
  </p:cmAuthor>
  <p:cmAuthor id="3" name="Ross, Christine" initials="RC" lastIdx="4" clrIdx="2">
    <p:extLst>
      <p:ext uri="{19B8F6BF-5375-455C-9EA6-DF929625EA0E}">
        <p15:presenceInfo xmlns:p15="http://schemas.microsoft.com/office/powerpoint/2012/main" userId="S::Christine.Ross@cibc.com::e6b9c756-4339-44a3-91b3-537c8e0d3365" providerId="AD"/>
      </p:ext>
    </p:extLst>
  </p:cmAuthor>
  <p:cmAuthor id="4" name="Thacker, Charmi" initials="TC" lastIdx="3" clrIdx="3">
    <p:extLst>
      <p:ext uri="{19B8F6BF-5375-455C-9EA6-DF929625EA0E}">
        <p15:presenceInfo xmlns:p15="http://schemas.microsoft.com/office/powerpoint/2012/main" userId="S::Charmi.Thacker@cibc.com::3771ac03-ddf1-4e3e-9e18-d0e525e90725" providerId="AD"/>
      </p:ext>
    </p:extLst>
  </p:cmAuthor>
  <p:cmAuthor id="5" name="Victor, Sivin" initials="VS" lastIdx="1" clrIdx="4">
    <p:extLst>
      <p:ext uri="{19B8F6BF-5375-455C-9EA6-DF929625EA0E}">
        <p15:presenceInfo xmlns:p15="http://schemas.microsoft.com/office/powerpoint/2012/main" userId="S::Sivin.Victor@cibc.com::01129f3f-41e0-43b0-93a8-2c011cf5c0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F2F2F2"/>
    <a:srgbClr val="7F7F7F"/>
    <a:srgbClr val="0070C0"/>
    <a:srgbClr val="FFFF00"/>
    <a:srgbClr val="FF0000"/>
    <a:srgbClr val="E26B0A"/>
    <a:srgbClr val="AF0B1C"/>
    <a:srgbClr val="210D11"/>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0EAB67-CB68-46AE-AA50-CB6EC724BA83}" v="1" dt="2025-10-10T13:39:52.834"/>
    <p1510:client id="{3655E90F-B6B5-42D4-8FFA-73FDB5B8C2B4}" v="929" dt="2025-10-10T14:05:59.619"/>
    <p1510:client id="{5893E22E-867E-4E1C-9B8B-8AB8210310C8}" v="1048" dt="2025-10-10T14:56:35.985"/>
    <p1510:client id="{D6408252-C2A7-43CF-95BF-F9BD4EA222D0}" v="496" dt="2025-10-09T16:11:30.584"/>
    <p1510:client id="{E0D55CA4-1FD5-AC74-3451-2D6AFAC507FF}" v="3" dt="2025-10-09T20:41:52.545"/>
    <p1510:client id="{EB1C9126-F8D2-47E6-ADB1-106AF2EC8CB9}" v="832" dt="2025-10-10T15:55:30.7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952"/>
        <p:guide orient="horz" pos="2512"/>
        <p:guide orient="horz" pos="1584"/>
        <p:guide pos="3744"/>
        <p:guide pos="187"/>
        <p:guide pos="7301"/>
        <p:guide pos="6646"/>
        <p:guide pos="3682"/>
        <p:guide pos="3806"/>
        <p:guide pos="7032"/>
        <p:guide pos="1973"/>
      </p:guideLst>
    </p:cSldViewPr>
  </p:slideViewPr>
  <p:notesViewPr>
    <p:cSldViewPr snapToGrid="0">
      <p:cViewPr>
        <p:scale>
          <a:sx n="1" d="2"/>
          <a:sy n="1" d="2"/>
        </p:scale>
        <p:origin x="0" y="0"/>
      </p:cViewPr>
      <p:guideLst>
        <p:guide orient="horz" pos="3888"/>
        <p:guide pos="2305"/>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1.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el, Anisah" userId="28b2047f-1018-481a-b504-0a9faeb516cc" providerId="ADAL" clId="{3655E90F-B6B5-42D4-8FFA-73FDB5B8C2B4}"/>
    <pc:docChg chg="undo redo custSel modSld">
      <pc:chgData name="Patel, Anisah" userId="28b2047f-1018-481a-b504-0a9faeb516cc" providerId="ADAL" clId="{3655E90F-B6B5-42D4-8FFA-73FDB5B8C2B4}" dt="2025-10-10T14:05:59.619" v="115" actId="20577"/>
      <pc:docMkLst>
        <pc:docMk/>
      </pc:docMkLst>
      <pc:sldChg chg="modSp mod">
        <pc:chgData name="Patel, Anisah" userId="28b2047f-1018-481a-b504-0a9faeb516cc" providerId="ADAL" clId="{3655E90F-B6B5-42D4-8FFA-73FDB5B8C2B4}" dt="2025-10-10T14:05:59.619" v="115" actId="20577"/>
        <pc:sldMkLst>
          <pc:docMk/>
          <pc:sldMk cId="470183937" sldId="20598"/>
        </pc:sldMkLst>
        <pc:graphicFrameChg chg="modGraphic">
          <ac:chgData name="Patel, Anisah" userId="28b2047f-1018-481a-b504-0a9faeb516cc" providerId="ADAL" clId="{3655E90F-B6B5-42D4-8FFA-73FDB5B8C2B4}" dt="2025-10-10T14:05:59.619" v="115" actId="20577"/>
          <ac:graphicFrameMkLst>
            <pc:docMk/>
            <pc:sldMk cId="470183937" sldId="20598"/>
            <ac:graphicFrameMk id="2" creationId="{37D34095-442F-2735-0128-360919AC0B60}"/>
          </ac:graphicFrameMkLst>
        </pc:graphicFrameChg>
      </pc:sldChg>
      <pc:sldChg chg="modSp mod">
        <pc:chgData name="Patel, Anisah" userId="28b2047f-1018-481a-b504-0a9faeb516cc" providerId="ADAL" clId="{3655E90F-B6B5-42D4-8FFA-73FDB5B8C2B4}" dt="2025-10-10T14:04:29.999" v="108" actId="6549"/>
        <pc:sldMkLst>
          <pc:docMk/>
          <pc:sldMk cId="2105159132" sldId="21238"/>
        </pc:sldMkLst>
        <pc:graphicFrameChg chg="modGraphic">
          <ac:chgData name="Patel, Anisah" userId="28b2047f-1018-481a-b504-0a9faeb516cc" providerId="ADAL" clId="{3655E90F-B6B5-42D4-8FFA-73FDB5B8C2B4}" dt="2025-10-10T14:04:29.999" v="108" actId="6549"/>
          <ac:graphicFrameMkLst>
            <pc:docMk/>
            <pc:sldMk cId="2105159132" sldId="21238"/>
            <ac:graphicFrameMk id="21" creationId="{CF400F31-EADE-5125-7C50-BEB74E760476}"/>
          </ac:graphicFrameMkLst>
        </pc:graphicFrameChg>
      </pc:sldChg>
      <pc:sldChg chg="modSp mod">
        <pc:chgData name="Patel, Anisah" userId="28b2047f-1018-481a-b504-0a9faeb516cc" providerId="ADAL" clId="{3655E90F-B6B5-42D4-8FFA-73FDB5B8C2B4}" dt="2025-10-10T13:57:19.511" v="73" actId="20577"/>
        <pc:sldMkLst>
          <pc:docMk/>
          <pc:sldMk cId="469008131" sldId="21239"/>
        </pc:sldMkLst>
        <pc:graphicFrameChg chg="mod modGraphic">
          <ac:chgData name="Patel, Anisah" userId="28b2047f-1018-481a-b504-0a9faeb516cc" providerId="ADAL" clId="{3655E90F-B6B5-42D4-8FFA-73FDB5B8C2B4}" dt="2025-10-10T13:57:19.511" v="73" actId="20577"/>
          <ac:graphicFrameMkLst>
            <pc:docMk/>
            <pc:sldMk cId="469008131" sldId="21239"/>
            <ac:graphicFrameMk id="3" creationId="{BC375BE1-0E15-EF66-ECD2-671E639E5003}"/>
          </ac:graphicFrameMkLst>
        </pc:graphicFrameChg>
      </pc:sldChg>
      <pc:sldChg chg="modSp mod">
        <pc:chgData name="Patel, Anisah" userId="28b2047f-1018-481a-b504-0a9faeb516cc" providerId="ADAL" clId="{3655E90F-B6B5-42D4-8FFA-73FDB5B8C2B4}" dt="2025-10-10T14:00:53.528" v="100" actId="20577"/>
        <pc:sldMkLst>
          <pc:docMk/>
          <pc:sldMk cId="2719458553" sldId="2147483439"/>
        </pc:sldMkLst>
        <pc:graphicFrameChg chg="mod modGraphic">
          <ac:chgData name="Patel, Anisah" userId="28b2047f-1018-481a-b504-0a9faeb516cc" providerId="ADAL" clId="{3655E90F-B6B5-42D4-8FFA-73FDB5B8C2B4}" dt="2025-10-10T14:00:53.528" v="100" actId="20577"/>
          <ac:graphicFrameMkLst>
            <pc:docMk/>
            <pc:sldMk cId="2719458553" sldId="2147483439"/>
            <ac:graphicFrameMk id="3" creationId="{9543E919-4679-B736-D0C3-9BC3936F7207}"/>
          </ac:graphicFrameMkLst>
        </pc:graphicFrameChg>
      </pc:sldChg>
    </pc:docChg>
  </pc:docChgLst>
  <pc:docChgLst>
    <pc:chgData name="Victor, Sivin" userId="01129f3f-41e0-43b0-93a8-2c011cf5c088" providerId="ADAL" clId="{5893E22E-867E-4E1C-9B8B-8AB8210310C8}"/>
    <pc:docChg chg="modSld">
      <pc:chgData name="Victor, Sivin" userId="01129f3f-41e0-43b0-93a8-2c011cf5c088" providerId="ADAL" clId="{5893E22E-867E-4E1C-9B8B-8AB8210310C8}" dt="2025-10-10T14:56:35.985" v="11" actId="6549"/>
      <pc:docMkLst>
        <pc:docMk/>
      </pc:docMkLst>
      <pc:sldChg chg="modSp mod">
        <pc:chgData name="Victor, Sivin" userId="01129f3f-41e0-43b0-93a8-2c011cf5c088" providerId="ADAL" clId="{5893E22E-867E-4E1C-9B8B-8AB8210310C8}" dt="2025-10-10T14:56:35.985" v="11" actId="6549"/>
        <pc:sldMkLst>
          <pc:docMk/>
          <pc:sldMk cId="592156807" sldId="21247"/>
        </pc:sldMkLst>
        <pc:spChg chg="mod">
          <ac:chgData name="Victor, Sivin" userId="01129f3f-41e0-43b0-93a8-2c011cf5c088" providerId="ADAL" clId="{5893E22E-867E-4E1C-9B8B-8AB8210310C8}" dt="2025-10-10T14:55:28.823" v="3" actId="20577"/>
          <ac:spMkLst>
            <pc:docMk/>
            <pc:sldMk cId="592156807" sldId="21247"/>
            <ac:spMk id="13" creationId="{8ABB62DA-6CFA-74FB-E750-6CB8A17EA5B3}"/>
          </ac:spMkLst>
        </pc:spChg>
        <pc:graphicFrameChg chg="mod modGraphic">
          <ac:chgData name="Victor, Sivin" userId="01129f3f-41e0-43b0-93a8-2c011cf5c088" providerId="ADAL" clId="{5893E22E-867E-4E1C-9B8B-8AB8210310C8}" dt="2025-10-10T14:56:35.985" v="11" actId="6549"/>
          <ac:graphicFrameMkLst>
            <pc:docMk/>
            <pc:sldMk cId="592156807" sldId="21247"/>
            <ac:graphicFrameMk id="8" creationId="{2321E869-5A94-2F49-4914-FFF4DDD4DBFA}"/>
          </ac:graphicFrameMkLst>
        </pc:graphicFrameChg>
      </pc:sldChg>
    </pc:docChg>
  </pc:docChgLst>
  <pc:docChgLst>
    <pc:chgData name="Gupta, Divyanshu" userId="b31cd49f-b8ff-4474-82ee-3036b62bf283" providerId="ADAL" clId="{EB1C9126-F8D2-47E6-ADB1-106AF2EC8CB9}"/>
    <pc:docChg chg="undo redo custSel modSld">
      <pc:chgData name="Gupta, Divyanshu" userId="b31cd49f-b8ff-4474-82ee-3036b62bf283" providerId="ADAL" clId="{EB1C9126-F8D2-47E6-ADB1-106AF2EC8CB9}" dt="2025-10-10T15:55:30.797" v="26" actId="20577"/>
      <pc:docMkLst>
        <pc:docMk/>
      </pc:docMkLst>
      <pc:sldChg chg="modSp mod">
        <pc:chgData name="Gupta, Divyanshu" userId="b31cd49f-b8ff-4474-82ee-3036b62bf283" providerId="ADAL" clId="{EB1C9126-F8D2-47E6-ADB1-106AF2EC8CB9}" dt="2025-10-10T15:55:30.797" v="26" actId="20577"/>
        <pc:sldMkLst>
          <pc:docMk/>
          <pc:sldMk cId="2105159132" sldId="21238"/>
        </pc:sldMkLst>
        <pc:graphicFrameChg chg="modGraphic">
          <ac:chgData name="Gupta, Divyanshu" userId="b31cd49f-b8ff-4474-82ee-3036b62bf283" providerId="ADAL" clId="{EB1C9126-F8D2-47E6-ADB1-106AF2EC8CB9}" dt="2025-10-10T15:55:30.797" v="26" actId="20577"/>
          <ac:graphicFrameMkLst>
            <pc:docMk/>
            <pc:sldMk cId="2105159132" sldId="21238"/>
            <ac:graphicFrameMk id="2" creationId="{EE0A7C36-7944-1AF3-A8D2-7839D15470E0}"/>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51EE_12CE45C3.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7FFFFF2E_DF8ADC4.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7FFFFF2E_DF8ADC4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7FFFFF2E_DF8ADC42.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_7FFFFF2E_DF8ADC43.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_523C_BE318CD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87442030456555"/>
          <c:y val="4.0293005428451364E-2"/>
          <c:w val="0.74749091293194181"/>
          <c:h val="0.87584908784077076"/>
        </c:manualLayout>
      </c:layout>
      <c:barChart>
        <c:barDir val="bar"/>
        <c:grouping val="stacked"/>
        <c:varyColors val="0"/>
        <c:ser>
          <c:idx val="0"/>
          <c:order val="0"/>
          <c:tx>
            <c:strRef>
              <c:f>Sheet1!$B$1</c:f>
              <c:strCache>
                <c:ptCount val="1"/>
                <c:pt idx="0">
                  <c:v>High</c:v>
                </c:pt>
              </c:strCache>
            </c:strRef>
          </c:tx>
          <c:spPr>
            <a:solidFill>
              <a:schemeClr val="accent6">
                <a:lumMod val="50000"/>
              </a:schemeClr>
            </a:solidFill>
            <a:ln>
              <a:noFill/>
            </a:ln>
            <a:effectLst/>
            <a:scene3d>
              <a:camera prst="orthographicFront"/>
              <a:lightRig rig="threePt" dir="t"/>
            </a:scene3d>
            <a:sp3d>
              <a:bevelT/>
              <a:bevelB/>
            </a:sp3d>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PRB Angular JS Upgrade</c:v>
                </c:pt>
                <c:pt idx="1">
                  <c:v>LCMS Routing</c:v>
                </c:pt>
                <c:pt idx="2">
                  <c:v>Hopper 1</c:v>
                </c:pt>
                <c:pt idx="3">
                  <c:v>HPP MA Refi</c:v>
                </c:pt>
                <c:pt idx="4">
                  <c:v>Renewal Letter for Canadian Mrtg Charter</c:v>
                </c:pt>
                <c:pt idx="5">
                  <c:v>RESL POD Ph 2</c:v>
                </c:pt>
                <c:pt idx="6">
                  <c:v>RDD</c:v>
                </c:pt>
                <c:pt idx="7">
                  <c:v>WIC</c:v>
                </c:pt>
                <c:pt idx="8">
                  <c:v>MIA</c:v>
                </c:pt>
              </c:strCache>
            </c:strRef>
          </c:cat>
          <c:val>
            <c:numRef>
              <c:f>Sheet1!$B$2:$B$10</c:f>
              <c:numCache>
                <c:formatCode>General</c:formatCode>
                <c:ptCount val="9"/>
                <c:pt idx="2">
                  <c:v>1</c:v>
                </c:pt>
                <c:pt idx="3">
                  <c:v>1</c:v>
                </c:pt>
                <c:pt idx="4">
                  <c:v>1</c:v>
                </c:pt>
                <c:pt idx="5">
                  <c:v>1</c:v>
                </c:pt>
                <c:pt idx="7">
                  <c:v>2</c:v>
                </c:pt>
                <c:pt idx="8">
                  <c:v>6</c:v>
                </c:pt>
              </c:numCache>
            </c:numRef>
          </c:val>
          <c:extLst>
            <c:ext xmlns:c16="http://schemas.microsoft.com/office/drawing/2014/chart" uri="{C3380CC4-5D6E-409C-BE32-E72D297353CC}">
              <c16:uniqueId val="{00000000-E1F5-4BC0-8B82-BF881BABBC17}"/>
            </c:ext>
          </c:extLst>
        </c:ser>
        <c:ser>
          <c:idx val="1"/>
          <c:order val="1"/>
          <c:tx>
            <c:strRef>
              <c:f>Sheet1!$C$1</c:f>
              <c:strCache>
                <c:ptCount val="1"/>
                <c:pt idx="0">
                  <c:v>Medium</c:v>
                </c:pt>
              </c:strCache>
            </c:strRef>
          </c:tx>
          <c:spPr>
            <a:pattFill prst="pct60">
              <a:fgClr>
                <a:schemeClr val="accent6">
                  <a:lumMod val="75000"/>
                </a:schemeClr>
              </a:fgClr>
              <a:bgClr>
                <a:schemeClr val="bg1"/>
              </a:bgClr>
            </a:pattFill>
            <a:ln>
              <a:noFill/>
            </a:ln>
            <a:effectLst/>
            <a:scene3d>
              <a:camera prst="orthographicFront"/>
              <a:lightRig rig="threePt" dir="t"/>
            </a:scene3d>
            <a:sp3d>
              <a:bevelT/>
              <a:bevelB/>
            </a:sp3d>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PRB Angular JS Upgrade</c:v>
                </c:pt>
                <c:pt idx="1">
                  <c:v>LCMS Routing</c:v>
                </c:pt>
                <c:pt idx="2">
                  <c:v>Hopper 1</c:v>
                </c:pt>
                <c:pt idx="3">
                  <c:v>HPP MA Refi</c:v>
                </c:pt>
                <c:pt idx="4">
                  <c:v>Renewal Letter for Canadian Mrtg Charter</c:v>
                </c:pt>
                <c:pt idx="5">
                  <c:v>RESL POD Ph 2</c:v>
                </c:pt>
                <c:pt idx="6">
                  <c:v>RDD</c:v>
                </c:pt>
                <c:pt idx="7">
                  <c:v>WIC</c:v>
                </c:pt>
                <c:pt idx="8">
                  <c:v>MIA</c:v>
                </c:pt>
              </c:strCache>
            </c:strRef>
          </c:cat>
          <c:val>
            <c:numRef>
              <c:f>Sheet1!$C$2:$C$10</c:f>
              <c:numCache>
                <c:formatCode>General</c:formatCode>
                <c:ptCount val="9"/>
                <c:pt idx="1">
                  <c:v>1</c:v>
                </c:pt>
                <c:pt idx="5">
                  <c:v>1</c:v>
                </c:pt>
                <c:pt idx="6">
                  <c:v>1</c:v>
                </c:pt>
                <c:pt idx="7">
                  <c:v>2</c:v>
                </c:pt>
                <c:pt idx="8">
                  <c:v>1</c:v>
                </c:pt>
              </c:numCache>
            </c:numRef>
          </c:val>
          <c:extLst>
            <c:ext xmlns:c16="http://schemas.microsoft.com/office/drawing/2014/chart" uri="{C3380CC4-5D6E-409C-BE32-E72D297353CC}">
              <c16:uniqueId val="{00000001-E1F5-4BC0-8B82-BF881BABBC17}"/>
            </c:ext>
          </c:extLst>
        </c:ser>
        <c:ser>
          <c:idx val="2"/>
          <c:order val="2"/>
          <c:tx>
            <c:strRef>
              <c:f>Sheet1!$D$1</c:f>
              <c:strCache>
                <c:ptCount val="1"/>
                <c:pt idx="0">
                  <c:v>Low</c:v>
                </c:pt>
              </c:strCache>
            </c:strRef>
          </c:tx>
          <c:spPr>
            <a:solidFill>
              <a:schemeClr val="accent6">
                <a:lumMod val="20000"/>
                <a:lumOff val="80000"/>
              </a:schemeClr>
            </a:solidFill>
            <a:ln>
              <a:noFill/>
            </a:ln>
            <a:effectLst/>
            <a:scene3d>
              <a:camera prst="orthographicFront"/>
              <a:lightRig rig="threePt" dir="t"/>
            </a:scene3d>
            <a:sp3d>
              <a:bevelT/>
              <a:bevelB/>
            </a:sp3d>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PRB Angular JS Upgrade</c:v>
                </c:pt>
                <c:pt idx="1">
                  <c:v>LCMS Routing</c:v>
                </c:pt>
                <c:pt idx="2">
                  <c:v>Hopper 1</c:v>
                </c:pt>
                <c:pt idx="3">
                  <c:v>HPP MA Refi</c:v>
                </c:pt>
                <c:pt idx="4">
                  <c:v>Renewal Letter for Canadian Mrtg Charter</c:v>
                </c:pt>
                <c:pt idx="5">
                  <c:v>RESL POD Ph 2</c:v>
                </c:pt>
                <c:pt idx="6">
                  <c:v>RDD</c:v>
                </c:pt>
                <c:pt idx="7">
                  <c:v>WIC</c:v>
                </c:pt>
                <c:pt idx="8">
                  <c:v>MIA</c:v>
                </c:pt>
              </c:strCache>
            </c:strRef>
          </c:cat>
          <c:val>
            <c:numRef>
              <c:f>Sheet1!$D$2:$D$10</c:f>
              <c:numCache>
                <c:formatCode>General</c:formatCode>
                <c:ptCount val="9"/>
                <c:pt idx="0">
                  <c:v>1</c:v>
                </c:pt>
                <c:pt idx="5">
                  <c:v>1</c:v>
                </c:pt>
                <c:pt idx="6">
                  <c:v>3</c:v>
                </c:pt>
                <c:pt idx="7">
                  <c:v>2</c:v>
                </c:pt>
                <c:pt idx="8">
                  <c:v>1</c:v>
                </c:pt>
              </c:numCache>
            </c:numRef>
          </c:val>
          <c:extLst>
            <c:ext xmlns:c16="http://schemas.microsoft.com/office/drawing/2014/chart" uri="{C3380CC4-5D6E-409C-BE32-E72D297353CC}">
              <c16:uniqueId val="{00000002-E1F5-4BC0-8B82-BF881BABBC17}"/>
            </c:ext>
          </c:extLst>
        </c:ser>
        <c:dLbls>
          <c:showLegendKey val="0"/>
          <c:showVal val="1"/>
          <c:showCatName val="0"/>
          <c:showSerName val="0"/>
          <c:showPercent val="0"/>
          <c:showBubbleSize val="0"/>
        </c:dLbls>
        <c:gapWidth val="150"/>
        <c:overlap val="100"/>
        <c:axId val="1756447824"/>
        <c:axId val="1756456464"/>
      </c:barChart>
      <c:catAx>
        <c:axId val="1756447824"/>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756456464"/>
        <c:crosses val="autoZero"/>
        <c:auto val="1"/>
        <c:lblAlgn val="ctr"/>
        <c:lblOffset val="100"/>
        <c:noMultiLvlLbl val="0"/>
      </c:catAx>
      <c:valAx>
        <c:axId val="1756456464"/>
        <c:scaling>
          <c:orientation val="minMax"/>
        </c:scaling>
        <c:delete val="1"/>
        <c:axPos val="b"/>
        <c:numFmt formatCode="General" sourceLinked="1"/>
        <c:majorTickMark val="out"/>
        <c:minorTickMark val="none"/>
        <c:tickLblPos val="nextTo"/>
        <c:crossAx val="1756447824"/>
        <c:crosses val="autoZero"/>
        <c:crossBetween val="between"/>
        <c:majorUnit val="1"/>
      </c:valAx>
      <c:spPr>
        <a:noFill/>
        <a:ln>
          <a:noFill/>
        </a:ln>
        <a:effectLst/>
      </c:spPr>
    </c:plotArea>
    <c:legend>
      <c:legendPos val="r"/>
      <c:layout>
        <c:manualLayout>
          <c:xMode val="edge"/>
          <c:yMode val="edge"/>
          <c:x val="0.82977616865627657"/>
          <c:y val="0.77370081995688766"/>
          <c:w val="0.16556591239554755"/>
          <c:h val="0.2262992658496081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1329833770778655E-2"/>
          <c:y val="1.1907731372047665E-2"/>
          <c:w val="0.93938779724977095"/>
          <c:h val="0.94904784760893257"/>
        </c:manualLayout>
      </c:layout>
      <c:barChart>
        <c:barDir val="bar"/>
        <c:grouping val="stacked"/>
        <c:varyColors val="0"/>
        <c:ser>
          <c:idx val="0"/>
          <c:order val="0"/>
          <c:tx>
            <c:strRef>
              <c:f>Sheet1!$B$1</c:f>
              <c:strCache>
                <c:ptCount val="1"/>
                <c:pt idx="0">
                  <c:v>Training/Comm/PCM</c:v>
                </c:pt>
              </c:strCache>
            </c:strRef>
          </c:tx>
          <c:spPr>
            <a:solidFill>
              <a:schemeClr val="bg2">
                <a:lumMod val="9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'25</c:v>
                </c:pt>
                <c:pt idx="1">
                  <c:v>Jul '25</c:v>
                </c:pt>
                <c:pt idx="2">
                  <c:v>Apr '25</c:v>
                </c:pt>
                <c:pt idx="3">
                  <c:v>Feb '25</c:v>
                </c:pt>
                <c:pt idx="4">
                  <c:v>Nov '24</c:v>
                </c:pt>
              </c:strCache>
            </c:strRef>
          </c:cat>
          <c:val>
            <c:numRef>
              <c:f>Sheet1!$B$2:$B$6</c:f>
              <c:numCache>
                <c:formatCode>General</c:formatCode>
                <c:ptCount val="5"/>
                <c:pt idx="0">
                  <c:v>3</c:v>
                </c:pt>
                <c:pt idx="1">
                  <c:v>1</c:v>
                </c:pt>
                <c:pt idx="3">
                  <c:v>2</c:v>
                </c:pt>
              </c:numCache>
            </c:numRef>
          </c:val>
          <c:extLst>
            <c:ext xmlns:c16="http://schemas.microsoft.com/office/drawing/2014/chart" uri="{C3380CC4-5D6E-409C-BE32-E72D297353CC}">
              <c16:uniqueId val="{00000000-D9C2-4E9C-B79E-D42C336940BB}"/>
            </c:ext>
          </c:extLst>
        </c:ser>
        <c:ser>
          <c:idx val="1"/>
          <c:order val="1"/>
          <c:tx>
            <c:strRef>
              <c:f>Sheet1!$C$1</c:f>
              <c:strCache>
                <c:ptCount val="1"/>
                <c:pt idx="0">
                  <c:v>Busn. Reqs</c:v>
                </c:pt>
              </c:strCache>
            </c:strRef>
          </c:tx>
          <c:spPr>
            <a:solidFill>
              <a:schemeClr val="bg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'25</c:v>
                </c:pt>
                <c:pt idx="1">
                  <c:v>Jul '25</c:v>
                </c:pt>
                <c:pt idx="2">
                  <c:v>Apr '25</c:v>
                </c:pt>
                <c:pt idx="3">
                  <c:v>Feb '25</c:v>
                </c:pt>
                <c:pt idx="4">
                  <c:v>Nov '24</c:v>
                </c:pt>
              </c:strCache>
            </c:strRef>
          </c:cat>
          <c:val>
            <c:numRef>
              <c:f>Sheet1!$C$2:$C$6</c:f>
              <c:numCache>
                <c:formatCode>General</c:formatCode>
                <c:ptCount val="5"/>
                <c:pt idx="0">
                  <c:v>5</c:v>
                </c:pt>
                <c:pt idx="1">
                  <c:v>5</c:v>
                </c:pt>
                <c:pt idx="2">
                  <c:v>2</c:v>
                </c:pt>
                <c:pt idx="3">
                  <c:v>4</c:v>
                </c:pt>
                <c:pt idx="4">
                  <c:v>1</c:v>
                </c:pt>
              </c:numCache>
            </c:numRef>
          </c:val>
          <c:extLst>
            <c:ext xmlns:c16="http://schemas.microsoft.com/office/drawing/2014/chart" uri="{C3380CC4-5D6E-409C-BE32-E72D297353CC}">
              <c16:uniqueId val="{00000001-D9C2-4E9C-B79E-D42C336940BB}"/>
            </c:ext>
          </c:extLst>
        </c:ser>
        <c:ser>
          <c:idx val="2"/>
          <c:order val="2"/>
          <c:tx>
            <c:strRef>
              <c:f>Sheet1!$D$1</c:f>
              <c:strCache>
                <c:ptCount val="1"/>
                <c:pt idx="0">
                  <c:v>Sol. Reqs</c:v>
                </c:pt>
              </c:strCache>
            </c:strRef>
          </c:tx>
          <c:spPr>
            <a:solidFill>
              <a:srgbClr val="ED494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'25</c:v>
                </c:pt>
                <c:pt idx="1">
                  <c:v>Jul '25</c:v>
                </c:pt>
                <c:pt idx="2">
                  <c:v>Apr '25</c:v>
                </c:pt>
                <c:pt idx="3">
                  <c:v>Feb '25</c:v>
                </c:pt>
                <c:pt idx="4">
                  <c:v>Nov '24</c:v>
                </c:pt>
              </c:strCache>
            </c:strRef>
          </c:cat>
          <c:val>
            <c:numRef>
              <c:f>Sheet1!$D$2:$D$6</c:f>
              <c:numCache>
                <c:formatCode>General</c:formatCode>
                <c:ptCount val="5"/>
                <c:pt idx="0">
                  <c:v>7</c:v>
                </c:pt>
                <c:pt idx="1">
                  <c:v>3</c:v>
                </c:pt>
                <c:pt idx="2">
                  <c:v>8</c:v>
                </c:pt>
                <c:pt idx="3">
                  <c:v>2</c:v>
                </c:pt>
                <c:pt idx="4">
                  <c:v>2</c:v>
                </c:pt>
              </c:numCache>
            </c:numRef>
          </c:val>
          <c:extLst>
            <c:ext xmlns:c16="http://schemas.microsoft.com/office/drawing/2014/chart" uri="{C3380CC4-5D6E-409C-BE32-E72D297353CC}">
              <c16:uniqueId val="{00000002-D9C2-4E9C-B79E-D42C336940BB}"/>
            </c:ext>
          </c:extLst>
        </c:ser>
        <c:ser>
          <c:idx val="3"/>
          <c:order val="3"/>
          <c:tx>
            <c:strRef>
              <c:f>Sheet1!$E$1</c:f>
              <c:strCache>
                <c:ptCount val="1"/>
                <c:pt idx="0">
                  <c:v>Code</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'25</c:v>
                </c:pt>
                <c:pt idx="1">
                  <c:v>Jul '25</c:v>
                </c:pt>
                <c:pt idx="2">
                  <c:v>Apr '25</c:v>
                </c:pt>
                <c:pt idx="3">
                  <c:v>Feb '25</c:v>
                </c:pt>
                <c:pt idx="4">
                  <c:v>Nov '24</c:v>
                </c:pt>
              </c:strCache>
            </c:strRef>
          </c:cat>
          <c:val>
            <c:numRef>
              <c:f>Sheet1!$E$2:$E$6</c:f>
              <c:numCache>
                <c:formatCode>General</c:formatCode>
                <c:ptCount val="5"/>
                <c:pt idx="0">
                  <c:v>19</c:v>
                </c:pt>
                <c:pt idx="1">
                  <c:v>14</c:v>
                </c:pt>
                <c:pt idx="2">
                  <c:v>13</c:v>
                </c:pt>
                <c:pt idx="3">
                  <c:v>20</c:v>
                </c:pt>
                <c:pt idx="4">
                  <c:v>6</c:v>
                </c:pt>
              </c:numCache>
            </c:numRef>
          </c:val>
          <c:extLst>
            <c:ext xmlns:c16="http://schemas.microsoft.com/office/drawing/2014/chart" uri="{C3380CC4-5D6E-409C-BE32-E72D297353CC}">
              <c16:uniqueId val="{00000003-D9C2-4E9C-B79E-D42C336940BB}"/>
            </c:ext>
          </c:extLst>
        </c:ser>
        <c:ser>
          <c:idx val="4"/>
          <c:order val="4"/>
          <c:tx>
            <c:strRef>
              <c:f>Sheet1!$F$1</c:f>
              <c:strCache>
                <c:ptCount val="1"/>
                <c:pt idx="0">
                  <c:v>Deployment</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'25</c:v>
                </c:pt>
                <c:pt idx="1">
                  <c:v>Jul '25</c:v>
                </c:pt>
                <c:pt idx="2">
                  <c:v>Apr '25</c:v>
                </c:pt>
                <c:pt idx="3">
                  <c:v>Feb '25</c:v>
                </c:pt>
                <c:pt idx="4">
                  <c:v>Nov '24</c:v>
                </c:pt>
              </c:strCache>
            </c:strRef>
          </c:cat>
          <c:val>
            <c:numRef>
              <c:f>Sheet1!$F$2:$F$6</c:f>
              <c:numCache>
                <c:formatCode>General</c:formatCode>
                <c:ptCount val="5"/>
                <c:pt idx="2">
                  <c:v>2</c:v>
                </c:pt>
              </c:numCache>
            </c:numRef>
          </c:val>
          <c:extLst>
            <c:ext xmlns:c16="http://schemas.microsoft.com/office/drawing/2014/chart" uri="{C3380CC4-5D6E-409C-BE32-E72D297353CC}">
              <c16:uniqueId val="{00000004-D9C2-4E9C-B79E-D42C336940BB}"/>
            </c:ext>
          </c:extLst>
        </c:ser>
        <c:ser>
          <c:idx val="5"/>
          <c:order val="5"/>
          <c:tx>
            <c:strRef>
              <c:f>Sheet1!$G$1</c:f>
              <c:strCache>
                <c:ptCount val="1"/>
                <c:pt idx="0">
                  <c:v>Performance</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'25</c:v>
                </c:pt>
                <c:pt idx="1">
                  <c:v>Jul '25</c:v>
                </c:pt>
                <c:pt idx="2">
                  <c:v>Apr '25</c:v>
                </c:pt>
                <c:pt idx="3">
                  <c:v>Feb '25</c:v>
                </c:pt>
                <c:pt idx="4">
                  <c:v>Nov '24</c:v>
                </c:pt>
              </c:strCache>
            </c:strRef>
          </c:cat>
          <c:val>
            <c:numRef>
              <c:f>Sheet1!$G$2:$G$6</c:f>
              <c:numCache>
                <c:formatCode>General</c:formatCode>
                <c:ptCount val="5"/>
                <c:pt idx="2">
                  <c:v>1</c:v>
                </c:pt>
              </c:numCache>
            </c:numRef>
          </c:val>
          <c:extLst>
            <c:ext xmlns:c16="http://schemas.microsoft.com/office/drawing/2014/chart" uri="{C3380CC4-5D6E-409C-BE32-E72D297353CC}">
              <c16:uniqueId val="{00000005-D9C2-4E9C-B79E-D42C336940BB}"/>
            </c:ext>
          </c:extLst>
        </c:ser>
        <c:ser>
          <c:idx val="6"/>
          <c:order val="6"/>
          <c:tx>
            <c:strRef>
              <c:f>Sheet1!$H$1</c:f>
              <c:strCache>
                <c:ptCount val="1"/>
                <c:pt idx="0">
                  <c:v>Third Party</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'25</c:v>
                </c:pt>
                <c:pt idx="1">
                  <c:v>Jul '25</c:v>
                </c:pt>
                <c:pt idx="2">
                  <c:v>Apr '25</c:v>
                </c:pt>
                <c:pt idx="3">
                  <c:v>Feb '25</c:v>
                </c:pt>
                <c:pt idx="4">
                  <c:v>Nov '24</c:v>
                </c:pt>
              </c:strCache>
            </c:strRef>
          </c:cat>
          <c:val>
            <c:numRef>
              <c:f>Sheet1!$H$2:$H$6</c:f>
              <c:numCache>
                <c:formatCode>General</c:formatCode>
                <c:ptCount val="5"/>
                <c:pt idx="0">
                  <c:v>2</c:v>
                </c:pt>
                <c:pt idx="1">
                  <c:v>4</c:v>
                </c:pt>
                <c:pt idx="2">
                  <c:v>5</c:v>
                </c:pt>
                <c:pt idx="3">
                  <c:v>3</c:v>
                </c:pt>
              </c:numCache>
            </c:numRef>
          </c:val>
          <c:extLst>
            <c:ext xmlns:c16="http://schemas.microsoft.com/office/drawing/2014/chart" uri="{C3380CC4-5D6E-409C-BE32-E72D297353CC}">
              <c16:uniqueId val="{00000006-D9C2-4E9C-B79E-D42C336940BB}"/>
            </c:ext>
          </c:extLst>
        </c:ser>
        <c:dLbls>
          <c:dLblPos val="ctr"/>
          <c:showLegendKey val="0"/>
          <c:showVal val="1"/>
          <c:showCatName val="0"/>
          <c:showSerName val="0"/>
          <c:showPercent val="0"/>
          <c:showBubbleSize val="0"/>
        </c:dLbls>
        <c:gapWidth val="150"/>
        <c:overlap val="100"/>
        <c:axId val="1158103304"/>
        <c:axId val="1158105104"/>
      </c:barChart>
      <c:catAx>
        <c:axId val="1158103304"/>
        <c:scaling>
          <c:orientation val="minMax"/>
        </c:scaling>
        <c:delete val="1"/>
        <c:axPos val="l"/>
        <c:numFmt formatCode="General" sourceLinked="1"/>
        <c:majorTickMark val="none"/>
        <c:minorTickMark val="none"/>
        <c:tickLblPos val="nextTo"/>
        <c:crossAx val="1158105104"/>
        <c:crosses val="autoZero"/>
        <c:auto val="1"/>
        <c:lblAlgn val="ctr"/>
        <c:lblOffset val="100"/>
        <c:noMultiLvlLbl val="0"/>
      </c:catAx>
      <c:valAx>
        <c:axId val="1158105104"/>
        <c:scaling>
          <c:orientation val="minMax"/>
        </c:scaling>
        <c:delete val="1"/>
        <c:axPos val="b"/>
        <c:numFmt formatCode="General" sourceLinked="1"/>
        <c:majorTickMark val="none"/>
        <c:minorTickMark val="none"/>
        <c:tickLblPos val="nextTo"/>
        <c:crossAx val="11581033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385326629476883E-2"/>
          <c:y val="1.8528055414933613E-2"/>
          <c:w val="0.93938779724977095"/>
          <c:h val="0.94904784760893257"/>
        </c:manualLayout>
      </c:layout>
      <c:barChart>
        <c:barDir val="bar"/>
        <c:grouping val="stacked"/>
        <c:varyColors val="0"/>
        <c:ser>
          <c:idx val="0"/>
          <c:order val="0"/>
          <c:tx>
            <c:strRef>
              <c:f>Sheet1!$B$1</c:f>
              <c:strCache>
                <c:ptCount val="1"/>
                <c:pt idx="0">
                  <c:v>Training/Comm/PCM</c:v>
                </c:pt>
              </c:strCache>
            </c:strRef>
          </c:tx>
          <c:spPr>
            <a:solidFill>
              <a:schemeClr val="bg2">
                <a:lumMod val="9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'24</c:v>
                </c:pt>
                <c:pt idx="1">
                  <c:v>Jul '24</c:v>
                </c:pt>
                <c:pt idx="2">
                  <c:v>Apr '24</c:v>
                </c:pt>
                <c:pt idx="3">
                  <c:v>Feb '24</c:v>
                </c:pt>
                <c:pt idx="4">
                  <c:v>Nov '23</c:v>
                </c:pt>
              </c:strCache>
            </c:strRef>
          </c:cat>
          <c:val>
            <c:numRef>
              <c:f>Sheet1!$B$2:$B$6</c:f>
              <c:numCache>
                <c:formatCode>General</c:formatCode>
                <c:ptCount val="5"/>
                <c:pt idx="2">
                  <c:v>1</c:v>
                </c:pt>
              </c:numCache>
            </c:numRef>
          </c:val>
          <c:extLst>
            <c:ext xmlns:c16="http://schemas.microsoft.com/office/drawing/2014/chart" uri="{C3380CC4-5D6E-409C-BE32-E72D297353CC}">
              <c16:uniqueId val="{00000000-C8CA-41BF-8165-0D22D2085BAE}"/>
            </c:ext>
          </c:extLst>
        </c:ser>
        <c:ser>
          <c:idx val="1"/>
          <c:order val="1"/>
          <c:tx>
            <c:strRef>
              <c:f>Sheet1!$C$1</c:f>
              <c:strCache>
                <c:ptCount val="1"/>
                <c:pt idx="0">
                  <c:v>Busn. Reqs</c:v>
                </c:pt>
              </c:strCache>
            </c:strRef>
          </c:tx>
          <c:spPr>
            <a:solidFill>
              <a:schemeClr val="bg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'24</c:v>
                </c:pt>
                <c:pt idx="1">
                  <c:v>Jul '24</c:v>
                </c:pt>
                <c:pt idx="2">
                  <c:v>Apr '24</c:v>
                </c:pt>
                <c:pt idx="3">
                  <c:v>Feb '24</c:v>
                </c:pt>
                <c:pt idx="4">
                  <c:v>Nov '23</c:v>
                </c:pt>
              </c:strCache>
            </c:strRef>
          </c:cat>
          <c:val>
            <c:numRef>
              <c:f>Sheet1!$C$2:$C$6</c:f>
              <c:numCache>
                <c:formatCode>General</c:formatCode>
                <c:ptCount val="5"/>
                <c:pt idx="0">
                  <c:v>1</c:v>
                </c:pt>
                <c:pt idx="3">
                  <c:v>1</c:v>
                </c:pt>
                <c:pt idx="4">
                  <c:v>1</c:v>
                </c:pt>
              </c:numCache>
            </c:numRef>
          </c:val>
          <c:extLst>
            <c:ext xmlns:c16="http://schemas.microsoft.com/office/drawing/2014/chart" uri="{C3380CC4-5D6E-409C-BE32-E72D297353CC}">
              <c16:uniqueId val="{00000001-C8CA-41BF-8165-0D22D2085BAE}"/>
            </c:ext>
          </c:extLst>
        </c:ser>
        <c:ser>
          <c:idx val="2"/>
          <c:order val="2"/>
          <c:tx>
            <c:strRef>
              <c:f>Sheet1!$D$1</c:f>
              <c:strCache>
                <c:ptCount val="1"/>
                <c:pt idx="0">
                  <c:v>Sol. Reqs</c:v>
                </c:pt>
              </c:strCache>
            </c:strRef>
          </c:tx>
          <c:spPr>
            <a:solidFill>
              <a:srgbClr val="ED494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'24</c:v>
                </c:pt>
                <c:pt idx="1">
                  <c:v>Jul '24</c:v>
                </c:pt>
                <c:pt idx="2">
                  <c:v>Apr '24</c:v>
                </c:pt>
                <c:pt idx="3">
                  <c:v>Feb '24</c:v>
                </c:pt>
                <c:pt idx="4">
                  <c:v>Nov '23</c:v>
                </c:pt>
              </c:strCache>
            </c:strRef>
          </c:cat>
          <c:val>
            <c:numRef>
              <c:f>Sheet1!$D$2:$D$6</c:f>
              <c:numCache>
                <c:formatCode>General</c:formatCode>
                <c:ptCount val="5"/>
                <c:pt idx="0">
                  <c:v>5</c:v>
                </c:pt>
                <c:pt idx="4">
                  <c:v>4</c:v>
                </c:pt>
              </c:numCache>
            </c:numRef>
          </c:val>
          <c:extLst>
            <c:ext xmlns:c16="http://schemas.microsoft.com/office/drawing/2014/chart" uri="{C3380CC4-5D6E-409C-BE32-E72D297353CC}">
              <c16:uniqueId val="{00000002-C8CA-41BF-8165-0D22D2085BAE}"/>
            </c:ext>
          </c:extLst>
        </c:ser>
        <c:ser>
          <c:idx val="3"/>
          <c:order val="3"/>
          <c:tx>
            <c:strRef>
              <c:f>Sheet1!$E$1</c:f>
              <c:strCache>
                <c:ptCount val="1"/>
                <c:pt idx="0">
                  <c:v>Code</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'24</c:v>
                </c:pt>
                <c:pt idx="1">
                  <c:v>Jul '24</c:v>
                </c:pt>
                <c:pt idx="2">
                  <c:v>Apr '24</c:v>
                </c:pt>
                <c:pt idx="3">
                  <c:v>Feb '24</c:v>
                </c:pt>
                <c:pt idx="4">
                  <c:v>Nov '23</c:v>
                </c:pt>
              </c:strCache>
            </c:strRef>
          </c:cat>
          <c:val>
            <c:numRef>
              <c:f>Sheet1!$E$2:$E$6</c:f>
              <c:numCache>
                <c:formatCode>General</c:formatCode>
                <c:ptCount val="5"/>
                <c:pt idx="1">
                  <c:v>2</c:v>
                </c:pt>
                <c:pt idx="2">
                  <c:v>1</c:v>
                </c:pt>
                <c:pt idx="3">
                  <c:v>4</c:v>
                </c:pt>
                <c:pt idx="4">
                  <c:v>8</c:v>
                </c:pt>
              </c:numCache>
            </c:numRef>
          </c:val>
          <c:extLst>
            <c:ext xmlns:c16="http://schemas.microsoft.com/office/drawing/2014/chart" uri="{C3380CC4-5D6E-409C-BE32-E72D297353CC}">
              <c16:uniqueId val="{00000003-C8CA-41BF-8165-0D22D2085BAE}"/>
            </c:ext>
          </c:extLst>
        </c:ser>
        <c:ser>
          <c:idx val="4"/>
          <c:order val="4"/>
          <c:tx>
            <c:strRef>
              <c:f>Sheet1!$F$1</c:f>
              <c:strCache>
                <c:ptCount val="1"/>
                <c:pt idx="0">
                  <c:v>Deployment</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'24</c:v>
                </c:pt>
                <c:pt idx="1">
                  <c:v>Jul '24</c:v>
                </c:pt>
                <c:pt idx="2">
                  <c:v>Apr '24</c:v>
                </c:pt>
                <c:pt idx="3">
                  <c:v>Feb '24</c:v>
                </c:pt>
                <c:pt idx="4">
                  <c:v>Nov '23</c:v>
                </c:pt>
              </c:strCache>
            </c:strRef>
          </c:cat>
          <c:val>
            <c:numRef>
              <c:f>Sheet1!$F$2:$F$6</c:f>
              <c:numCache>
                <c:formatCode>General</c:formatCode>
                <c:ptCount val="5"/>
                <c:pt idx="4">
                  <c:v>1</c:v>
                </c:pt>
              </c:numCache>
            </c:numRef>
          </c:val>
          <c:extLst>
            <c:ext xmlns:c16="http://schemas.microsoft.com/office/drawing/2014/chart" uri="{C3380CC4-5D6E-409C-BE32-E72D297353CC}">
              <c16:uniqueId val="{00000004-C8CA-41BF-8165-0D22D2085BAE}"/>
            </c:ext>
          </c:extLst>
        </c:ser>
        <c:ser>
          <c:idx val="5"/>
          <c:order val="5"/>
          <c:tx>
            <c:strRef>
              <c:f>Sheet1!$G$1</c:f>
              <c:strCache>
                <c:ptCount val="1"/>
                <c:pt idx="0">
                  <c:v>Performance</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'24</c:v>
                </c:pt>
                <c:pt idx="1">
                  <c:v>Jul '24</c:v>
                </c:pt>
                <c:pt idx="2">
                  <c:v>Apr '24</c:v>
                </c:pt>
                <c:pt idx="3">
                  <c:v>Feb '24</c:v>
                </c:pt>
                <c:pt idx="4">
                  <c:v>Nov '23</c:v>
                </c:pt>
              </c:strCache>
            </c:strRef>
          </c:cat>
          <c:val>
            <c:numRef>
              <c:f>Sheet1!$G$2:$G$6</c:f>
              <c:numCache>
                <c:formatCode>General</c:formatCode>
                <c:ptCount val="5"/>
              </c:numCache>
            </c:numRef>
          </c:val>
          <c:extLst>
            <c:ext xmlns:c16="http://schemas.microsoft.com/office/drawing/2014/chart" uri="{C3380CC4-5D6E-409C-BE32-E72D297353CC}">
              <c16:uniqueId val="{00000005-C8CA-41BF-8165-0D22D2085BAE}"/>
            </c:ext>
          </c:extLst>
        </c:ser>
        <c:ser>
          <c:idx val="6"/>
          <c:order val="6"/>
          <c:tx>
            <c:strRef>
              <c:f>Sheet1!$H$1</c:f>
              <c:strCache>
                <c:ptCount val="1"/>
                <c:pt idx="0">
                  <c:v>Third Party</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Sep '24</c:v>
                </c:pt>
                <c:pt idx="1">
                  <c:v>Jul '24</c:v>
                </c:pt>
                <c:pt idx="2">
                  <c:v>Apr '24</c:v>
                </c:pt>
                <c:pt idx="3">
                  <c:v>Feb '24</c:v>
                </c:pt>
                <c:pt idx="4">
                  <c:v>Nov '23</c:v>
                </c:pt>
              </c:strCache>
            </c:strRef>
          </c:cat>
          <c:val>
            <c:numRef>
              <c:f>Sheet1!$H$2:$H$6</c:f>
              <c:numCache>
                <c:formatCode>General</c:formatCode>
                <c:ptCount val="5"/>
                <c:pt idx="4">
                  <c:v>3</c:v>
                </c:pt>
              </c:numCache>
            </c:numRef>
          </c:val>
          <c:extLst>
            <c:ext xmlns:c16="http://schemas.microsoft.com/office/drawing/2014/chart" uri="{C3380CC4-5D6E-409C-BE32-E72D297353CC}">
              <c16:uniqueId val="{00000006-C8CA-41BF-8165-0D22D2085BAE}"/>
            </c:ext>
          </c:extLst>
        </c:ser>
        <c:dLbls>
          <c:showLegendKey val="0"/>
          <c:showVal val="0"/>
          <c:showCatName val="0"/>
          <c:showSerName val="0"/>
          <c:showPercent val="0"/>
          <c:showBubbleSize val="0"/>
        </c:dLbls>
        <c:gapWidth val="150"/>
        <c:overlap val="100"/>
        <c:axId val="1457935400"/>
        <c:axId val="1457941520"/>
      </c:barChart>
      <c:valAx>
        <c:axId val="1457941520"/>
        <c:scaling>
          <c:orientation val="minMax"/>
          <c:max val="45"/>
          <c:min val="0"/>
        </c:scaling>
        <c:delete val="1"/>
        <c:axPos val="t"/>
        <c:numFmt formatCode="General" sourceLinked="1"/>
        <c:majorTickMark val="out"/>
        <c:minorTickMark val="none"/>
        <c:tickLblPos val="nextTo"/>
        <c:crossAx val="1457935400"/>
        <c:crosses val="max"/>
        <c:crossBetween val="between"/>
      </c:valAx>
      <c:catAx>
        <c:axId val="1457935400"/>
        <c:scaling>
          <c:orientation val="minMax"/>
        </c:scaling>
        <c:delete val="1"/>
        <c:axPos val="l"/>
        <c:numFmt formatCode="General" sourceLinked="1"/>
        <c:majorTickMark val="out"/>
        <c:minorTickMark val="none"/>
        <c:tickLblPos val="nextTo"/>
        <c:crossAx val="1457941520"/>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385326629476883E-2"/>
          <c:y val="1.8528055414933613E-2"/>
          <c:w val="0.93938779724977095"/>
          <c:h val="0.94904784760893257"/>
        </c:manualLayout>
      </c:layout>
      <c:barChart>
        <c:barDir val="bar"/>
        <c:grouping val="percentStacked"/>
        <c:varyColors val="0"/>
        <c:ser>
          <c:idx val="0"/>
          <c:order val="0"/>
          <c:tx>
            <c:strRef>
              <c:f>Sheet1!$B$1</c:f>
              <c:strCache>
                <c:ptCount val="1"/>
                <c:pt idx="0">
                  <c:v>Training/Comm/PCM</c:v>
                </c:pt>
              </c:strCache>
            </c:strRef>
          </c:tx>
          <c:spPr>
            <a:solidFill>
              <a:schemeClr val="bg2">
                <a:lumMod val="9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Sheet1!$B$2</c:f>
              <c:numCache>
                <c:formatCode>General</c:formatCode>
                <c:ptCount val="1"/>
                <c:pt idx="0">
                  <c:v>1</c:v>
                </c:pt>
              </c:numCache>
            </c:numRef>
          </c:val>
          <c:extLst>
            <c:ext xmlns:c16="http://schemas.microsoft.com/office/drawing/2014/chart" uri="{C3380CC4-5D6E-409C-BE32-E72D297353CC}">
              <c16:uniqueId val="{00000000-71AF-43E9-BA72-8B1E4F051327}"/>
            </c:ext>
          </c:extLst>
        </c:ser>
        <c:ser>
          <c:idx val="1"/>
          <c:order val="1"/>
          <c:tx>
            <c:strRef>
              <c:f>Sheet1!$C$1</c:f>
              <c:strCache>
                <c:ptCount val="1"/>
                <c:pt idx="0">
                  <c:v>Busn. Reqs</c:v>
                </c:pt>
              </c:strCache>
            </c:strRef>
          </c:tx>
          <c:spPr>
            <a:solidFill>
              <a:schemeClr val="bg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Sheet1!$C$2</c:f>
              <c:numCache>
                <c:formatCode>General</c:formatCode>
                <c:ptCount val="1"/>
                <c:pt idx="0">
                  <c:v>3</c:v>
                </c:pt>
              </c:numCache>
            </c:numRef>
          </c:val>
          <c:extLst>
            <c:ext xmlns:c16="http://schemas.microsoft.com/office/drawing/2014/chart" uri="{C3380CC4-5D6E-409C-BE32-E72D297353CC}">
              <c16:uniqueId val="{00000001-71AF-43E9-BA72-8B1E4F051327}"/>
            </c:ext>
          </c:extLst>
        </c:ser>
        <c:ser>
          <c:idx val="2"/>
          <c:order val="2"/>
          <c:tx>
            <c:strRef>
              <c:f>Sheet1!$D$1</c:f>
              <c:strCache>
                <c:ptCount val="1"/>
                <c:pt idx="0">
                  <c:v>Sol. Reqs</c:v>
                </c:pt>
              </c:strCache>
            </c:strRef>
          </c:tx>
          <c:spPr>
            <a:solidFill>
              <a:srgbClr val="ED494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Sheet1!$D$2</c:f>
              <c:numCache>
                <c:formatCode>General</c:formatCode>
                <c:ptCount val="1"/>
                <c:pt idx="0">
                  <c:v>9</c:v>
                </c:pt>
              </c:numCache>
            </c:numRef>
          </c:val>
          <c:extLst>
            <c:ext xmlns:c16="http://schemas.microsoft.com/office/drawing/2014/chart" uri="{C3380CC4-5D6E-409C-BE32-E72D297353CC}">
              <c16:uniqueId val="{00000002-71AF-43E9-BA72-8B1E4F051327}"/>
            </c:ext>
          </c:extLst>
        </c:ser>
        <c:ser>
          <c:idx val="3"/>
          <c:order val="3"/>
          <c:tx>
            <c:strRef>
              <c:f>Sheet1!$E$1</c:f>
              <c:strCache>
                <c:ptCount val="1"/>
                <c:pt idx="0">
                  <c:v>Code</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Sheet1!$E$2</c:f>
              <c:numCache>
                <c:formatCode>General</c:formatCode>
                <c:ptCount val="1"/>
                <c:pt idx="0">
                  <c:v>15</c:v>
                </c:pt>
              </c:numCache>
            </c:numRef>
          </c:val>
          <c:extLst>
            <c:ext xmlns:c16="http://schemas.microsoft.com/office/drawing/2014/chart" uri="{C3380CC4-5D6E-409C-BE32-E72D297353CC}">
              <c16:uniqueId val="{00000003-71AF-43E9-BA72-8B1E4F051327}"/>
            </c:ext>
          </c:extLst>
        </c:ser>
        <c:ser>
          <c:idx val="4"/>
          <c:order val="4"/>
          <c:tx>
            <c:strRef>
              <c:f>Sheet1!$F$1</c:f>
              <c:strCache>
                <c:ptCount val="1"/>
                <c:pt idx="0">
                  <c:v>Deployment</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Sheet1!$F$2</c:f>
              <c:numCache>
                <c:formatCode>General</c:formatCode>
                <c:ptCount val="1"/>
                <c:pt idx="0">
                  <c:v>1</c:v>
                </c:pt>
              </c:numCache>
            </c:numRef>
          </c:val>
          <c:extLst>
            <c:ext xmlns:c16="http://schemas.microsoft.com/office/drawing/2014/chart" uri="{C3380CC4-5D6E-409C-BE32-E72D297353CC}">
              <c16:uniqueId val="{00000004-71AF-43E9-BA72-8B1E4F051327}"/>
            </c:ext>
          </c:extLst>
        </c:ser>
        <c:ser>
          <c:idx val="5"/>
          <c:order val="5"/>
          <c:tx>
            <c:strRef>
              <c:f>Sheet1!$G$1</c:f>
              <c:strCache>
                <c:ptCount val="1"/>
                <c:pt idx="0">
                  <c:v>Performance</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Sheet1!$G$2</c:f>
              <c:numCache>
                <c:formatCode>General</c:formatCode>
                <c:ptCount val="1"/>
              </c:numCache>
            </c:numRef>
          </c:val>
          <c:extLst>
            <c:ext xmlns:c16="http://schemas.microsoft.com/office/drawing/2014/chart" uri="{C3380CC4-5D6E-409C-BE32-E72D297353CC}">
              <c16:uniqueId val="{00000005-71AF-43E9-BA72-8B1E4F051327}"/>
            </c:ext>
          </c:extLst>
        </c:ser>
        <c:ser>
          <c:idx val="6"/>
          <c:order val="6"/>
          <c:tx>
            <c:strRef>
              <c:f>Sheet1!$H$1</c:f>
              <c:strCache>
                <c:ptCount val="1"/>
                <c:pt idx="0">
                  <c:v>Third Party</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Sheet1!$H$2</c:f>
              <c:numCache>
                <c:formatCode>General</c:formatCode>
                <c:ptCount val="1"/>
                <c:pt idx="0">
                  <c:v>3</c:v>
                </c:pt>
              </c:numCache>
            </c:numRef>
          </c:val>
          <c:extLst>
            <c:ext xmlns:c16="http://schemas.microsoft.com/office/drawing/2014/chart" uri="{C3380CC4-5D6E-409C-BE32-E72D297353CC}">
              <c16:uniqueId val="{00000006-71AF-43E9-BA72-8B1E4F051327}"/>
            </c:ext>
          </c:extLst>
        </c:ser>
        <c:dLbls>
          <c:dLblPos val="ctr"/>
          <c:showLegendKey val="0"/>
          <c:showVal val="1"/>
          <c:showCatName val="0"/>
          <c:showSerName val="0"/>
          <c:showPercent val="0"/>
          <c:showBubbleSize val="0"/>
        </c:dLbls>
        <c:gapWidth val="150"/>
        <c:overlap val="100"/>
        <c:axId val="1158103304"/>
        <c:axId val="1158105104"/>
      </c:barChart>
      <c:catAx>
        <c:axId val="1158103304"/>
        <c:scaling>
          <c:orientation val="maxMin"/>
        </c:scaling>
        <c:delete val="1"/>
        <c:axPos val="l"/>
        <c:numFmt formatCode="General" sourceLinked="1"/>
        <c:majorTickMark val="none"/>
        <c:minorTickMark val="none"/>
        <c:tickLblPos val="nextTo"/>
        <c:crossAx val="1158105104"/>
        <c:crosses val="autoZero"/>
        <c:auto val="1"/>
        <c:lblAlgn val="ctr"/>
        <c:lblOffset val="100"/>
        <c:noMultiLvlLbl val="0"/>
      </c:catAx>
      <c:valAx>
        <c:axId val="1158105104"/>
        <c:scaling>
          <c:orientation val="minMax"/>
          <c:max val="1"/>
        </c:scaling>
        <c:delete val="1"/>
        <c:axPos val="t"/>
        <c:numFmt formatCode="0%" sourceLinked="1"/>
        <c:majorTickMark val="out"/>
        <c:minorTickMark val="none"/>
        <c:tickLblPos val="nextTo"/>
        <c:crossAx val="11581033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385326629476883E-2"/>
          <c:y val="1.8528055414933613E-2"/>
          <c:w val="0.93938779724977095"/>
          <c:h val="0.94904784760893257"/>
        </c:manualLayout>
      </c:layout>
      <c:barChart>
        <c:barDir val="bar"/>
        <c:grouping val="percentStacked"/>
        <c:varyColors val="0"/>
        <c:ser>
          <c:idx val="0"/>
          <c:order val="0"/>
          <c:tx>
            <c:strRef>
              <c:f>Sheet1!$B$1</c:f>
              <c:strCache>
                <c:ptCount val="1"/>
                <c:pt idx="0">
                  <c:v>Training/Comm/PCM</c:v>
                </c:pt>
              </c:strCache>
            </c:strRef>
          </c:tx>
          <c:spPr>
            <a:solidFill>
              <a:schemeClr val="bg2">
                <a:lumMod val="9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Sheet1!$B$2</c:f>
              <c:numCache>
                <c:formatCode>General</c:formatCode>
                <c:ptCount val="1"/>
                <c:pt idx="0">
                  <c:v>6</c:v>
                </c:pt>
              </c:numCache>
            </c:numRef>
          </c:val>
          <c:extLst>
            <c:ext xmlns:c16="http://schemas.microsoft.com/office/drawing/2014/chart" uri="{C3380CC4-5D6E-409C-BE32-E72D297353CC}">
              <c16:uniqueId val="{00000000-5EBD-4143-99AB-3CC72AAD922A}"/>
            </c:ext>
          </c:extLst>
        </c:ser>
        <c:ser>
          <c:idx val="1"/>
          <c:order val="1"/>
          <c:tx>
            <c:strRef>
              <c:f>Sheet1!$C$1</c:f>
              <c:strCache>
                <c:ptCount val="1"/>
                <c:pt idx="0">
                  <c:v>Busn. Reqs</c:v>
                </c:pt>
              </c:strCache>
            </c:strRef>
          </c:tx>
          <c:spPr>
            <a:solidFill>
              <a:schemeClr val="bg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Sheet1!$C$2</c:f>
              <c:numCache>
                <c:formatCode>General</c:formatCode>
                <c:ptCount val="1"/>
                <c:pt idx="0">
                  <c:v>17</c:v>
                </c:pt>
              </c:numCache>
            </c:numRef>
          </c:val>
          <c:extLst>
            <c:ext xmlns:c16="http://schemas.microsoft.com/office/drawing/2014/chart" uri="{C3380CC4-5D6E-409C-BE32-E72D297353CC}">
              <c16:uniqueId val="{00000001-5EBD-4143-99AB-3CC72AAD922A}"/>
            </c:ext>
          </c:extLst>
        </c:ser>
        <c:ser>
          <c:idx val="2"/>
          <c:order val="2"/>
          <c:tx>
            <c:strRef>
              <c:f>Sheet1!$D$1</c:f>
              <c:strCache>
                <c:ptCount val="1"/>
                <c:pt idx="0">
                  <c:v>Sol. Reqs</c:v>
                </c:pt>
              </c:strCache>
            </c:strRef>
          </c:tx>
          <c:spPr>
            <a:solidFill>
              <a:srgbClr val="ED494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Sheet1!$D$2</c:f>
              <c:numCache>
                <c:formatCode>General</c:formatCode>
                <c:ptCount val="1"/>
                <c:pt idx="0">
                  <c:v>22</c:v>
                </c:pt>
              </c:numCache>
            </c:numRef>
          </c:val>
          <c:extLst>
            <c:ext xmlns:c16="http://schemas.microsoft.com/office/drawing/2014/chart" uri="{C3380CC4-5D6E-409C-BE32-E72D297353CC}">
              <c16:uniqueId val="{00000002-5EBD-4143-99AB-3CC72AAD922A}"/>
            </c:ext>
          </c:extLst>
        </c:ser>
        <c:ser>
          <c:idx val="3"/>
          <c:order val="3"/>
          <c:tx>
            <c:strRef>
              <c:f>Sheet1!$E$1</c:f>
              <c:strCache>
                <c:ptCount val="1"/>
                <c:pt idx="0">
                  <c:v>Code</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Sheet1!$E$2</c:f>
              <c:numCache>
                <c:formatCode>General</c:formatCode>
                <c:ptCount val="1"/>
                <c:pt idx="0">
                  <c:v>72</c:v>
                </c:pt>
              </c:numCache>
            </c:numRef>
          </c:val>
          <c:extLst>
            <c:ext xmlns:c16="http://schemas.microsoft.com/office/drawing/2014/chart" uri="{C3380CC4-5D6E-409C-BE32-E72D297353CC}">
              <c16:uniqueId val="{00000003-5EBD-4143-99AB-3CC72AAD922A}"/>
            </c:ext>
          </c:extLst>
        </c:ser>
        <c:ser>
          <c:idx val="4"/>
          <c:order val="4"/>
          <c:tx>
            <c:strRef>
              <c:f>Sheet1!$F$1</c:f>
              <c:strCache>
                <c:ptCount val="1"/>
                <c:pt idx="0">
                  <c:v>Deployment</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Sheet1!$F$2</c:f>
              <c:numCache>
                <c:formatCode>General</c:formatCode>
                <c:ptCount val="1"/>
                <c:pt idx="0">
                  <c:v>2</c:v>
                </c:pt>
              </c:numCache>
            </c:numRef>
          </c:val>
          <c:extLst>
            <c:ext xmlns:c16="http://schemas.microsoft.com/office/drawing/2014/chart" uri="{C3380CC4-5D6E-409C-BE32-E72D297353CC}">
              <c16:uniqueId val="{00000004-5EBD-4143-99AB-3CC72AAD922A}"/>
            </c:ext>
          </c:extLst>
        </c:ser>
        <c:ser>
          <c:idx val="5"/>
          <c:order val="5"/>
          <c:tx>
            <c:strRef>
              <c:f>Sheet1!$G$1</c:f>
              <c:strCache>
                <c:ptCount val="1"/>
                <c:pt idx="0">
                  <c:v>Performance</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Sheet1!$G$2</c:f>
              <c:numCache>
                <c:formatCode>General</c:formatCode>
                <c:ptCount val="1"/>
                <c:pt idx="0">
                  <c:v>1</c:v>
                </c:pt>
              </c:numCache>
            </c:numRef>
          </c:val>
          <c:extLst>
            <c:ext xmlns:c16="http://schemas.microsoft.com/office/drawing/2014/chart" uri="{C3380CC4-5D6E-409C-BE32-E72D297353CC}">
              <c16:uniqueId val="{00000005-5EBD-4143-99AB-3CC72AAD922A}"/>
            </c:ext>
          </c:extLst>
        </c:ser>
        <c:ser>
          <c:idx val="6"/>
          <c:order val="6"/>
          <c:tx>
            <c:strRef>
              <c:f>Sheet1!$H$1</c:f>
              <c:strCache>
                <c:ptCount val="1"/>
                <c:pt idx="0">
                  <c:v>Third Party</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FY24</c:v>
                </c:pt>
              </c:strCache>
            </c:strRef>
          </c:cat>
          <c:val>
            <c:numRef>
              <c:f>Sheet1!$H$2</c:f>
              <c:numCache>
                <c:formatCode>General</c:formatCode>
                <c:ptCount val="1"/>
                <c:pt idx="0">
                  <c:v>14</c:v>
                </c:pt>
              </c:numCache>
            </c:numRef>
          </c:val>
          <c:extLst>
            <c:ext xmlns:c16="http://schemas.microsoft.com/office/drawing/2014/chart" uri="{C3380CC4-5D6E-409C-BE32-E72D297353CC}">
              <c16:uniqueId val="{00000006-5EBD-4143-99AB-3CC72AAD922A}"/>
            </c:ext>
          </c:extLst>
        </c:ser>
        <c:dLbls>
          <c:dLblPos val="ctr"/>
          <c:showLegendKey val="0"/>
          <c:showVal val="1"/>
          <c:showCatName val="0"/>
          <c:showSerName val="0"/>
          <c:showPercent val="0"/>
          <c:showBubbleSize val="0"/>
        </c:dLbls>
        <c:gapWidth val="150"/>
        <c:overlap val="100"/>
        <c:axId val="1158103304"/>
        <c:axId val="1158105104"/>
      </c:barChart>
      <c:catAx>
        <c:axId val="1158103304"/>
        <c:scaling>
          <c:orientation val="maxMin"/>
        </c:scaling>
        <c:delete val="1"/>
        <c:axPos val="l"/>
        <c:numFmt formatCode="General" sourceLinked="1"/>
        <c:majorTickMark val="none"/>
        <c:minorTickMark val="none"/>
        <c:tickLblPos val="nextTo"/>
        <c:crossAx val="1158105104"/>
        <c:crosses val="autoZero"/>
        <c:auto val="1"/>
        <c:lblAlgn val="ctr"/>
        <c:lblOffset val="100"/>
        <c:noMultiLvlLbl val="0"/>
      </c:catAx>
      <c:valAx>
        <c:axId val="1158105104"/>
        <c:scaling>
          <c:orientation val="minMax"/>
          <c:max val="1"/>
        </c:scaling>
        <c:delete val="1"/>
        <c:axPos val="t"/>
        <c:numFmt formatCode="0%" sourceLinked="1"/>
        <c:majorTickMark val="out"/>
        <c:minorTickMark val="none"/>
        <c:tickLblPos val="nextTo"/>
        <c:crossAx val="11581033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11233735914E-2"/>
          <c:y val="3.4283919171124007E-2"/>
          <c:w val="0.97188766264086002"/>
          <c:h val="0.89451876292304577"/>
        </c:manualLayout>
      </c:layout>
      <c:barChart>
        <c:barDir val="col"/>
        <c:grouping val="clustered"/>
        <c:varyColors val="0"/>
        <c:ser>
          <c:idx val="0"/>
          <c:order val="0"/>
          <c:tx>
            <c:strRef>
              <c:f>Sheet1!$B$1</c:f>
              <c:strCache>
                <c:ptCount val="1"/>
                <c:pt idx="0">
                  <c:v>FY '24</c:v>
                </c:pt>
              </c:strCache>
            </c:strRef>
          </c:tx>
          <c:spPr>
            <a:solidFill>
              <a:srgbClr val="E26B0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E26B0A"/>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Sheet1!$B$2:$B$13</c:f>
              <c:numCache>
                <c:formatCode>0</c:formatCode>
                <c:ptCount val="12"/>
                <c:pt idx="0">
                  <c:v>13</c:v>
                </c:pt>
                <c:pt idx="1">
                  <c:v>1</c:v>
                </c:pt>
                <c:pt idx="2">
                  <c:v>2</c:v>
                </c:pt>
                <c:pt idx="3">
                  <c:v>4</c:v>
                </c:pt>
                <c:pt idx="4">
                  <c:v>1</c:v>
                </c:pt>
                <c:pt idx="5">
                  <c:v>1</c:v>
                </c:pt>
                <c:pt idx="6">
                  <c:v>0</c:v>
                </c:pt>
                <c:pt idx="7">
                  <c:v>1</c:v>
                </c:pt>
                <c:pt idx="8">
                  <c:v>2</c:v>
                </c:pt>
                <c:pt idx="9">
                  <c:v>0</c:v>
                </c:pt>
                <c:pt idx="10">
                  <c:v>5</c:v>
                </c:pt>
                <c:pt idx="11">
                  <c:v>0</c:v>
                </c:pt>
              </c:numCache>
            </c:numRef>
          </c:val>
          <c:extLst>
            <c:ext xmlns:c16="http://schemas.microsoft.com/office/drawing/2014/chart" uri="{C3380CC4-5D6E-409C-BE32-E72D297353CC}">
              <c16:uniqueId val="{00000000-C73F-419A-980F-A64D70ED6B23}"/>
            </c:ext>
          </c:extLst>
        </c:ser>
        <c:ser>
          <c:idx val="1"/>
          <c:order val="1"/>
          <c:tx>
            <c:strRef>
              <c:f>Sheet1!$C$1</c:f>
              <c:strCache>
                <c:ptCount val="1"/>
                <c:pt idx="0">
                  <c:v>FY '25</c:v>
                </c:pt>
              </c:strCache>
            </c:strRef>
          </c:tx>
          <c:spPr>
            <a:solidFill>
              <a:schemeClr val="accent3">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3">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Sheet1!$C$2:$C$13</c:f>
              <c:numCache>
                <c:formatCode>0</c:formatCode>
                <c:ptCount val="12"/>
                <c:pt idx="0">
                  <c:v>6</c:v>
                </c:pt>
                <c:pt idx="1">
                  <c:v>1</c:v>
                </c:pt>
                <c:pt idx="2">
                  <c:v>1</c:v>
                </c:pt>
                <c:pt idx="3">
                  <c:v>23</c:v>
                </c:pt>
                <c:pt idx="4">
                  <c:v>0</c:v>
                </c:pt>
                <c:pt idx="5">
                  <c:v>18</c:v>
                </c:pt>
                <c:pt idx="6">
                  <c:v>7</c:v>
                </c:pt>
                <c:pt idx="7">
                  <c:v>1</c:v>
                </c:pt>
                <c:pt idx="8">
                  <c:v>15</c:v>
                </c:pt>
                <c:pt idx="9">
                  <c:v>18</c:v>
                </c:pt>
                <c:pt idx="10">
                  <c:v>27</c:v>
                </c:pt>
                <c:pt idx="11">
                  <c:v>3</c:v>
                </c:pt>
              </c:numCache>
            </c:numRef>
          </c:val>
          <c:extLst>
            <c:ext xmlns:c16="http://schemas.microsoft.com/office/drawing/2014/chart" uri="{C3380CC4-5D6E-409C-BE32-E72D297353CC}">
              <c16:uniqueId val="{00000000-03F4-47DF-8EAD-29CE2485E4CA}"/>
            </c:ext>
          </c:extLst>
        </c:ser>
        <c:dLbls>
          <c:dLblPos val="outEnd"/>
          <c:showLegendKey val="0"/>
          <c:showVal val="1"/>
          <c:showCatName val="0"/>
          <c:showSerName val="0"/>
          <c:showPercent val="0"/>
          <c:showBubbleSize val="0"/>
        </c:dLbls>
        <c:gapWidth val="150"/>
        <c:axId val="1549352424"/>
        <c:axId val="1549348464"/>
      </c:barChart>
      <c:catAx>
        <c:axId val="1549352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549348464"/>
        <c:crosses val="autoZero"/>
        <c:auto val="1"/>
        <c:lblAlgn val="ctr"/>
        <c:lblOffset val="100"/>
        <c:noMultiLvlLbl val="0"/>
      </c:catAx>
      <c:valAx>
        <c:axId val="1549348464"/>
        <c:scaling>
          <c:orientation val="minMax"/>
          <c:max val="30"/>
        </c:scaling>
        <c:delete val="1"/>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crossAx val="1549352424"/>
        <c:crosses val="autoZero"/>
        <c:crossBetween val="between"/>
      </c:valAx>
      <c:spPr>
        <a:noFill/>
        <a:ln>
          <a:noFill/>
        </a:ln>
        <a:effectLst/>
      </c:spPr>
    </c:plotArea>
    <c:legend>
      <c:legendPos val="r"/>
      <c:layout>
        <c:manualLayout>
          <c:xMode val="edge"/>
          <c:yMode val="edge"/>
          <c:x val="2.6052681952924719E-2"/>
          <c:y val="2.674693937875991E-2"/>
          <c:w val="6.7416280097392187E-2"/>
          <c:h val="0.1708156952455282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4114800" cy="464820"/>
          </a:xfrm>
          <a:prstGeom prst="rect">
            <a:avLst/>
          </a:prstGeom>
        </p:spPr>
        <p:txBody>
          <a:bodyPr vert="horz" lIns="90279" tIns="45140" rIns="90279" bIns="45140" rtlCol="0"/>
          <a:lstStyle>
            <a:lvl1pPr algn="l">
              <a:defRPr sz="1200"/>
            </a:lvl1pPr>
          </a:lstStyle>
          <a:p>
            <a:endParaRPr lang="en-CA" sz="1300" b="1">
              <a:solidFill>
                <a:schemeClr val="accent6"/>
              </a:solidFill>
            </a:endParaRPr>
          </a:p>
        </p:txBody>
      </p:sp>
      <p:sp>
        <p:nvSpPr>
          <p:cNvPr id="3" name="Date Placeholder 2"/>
          <p:cNvSpPr>
            <a:spLocks noGrp="1"/>
          </p:cNvSpPr>
          <p:nvPr>
            <p:ph type="dt" sz="quarter" idx="1"/>
          </p:nvPr>
        </p:nvSpPr>
        <p:spPr>
          <a:xfrm>
            <a:off x="5181600" y="3"/>
            <a:ext cx="1828800" cy="464820"/>
          </a:xfrm>
          <a:prstGeom prst="rect">
            <a:avLst/>
          </a:prstGeom>
        </p:spPr>
        <p:txBody>
          <a:bodyPr vert="horz" lIns="90279" tIns="45140" rIns="90279" bIns="45140" rtlCol="0"/>
          <a:lstStyle>
            <a:lvl1pPr algn="r">
              <a:defRPr sz="1200"/>
            </a:lvl1pPr>
          </a:lstStyle>
          <a:p>
            <a:fld id="{4EDEF598-7398-4D7D-8578-039EF183D778}" type="datetimeFigureOut">
              <a:rPr lang="en-CA" sz="1100"/>
              <a:t>2025-10-10</a:t>
            </a:fld>
            <a:endParaRPr lang="en-CA" sz="1100"/>
          </a:p>
        </p:txBody>
      </p:sp>
      <p:sp>
        <p:nvSpPr>
          <p:cNvPr id="4" name="Footer Placeholder 3"/>
          <p:cNvSpPr>
            <a:spLocks noGrp="1"/>
          </p:cNvSpPr>
          <p:nvPr>
            <p:ph type="ftr" sz="quarter" idx="2"/>
          </p:nvPr>
        </p:nvSpPr>
        <p:spPr>
          <a:xfrm>
            <a:off x="0" y="8829973"/>
            <a:ext cx="3200400" cy="464820"/>
          </a:xfrm>
          <a:prstGeom prst="rect">
            <a:avLst/>
          </a:prstGeom>
        </p:spPr>
        <p:txBody>
          <a:bodyPr vert="horz" lIns="90279" tIns="45140" rIns="90279" bIns="45140" rtlCol="0" anchor="b"/>
          <a:lstStyle>
            <a:lvl1pPr algn="l">
              <a:defRPr sz="1200"/>
            </a:lvl1pPr>
          </a:lstStyle>
          <a:p>
            <a:endParaRPr lang="en-CA" sz="1000" b="1">
              <a:solidFill>
                <a:schemeClr val="tx2"/>
              </a:solidFill>
            </a:endParaRPr>
          </a:p>
        </p:txBody>
      </p:sp>
      <p:sp>
        <p:nvSpPr>
          <p:cNvPr id="5" name="Slide Number Placeholder 4"/>
          <p:cNvSpPr>
            <a:spLocks noGrp="1"/>
          </p:cNvSpPr>
          <p:nvPr>
            <p:ph type="sldNum" sz="quarter" idx="3"/>
          </p:nvPr>
        </p:nvSpPr>
        <p:spPr>
          <a:xfrm>
            <a:off x="6096000" y="8829973"/>
            <a:ext cx="914400" cy="464820"/>
          </a:xfrm>
          <a:prstGeom prst="rect">
            <a:avLst/>
          </a:prstGeom>
        </p:spPr>
        <p:txBody>
          <a:bodyPr vert="horz" lIns="90279" tIns="45140" rIns="90279" bIns="45140" rtlCol="0" anchor="b"/>
          <a:lstStyle>
            <a:lvl1pPr algn="r">
              <a:defRPr sz="1200"/>
            </a:lvl1pPr>
          </a:lstStyle>
          <a:p>
            <a:fld id="{81572F79-136D-4447-BE71-3EDF5A15A342}" type="slidenum">
              <a:rPr lang="en-CA" sz="900">
                <a:solidFill>
                  <a:schemeClr val="tx2"/>
                </a:solidFill>
              </a:rPr>
              <a:t>‹#›</a:t>
            </a:fld>
            <a:endParaRPr lang="en-CA" sz="900">
              <a:solidFill>
                <a:schemeClr val="tx2"/>
              </a:solidFill>
            </a:endParaRPr>
          </a:p>
        </p:txBody>
      </p:sp>
    </p:spTree>
    <p:extLst>
      <p:ext uri="{BB962C8B-B14F-4D97-AF65-F5344CB8AC3E}">
        <p14:creationId xmlns:p14="http://schemas.microsoft.com/office/powerpoint/2010/main" val="3419548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4114800" cy="464820"/>
          </a:xfrm>
          <a:prstGeom prst="rect">
            <a:avLst/>
          </a:prstGeom>
        </p:spPr>
        <p:txBody>
          <a:bodyPr vert="horz" lIns="90279" tIns="45140" rIns="90279" bIns="45140" rtlCol="0"/>
          <a:lstStyle>
            <a:lvl1pPr algn="l">
              <a:defRPr sz="1300" b="1">
                <a:solidFill>
                  <a:schemeClr val="accent6"/>
                </a:solidFill>
              </a:defRPr>
            </a:lvl1pPr>
          </a:lstStyle>
          <a:p>
            <a:endParaRPr lang="en-CA"/>
          </a:p>
        </p:txBody>
      </p:sp>
      <p:sp>
        <p:nvSpPr>
          <p:cNvPr id="3" name="Date Placeholder 2"/>
          <p:cNvSpPr>
            <a:spLocks noGrp="1"/>
          </p:cNvSpPr>
          <p:nvPr>
            <p:ph type="dt" idx="1"/>
          </p:nvPr>
        </p:nvSpPr>
        <p:spPr>
          <a:xfrm>
            <a:off x="5179978" y="3"/>
            <a:ext cx="1828800" cy="464820"/>
          </a:xfrm>
          <a:prstGeom prst="rect">
            <a:avLst/>
          </a:prstGeom>
        </p:spPr>
        <p:txBody>
          <a:bodyPr vert="horz" lIns="90279" tIns="45140" rIns="90279" bIns="45140" rtlCol="0"/>
          <a:lstStyle>
            <a:lvl1pPr algn="r">
              <a:defRPr sz="1100"/>
            </a:lvl1pPr>
          </a:lstStyle>
          <a:p>
            <a:fld id="{076C7D1E-CE8A-43D6-B698-4592113FF582}" type="datetimeFigureOut">
              <a:rPr lang="en-CA" smtClean="0"/>
              <a:pPr/>
              <a:t>2025-10-10</a:t>
            </a:fld>
            <a:endParaRPr lang="en-CA"/>
          </a:p>
        </p:txBody>
      </p:sp>
      <p:sp>
        <p:nvSpPr>
          <p:cNvPr id="4" name="Slide Image Placeholder 3"/>
          <p:cNvSpPr>
            <a:spLocks noGrp="1" noRot="1" noChangeAspect="1"/>
          </p:cNvSpPr>
          <p:nvPr>
            <p:ph type="sldImg" idx="2"/>
          </p:nvPr>
        </p:nvSpPr>
        <p:spPr>
          <a:xfrm>
            <a:off x="484188" y="695325"/>
            <a:ext cx="6042025" cy="3486150"/>
          </a:xfrm>
          <a:prstGeom prst="rect">
            <a:avLst/>
          </a:prstGeom>
          <a:noFill/>
          <a:ln w="12700">
            <a:solidFill>
              <a:prstClr val="black"/>
            </a:solidFill>
          </a:ln>
        </p:spPr>
        <p:txBody>
          <a:bodyPr vert="horz" lIns="90279" tIns="45140" rIns="90279" bIns="45140" rtlCol="0" anchor="ctr"/>
          <a:lstStyle/>
          <a:p>
            <a:endParaRPr lang="en-CA"/>
          </a:p>
        </p:txBody>
      </p:sp>
      <p:sp>
        <p:nvSpPr>
          <p:cNvPr id="5" name="Notes Placeholder 4"/>
          <p:cNvSpPr>
            <a:spLocks noGrp="1"/>
          </p:cNvSpPr>
          <p:nvPr>
            <p:ph type="body" sz="quarter" idx="3"/>
          </p:nvPr>
        </p:nvSpPr>
        <p:spPr>
          <a:xfrm>
            <a:off x="304801" y="4415791"/>
            <a:ext cx="6400800" cy="4183380"/>
          </a:xfrm>
          <a:prstGeom prst="rect">
            <a:avLst/>
          </a:prstGeom>
        </p:spPr>
        <p:txBody>
          <a:bodyPr vert="horz" lIns="90279" tIns="45140" rIns="90279" bIns="4514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9973"/>
            <a:ext cx="3200400" cy="464820"/>
          </a:xfrm>
          <a:prstGeom prst="rect">
            <a:avLst/>
          </a:prstGeom>
        </p:spPr>
        <p:txBody>
          <a:bodyPr vert="horz" lIns="90279" tIns="45140" rIns="90279" bIns="45140" rtlCol="0" anchor="b"/>
          <a:lstStyle>
            <a:lvl1pPr algn="l">
              <a:defRPr sz="1000" b="1">
                <a:solidFill>
                  <a:schemeClr val="tx2"/>
                </a:solidFill>
              </a:defRPr>
            </a:lvl1pPr>
          </a:lstStyle>
          <a:p>
            <a:endParaRPr lang="en-CA"/>
          </a:p>
        </p:txBody>
      </p:sp>
      <p:sp>
        <p:nvSpPr>
          <p:cNvPr id="7" name="Slide Number Placeholder 6"/>
          <p:cNvSpPr>
            <a:spLocks noGrp="1"/>
          </p:cNvSpPr>
          <p:nvPr>
            <p:ph type="sldNum" sz="quarter" idx="5"/>
          </p:nvPr>
        </p:nvSpPr>
        <p:spPr>
          <a:xfrm>
            <a:off x="6094378" y="8829973"/>
            <a:ext cx="914400" cy="464820"/>
          </a:xfrm>
          <a:prstGeom prst="rect">
            <a:avLst/>
          </a:prstGeom>
        </p:spPr>
        <p:txBody>
          <a:bodyPr vert="horz" lIns="90279" tIns="45140" rIns="90279" bIns="45140" rtlCol="0" anchor="b"/>
          <a:lstStyle>
            <a:lvl1pPr algn="r">
              <a:defRPr sz="1100">
                <a:solidFill>
                  <a:schemeClr val="tx2"/>
                </a:solidFill>
              </a:defRPr>
            </a:lvl1pPr>
          </a:lstStyle>
          <a:p>
            <a:fld id="{1B427486-0A82-44CF-BBB2-E689C440DD6F}" type="slidenum">
              <a:rPr lang="en-CA" smtClean="0"/>
              <a:pPr/>
              <a:t>‹#›</a:t>
            </a:fld>
            <a:endParaRPr lang="en-CA"/>
          </a:p>
        </p:txBody>
      </p:sp>
    </p:spTree>
    <p:extLst>
      <p:ext uri="{BB962C8B-B14F-4D97-AF65-F5344CB8AC3E}">
        <p14:creationId xmlns:p14="http://schemas.microsoft.com/office/powerpoint/2010/main" val="4106081489"/>
      </p:ext>
    </p:extLst>
  </p:cSld>
  <p:clrMap bg1="lt1" tx1="dk1" bg2="lt2" tx2="dk2" accent1="accent1" accent2="accent2" accent3="accent3" accent4="accent4" accent5="accent5" accent6="accent6" hlink="hlink" folHlink="folHlink"/>
  <p:notesStyle>
    <a:lvl1pPr marL="0" algn="l" defTabSz="1199693" rtl="0" eaLnBrk="1" latinLnBrk="0" hangingPunct="1">
      <a:spcBef>
        <a:spcPts val="787"/>
      </a:spcBef>
      <a:spcAft>
        <a:spcPts val="787"/>
      </a:spcAft>
      <a:defRPr sz="1700" b="1" kern="1200">
        <a:solidFill>
          <a:schemeClr val="accent6"/>
        </a:solidFill>
        <a:latin typeface="+mn-lt"/>
        <a:ea typeface="+mn-ea"/>
        <a:cs typeface="+mn-cs"/>
      </a:defRPr>
    </a:lvl1pPr>
    <a:lvl2pPr marL="304089" indent="-304089" algn="l" defTabSz="1199693" rtl="0" eaLnBrk="1" latinLnBrk="0" hangingPunct="1">
      <a:spcBef>
        <a:spcPts val="394"/>
      </a:spcBef>
      <a:spcAft>
        <a:spcPts val="394"/>
      </a:spcAft>
      <a:buClr>
        <a:schemeClr val="accent6"/>
      </a:buClr>
      <a:buFont typeface="Trebuchet MS" panose="020B0603020202020204" pitchFamily="34" charset="0"/>
      <a:buChar char="•"/>
      <a:defRPr sz="1400" kern="1200">
        <a:solidFill>
          <a:schemeClr val="tx1"/>
        </a:solidFill>
        <a:latin typeface="+mn-lt"/>
        <a:ea typeface="+mn-ea"/>
        <a:cs typeface="+mn-cs"/>
      </a:defRPr>
    </a:lvl2pPr>
    <a:lvl3pPr marL="608178" indent="-295758" algn="l" defTabSz="1199693" rtl="0" eaLnBrk="1" latinLnBrk="0" hangingPunct="1">
      <a:spcBef>
        <a:spcPts val="394"/>
      </a:spcBef>
      <a:spcAft>
        <a:spcPts val="394"/>
      </a:spcAft>
      <a:buClr>
        <a:schemeClr val="accent6"/>
      </a:buClr>
      <a:buFont typeface="Trebuchet MS" panose="020B0603020202020204" pitchFamily="34" charset="0"/>
      <a:buChar char="−"/>
      <a:defRPr sz="1400" kern="1200">
        <a:solidFill>
          <a:schemeClr val="tx1"/>
        </a:solidFill>
        <a:latin typeface="+mn-lt"/>
        <a:ea typeface="+mn-ea"/>
        <a:cs typeface="+mn-cs"/>
      </a:defRPr>
    </a:lvl3pPr>
    <a:lvl4pPr marL="903935" indent="-304089" algn="l" defTabSz="1199693" rtl="0" eaLnBrk="1" latinLnBrk="0" hangingPunct="1">
      <a:spcBef>
        <a:spcPts val="394"/>
      </a:spcBef>
      <a:spcAft>
        <a:spcPts val="394"/>
      </a:spcAft>
      <a:buClr>
        <a:schemeClr val="accent6"/>
      </a:buClr>
      <a:buFont typeface="Trebuchet MS" panose="020B0603020202020204" pitchFamily="34" charset="0"/>
      <a:buChar char="▪"/>
      <a:defRPr sz="1400" kern="1200">
        <a:solidFill>
          <a:schemeClr val="tx1"/>
        </a:solidFill>
        <a:latin typeface="+mn-lt"/>
        <a:ea typeface="+mn-ea"/>
        <a:cs typeface="+mn-cs"/>
      </a:defRPr>
    </a:lvl4pPr>
    <a:lvl5pPr marL="1199693" indent="-295758" algn="l" defTabSz="1199693" rtl="0" eaLnBrk="1" latinLnBrk="0" hangingPunct="1">
      <a:spcBef>
        <a:spcPts val="394"/>
      </a:spcBef>
      <a:spcAft>
        <a:spcPts val="394"/>
      </a:spcAft>
      <a:buClr>
        <a:schemeClr val="accent6"/>
      </a:buClr>
      <a:buFont typeface="Trebuchet MS" panose="020B0603020202020204" pitchFamily="34" charset="0"/>
      <a:buChar char="◦"/>
      <a:defRPr sz="1400" kern="1200">
        <a:solidFill>
          <a:schemeClr val="tx1"/>
        </a:solidFill>
        <a:latin typeface="+mn-lt"/>
        <a:ea typeface="+mn-ea"/>
        <a:cs typeface="+mn-cs"/>
      </a:defRPr>
    </a:lvl5pPr>
    <a:lvl6pPr marL="2999232" algn="l" defTabSz="1199693" rtl="0" eaLnBrk="1" latinLnBrk="0" hangingPunct="1">
      <a:defRPr sz="1600" kern="1200">
        <a:solidFill>
          <a:schemeClr val="tx1"/>
        </a:solidFill>
        <a:latin typeface="+mn-lt"/>
        <a:ea typeface="+mn-ea"/>
        <a:cs typeface="+mn-cs"/>
      </a:defRPr>
    </a:lvl6pPr>
    <a:lvl7pPr marL="3599078" algn="l" defTabSz="1199693" rtl="0" eaLnBrk="1" latinLnBrk="0" hangingPunct="1">
      <a:defRPr sz="1600" kern="1200">
        <a:solidFill>
          <a:schemeClr val="tx1"/>
        </a:solidFill>
        <a:latin typeface="+mn-lt"/>
        <a:ea typeface="+mn-ea"/>
        <a:cs typeface="+mn-cs"/>
      </a:defRPr>
    </a:lvl7pPr>
    <a:lvl8pPr marL="4198925" algn="l" defTabSz="1199693" rtl="0" eaLnBrk="1" latinLnBrk="0" hangingPunct="1">
      <a:defRPr sz="1600" kern="1200">
        <a:solidFill>
          <a:schemeClr val="tx1"/>
        </a:solidFill>
        <a:latin typeface="+mn-lt"/>
        <a:ea typeface="+mn-ea"/>
        <a:cs typeface="+mn-cs"/>
      </a:defRPr>
    </a:lvl8pPr>
    <a:lvl9pPr marL="4798771" algn="l" defTabSz="1199693"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1</a:t>
            </a:fld>
            <a:endParaRPr lang="en-CA"/>
          </a:p>
        </p:txBody>
      </p:sp>
    </p:spTree>
    <p:extLst>
      <p:ext uri="{BB962C8B-B14F-4D97-AF65-F5344CB8AC3E}">
        <p14:creationId xmlns:p14="http://schemas.microsoft.com/office/powerpoint/2010/main" val="2159707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E0EC9-E86A-279F-2D79-B365C752A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B9E77-8051-0106-71CB-9732175DE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78879-C9E9-BCD1-6941-36BBE059AE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27DAE5-9868-1F91-611D-289D0A00FFCB}"/>
              </a:ext>
            </a:extLst>
          </p:cNvPr>
          <p:cNvSpPr>
            <a:spLocks noGrp="1"/>
          </p:cNvSpPr>
          <p:nvPr>
            <p:ph type="sldNum" sz="quarter" idx="5"/>
          </p:nvPr>
        </p:nvSpPr>
        <p:spPr/>
        <p:txBody>
          <a:bodyPr/>
          <a:lstStyle/>
          <a:p>
            <a:fld id="{1B427486-0A82-44CF-BBB2-E689C440DD6F}" type="slidenum">
              <a:rPr lang="en-CA" smtClean="0"/>
              <a:pPr/>
              <a:t>2</a:t>
            </a:fld>
            <a:endParaRPr lang="en-CA"/>
          </a:p>
        </p:txBody>
      </p:sp>
    </p:spTree>
    <p:extLst>
      <p:ext uri="{BB962C8B-B14F-4D97-AF65-F5344CB8AC3E}">
        <p14:creationId xmlns:p14="http://schemas.microsoft.com/office/powerpoint/2010/main" val="2725966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0DB28-1D8D-DAFB-32C9-2D6095CA5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A76D9-ABDE-889A-F8FD-73D08C871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50CB8-420C-FD70-DE3B-F4821B8356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AFC7EE-E061-37BD-BB0A-B4300291A5F2}"/>
              </a:ext>
            </a:extLst>
          </p:cNvPr>
          <p:cNvSpPr>
            <a:spLocks noGrp="1"/>
          </p:cNvSpPr>
          <p:nvPr>
            <p:ph type="sldNum" sz="quarter" idx="5"/>
          </p:nvPr>
        </p:nvSpPr>
        <p:spPr/>
        <p:txBody>
          <a:bodyPr/>
          <a:lstStyle/>
          <a:p>
            <a:fld id="{1B427486-0A82-44CF-BBB2-E689C440DD6F}" type="slidenum">
              <a:rPr lang="en-CA" smtClean="0"/>
              <a:pPr/>
              <a:t>3</a:t>
            </a:fld>
            <a:endParaRPr lang="en-CA"/>
          </a:p>
        </p:txBody>
      </p:sp>
    </p:spTree>
    <p:extLst>
      <p:ext uri="{BB962C8B-B14F-4D97-AF65-F5344CB8AC3E}">
        <p14:creationId xmlns:p14="http://schemas.microsoft.com/office/powerpoint/2010/main" val="731097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4</a:t>
            </a:fld>
            <a:endParaRPr lang="en-CA"/>
          </a:p>
        </p:txBody>
      </p:sp>
    </p:spTree>
    <p:extLst>
      <p:ext uri="{BB962C8B-B14F-4D97-AF65-F5344CB8AC3E}">
        <p14:creationId xmlns:p14="http://schemas.microsoft.com/office/powerpoint/2010/main" val="2333343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CB657-9EF3-DA17-875E-468625C646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2AEC8-35B1-709F-283B-1D9B05728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EB52C-0817-DEFA-B02B-8CDF4639C8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C6932B-A85F-401F-7C91-74428FBDCDD0}"/>
              </a:ext>
            </a:extLst>
          </p:cNvPr>
          <p:cNvSpPr>
            <a:spLocks noGrp="1"/>
          </p:cNvSpPr>
          <p:nvPr>
            <p:ph type="sldNum" sz="quarter" idx="5"/>
          </p:nvPr>
        </p:nvSpPr>
        <p:spPr/>
        <p:txBody>
          <a:bodyPr/>
          <a:lstStyle/>
          <a:p>
            <a:fld id="{1B427486-0A82-44CF-BBB2-E689C440DD6F}" type="slidenum">
              <a:rPr lang="en-CA" smtClean="0"/>
              <a:pPr/>
              <a:t>5</a:t>
            </a:fld>
            <a:endParaRPr lang="en-CA"/>
          </a:p>
        </p:txBody>
      </p:sp>
    </p:spTree>
    <p:extLst>
      <p:ext uri="{BB962C8B-B14F-4D97-AF65-F5344CB8AC3E}">
        <p14:creationId xmlns:p14="http://schemas.microsoft.com/office/powerpoint/2010/main" val="2037004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6</a:t>
            </a:fld>
            <a:endParaRPr lang="en-CA"/>
          </a:p>
        </p:txBody>
      </p:sp>
    </p:spTree>
    <p:extLst>
      <p:ext uri="{BB962C8B-B14F-4D97-AF65-F5344CB8AC3E}">
        <p14:creationId xmlns:p14="http://schemas.microsoft.com/office/powerpoint/2010/main" val="293245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7</a:t>
            </a:fld>
            <a:endParaRPr lang="en-CA"/>
          </a:p>
        </p:txBody>
      </p:sp>
    </p:spTree>
    <p:extLst>
      <p:ext uri="{BB962C8B-B14F-4D97-AF65-F5344CB8AC3E}">
        <p14:creationId xmlns:p14="http://schemas.microsoft.com/office/powerpoint/2010/main" val="1971141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8</a:t>
            </a:fld>
            <a:endParaRPr lang="en-CA"/>
          </a:p>
        </p:txBody>
      </p:sp>
    </p:spTree>
    <p:extLst>
      <p:ext uri="{BB962C8B-B14F-4D97-AF65-F5344CB8AC3E}">
        <p14:creationId xmlns:p14="http://schemas.microsoft.com/office/powerpoint/2010/main" val="2765035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9</a:t>
            </a:fld>
            <a:endParaRPr lang="en-CA"/>
          </a:p>
        </p:txBody>
      </p:sp>
    </p:spTree>
    <p:extLst>
      <p:ext uri="{BB962C8B-B14F-4D97-AF65-F5344CB8AC3E}">
        <p14:creationId xmlns:p14="http://schemas.microsoft.com/office/powerpoint/2010/main" val="1231020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11</a:t>
            </a:fld>
            <a:endParaRPr lang="en-CA"/>
          </a:p>
        </p:txBody>
      </p:sp>
    </p:spTree>
    <p:extLst>
      <p:ext uri="{BB962C8B-B14F-4D97-AF65-F5344CB8AC3E}">
        <p14:creationId xmlns:p14="http://schemas.microsoft.com/office/powerpoint/2010/main" val="501710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5B827-A32D-AB56-6E8F-B0A934BE0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5BB97-5957-16AF-5F00-0204EBA57E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9B10E3-8998-7F70-E80E-54F131D706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CBFBC4-FAFE-895F-0FFC-C47F9203638D}"/>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12</a:t>
            </a:fld>
            <a:endParaRPr lang="en-CA">
              <a:solidFill>
                <a:srgbClr val="AAAAAA"/>
              </a:solidFill>
              <a:latin typeface="Trebuchet MS"/>
            </a:endParaRPr>
          </a:p>
        </p:txBody>
      </p:sp>
    </p:spTree>
    <p:extLst>
      <p:ext uri="{BB962C8B-B14F-4D97-AF65-F5344CB8AC3E}">
        <p14:creationId xmlns:p14="http://schemas.microsoft.com/office/powerpoint/2010/main" val="3443483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9B2D3-5808-AAF8-56A6-70B4CC609F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06598-D491-7965-CDCE-96116D0BD0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7372AA-2C61-15C4-3E65-ADFB3F31FD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A45A3C-D746-98CC-9FE8-01AAE0AC00AB}"/>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13</a:t>
            </a:fld>
            <a:endParaRPr lang="en-CA">
              <a:solidFill>
                <a:srgbClr val="AAAAAA"/>
              </a:solidFill>
              <a:latin typeface="Trebuchet MS"/>
            </a:endParaRPr>
          </a:p>
        </p:txBody>
      </p:sp>
    </p:spTree>
    <p:extLst>
      <p:ext uri="{BB962C8B-B14F-4D97-AF65-F5344CB8AC3E}">
        <p14:creationId xmlns:p14="http://schemas.microsoft.com/office/powerpoint/2010/main" val="3394244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7370C-50AB-1D34-980D-0C6780A4C7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FB716-8199-A27C-AE05-D7AAFA39F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B7450-406F-064F-6261-6D584191F983}"/>
              </a:ext>
            </a:extLst>
          </p:cNvPr>
          <p:cNvSpPr>
            <a:spLocks noGrp="1"/>
          </p:cNvSpPr>
          <p:nvPr>
            <p:ph type="body" idx="1"/>
          </p:nvPr>
        </p:nvSpPr>
        <p:spPr/>
        <p:txBody>
          <a:bodyPr/>
          <a:lstStyle/>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3-Apr</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PRB0029495 | Document Status on the DDGS LAS UI for the document ‘LAS Personal Loan Annual Confirmation Letter ‘ does not accurately reflect the printing status once the document is printed.</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Suniti</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PRB</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DDGS</a:t>
            </a:r>
            <a:endParaRPr lang="en-CA" sz="1600" b="0">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EDA12582-2E4B-8659-5EB0-9142449EFB46}"/>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14</a:t>
            </a:fld>
            <a:endParaRPr lang="en-CA">
              <a:solidFill>
                <a:srgbClr val="AAAAAA"/>
              </a:solidFill>
              <a:latin typeface="Trebuchet MS"/>
            </a:endParaRPr>
          </a:p>
        </p:txBody>
      </p:sp>
    </p:spTree>
    <p:extLst>
      <p:ext uri="{BB962C8B-B14F-4D97-AF65-F5344CB8AC3E}">
        <p14:creationId xmlns:p14="http://schemas.microsoft.com/office/powerpoint/2010/main" val="1502038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68538-8EC0-BAC8-E86F-EA59A13E59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BE1FD-2C04-3117-F647-ADA2A34C91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8D190-77C5-096F-8FBD-25F8147A403F}"/>
              </a:ext>
            </a:extLst>
          </p:cNvPr>
          <p:cNvSpPr>
            <a:spLocks noGrp="1"/>
          </p:cNvSpPr>
          <p:nvPr>
            <p:ph type="body" idx="1"/>
          </p:nvPr>
        </p:nvSpPr>
        <p:spPr/>
        <p:txBody>
          <a:bodyPr/>
          <a:lstStyle/>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3-Apr</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PRB0029495 | Document Status on the DDGS LAS UI for the document ‘LAS Personal Loan Annual Confirmation Letter ‘ does not accurately reflect the printing status once the document is printed.</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Suniti</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PRB</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DDGS</a:t>
            </a:r>
            <a:endParaRPr lang="en-CA" sz="1600" b="0">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CD789CCF-A4B2-2B46-5EB9-11EF577DE1E9}"/>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15</a:t>
            </a:fld>
            <a:endParaRPr lang="en-CA">
              <a:solidFill>
                <a:srgbClr val="AAAAAA"/>
              </a:solidFill>
              <a:latin typeface="Trebuchet MS"/>
            </a:endParaRPr>
          </a:p>
        </p:txBody>
      </p:sp>
    </p:spTree>
    <p:extLst>
      <p:ext uri="{BB962C8B-B14F-4D97-AF65-F5344CB8AC3E}">
        <p14:creationId xmlns:p14="http://schemas.microsoft.com/office/powerpoint/2010/main" val="1156723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EFA5B-35F5-D3E9-8985-F2859054AC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FB43F-1D34-B805-22ED-3968E606F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56FD76-0A87-77D3-58D9-C4AC77A327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5D191C-787C-4A91-4C52-AC2E468490E4}"/>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16</a:t>
            </a:fld>
            <a:endParaRPr lang="en-CA">
              <a:solidFill>
                <a:srgbClr val="AAAAAA"/>
              </a:solidFill>
              <a:latin typeface="Trebuchet MS"/>
            </a:endParaRPr>
          </a:p>
        </p:txBody>
      </p:sp>
    </p:spTree>
    <p:extLst>
      <p:ext uri="{BB962C8B-B14F-4D97-AF65-F5344CB8AC3E}">
        <p14:creationId xmlns:p14="http://schemas.microsoft.com/office/powerpoint/2010/main" val="23896044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D3575-6381-BBD3-3774-ACBC4828F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FB1114-AA35-552E-1180-CE642146AD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3CBCD-544A-DDE1-21B8-9442CB9470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7CA832-592B-661D-EB6D-52B36C8770EF}"/>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17</a:t>
            </a:fld>
            <a:endParaRPr lang="en-CA">
              <a:solidFill>
                <a:srgbClr val="AAAAAA"/>
              </a:solidFill>
              <a:latin typeface="Trebuchet MS"/>
            </a:endParaRPr>
          </a:p>
        </p:txBody>
      </p:sp>
    </p:spTree>
    <p:extLst>
      <p:ext uri="{BB962C8B-B14F-4D97-AF65-F5344CB8AC3E}">
        <p14:creationId xmlns:p14="http://schemas.microsoft.com/office/powerpoint/2010/main" val="626665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4B457-BD71-5A8E-9985-21BE40767D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7DDEF4-5437-A78B-BCCC-71963208B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333EB0-E16F-E071-5386-5AC8B0622E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93663E-3D39-D9B8-58A4-75EBCCA77B91}"/>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18</a:t>
            </a:fld>
            <a:endParaRPr lang="en-CA">
              <a:solidFill>
                <a:srgbClr val="AAAAAA"/>
              </a:solidFill>
              <a:latin typeface="Trebuchet MS"/>
            </a:endParaRPr>
          </a:p>
        </p:txBody>
      </p:sp>
    </p:spTree>
    <p:extLst>
      <p:ext uri="{BB962C8B-B14F-4D97-AF65-F5344CB8AC3E}">
        <p14:creationId xmlns:p14="http://schemas.microsoft.com/office/powerpoint/2010/main" val="1101222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9AB88-DB5D-66B7-1F02-8A67755B05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3396C-1D3A-7157-B457-09067B1C80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B7A84E-7837-7677-A3F7-C2F2233566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21E3E4E-6C26-391C-7B6B-CE5BE15BE4D0}"/>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19</a:t>
            </a:fld>
            <a:endParaRPr lang="en-CA">
              <a:solidFill>
                <a:srgbClr val="AAAAAA"/>
              </a:solidFill>
              <a:latin typeface="Trebuchet MS"/>
            </a:endParaRPr>
          </a:p>
        </p:txBody>
      </p:sp>
    </p:spTree>
    <p:extLst>
      <p:ext uri="{BB962C8B-B14F-4D97-AF65-F5344CB8AC3E}">
        <p14:creationId xmlns:p14="http://schemas.microsoft.com/office/powerpoint/2010/main" val="22564976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ED026-A303-6A43-D47B-77C589E96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B36A4-B905-3FDF-B698-F4DADEF588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6FA3E-7F0C-795A-598A-7A04A04E7D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B6B68D-02B2-4E9F-6DCE-537F574BDEBE}"/>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20</a:t>
            </a:fld>
            <a:endParaRPr lang="en-CA">
              <a:solidFill>
                <a:srgbClr val="AAAAAA"/>
              </a:solidFill>
              <a:latin typeface="Trebuchet MS"/>
            </a:endParaRPr>
          </a:p>
        </p:txBody>
      </p:sp>
    </p:spTree>
    <p:extLst>
      <p:ext uri="{BB962C8B-B14F-4D97-AF65-F5344CB8AC3E}">
        <p14:creationId xmlns:p14="http://schemas.microsoft.com/office/powerpoint/2010/main" val="6483082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48F30-1AC3-C499-C777-C763987FC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4925C-B09B-6BFD-0400-667FA57F0F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27CB21-45CE-F4BC-7E60-2926043B3C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D0C63D-0FBD-6812-1C44-DCF67A7FAC85}"/>
              </a:ext>
            </a:extLst>
          </p:cNvPr>
          <p:cNvSpPr>
            <a:spLocks noGrp="1"/>
          </p:cNvSpPr>
          <p:nvPr>
            <p:ph type="sldNum" sz="quarter" idx="5"/>
          </p:nvPr>
        </p:nvSpPr>
        <p:spPr/>
        <p:txBody>
          <a:bodyPr/>
          <a:lstStyle/>
          <a:p>
            <a:fld id="{1B427486-0A82-44CF-BBB2-E689C440DD6F}" type="slidenum">
              <a:rPr lang="en-CA" smtClean="0"/>
              <a:pPr/>
              <a:t>23</a:t>
            </a:fld>
            <a:endParaRPr lang="en-CA"/>
          </a:p>
        </p:txBody>
      </p:sp>
    </p:spTree>
    <p:extLst>
      <p:ext uri="{BB962C8B-B14F-4D97-AF65-F5344CB8AC3E}">
        <p14:creationId xmlns:p14="http://schemas.microsoft.com/office/powerpoint/2010/main" val="3848102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69BF-CE89-D6B9-AF42-E6A9A5AB5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3B0CA-7D47-9AFA-524B-71CE5642EE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88FA4-810B-E18D-E6CB-74337173F2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5F8BEA-C08B-EE66-694E-42F548EA2279}"/>
              </a:ext>
            </a:extLst>
          </p:cNvPr>
          <p:cNvSpPr>
            <a:spLocks noGrp="1"/>
          </p:cNvSpPr>
          <p:nvPr>
            <p:ph type="sldNum" sz="quarter" idx="5"/>
          </p:nvPr>
        </p:nvSpPr>
        <p:spPr/>
        <p:txBody>
          <a:bodyPr/>
          <a:lstStyle/>
          <a:p>
            <a:fld id="{1B427486-0A82-44CF-BBB2-E689C440DD6F}" type="slidenum">
              <a:rPr lang="en-CA" smtClean="0"/>
              <a:pPr/>
              <a:t>24</a:t>
            </a:fld>
            <a:endParaRPr lang="en-CA"/>
          </a:p>
        </p:txBody>
      </p:sp>
    </p:spTree>
    <p:extLst>
      <p:ext uri="{BB962C8B-B14F-4D97-AF65-F5344CB8AC3E}">
        <p14:creationId xmlns:p14="http://schemas.microsoft.com/office/powerpoint/2010/main" val="5796913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26AEA-6903-7996-8584-DF993148ED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F345B-3EDD-9C4B-CF10-1F2E52C23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F6450A-5A37-80E0-5AD6-CC435718FBB4}"/>
              </a:ext>
            </a:extLst>
          </p:cNvPr>
          <p:cNvSpPr>
            <a:spLocks noGrp="1"/>
          </p:cNvSpPr>
          <p:nvPr>
            <p:ph type="body" idx="1"/>
          </p:nvPr>
        </p:nvSpPr>
        <p:spPr/>
        <p:txBody>
          <a:bodyPr/>
          <a:lstStyle/>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3-Apr</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PRB0029495 | Document Status on the DDGS LAS UI for the document ‘LAS Personal Loan Annual Confirmation Letter ‘ does not accurately reflect the printing status once the document is printed.</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Suniti</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PRB</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DDGS</a:t>
            </a:r>
            <a:endParaRPr lang="en-CA" sz="1600" b="0">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59612972-B3F1-C745-43AF-31D489942E2C}"/>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25</a:t>
            </a:fld>
            <a:endParaRPr lang="en-CA">
              <a:solidFill>
                <a:srgbClr val="AAAAAA"/>
              </a:solidFill>
              <a:latin typeface="Trebuchet MS"/>
            </a:endParaRPr>
          </a:p>
        </p:txBody>
      </p:sp>
    </p:spTree>
    <p:extLst>
      <p:ext uri="{BB962C8B-B14F-4D97-AF65-F5344CB8AC3E}">
        <p14:creationId xmlns:p14="http://schemas.microsoft.com/office/powerpoint/2010/main" val="40844391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84B55-9318-FB13-FBC6-E207D5D6AF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7EEA0-E7DF-E13A-C13E-B1F7132322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8DCD4-54F0-9D57-A75E-F1464590CE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27640BB-756E-F649-85E0-500F9655A38D}"/>
              </a:ext>
            </a:extLst>
          </p:cNvPr>
          <p:cNvSpPr>
            <a:spLocks noGrp="1"/>
          </p:cNvSpPr>
          <p:nvPr>
            <p:ph type="sldNum" sz="quarter" idx="5"/>
          </p:nvPr>
        </p:nvSpPr>
        <p:spPr/>
        <p:txBody>
          <a:bodyPr/>
          <a:lstStyle/>
          <a:p>
            <a:fld id="{1B427486-0A82-44CF-BBB2-E689C440DD6F}" type="slidenum">
              <a:rPr lang="en-CA" smtClean="0"/>
              <a:pPr/>
              <a:t>26</a:t>
            </a:fld>
            <a:endParaRPr lang="en-CA"/>
          </a:p>
        </p:txBody>
      </p:sp>
    </p:spTree>
    <p:extLst>
      <p:ext uri="{BB962C8B-B14F-4D97-AF65-F5344CB8AC3E}">
        <p14:creationId xmlns:p14="http://schemas.microsoft.com/office/powerpoint/2010/main" val="11792102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05C2A-92F3-69F7-D17E-F360A4198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D828C-6555-B600-97F6-2C27D0545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A06651-9D9D-875A-DE59-4FE97695FC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39DDF6-0594-B225-5B10-317076AAE27B}"/>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27</a:t>
            </a:fld>
            <a:endParaRPr lang="en-CA">
              <a:solidFill>
                <a:srgbClr val="AAAAAA"/>
              </a:solidFill>
              <a:latin typeface="Trebuchet MS"/>
            </a:endParaRPr>
          </a:p>
        </p:txBody>
      </p:sp>
    </p:spTree>
    <p:extLst>
      <p:ext uri="{BB962C8B-B14F-4D97-AF65-F5344CB8AC3E}">
        <p14:creationId xmlns:p14="http://schemas.microsoft.com/office/powerpoint/2010/main" val="34378314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2E2AB-8082-DFA7-2965-3502AEBCB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0D75E-A974-6C68-1A8B-436A515310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811C6-4EF5-BF0A-FB8C-79046385B186}"/>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884A7993-FAE1-E712-503F-D513C2B5F77F}"/>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28</a:t>
            </a:fld>
            <a:endParaRPr lang="en-CA">
              <a:solidFill>
                <a:srgbClr val="AAAAAA"/>
              </a:solidFill>
              <a:latin typeface="Trebuchet MS"/>
            </a:endParaRPr>
          </a:p>
        </p:txBody>
      </p:sp>
    </p:spTree>
    <p:extLst>
      <p:ext uri="{BB962C8B-B14F-4D97-AF65-F5344CB8AC3E}">
        <p14:creationId xmlns:p14="http://schemas.microsoft.com/office/powerpoint/2010/main" val="2051585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F79C0-8B74-F6AB-366C-6FD37CD82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CD567-33F4-F015-E1B7-C20AF2A453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EC44E7-7104-ABF2-F3FB-0BF44C4CEF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81ECE3-2558-E35E-7422-39FA10D42F2E}"/>
              </a:ext>
            </a:extLst>
          </p:cNvPr>
          <p:cNvSpPr>
            <a:spLocks noGrp="1"/>
          </p:cNvSpPr>
          <p:nvPr>
            <p:ph type="sldNum" sz="quarter" idx="5"/>
          </p:nvPr>
        </p:nvSpPr>
        <p:spPr/>
        <p:txBody>
          <a:bodyPr/>
          <a:lstStyle/>
          <a:p>
            <a:fld id="{1B427486-0A82-44CF-BBB2-E689C440DD6F}" type="slidenum">
              <a:rPr lang="en-CA" smtClean="0"/>
              <a:pPr/>
              <a:t>29</a:t>
            </a:fld>
            <a:endParaRPr lang="en-CA"/>
          </a:p>
        </p:txBody>
      </p:sp>
    </p:spTree>
    <p:extLst>
      <p:ext uri="{BB962C8B-B14F-4D97-AF65-F5344CB8AC3E}">
        <p14:creationId xmlns:p14="http://schemas.microsoft.com/office/powerpoint/2010/main" val="17974497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A8048-F0BE-BA90-C909-989363DBB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88E12-C3A4-83C3-726E-0ABE1371CC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C4967F-94D0-2511-A196-6B99FFBE0B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2C9DD4-C55F-BBA7-C736-2FBDA19657D9}"/>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30</a:t>
            </a:fld>
            <a:endParaRPr lang="en-CA">
              <a:solidFill>
                <a:srgbClr val="AAAAAA"/>
              </a:solidFill>
              <a:latin typeface="Trebuchet MS"/>
            </a:endParaRPr>
          </a:p>
        </p:txBody>
      </p:sp>
    </p:spTree>
    <p:extLst>
      <p:ext uri="{BB962C8B-B14F-4D97-AF65-F5344CB8AC3E}">
        <p14:creationId xmlns:p14="http://schemas.microsoft.com/office/powerpoint/2010/main" val="42781885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5BD8B-C8A0-5815-C768-E18D5AE79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9F12C-2A71-80FA-269A-34DB0497DE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179E02-3785-510B-B5CD-F5B43E7DAC23}"/>
              </a:ext>
            </a:extLst>
          </p:cNvPr>
          <p:cNvSpPr>
            <a:spLocks noGrp="1"/>
          </p:cNvSpPr>
          <p:nvPr>
            <p:ph type="body" idx="1"/>
          </p:nvPr>
        </p:nvSpPr>
        <p:spPr/>
        <p:txBody>
          <a:bodyPr/>
          <a:lstStyle/>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3-Apr</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PRB0029495 | Document Status on the DDGS LAS UI for the document ‘LAS Personal Loan Annual Confirmation Letter ‘ does not accurately reflect the printing status once the document is printed.</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Suniti</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PRB</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DDGS</a:t>
            </a:r>
            <a:endParaRPr lang="en-CA" sz="1600" b="0">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2DB1E48E-CCC0-B84E-9828-5A6F87F97C86}"/>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31</a:t>
            </a:fld>
            <a:endParaRPr lang="en-CA">
              <a:solidFill>
                <a:srgbClr val="AAAAAA"/>
              </a:solidFill>
              <a:latin typeface="Trebuchet MS"/>
            </a:endParaRPr>
          </a:p>
        </p:txBody>
      </p:sp>
    </p:spTree>
    <p:extLst>
      <p:ext uri="{BB962C8B-B14F-4D97-AF65-F5344CB8AC3E}">
        <p14:creationId xmlns:p14="http://schemas.microsoft.com/office/powerpoint/2010/main" val="11468173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70C4F-9F2B-B719-3E5E-3BD437857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BA352-C25D-F4A6-235B-D54BCCD864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C42A2-9019-2903-7272-80D43DE6DE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789B09-7EDD-4DD1-ACF3-2C4D77EC11AA}"/>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32</a:t>
            </a:fld>
            <a:endParaRPr lang="en-CA">
              <a:solidFill>
                <a:srgbClr val="AAAAAA"/>
              </a:solidFill>
              <a:latin typeface="Trebuchet MS"/>
            </a:endParaRPr>
          </a:p>
        </p:txBody>
      </p:sp>
    </p:spTree>
    <p:extLst>
      <p:ext uri="{BB962C8B-B14F-4D97-AF65-F5344CB8AC3E}">
        <p14:creationId xmlns:p14="http://schemas.microsoft.com/office/powerpoint/2010/main" val="17300773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FE8C4-3D23-71BA-FB6B-FFB47440EC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EF035-CB70-4A78-F7BE-3223C4F4F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51875C-73C8-5E53-1B67-01C997D9DB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C3D192-C583-D2FC-1501-B8740EAF483D}"/>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33</a:t>
            </a:fld>
            <a:endParaRPr lang="en-CA">
              <a:solidFill>
                <a:srgbClr val="AAAAAA"/>
              </a:solidFill>
              <a:latin typeface="Trebuchet MS"/>
            </a:endParaRPr>
          </a:p>
        </p:txBody>
      </p:sp>
    </p:spTree>
    <p:extLst>
      <p:ext uri="{BB962C8B-B14F-4D97-AF65-F5344CB8AC3E}">
        <p14:creationId xmlns:p14="http://schemas.microsoft.com/office/powerpoint/2010/main" val="2650795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42820-1982-CB42-9967-2345E3923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DB3AE-8C30-85DF-3ECE-712BBAC2C2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9FB080-4D0B-CC05-5B4D-295A7E8E72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F44ED2-85A2-6BEB-EC9C-112F0966277A}"/>
              </a:ext>
            </a:extLst>
          </p:cNvPr>
          <p:cNvSpPr>
            <a:spLocks noGrp="1"/>
          </p:cNvSpPr>
          <p:nvPr>
            <p:ph type="sldNum" sz="quarter" idx="5"/>
          </p:nvPr>
        </p:nvSpPr>
        <p:spPr/>
        <p:txBody>
          <a:bodyPr/>
          <a:lstStyle/>
          <a:p>
            <a:fld id="{1B427486-0A82-44CF-BBB2-E689C440DD6F}" type="slidenum">
              <a:rPr lang="en-CA" smtClean="0"/>
              <a:pPr/>
              <a:t>36</a:t>
            </a:fld>
            <a:endParaRPr lang="en-CA"/>
          </a:p>
        </p:txBody>
      </p:sp>
    </p:spTree>
    <p:extLst>
      <p:ext uri="{BB962C8B-B14F-4D97-AF65-F5344CB8AC3E}">
        <p14:creationId xmlns:p14="http://schemas.microsoft.com/office/powerpoint/2010/main" val="12715854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90C4-A4F1-31F4-E0C3-743081E28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D5579-F2DE-9AED-1E32-FB9FF7198D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8019F-683A-2AE0-2084-DB7E7CF58E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04889F-4BA7-2E26-BAED-79B8F1DBD8D5}"/>
              </a:ext>
            </a:extLst>
          </p:cNvPr>
          <p:cNvSpPr>
            <a:spLocks noGrp="1"/>
          </p:cNvSpPr>
          <p:nvPr>
            <p:ph type="sldNum" sz="quarter" idx="5"/>
          </p:nvPr>
        </p:nvSpPr>
        <p:spPr/>
        <p:txBody>
          <a:bodyPr/>
          <a:lstStyle/>
          <a:p>
            <a:fld id="{1B427486-0A82-44CF-BBB2-E689C440DD6F}" type="slidenum">
              <a:rPr lang="en-CA" smtClean="0"/>
              <a:pPr/>
              <a:t>37</a:t>
            </a:fld>
            <a:endParaRPr lang="en-CA"/>
          </a:p>
        </p:txBody>
      </p:sp>
    </p:spTree>
    <p:extLst>
      <p:ext uri="{BB962C8B-B14F-4D97-AF65-F5344CB8AC3E}">
        <p14:creationId xmlns:p14="http://schemas.microsoft.com/office/powerpoint/2010/main" val="21236235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291B9-11A1-4474-38E4-40FF0B665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FE9CD-9057-142F-9FC4-0BC679C075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83319-4FF9-2B1A-57AF-794B7E634FDB}"/>
              </a:ext>
            </a:extLst>
          </p:cNvPr>
          <p:cNvSpPr>
            <a:spLocks noGrp="1"/>
          </p:cNvSpPr>
          <p:nvPr>
            <p:ph type="body" idx="1"/>
          </p:nvPr>
        </p:nvSpPr>
        <p:spPr/>
        <p:txBody>
          <a:bodyPr/>
          <a:lstStyle/>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3-Apr</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PRB0029495 | Document Status on the DDGS LAS UI for the document ‘LAS Personal Loan Annual Confirmation Letter ‘ does not accurately reflect the printing status once the document is printed.</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Suniti</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PRB</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DDGS</a:t>
            </a:r>
            <a:endParaRPr lang="en-CA" sz="1600" b="0">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E6E203C2-1880-64E7-A405-2251CE2FE3F7}"/>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38</a:t>
            </a:fld>
            <a:endParaRPr lang="en-CA">
              <a:solidFill>
                <a:srgbClr val="AAAAAA"/>
              </a:solidFill>
              <a:latin typeface="Trebuchet MS"/>
            </a:endParaRPr>
          </a:p>
        </p:txBody>
      </p:sp>
    </p:spTree>
    <p:extLst>
      <p:ext uri="{BB962C8B-B14F-4D97-AF65-F5344CB8AC3E}">
        <p14:creationId xmlns:p14="http://schemas.microsoft.com/office/powerpoint/2010/main" val="7911100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01F0C-24BC-69E4-D956-306290892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205D2-0215-8092-4CC5-B8C674064A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F345BB-297A-E88A-A562-6D2C55F3573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89E365F-4461-4644-4679-4D20920055F4}"/>
              </a:ext>
            </a:extLst>
          </p:cNvPr>
          <p:cNvSpPr>
            <a:spLocks noGrp="1"/>
          </p:cNvSpPr>
          <p:nvPr>
            <p:ph type="sldNum" sz="quarter" idx="5"/>
          </p:nvPr>
        </p:nvSpPr>
        <p:spPr/>
        <p:txBody>
          <a:bodyPr/>
          <a:lstStyle/>
          <a:p>
            <a:fld id="{1B427486-0A82-44CF-BBB2-E689C440DD6F}" type="slidenum">
              <a:rPr lang="en-CA" smtClean="0"/>
              <a:pPr/>
              <a:t>39</a:t>
            </a:fld>
            <a:endParaRPr lang="en-CA"/>
          </a:p>
        </p:txBody>
      </p:sp>
    </p:spTree>
    <p:extLst>
      <p:ext uri="{BB962C8B-B14F-4D97-AF65-F5344CB8AC3E}">
        <p14:creationId xmlns:p14="http://schemas.microsoft.com/office/powerpoint/2010/main" val="4509389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799F5-0A7E-9E35-0DDA-42FC557D14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1555F-58D8-0130-CC63-8993E1647A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CD9A6F-F872-A801-7DBA-D927749FF4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3132FE8-B3E7-DAB7-0E9F-A5EC18C3DB44}"/>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40</a:t>
            </a:fld>
            <a:endParaRPr lang="en-CA">
              <a:solidFill>
                <a:srgbClr val="AAAAAA"/>
              </a:solidFill>
              <a:latin typeface="Trebuchet MS"/>
            </a:endParaRPr>
          </a:p>
        </p:txBody>
      </p:sp>
    </p:spTree>
    <p:extLst>
      <p:ext uri="{BB962C8B-B14F-4D97-AF65-F5344CB8AC3E}">
        <p14:creationId xmlns:p14="http://schemas.microsoft.com/office/powerpoint/2010/main" val="17593667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840BB-76E2-24D2-A712-0AC524719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2A29C-2E25-99B4-3DEB-8C3E619B69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B94ACC-FBC0-2EAC-033F-38AC388CE24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209FEBD3-3883-E556-55EC-058E2EC2171A}"/>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41</a:t>
            </a:fld>
            <a:endParaRPr lang="en-CA">
              <a:solidFill>
                <a:srgbClr val="AAAAAA"/>
              </a:solidFill>
              <a:latin typeface="Trebuchet MS"/>
            </a:endParaRPr>
          </a:p>
        </p:txBody>
      </p:sp>
    </p:spTree>
    <p:extLst>
      <p:ext uri="{BB962C8B-B14F-4D97-AF65-F5344CB8AC3E}">
        <p14:creationId xmlns:p14="http://schemas.microsoft.com/office/powerpoint/2010/main" val="8995133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CBD30-9963-33A5-93A9-A5A2A24F1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56C86-E10B-5CF3-92FC-F8B06BE249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8E035-7677-B21E-D4C9-29A357AB252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C9D840-BBEE-A9F0-BFEC-19E22602CBF4}"/>
              </a:ext>
            </a:extLst>
          </p:cNvPr>
          <p:cNvSpPr>
            <a:spLocks noGrp="1"/>
          </p:cNvSpPr>
          <p:nvPr>
            <p:ph type="sldNum" sz="quarter" idx="5"/>
          </p:nvPr>
        </p:nvSpPr>
        <p:spPr/>
        <p:txBody>
          <a:bodyPr/>
          <a:lstStyle/>
          <a:p>
            <a:fld id="{1B427486-0A82-44CF-BBB2-E689C440DD6F}" type="slidenum">
              <a:rPr lang="en-CA" smtClean="0"/>
              <a:pPr/>
              <a:t>42</a:t>
            </a:fld>
            <a:endParaRPr lang="en-CA"/>
          </a:p>
        </p:txBody>
      </p:sp>
    </p:spTree>
    <p:extLst>
      <p:ext uri="{BB962C8B-B14F-4D97-AF65-F5344CB8AC3E}">
        <p14:creationId xmlns:p14="http://schemas.microsoft.com/office/powerpoint/2010/main" val="17961028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0E894-6887-36D8-52A7-3B465BDCB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7974C-8BE7-DC9E-2721-1210B3B81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D4C52-F899-104D-D4C2-B78F628EEC6F}"/>
              </a:ext>
            </a:extLst>
          </p:cNvPr>
          <p:cNvSpPr>
            <a:spLocks noGrp="1"/>
          </p:cNvSpPr>
          <p:nvPr>
            <p:ph type="body" idx="1"/>
          </p:nvPr>
        </p:nvSpPr>
        <p:spPr/>
        <p:txBody>
          <a:bodyPr/>
          <a:lstStyle/>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3-Apr</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PRB0029495 | Document Status on the DDGS LAS UI for the document ‘LAS Personal Loan Annual Confirmation Letter ‘ does not accurately reflect the printing status once the document is printed.</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Suniti</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PRB</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a:t>
            </a:r>
            <a:endParaRPr lang="en-CA" sz="1600" b="0">
              <a:latin typeface="Arial" panose="020B0604020202020204" pitchFamily="34" charset="0"/>
            </a:endParaRPr>
          </a:p>
          <a:p>
            <a:pPr algn="ctr" fontAlgn="ctr">
              <a:spcBef>
                <a:spcPts val="0"/>
              </a:spcBef>
              <a:spcAft>
                <a:spcPts val="0"/>
              </a:spcAft>
            </a:pPr>
            <a:r>
              <a:rPr lang="en-CA" sz="1600" b="0">
                <a:solidFill>
                  <a:srgbClr val="000000"/>
                </a:solidFill>
                <a:latin typeface="Trebuchet MS" panose="020B0603020202020204" pitchFamily="34" charset="0"/>
              </a:rPr>
              <a:t> </a:t>
            </a:r>
            <a:endParaRPr lang="en-CA" sz="1600" b="0">
              <a:latin typeface="Arial" panose="020B0604020202020204" pitchFamily="34" charset="0"/>
            </a:endParaRPr>
          </a:p>
          <a:p>
            <a:pPr fontAlgn="ctr">
              <a:spcBef>
                <a:spcPts val="0"/>
              </a:spcBef>
              <a:spcAft>
                <a:spcPts val="0"/>
              </a:spcAft>
            </a:pPr>
            <a:r>
              <a:rPr lang="en-CA" sz="1600" b="0">
                <a:solidFill>
                  <a:srgbClr val="000000"/>
                </a:solidFill>
                <a:latin typeface="Trebuchet MS" panose="020B0603020202020204" pitchFamily="34" charset="0"/>
              </a:rPr>
              <a:t>DDGS</a:t>
            </a:r>
            <a:endParaRPr lang="en-CA" sz="1600" b="0">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818F4E0B-807C-5846-4D17-2321EC72C0A7}"/>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44</a:t>
            </a:fld>
            <a:endParaRPr lang="en-CA">
              <a:solidFill>
                <a:srgbClr val="AAAAAA"/>
              </a:solidFill>
              <a:latin typeface="Trebuchet MS"/>
            </a:endParaRPr>
          </a:p>
        </p:txBody>
      </p:sp>
    </p:spTree>
    <p:extLst>
      <p:ext uri="{BB962C8B-B14F-4D97-AF65-F5344CB8AC3E}">
        <p14:creationId xmlns:p14="http://schemas.microsoft.com/office/powerpoint/2010/main" val="31787495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45</a:t>
            </a:fld>
            <a:endParaRPr lang="en-CA"/>
          </a:p>
        </p:txBody>
      </p:sp>
    </p:spTree>
    <p:extLst>
      <p:ext uri="{BB962C8B-B14F-4D97-AF65-F5344CB8AC3E}">
        <p14:creationId xmlns:p14="http://schemas.microsoft.com/office/powerpoint/2010/main" val="30267094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46</a:t>
            </a:fld>
            <a:endParaRPr lang="en-CA"/>
          </a:p>
        </p:txBody>
      </p:sp>
    </p:spTree>
    <p:extLst>
      <p:ext uri="{BB962C8B-B14F-4D97-AF65-F5344CB8AC3E}">
        <p14:creationId xmlns:p14="http://schemas.microsoft.com/office/powerpoint/2010/main" val="10620241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47</a:t>
            </a:fld>
            <a:endParaRPr lang="en-CA"/>
          </a:p>
        </p:txBody>
      </p:sp>
    </p:spTree>
    <p:extLst>
      <p:ext uri="{BB962C8B-B14F-4D97-AF65-F5344CB8AC3E}">
        <p14:creationId xmlns:p14="http://schemas.microsoft.com/office/powerpoint/2010/main" val="777892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48</a:t>
            </a:fld>
            <a:endParaRPr lang="en-CA"/>
          </a:p>
        </p:txBody>
      </p:sp>
    </p:spTree>
    <p:extLst>
      <p:ext uri="{BB962C8B-B14F-4D97-AF65-F5344CB8AC3E}">
        <p14:creationId xmlns:p14="http://schemas.microsoft.com/office/powerpoint/2010/main" val="10382833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49</a:t>
            </a:fld>
            <a:endParaRPr lang="en-CA"/>
          </a:p>
        </p:txBody>
      </p:sp>
    </p:spTree>
    <p:extLst>
      <p:ext uri="{BB962C8B-B14F-4D97-AF65-F5344CB8AC3E}">
        <p14:creationId xmlns:p14="http://schemas.microsoft.com/office/powerpoint/2010/main" val="28053095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50</a:t>
            </a:fld>
            <a:endParaRPr lang="en-CA"/>
          </a:p>
        </p:txBody>
      </p:sp>
    </p:spTree>
    <p:extLst>
      <p:ext uri="{BB962C8B-B14F-4D97-AF65-F5344CB8AC3E}">
        <p14:creationId xmlns:p14="http://schemas.microsoft.com/office/powerpoint/2010/main" val="39013355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427486-0A82-44CF-BBB2-E689C440DD6F}" type="slidenum">
              <a:rPr lang="en-CA" smtClean="0"/>
              <a:pPr/>
              <a:t>51</a:t>
            </a:fld>
            <a:endParaRPr lang="en-CA"/>
          </a:p>
        </p:txBody>
      </p:sp>
    </p:spTree>
    <p:extLst>
      <p:ext uri="{BB962C8B-B14F-4D97-AF65-F5344CB8AC3E}">
        <p14:creationId xmlns:p14="http://schemas.microsoft.com/office/powerpoint/2010/main" val="3893169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E07CA-275F-DF76-19E9-79A96DCC5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A7ABFB-9E17-A5B2-3BFD-F4A75877F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DAB0FC-23C2-C8A5-D69A-2FBF7A6BD253}"/>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9A5FD38F-35EA-600D-198A-EE8D1184B213}"/>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53</a:t>
            </a:fld>
            <a:endParaRPr lang="en-CA">
              <a:solidFill>
                <a:srgbClr val="AAAAAA"/>
              </a:solidFill>
              <a:latin typeface="Trebuchet MS"/>
            </a:endParaRPr>
          </a:p>
        </p:txBody>
      </p:sp>
    </p:spTree>
    <p:extLst>
      <p:ext uri="{BB962C8B-B14F-4D97-AF65-F5344CB8AC3E}">
        <p14:creationId xmlns:p14="http://schemas.microsoft.com/office/powerpoint/2010/main" val="16294211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32FF4-8977-BAEE-8A61-746499385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75874-B3A2-253E-C9F3-97261D0CB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D4C77-4724-3508-DD96-2BFD0704DB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E642F8-F1D8-FF64-24FE-F4DE7B213B1F}"/>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54</a:t>
            </a:fld>
            <a:endParaRPr lang="en-CA">
              <a:solidFill>
                <a:srgbClr val="AAAAAA"/>
              </a:solidFill>
              <a:latin typeface="Trebuchet MS"/>
            </a:endParaRPr>
          </a:p>
        </p:txBody>
      </p:sp>
    </p:spTree>
    <p:extLst>
      <p:ext uri="{BB962C8B-B14F-4D97-AF65-F5344CB8AC3E}">
        <p14:creationId xmlns:p14="http://schemas.microsoft.com/office/powerpoint/2010/main" val="3684590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A0EE6-8DE6-B7CE-49C2-FF3CC2573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D00C9-45F0-999E-A35A-13942D5DFB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F0EE5-85FD-D877-6ACF-7754A7053C6B}"/>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D704C395-53C1-0028-069D-BB016CF6AD03}"/>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55</a:t>
            </a:fld>
            <a:endParaRPr lang="en-CA">
              <a:solidFill>
                <a:srgbClr val="AAAAAA"/>
              </a:solidFill>
              <a:latin typeface="Trebuchet MS"/>
            </a:endParaRPr>
          </a:p>
        </p:txBody>
      </p:sp>
    </p:spTree>
    <p:extLst>
      <p:ext uri="{BB962C8B-B14F-4D97-AF65-F5344CB8AC3E}">
        <p14:creationId xmlns:p14="http://schemas.microsoft.com/office/powerpoint/2010/main" val="1623797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FB1E6-C64D-C461-234A-0FEDDC14D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B88AAC-5CC7-FCA8-C5BA-346322DB68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76F427-D149-914A-E8B8-509F015558C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C2446156-E154-C9AE-8623-333F7CAAFE1C}"/>
              </a:ext>
            </a:extLst>
          </p:cNvPr>
          <p:cNvSpPr>
            <a:spLocks noGrp="1"/>
          </p:cNvSpPr>
          <p:nvPr>
            <p:ph type="sldNum" sz="quarter" idx="5"/>
          </p:nvPr>
        </p:nvSpPr>
        <p:spPr/>
        <p:txBody>
          <a:bodyPr/>
          <a:lstStyle/>
          <a:p>
            <a:pPr defTabSz="1162383">
              <a:defRPr/>
            </a:pPr>
            <a:fld id="{1B427486-0A82-44CF-BBB2-E689C440DD6F}" type="slidenum">
              <a:rPr lang="en-CA">
                <a:solidFill>
                  <a:srgbClr val="AAAAAA"/>
                </a:solidFill>
                <a:latin typeface="Trebuchet MS"/>
              </a:rPr>
              <a:pPr defTabSz="1162383">
                <a:defRPr/>
              </a:pPr>
              <a:t>56</a:t>
            </a:fld>
            <a:endParaRPr lang="en-CA">
              <a:solidFill>
                <a:srgbClr val="AAAAAA"/>
              </a:solidFill>
              <a:latin typeface="Trebuchet MS"/>
            </a:endParaRPr>
          </a:p>
        </p:txBody>
      </p:sp>
    </p:spTree>
    <p:extLst>
      <p:ext uri="{BB962C8B-B14F-4D97-AF65-F5344CB8AC3E}">
        <p14:creationId xmlns:p14="http://schemas.microsoft.com/office/powerpoint/2010/main" val="1896188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8" name="Footer Placeholder 4">
            <a:extLst>
              <a:ext uri="{FF2B5EF4-FFF2-40B4-BE49-F238E27FC236}">
                <a16:creationId xmlns:a16="http://schemas.microsoft.com/office/drawing/2014/main" id="{AF684C06-4936-4F17-B48C-79393CE4C68F}"/>
              </a:ext>
            </a:extLst>
          </p:cNvPr>
          <p:cNvSpPr>
            <a:spLocks noGrp="1"/>
          </p:cNvSpPr>
          <p:nvPr>
            <p:ph type="ftr" sz="quarter" idx="3"/>
          </p:nvPr>
        </p:nvSpPr>
        <p:spPr>
          <a:xfrm>
            <a:off x="1134606" y="6545883"/>
            <a:ext cx="990959" cy="167033"/>
          </a:xfrm>
          <a:prstGeom prst="rect">
            <a:avLst/>
          </a:prstGeom>
        </p:spPr>
        <p:txBody>
          <a:bodyPr vert="horz" wrap="square" lIns="0" tIns="0" rIns="0" bIns="0" rtlCol="0" anchor="b" anchorCtr="0">
            <a:spAutoFit/>
          </a:bodyPr>
          <a:lstStyle>
            <a:lvl1pPr>
              <a:lnSpc>
                <a:spcPts val="1400"/>
              </a:lnSpc>
              <a:defRPr lang="en-US" sz="1100" smtClean="0">
                <a:solidFill>
                  <a:schemeClr val="tx1"/>
                </a:solidFill>
              </a:defRPr>
            </a:lvl1pPr>
          </a:lstStyle>
          <a:p>
            <a:pPr algn="ctr"/>
            <a:r>
              <a:rPr lang="en-US"/>
              <a:t>INTERNAL</a:t>
            </a:r>
          </a:p>
        </p:txBody>
      </p:sp>
    </p:spTree>
    <p:extLst>
      <p:ext uri="{BB962C8B-B14F-4D97-AF65-F5344CB8AC3E}">
        <p14:creationId xmlns:p14="http://schemas.microsoft.com/office/powerpoint/2010/main" val="2791827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o Waterm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66BF5CBE-C4D7-4578-9781-51EECBA47652}"/>
              </a:ext>
            </a:extLst>
          </p:cNvPr>
          <p:cNvSpPr>
            <a:spLocks noGrp="1"/>
          </p:cNvSpPr>
          <p:nvPr>
            <p:ph type="ftr" sz="quarter" idx="3"/>
          </p:nvPr>
        </p:nvSpPr>
        <p:spPr>
          <a:xfrm>
            <a:off x="939880" y="6545883"/>
            <a:ext cx="990959" cy="167033"/>
          </a:xfrm>
          <a:prstGeom prst="rect">
            <a:avLst/>
          </a:prstGeom>
        </p:spPr>
        <p:txBody>
          <a:bodyPr vert="horz" wrap="square" lIns="0" tIns="0" rIns="0" bIns="0" rtlCol="0" anchor="b" anchorCtr="0">
            <a:spAutoFit/>
          </a:bodyPr>
          <a:lstStyle>
            <a:lvl1pPr>
              <a:lnSpc>
                <a:spcPts val="1400"/>
              </a:lnSpc>
              <a:defRPr lang="en-US" sz="1100" smtClean="0">
                <a:solidFill>
                  <a:schemeClr val="tx1"/>
                </a:solidFill>
              </a:defRPr>
            </a:lvl1pPr>
          </a:lstStyle>
          <a:p>
            <a:pPr algn="ctr"/>
            <a:r>
              <a:rPr lang="en-US"/>
              <a:t>INTERNAL</a:t>
            </a:r>
          </a:p>
        </p:txBody>
      </p:sp>
    </p:spTree>
    <p:extLst>
      <p:ext uri="{BB962C8B-B14F-4D97-AF65-F5344CB8AC3E}">
        <p14:creationId xmlns:p14="http://schemas.microsoft.com/office/powerpoint/2010/main" val="358491581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297180" y="1463043"/>
            <a:ext cx="5547360" cy="1762021"/>
          </a:xfrm>
        </p:spPr>
        <p:txBody>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042661" y="1463043"/>
            <a:ext cx="5547360" cy="1762021"/>
          </a:xfrm>
        </p:spPr>
        <p:txBody>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Footer Placeholder 4">
            <a:extLst>
              <a:ext uri="{FF2B5EF4-FFF2-40B4-BE49-F238E27FC236}">
                <a16:creationId xmlns:a16="http://schemas.microsoft.com/office/drawing/2014/main" id="{C4C93F0C-19FB-4896-9FC4-344EDF9F456F}"/>
              </a:ext>
            </a:extLst>
          </p:cNvPr>
          <p:cNvSpPr>
            <a:spLocks noGrp="1"/>
          </p:cNvSpPr>
          <p:nvPr>
            <p:ph type="ftr" sz="quarter" idx="3"/>
          </p:nvPr>
        </p:nvSpPr>
        <p:spPr>
          <a:xfrm>
            <a:off x="1024538" y="6545883"/>
            <a:ext cx="990959" cy="167033"/>
          </a:xfrm>
          <a:prstGeom prst="rect">
            <a:avLst/>
          </a:prstGeom>
        </p:spPr>
        <p:txBody>
          <a:bodyPr vert="horz" wrap="square" lIns="0" tIns="0" rIns="0" bIns="0" rtlCol="0" anchor="b" anchorCtr="0">
            <a:spAutoFit/>
          </a:bodyPr>
          <a:lstStyle>
            <a:lvl1pPr>
              <a:lnSpc>
                <a:spcPts val="1400"/>
              </a:lnSpc>
              <a:defRPr lang="en-US" sz="1100" smtClean="0">
                <a:solidFill>
                  <a:schemeClr val="tx1"/>
                </a:solidFill>
              </a:defRPr>
            </a:lvl1pPr>
          </a:lstStyle>
          <a:p>
            <a:pPr algn="ctr"/>
            <a:r>
              <a:rPr lang="en-US"/>
              <a:t>INTERNAL</a:t>
            </a:r>
          </a:p>
        </p:txBody>
      </p:sp>
    </p:spTree>
    <p:extLst>
      <p:ext uri="{BB962C8B-B14F-4D97-AF65-F5344CB8AC3E}">
        <p14:creationId xmlns:p14="http://schemas.microsoft.com/office/powerpoint/2010/main" val="2164117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4" name="Content Placeholder 3"/>
          <p:cNvSpPr>
            <a:spLocks noGrp="1"/>
          </p:cNvSpPr>
          <p:nvPr>
            <p:ph sz="half" idx="2"/>
          </p:nvPr>
        </p:nvSpPr>
        <p:spPr>
          <a:xfrm>
            <a:off x="297180" y="3658007"/>
            <a:ext cx="5349240" cy="1762021"/>
          </a:xfrm>
        </p:spPr>
        <p:txBody>
          <a:bodyPr anchor="t" anchorCtr="0"/>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Content Placeholder 5"/>
          <p:cNvSpPr>
            <a:spLocks noGrp="1"/>
          </p:cNvSpPr>
          <p:nvPr>
            <p:ph sz="quarter" idx="4"/>
          </p:nvPr>
        </p:nvSpPr>
        <p:spPr>
          <a:xfrm>
            <a:off x="6240780" y="3658007"/>
            <a:ext cx="5349240" cy="1762021"/>
          </a:xfrm>
        </p:spPr>
        <p:txBody>
          <a:bodyPr anchor="t" anchorCtr="0"/>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0" name="Content Placeholder 3"/>
          <p:cNvSpPr>
            <a:spLocks noGrp="1"/>
          </p:cNvSpPr>
          <p:nvPr>
            <p:ph sz="half" idx="13"/>
          </p:nvPr>
        </p:nvSpPr>
        <p:spPr>
          <a:xfrm>
            <a:off x="297180" y="1463043"/>
            <a:ext cx="5349240" cy="1762021"/>
          </a:xfrm>
        </p:spPr>
        <p:txBody>
          <a:bodyPr anchor="t" anchorCtr="0"/>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1" name="Content Placeholder 5"/>
          <p:cNvSpPr>
            <a:spLocks noGrp="1"/>
          </p:cNvSpPr>
          <p:nvPr>
            <p:ph sz="quarter" idx="14"/>
          </p:nvPr>
        </p:nvSpPr>
        <p:spPr>
          <a:xfrm>
            <a:off x="6240780" y="1463043"/>
            <a:ext cx="5349240" cy="1762021"/>
          </a:xfrm>
        </p:spPr>
        <p:txBody>
          <a:bodyPr anchor="t" anchorCtr="0"/>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Footer Placeholder 4">
            <a:extLst>
              <a:ext uri="{FF2B5EF4-FFF2-40B4-BE49-F238E27FC236}">
                <a16:creationId xmlns:a16="http://schemas.microsoft.com/office/drawing/2014/main" id="{84B417EA-D439-4329-912D-C0299194D4A8}"/>
              </a:ext>
            </a:extLst>
          </p:cNvPr>
          <p:cNvSpPr>
            <a:spLocks noGrp="1"/>
          </p:cNvSpPr>
          <p:nvPr>
            <p:ph type="ftr" sz="quarter" idx="3"/>
          </p:nvPr>
        </p:nvSpPr>
        <p:spPr>
          <a:xfrm>
            <a:off x="1024539" y="6545883"/>
            <a:ext cx="990959" cy="167033"/>
          </a:xfrm>
          <a:prstGeom prst="rect">
            <a:avLst/>
          </a:prstGeom>
        </p:spPr>
        <p:txBody>
          <a:bodyPr vert="horz" wrap="square" lIns="0" tIns="0" rIns="0" bIns="0" rtlCol="0" anchor="b" anchorCtr="0">
            <a:spAutoFit/>
          </a:bodyPr>
          <a:lstStyle>
            <a:lvl1pPr>
              <a:lnSpc>
                <a:spcPts val="1400"/>
              </a:lnSpc>
              <a:defRPr lang="en-US" sz="1100" smtClean="0">
                <a:solidFill>
                  <a:schemeClr val="tx1"/>
                </a:solidFill>
              </a:defRPr>
            </a:lvl1pPr>
          </a:lstStyle>
          <a:p>
            <a:pPr algn="ctr"/>
            <a:r>
              <a:rPr lang="en-US"/>
              <a:t>INTERNAL</a:t>
            </a:r>
          </a:p>
        </p:txBody>
      </p:sp>
    </p:spTree>
    <p:extLst>
      <p:ext uri="{BB962C8B-B14F-4D97-AF65-F5344CB8AC3E}">
        <p14:creationId xmlns:p14="http://schemas.microsoft.com/office/powerpoint/2010/main" val="202595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7" name="Footer Placeholder 4">
            <a:extLst>
              <a:ext uri="{FF2B5EF4-FFF2-40B4-BE49-F238E27FC236}">
                <a16:creationId xmlns:a16="http://schemas.microsoft.com/office/drawing/2014/main" id="{5461DCB9-00DC-4517-9092-19C4A9757F0B}"/>
              </a:ext>
            </a:extLst>
          </p:cNvPr>
          <p:cNvSpPr>
            <a:spLocks noGrp="1"/>
          </p:cNvSpPr>
          <p:nvPr>
            <p:ph type="ftr" sz="quarter" idx="3"/>
          </p:nvPr>
        </p:nvSpPr>
        <p:spPr>
          <a:xfrm>
            <a:off x="1083805" y="6545883"/>
            <a:ext cx="990959" cy="167033"/>
          </a:xfrm>
          <a:prstGeom prst="rect">
            <a:avLst/>
          </a:prstGeom>
        </p:spPr>
        <p:txBody>
          <a:bodyPr vert="horz" wrap="square" lIns="0" tIns="0" rIns="0" bIns="0" rtlCol="0" anchor="b" anchorCtr="0">
            <a:spAutoFit/>
          </a:bodyPr>
          <a:lstStyle>
            <a:lvl1pPr>
              <a:lnSpc>
                <a:spcPts val="1400"/>
              </a:lnSpc>
              <a:defRPr lang="en-US" sz="1100" smtClean="0">
                <a:solidFill>
                  <a:schemeClr val="tx1"/>
                </a:solidFill>
              </a:defRPr>
            </a:lvl1pPr>
          </a:lstStyle>
          <a:p>
            <a:pPr algn="ctr"/>
            <a:r>
              <a:rPr lang="en-US"/>
              <a:t>INTERNAL</a:t>
            </a:r>
          </a:p>
        </p:txBody>
      </p:sp>
    </p:spTree>
    <p:extLst>
      <p:ext uri="{BB962C8B-B14F-4D97-AF65-F5344CB8AC3E}">
        <p14:creationId xmlns:p14="http://schemas.microsoft.com/office/powerpoint/2010/main" val="2031190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p:nvPr>
        </p:nvSpPr>
        <p:spPr>
          <a:xfrm>
            <a:off x="297179" y="228600"/>
            <a:ext cx="10933748" cy="841248"/>
          </a:xfrm>
        </p:spPr>
        <p:txBody>
          <a:bodyPr/>
          <a:lstStyle>
            <a:lvl1pPr>
              <a:defRPr b="1"/>
            </a:lvl1pPr>
          </a:lstStyle>
          <a:p>
            <a:r>
              <a:rPr lang="en-US"/>
              <a:t>Click to edit Master title style</a:t>
            </a:r>
            <a:endParaRPr lang="en-CA"/>
          </a:p>
        </p:txBody>
      </p:sp>
      <p:sp>
        <p:nvSpPr>
          <p:cNvPr id="3" name="Content Placeholder 2"/>
          <p:cNvSpPr>
            <a:spLocks noGrp="1"/>
          </p:cNvSpPr>
          <p:nvPr>
            <p:ph idx="1"/>
          </p:nvPr>
        </p:nvSpPr>
        <p:spPr>
          <a:xfrm>
            <a:off x="297179" y="1443993"/>
            <a:ext cx="11276482" cy="307777"/>
          </a:xfrm>
        </p:spPr>
        <p:txBody>
          <a:bodyPr/>
          <a:lstStyle>
            <a:lvl1pPr marL="457200" indent="-457200">
              <a:spcBef>
                <a:spcPts val="600"/>
              </a:spcBef>
              <a:spcAft>
                <a:spcPts val="600"/>
              </a:spcAft>
              <a:buFont typeface="+mj-lt"/>
              <a:buAutoNum type="arabicPeriod"/>
              <a:defRPr>
                <a:latin typeface="+mn-lt"/>
              </a:defRPr>
            </a:lvl1pPr>
          </a:lstStyle>
          <a:p>
            <a:pPr lvl="0"/>
            <a:r>
              <a:rPr lang="en-US"/>
              <a:t>Click to edit Master text styles</a:t>
            </a:r>
          </a:p>
        </p:txBody>
      </p:sp>
      <p:sp>
        <p:nvSpPr>
          <p:cNvPr id="9" name="Text Placeholder 8"/>
          <p:cNvSpPr>
            <a:spLocks noGrp="1"/>
          </p:cNvSpPr>
          <p:nvPr>
            <p:ph type="body" sz="quarter" idx="13" hasCustomPrompt="1"/>
          </p:nvPr>
        </p:nvSpPr>
        <p:spPr>
          <a:xfrm>
            <a:off x="297180" y="3914775"/>
            <a:ext cx="11292840" cy="307777"/>
          </a:xfrm>
        </p:spPr>
        <p:txBody>
          <a:bodyPr/>
          <a:lstStyle>
            <a:lvl1pPr marL="457200" indent="-457200">
              <a:buFont typeface="+mj-lt"/>
              <a:buAutoNum type="alphaUcPeriod"/>
              <a:defRPr/>
            </a:lvl1pPr>
          </a:lstStyle>
          <a:p>
            <a:pPr lvl="0"/>
            <a:r>
              <a:rPr lang="en-US"/>
              <a:t>Click to add Appendices</a:t>
            </a:r>
          </a:p>
        </p:txBody>
      </p:sp>
      <p:sp>
        <p:nvSpPr>
          <p:cNvPr id="7" name="Footer Placeholder 4">
            <a:extLst>
              <a:ext uri="{FF2B5EF4-FFF2-40B4-BE49-F238E27FC236}">
                <a16:creationId xmlns:a16="http://schemas.microsoft.com/office/drawing/2014/main" id="{7EF692B0-F01E-4A8F-8A90-64BF3389DC5D}"/>
              </a:ext>
            </a:extLst>
          </p:cNvPr>
          <p:cNvSpPr>
            <a:spLocks noGrp="1"/>
          </p:cNvSpPr>
          <p:nvPr>
            <p:ph type="ftr" sz="quarter" idx="3"/>
          </p:nvPr>
        </p:nvSpPr>
        <p:spPr>
          <a:xfrm>
            <a:off x="1092272" y="6545883"/>
            <a:ext cx="990959" cy="167033"/>
          </a:xfrm>
          <a:prstGeom prst="rect">
            <a:avLst/>
          </a:prstGeom>
        </p:spPr>
        <p:txBody>
          <a:bodyPr vert="horz" wrap="square" lIns="0" tIns="0" rIns="0" bIns="0" rtlCol="0" anchor="b" anchorCtr="0">
            <a:spAutoFit/>
          </a:bodyPr>
          <a:lstStyle>
            <a:lvl1pPr>
              <a:lnSpc>
                <a:spcPts val="1400"/>
              </a:lnSpc>
              <a:defRPr lang="en-US" sz="1100" smtClean="0">
                <a:solidFill>
                  <a:schemeClr val="tx1"/>
                </a:solidFill>
              </a:defRPr>
            </a:lvl1pPr>
          </a:lstStyle>
          <a:p>
            <a:pPr algn="ctr"/>
            <a:r>
              <a:rPr lang="en-US"/>
              <a:t>INTERNAL</a:t>
            </a:r>
          </a:p>
        </p:txBody>
      </p:sp>
    </p:spTree>
    <p:extLst>
      <p:ext uri="{BB962C8B-B14F-4D97-AF65-F5344CB8AC3E}">
        <p14:creationId xmlns:p14="http://schemas.microsoft.com/office/powerpoint/2010/main" val="1293180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ac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7" name="Text Placeholder 10"/>
          <p:cNvSpPr>
            <a:spLocks noGrp="1"/>
          </p:cNvSpPr>
          <p:nvPr>
            <p:ph type="body" sz="quarter" idx="10" hasCustomPrompt="1"/>
          </p:nvPr>
        </p:nvSpPr>
        <p:spPr>
          <a:xfrm>
            <a:off x="866775" y="1595935"/>
            <a:ext cx="3114483" cy="1077218"/>
          </a:xfrm>
        </p:spPr>
        <p:txBody>
          <a:bodyPr/>
          <a:lstStyle>
            <a:lvl1pPr>
              <a:spcBef>
                <a:spcPts val="0"/>
              </a:spcBef>
              <a:spcAft>
                <a:spcPts val="0"/>
              </a:spcAft>
              <a:defRPr sz="1400" b="0">
                <a:solidFill>
                  <a:schemeClr val="tx1"/>
                </a:solidFill>
              </a:defRPr>
            </a:lvl1pPr>
            <a:lvl2pPr marL="0" indent="0">
              <a:spcBef>
                <a:spcPts val="72"/>
              </a:spcBef>
              <a:spcAft>
                <a:spcPts val="72"/>
              </a:spcAft>
              <a:buNone/>
              <a:defRPr sz="900"/>
            </a:lvl2pPr>
            <a:lvl3pPr marL="0" indent="0">
              <a:spcBef>
                <a:spcPts val="72"/>
              </a:spcBef>
              <a:spcAft>
                <a:spcPts val="72"/>
              </a:spcAft>
              <a:buNone/>
              <a:defRPr sz="900" baseline="0"/>
            </a:lvl3pPr>
            <a:lvl4pPr marL="0" indent="0">
              <a:spcBef>
                <a:spcPts val="72"/>
              </a:spcBef>
              <a:spcAft>
                <a:spcPts val="72"/>
              </a:spcAft>
              <a:buNone/>
              <a:defRPr sz="900"/>
            </a:lvl4pPr>
            <a:lvl5pPr marL="0" indent="0">
              <a:spcBef>
                <a:spcPts val="72"/>
              </a:spcBef>
              <a:spcAft>
                <a:spcPts val="72"/>
              </a:spcAft>
              <a:buNone/>
              <a:defRPr sz="900"/>
            </a:lvl5pPr>
          </a:lstStyle>
          <a:p>
            <a:pPr lvl="0"/>
            <a:r>
              <a:rPr lang="en-US"/>
              <a:t>[Name]</a:t>
            </a:r>
          </a:p>
          <a:p>
            <a:pPr lvl="0"/>
            <a:r>
              <a:rPr lang="en-US"/>
              <a:t>[Title]</a:t>
            </a:r>
          </a:p>
          <a:p>
            <a:pPr lvl="0"/>
            <a:r>
              <a:rPr lang="en-US"/>
              <a:t>[Line of Business]</a:t>
            </a:r>
          </a:p>
          <a:p>
            <a:pPr lvl="0"/>
            <a:r>
              <a:rPr lang="en-US"/>
              <a:t>[Phone#]</a:t>
            </a:r>
          </a:p>
          <a:p>
            <a:pPr lvl="0"/>
            <a:r>
              <a:rPr lang="en-US"/>
              <a:t>[email]</a:t>
            </a:r>
          </a:p>
        </p:txBody>
      </p:sp>
      <p:sp>
        <p:nvSpPr>
          <p:cNvPr id="8" name="Text Placeholder 10"/>
          <p:cNvSpPr>
            <a:spLocks noGrp="1"/>
          </p:cNvSpPr>
          <p:nvPr>
            <p:ph type="body" sz="quarter" idx="11" hasCustomPrompt="1"/>
          </p:nvPr>
        </p:nvSpPr>
        <p:spPr>
          <a:xfrm>
            <a:off x="4333957" y="1595935"/>
            <a:ext cx="3114483" cy="1077218"/>
          </a:xfrm>
        </p:spPr>
        <p:txBody>
          <a:bodyPr/>
          <a:lstStyle>
            <a:lvl1pPr>
              <a:spcBef>
                <a:spcPts val="0"/>
              </a:spcBef>
              <a:spcAft>
                <a:spcPts val="0"/>
              </a:spcAft>
              <a:defRPr sz="1400" b="0">
                <a:solidFill>
                  <a:schemeClr val="tx1"/>
                </a:solidFill>
              </a:defRPr>
            </a:lvl1pPr>
            <a:lvl2pPr marL="0" indent="0">
              <a:spcBef>
                <a:spcPts val="0"/>
              </a:spcBef>
              <a:spcAft>
                <a:spcPts val="0"/>
              </a:spcAft>
              <a:buNone/>
              <a:defRPr sz="1400" b="0"/>
            </a:lvl2pPr>
            <a:lvl3pPr marL="0" indent="0">
              <a:spcBef>
                <a:spcPts val="0"/>
              </a:spcBef>
              <a:spcAft>
                <a:spcPts val="0"/>
              </a:spcAft>
              <a:buNone/>
              <a:defRPr sz="1400" b="0" baseline="0"/>
            </a:lvl3pPr>
            <a:lvl4pPr marL="0" indent="0">
              <a:spcBef>
                <a:spcPts val="0"/>
              </a:spcBef>
              <a:spcAft>
                <a:spcPts val="0"/>
              </a:spcAft>
              <a:buNone/>
              <a:defRPr sz="1400" b="0"/>
            </a:lvl4pPr>
            <a:lvl5pPr marL="0" indent="0">
              <a:spcBef>
                <a:spcPts val="0"/>
              </a:spcBef>
              <a:spcAft>
                <a:spcPts val="0"/>
              </a:spcAft>
              <a:buNone/>
              <a:defRPr sz="1400" b="0"/>
            </a:lvl5pPr>
          </a:lstStyle>
          <a:p>
            <a:pPr lvl="0"/>
            <a:r>
              <a:rPr lang="en-US"/>
              <a:t>[Name]</a:t>
            </a:r>
          </a:p>
          <a:p>
            <a:pPr lvl="1"/>
            <a:r>
              <a:rPr lang="en-US"/>
              <a:t>[Title]</a:t>
            </a:r>
          </a:p>
          <a:p>
            <a:pPr lvl="2"/>
            <a:r>
              <a:rPr lang="en-US"/>
              <a:t>[Line of Business]</a:t>
            </a:r>
          </a:p>
          <a:p>
            <a:pPr lvl="3"/>
            <a:r>
              <a:rPr lang="en-US"/>
              <a:t>[Phone#]</a:t>
            </a:r>
          </a:p>
          <a:p>
            <a:pPr lvl="4"/>
            <a:r>
              <a:rPr lang="en-US"/>
              <a:t>[email]</a:t>
            </a:r>
          </a:p>
        </p:txBody>
      </p:sp>
      <p:sp>
        <p:nvSpPr>
          <p:cNvPr id="9" name="Text Placeholder 10"/>
          <p:cNvSpPr>
            <a:spLocks noGrp="1"/>
          </p:cNvSpPr>
          <p:nvPr>
            <p:ph type="body" sz="quarter" idx="14" hasCustomPrompt="1"/>
          </p:nvPr>
        </p:nvSpPr>
        <p:spPr>
          <a:xfrm>
            <a:off x="7801136" y="1595935"/>
            <a:ext cx="3114483" cy="1077218"/>
          </a:xfrm>
        </p:spPr>
        <p:txBody>
          <a:bodyPr/>
          <a:lstStyle>
            <a:lvl1pPr>
              <a:spcBef>
                <a:spcPts val="0"/>
              </a:spcBef>
              <a:spcAft>
                <a:spcPts val="0"/>
              </a:spcAft>
              <a:defRPr sz="1400" b="0">
                <a:solidFill>
                  <a:schemeClr val="tx1"/>
                </a:solidFill>
              </a:defRPr>
            </a:lvl1pPr>
            <a:lvl2pPr marL="0" indent="0">
              <a:spcBef>
                <a:spcPts val="0"/>
              </a:spcBef>
              <a:spcAft>
                <a:spcPts val="0"/>
              </a:spcAft>
              <a:buNone/>
              <a:defRPr sz="1400" b="0"/>
            </a:lvl2pPr>
            <a:lvl3pPr marL="0" indent="0">
              <a:spcBef>
                <a:spcPts val="0"/>
              </a:spcBef>
              <a:spcAft>
                <a:spcPts val="0"/>
              </a:spcAft>
              <a:buNone/>
              <a:defRPr sz="1400" b="0" baseline="0"/>
            </a:lvl3pPr>
            <a:lvl4pPr marL="0" indent="0">
              <a:spcBef>
                <a:spcPts val="0"/>
              </a:spcBef>
              <a:spcAft>
                <a:spcPts val="0"/>
              </a:spcAft>
              <a:buNone/>
              <a:defRPr sz="1400" b="0"/>
            </a:lvl4pPr>
            <a:lvl5pPr marL="0" indent="0">
              <a:spcBef>
                <a:spcPts val="0"/>
              </a:spcBef>
              <a:spcAft>
                <a:spcPts val="0"/>
              </a:spcAft>
              <a:buNone/>
              <a:defRPr sz="1400" b="0"/>
            </a:lvl5pPr>
          </a:lstStyle>
          <a:p>
            <a:pPr lvl="0"/>
            <a:r>
              <a:rPr lang="en-US"/>
              <a:t>[Name]</a:t>
            </a:r>
          </a:p>
          <a:p>
            <a:pPr lvl="1"/>
            <a:r>
              <a:rPr lang="en-US"/>
              <a:t>[Title]</a:t>
            </a:r>
          </a:p>
          <a:p>
            <a:pPr lvl="2"/>
            <a:r>
              <a:rPr lang="en-US"/>
              <a:t>[Line of Business]</a:t>
            </a:r>
          </a:p>
          <a:p>
            <a:pPr lvl="3"/>
            <a:r>
              <a:rPr lang="en-US"/>
              <a:t>[Phone#]</a:t>
            </a:r>
          </a:p>
          <a:p>
            <a:pPr lvl="4"/>
            <a:r>
              <a:rPr lang="en-US"/>
              <a:t>[email]</a:t>
            </a:r>
          </a:p>
        </p:txBody>
      </p:sp>
      <p:sp>
        <p:nvSpPr>
          <p:cNvPr id="10" name="Text Placeholder 10"/>
          <p:cNvSpPr>
            <a:spLocks noGrp="1"/>
          </p:cNvSpPr>
          <p:nvPr>
            <p:ph type="body" sz="quarter" idx="15" hasCustomPrompt="1"/>
          </p:nvPr>
        </p:nvSpPr>
        <p:spPr>
          <a:xfrm>
            <a:off x="866775" y="2978390"/>
            <a:ext cx="3114483" cy="1077218"/>
          </a:xfrm>
        </p:spPr>
        <p:txBody>
          <a:bodyPr/>
          <a:lstStyle>
            <a:lvl1pPr>
              <a:spcBef>
                <a:spcPts val="0"/>
              </a:spcBef>
              <a:spcAft>
                <a:spcPts val="0"/>
              </a:spcAft>
              <a:defRPr sz="1400" b="0">
                <a:solidFill>
                  <a:schemeClr val="tx1"/>
                </a:solidFill>
              </a:defRPr>
            </a:lvl1pPr>
            <a:lvl2pPr marL="0" indent="0">
              <a:spcBef>
                <a:spcPts val="0"/>
              </a:spcBef>
              <a:spcAft>
                <a:spcPts val="0"/>
              </a:spcAft>
              <a:buNone/>
              <a:defRPr sz="1400" b="0"/>
            </a:lvl2pPr>
            <a:lvl3pPr marL="0" indent="0">
              <a:spcBef>
                <a:spcPts val="0"/>
              </a:spcBef>
              <a:spcAft>
                <a:spcPts val="0"/>
              </a:spcAft>
              <a:buNone/>
              <a:defRPr sz="1400" b="0" baseline="0"/>
            </a:lvl3pPr>
            <a:lvl4pPr marL="0" indent="0">
              <a:spcBef>
                <a:spcPts val="0"/>
              </a:spcBef>
              <a:spcAft>
                <a:spcPts val="0"/>
              </a:spcAft>
              <a:buNone/>
              <a:defRPr sz="1400" b="0"/>
            </a:lvl4pPr>
            <a:lvl5pPr marL="0" indent="0">
              <a:spcBef>
                <a:spcPts val="0"/>
              </a:spcBef>
              <a:spcAft>
                <a:spcPts val="0"/>
              </a:spcAft>
              <a:buNone/>
              <a:defRPr sz="1400" b="0"/>
            </a:lvl5pPr>
          </a:lstStyle>
          <a:p>
            <a:pPr lvl="0"/>
            <a:r>
              <a:rPr lang="en-US"/>
              <a:t>[Name]</a:t>
            </a:r>
          </a:p>
          <a:p>
            <a:pPr lvl="1"/>
            <a:r>
              <a:rPr lang="en-US"/>
              <a:t>[Title]</a:t>
            </a:r>
          </a:p>
          <a:p>
            <a:pPr lvl="2"/>
            <a:r>
              <a:rPr lang="en-US"/>
              <a:t>[Line of Business]</a:t>
            </a:r>
          </a:p>
          <a:p>
            <a:pPr lvl="3"/>
            <a:r>
              <a:rPr lang="en-US"/>
              <a:t>[Phone#]</a:t>
            </a:r>
          </a:p>
          <a:p>
            <a:pPr lvl="4"/>
            <a:r>
              <a:rPr lang="en-US"/>
              <a:t>[email]</a:t>
            </a:r>
          </a:p>
        </p:txBody>
      </p:sp>
      <p:sp>
        <p:nvSpPr>
          <p:cNvPr id="11" name="Text Placeholder 10"/>
          <p:cNvSpPr>
            <a:spLocks noGrp="1"/>
          </p:cNvSpPr>
          <p:nvPr>
            <p:ph type="body" sz="quarter" idx="16" hasCustomPrompt="1"/>
          </p:nvPr>
        </p:nvSpPr>
        <p:spPr>
          <a:xfrm>
            <a:off x="4333957" y="2978390"/>
            <a:ext cx="3114483" cy="1077218"/>
          </a:xfrm>
        </p:spPr>
        <p:txBody>
          <a:bodyPr/>
          <a:lstStyle>
            <a:lvl1pPr>
              <a:spcBef>
                <a:spcPts val="0"/>
              </a:spcBef>
              <a:spcAft>
                <a:spcPts val="0"/>
              </a:spcAft>
              <a:defRPr sz="1400" b="0">
                <a:solidFill>
                  <a:schemeClr val="tx1"/>
                </a:solidFill>
              </a:defRPr>
            </a:lvl1pPr>
            <a:lvl2pPr marL="0" indent="0">
              <a:spcBef>
                <a:spcPts val="0"/>
              </a:spcBef>
              <a:spcAft>
                <a:spcPts val="0"/>
              </a:spcAft>
              <a:buNone/>
              <a:defRPr sz="1400" b="0"/>
            </a:lvl2pPr>
            <a:lvl3pPr marL="0" indent="0">
              <a:spcBef>
                <a:spcPts val="0"/>
              </a:spcBef>
              <a:spcAft>
                <a:spcPts val="0"/>
              </a:spcAft>
              <a:buNone/>
              <a:defRPr sz="1400" b="0" baseline="0"/>
            </a:lvl3pPr>
            <a:lvl4pPr marL="0" indent="0">
              <a:spcBef>
                <a:spcPts val="0"/>
              </a:spcBef>
              <a:spcAft>
                <a:spcPts val="0"/>
              </a:spcAft>
              <a:buNone/>
              <a:defRPr sz="1400" b="0"/>
            </a:lvl4pPr>
            <a:lvl5pPr marL="0" indent="0">
              <a:spcBef>
                <a:spcPts val="0"/>
              </a:spcBef>
              <a:spcAft>
                <a:spcPts val="0"/>
              </a:spcAft>
              <a:buNone/>
              <a:defRPr sz="1400" b="0"/>
            </a:lvl5pPr>
          </a:lstStyle>
          <a:p>
            <a:pPr lvl="0"/>
            <a:r>
              <a:rPr lang="en-US"/>
              <a:t>[Name]</a:t>
            </a:r>
          </a:p>
          <a:p>
            <a:pPr lvl="1"/>
            <a:r>
              <a:rPr lang="en-US"/>
              <a:t>[Title]</a:t>
            </a:r>
          </a:p>
          <a:p>
            <a:pPr lvl="2"/>
            <a:r>
              <a:rPr lang="en-US"/>
              <a:t>[Line of Business]</a:t>
            </a:r>
          </a:p>
          <a:p>
            <a:pPr lvl="3"/>
            <a:r>
              <a:rPr lang="en-US"/>
              <a:t>[Phone#]</a:t>
            </a:r>
          </a:p>
          <a:p>
            <a:pPr lvl="4"/>
            <a:r>
              <a:rPr lang="en-US"/>
              <a:t>[email]</a:t>
            </a:r>
          </a:p>
        </p:txBody>
      </p:sp>
      <p:sp>
        <p:nvSpPr>
          <p:cNvPr id="12" name="Text Placeholder 10"/>
          <p:cNvSpPr>
            <a:spLocks noGrp="1"/>
          </p:cNvSpPr>
          <p:nvPr>
            <p:ph type="body" sz="quarter" idx="17" hasCustomPrompt="1"/>
          </p:nvPr>
        </p:nvSpPr>
        <p:spPr>
          <a:xfrm>
            <a:off x="7801136" y="2978390"/>
            <a:ext cx="3114483" cy="1077218"/>
          </a:xfrm>
        </p:spPr>
        <p:txBody>
          <a:bodyPr/>
          <a:lstStyle>
            <a:lvl1pPr>
              <a:spcBef>
                <a:spcPts val="0"/>
              </a:spcBef>
              <a:spcAft>
                <a:spcPts val="0"/>
              </a:spcAft>
              <a:defRPr sz="1400" b="0">
                <a:solidFill>
                  <a:schemeClr val="tx1"/>
                </a:solidFill>
              </a:defRPr>
            </a:lvl1pPr>
            <a:lvl2pPr marL="0" indent="0">
              <a:spcBef>
                <a:spcPts val="0"/>
              </a:spcBef>
              <a:spcAft>
                <a:spcPts val="0"/>
              </a:spcAft>
              <a:buNone/>
              <a:defRPr sz="1400" b="0"/>
            </a:lvl2pPr>
            <a:lvl3pPr marL="0" indent="0">
              <a:spcBef>
                <a:spcPts val="0"/>
              </a:spcBef>
              <a:spcAft>
                <a:spcPts val="0"/>
              </a:spcAft>
              <a:buNone/>
              <a:defRPr sz="1400" b="0" baseline="0"/>
            </a:lvl3pPr>
            <a:lvl4pPr marL="0" indent="0">
              <a:spcBef>
                <a:spcPts val="0"/>
              </a:spcBef>
              <a:spcAft>
                <a:spcPts val="0"/>
              </a:spcAft>
              <a:buNone/>
              <a:defRPr sz="1400" b="0"/>
            </a:lvl4pPr>
            <a:lvl5pPr marL="0" indent="0">
              <a:spcBef>
                <a:spcPts val="0"/>
              </a:spcBef>
              <a:spcAft>
                <a:spcPts val="0"/>
              </a:spcAft>
              <a:buNone/>
              <a:defRPr sz="1400" b="0"/>
            </a:lvl5pPr>
          </a:lstStyle>
          <a:p>
            <a:pPr lvl="0"/>
            <a:r>
              <a:rPr lang="en-US"/>
              <a:t>[Name]</a:t>
            </a:r>
          </a:p>
          <a:p>
            <a:pPr lvl="1"/>
            <a:r>
              <a:rPr lang="en-US"/>
              <a:t>[Title]</a:t>
            </a:r>
          </a:p>
          <a:p>
            <a:pPr lvl="2"/>
            <a:r>
              <a:rPr lang="en-US"/>
              <a:t>[Line of Business]</a:t>
            </a:r>
          </a:p>
          <a:p>
            <a:pPr lvl="3"/>
            <a:r>
              <a:rPr lang="en-US"/>
              <a:t>[Phone#]</a:t>
            </a:r>
          </a:p>
          <a:p>
            <a:pPr lvl="4"/>
            <a:r>
              <a:rPr lang="en-US"/>
              <a:t>[email]</a:t>
            </a:r>
          </a:p>
        </p:txBody>
      </p:sp>
      <p:sp>
        <p:nvSpPr>
          <p:cNvPr id="13" name="Text Placeholder 10"/>
          <p:cNvSpPr>
            <a:spLocks noGrp="1"/>
          </p:cNvSpPr>
          <p:nvPr>
            <p:ph type="body" sz="quarter" idx="18" hasCustomPrompt="1"/>
          </p:nvPr>
        </p:nvSpPr>
        <p:spPr>
          <a:xfrm>
            <a:off x="866775" y="4382790"/>
            <a:ext cx="3114483" cy="1077218"/>
          </a:xfrm>
        </p:spPr>
        <p:txBody>
          <a:bodyPr/>
          <a:lstStyle>
            <a:lvl1pPr>
              <a:spcBef>
                <a:spcPts val="0"/>
              </a:spcBef>
              <a:spcAft>
                <a:spcPts val="0"/>
              </a:spcAft>
              <a:defRPr sz="1400" b="0">
                <a:solidFill>
                  <a:schemeClr val="tx1"/>
                </a:solidFill>
              </a:defRPr>
            </a:lvl1pPr>
            <a:lvl2pPr marL="0" indent="0">
              <a:spcBef>
                <a:spcPts val="0"/>
              </a:spcBef>
              <a:spcAft>
                <a:spcPts val="0"/>
              </a:spcAft>
              <a:buNone/>
              <a:defRPr sz="1400" b="0"/>
            </a:lvl2pPr>
            <a:lvl3pPr marL="0" indent="0">
              <a:spcBef>
                <a:spcPts val="0"/>
              </a:spcBef>
              <a:spcAft>
                <a:spcPts val="0"/>
              </a:spcAft>
              <a:buNone/>
              <a:defRPr sz="1400" b="0" baseline="0"/>
            </a:lvl3pPr>
            <a:lvl4pPr marL="0" indent="0">
              <a:spcBef>
                <a:spcPts val="0"/>
              </a:spcBef>
              <a:spcAft>
                <a:spcPts val="0"/>
              </a:spcAft>
              <a:buNone/>
              <a:defRPr sz="1400" b="0"/>
            </a:lvl4pPr>
            <a:lvl5pPr marL="0" indent="0">
              <a:spcBef>
                <a:spcPts val="0"/>
              </a:spcBef>
              <a:spcAft>
                <a:spcPts val="0"/>
              </a:spcAft>
              <a:buNone/>
              <a:defRPr sz="1400" b="0"/>
            </a:lvl5pPr>
          </a:lstStyle>
          <a:p>
            <a:pPr lvl="0"/>
            <a:r>
              <a:rPr lang="en-US"/>
              <a:t>[Name]</a:t>
            </a:r>
          </a:p>
          <a:p>
            <a:pPr lvl="1"/>
            <a:r>
              <a:rPr lang="en-US"/>
              <a:t>[Title]</a:t>
            </a:r>
          </a:p>
          <a:p>
            <a:pPr lvl="2"/>
            <a:r>
              <a:rPr lang="en-US"/>
              <a:t>[Line of Business]</a:t>
            </a:r>
          </a:p>
          <a:p>
            <a:pPr lvl="3"/>
            <a:r>
              <a:rPr lang="en-US"/>
              <a:t>[Phone#]</a:t>
            </a:r>
          </a:p>
          <a:p>
            <a:pPr lvl="4"/>
            <a:r>
              <a:rPr lang="en-US"/>
              <a:t>[email]</a:t>
            </a:r>
          </a:p>
        </p:txBody>
      </p:sp>
      <p:sp>
        <p:nvSpPr>
          <p:cNvPr id="14" name="Text Placeholder 10"/>
          <p:cNvSpPr>
            <a:spLocks noGrp="1"/>
          </p:cNvSpPr>
          <p:nvPr>
            <p:ph type="body" sz="quarter" idx="19" hasCustomPrompt="1"/>
          </p:nvPr>
        </p:nvSpPr>
        <p:spPr>
          <a:xfrm>
            <a:off x="4333957" y="4382790"/>
            <a:ext cx="3114483" cy="1077218"/>
          </a:xfrm>
        </p:spPr>
        <p:txBody>
          <a:bodyPr/>
          <a:lstStyle>
            <a:lvl1pPr>
              <a:spcBef>
                <a:spcPts val="0"/>
              </a:spcBef>
              <a:spcAft>
                <a:spcPts val="0"/>
              </a:spcAft>
              <a:defRPr sz="1400" b="0">
                <a:solidFill>
                  <a:schemeClr val="tx1"/>
                </a:solidFill>
              </a:defRPr>
            </a:lvl1pPr>
            <a:lvl2pPr marL="0" indent="0">
              <a:spcBef>
                <a:spcPts val="0"/>
              </a:spcBef>
              <a:spcAft>
                <a:spcPts val="0"/>
              </a:spcAft>
              <a:buNone/>
              <a:defRPr sz="1400" b="0"/>
            </a:lvl2pPr>
            <a:lvl3pPr marL="0" indent="0">
              <a:spcBef>
                <a:spcPts val="0"/>
              </a:spcBef>
              <a:spcAft>
                <a:spcPts val="0"/>
              </a:spcAft>
              <a:buNone/>
              <a:defRPr sz="1400" b="0" baseline="0"/>
            </a:lvl3pPr>
            <a:lvl4pPr marL="0" indent="0">
              <a:spcBef>
                <a:spcPts val="0"/>
              </a:spcBef>
              <a:spcAft>
                <a:spcPts val="0"/>
              </a:spcAft>
              <a:buNone/>
              <a:defRPr sz="1400" b="0"/>
            </a:lvl4pPr>
            <a:lvl5pPr marL="0" indent="0">
              <a:spcBef>
                <a:spcPts val="0"/>
              </a:spcBef>
              <a:spcAft>
                <a:spcPts val="0"/>
              </a:spcAft>
              <a:buNone/>
              <a:defRPr sz="1400" b="0"/>
            </a:lvl5pPr>
          </a:lstStyle>
          <a:p>
            <a:pPr lvl="0"/>
            <a:r>
              <a:rPr lang="en-US"/>
              <a:t>[Name]</a:t>
            </a:r>
          </a:p>
          <a:p>
            <a:pPr lvl="1"/>
            <a:r>
              <a:rPr lang="en-US"/>
              <a:t>[Title]</a:t>
            </a:r>
          </a:p>
          <a:p>
            <a:pPr lvl="2"/>
            <a:r>
              <a:rPr lang="en-US"/>
              <a:t>[Line of Business]</a:t>
            </a:r>
          </a:p>
          <a:p>
            <a:pPr lvl="3"/>
            <a:r>
              <a:rPr lang="en-US"/>
              <a:t>[Phone#]</a:t>
            </a:r>
          </a:p>
          <a:p>
            <a:pPr lvl="4"/>
            <a:r>
              <a:rPr lang="en-US"/>
              <a:t>[email]</a:t>
            </a:r>
          </a:p>
        </p:txBody>
      </p:sp>
      <p:sp>
        <p:nvSpPr>
          <p:cNvPr id="15" name="Text Placeholder 10"/>
          <p:cNvSpPr>
            <a:spLocks noGrp="1"/>
          </p:cNvSpPr>
          <p:nvPr>
            <p:ph type="body" sz="quarter" idx="20" hasCustomPrompt="1"/>
          </p:nvPr>
        </p:nvSpPr>
        <p:spPr>
          <a:xfrm>
            <a:off x="7801136" y="4382790"/>
            <a:ext cx="3114483" cy="1077218"/>
          </a:xfrm>
        </p:spPr>
        <p:txBody>
          <a:bodyPr/>
          <a:lstStyle>
            <a:lvl1pPr>
              <a:spcBef>
                <a:spcPts val="0"/>
              </a:spcBef>
              <a:spcAft>
                <a:spcPts val="0"/>
              </a:spcAft>
              <a:defRPr sz="1400" b="0">
                <a:solidFill>
                  <a:schemeClr val="tx1"/>
                </a:solidFill>
              </a:defRPr>
            </a:lvl1pPr>
            <a:lvl2pPr marL="0" indent="0">
              <a:spcBef>
                <a:spcPts val="0"/>
              </a:spcBef>
              <a:spcAft>
                <a:spcPts val="0"/>
              </a:spcAft>
              <a:buNone/>
              <a:defRPr sz="1400" b="0"/>
            </a:lvl2pPr>
            <a:lvl3pPr marL="0" indent="0">
              <a:spcBef>
                <a:spcPts val="0"/>
              </a:spcBef>
              <a:spcAft>
                <a:spcPts val="0"/>
              </a:spcAft>
              <a:buNone/>
              <a:defRPr sz="1400" b="0" baseline="0"/>
            </a:lvl3pPr>
            <a:lvl4pPr marL="0" indent="0">
              <a:spcBef>
                <a:spcPts val="0"/>
              </a:spcBef>
              <a:spcAft>
                <a:spcPts val="0"/>
              </a:spcAft>
              <a:buNone/>
              <a:defRPr sz="1400" b="0"/>
            </a:lvl4pPr>
            <a:lvl5pPr marL="0" indent="0">
              <a:spcBef>
                <a:spcPts val="0"/>
              </a:spcBef>
              <a:spcAft>
                <a:spcPts val="0"/>
              </a:spcAft>
              <a:buNone/>
              <a:defRPr sz="1400" b="0"/>
            </a:lvl5pPr>
          </a:lstStyle>
          <a:p>
            <a:pPr lvl="0"/>
            <a:r>
              <a:rPr lang="en-US"/>
              <a:t>[Name]</a:t>
            </a:r>
          </a:p>
          <a:p>
            <a:pPr lvl="1"/>
            <a:r>
              <a:rPr lang="en-US"/>
              <a:t>[Title]</a:t>
            </a:r>
          </a:p>
          <a:p>
            <a:pPr lvl="2"/>
            <a:r>
              <a:rPr lang="en-US"/>
              <a:t>[Line of Business]</a:t>
            </a:r>
          </a:p>
          <a:p>
            <a:pPr lvl="3"/>
            <a:r>
              <a:rPr lang="en-US"/>
              <a:t>[Phone#]</a:t>
            </a:r>
          </a:p>
          <a:p>
            <a:pPr lvl="4"/>
            <a:r>
              <a:rPr lang="en-US"/>
              <a:t>[email]</a:t>
            </a:r>
          </a:p>
        </p:txBody>
      </p:sp>
      <p:sp>
        <p:nvSpPr>
          <p:cNvPr id="17" name="Footer Placeholder 4">
            <a:extLst>
              <a:ext uri="{FF2B5EF4-FFF2-40B4-BE49-F238E27FC236}">
                <a16:creationId xmlns:a16="http://schemas.microsoft.com/office/drawing/2014/main" id="{DB5285EC-C735-4DF0-8A50-6E0BDADDF8E0}"/>
              </a:ext>
            </a:extLst>
          </p:cNvPr>
          <p:cNvSpPr>
            <a:spLocks noGrp="1"/>
          </p:cNvSpPr>
          <p:nvPr>
            <p:ph type="ftr" sz="quarter" idx="3"/>
          </p:nvPr>
        </p:nvSpPr>
        <p:spPr>
          <a:xfrm>
            <a:off x="965272" y="6545883"/>
            <a:ext cx="990959" cy="167033"/>
          </a:xfrm>
          <a:prstGeom prst="rect">
            <a:avLst/>
          </a:prstGeom>
        </p:spPr>
        <p:txBody>
          <a:bodyPr vert="horz" wrap="square" lIns="0" tIns="0" rIns="0" bIns="0" rtlCol="0" anchor="b" anchorCtr="0">
            <a:spAutoFit/>
          </a:bodyPr>
          <a:lstStyle>
            <a:lvl1pPr>
              <a:lnSpc>
                <a:spcPts val="1400"/>
              </a:lnSpc>
              <a:defRPr lang="en-US" sz="1100" smtClean="0">
                <a:solidFill>
                  <a:schemeClr val="tx1"/>
                </a:solidFill>
              </a:defRPr>
            </a:lvl1pPr>
          </a:lstStyle>
          <a:p>
            <a:pPr algn="ctr"/>
            <a:r>
              <a:rPr lang="en-US"/>
              <a:t>INTERNAL</a:t>
            </a:r>
          </a:p>
        </p:txBody>
      </p:sp>
    </p:spTree>
    <p:extLst>
      <p:ext uri="{BB962C8B-B14F-4D97-AF65-F5344CB8AC3E}">
        <p14:creationId xmlns:p14="http://schemas.microsoft.com/office/powerpoint/2010/main" val="1937216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8A068-8126-413C-BF48-6DD323276B3F}"/>
              </a:ext>
            </a:extLst>
          </p:cNvPr>
          <p:cNvSpPr>
            <a:spLocks noGrp="1"/>
          </p:cNvSpPr>
          <p:nvPr>
            <p:ph type="ctrTitle"/>
          </p:nvPr>
        </p:nvSpPr>
        <p:spPr>
          <a:xfrm>
            <a:off x="1485900" y="1122363"/>
            <a:ext cx="89154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057D4968-6E79-43C3-8975-80F70EB1C1FB}"/>
              </a:ext>
            </a:extLst>
          </p:cNvPr>
          <p:cNvSpPr>
            <a:spLocks noGrp="1"/>
          </p:cNvSpPr>
          <p:nvPr>
            <p:ph type="subTitle" idx="1"/>
          </p:nvPr>
        </p:nvSpPr>
        <p:spPr>
          <a:xfrm>
            <a:off x="1485900" y="3602038"/>
            <a:ext cx="89154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D42EAAB-97D9-43B4-9088-A0A19855E1FA}"/>
              </a:ext>
            </a:extLst>
          </p:cNvPr>
          <p:cNvSpPr>
            <a:spLocks noGrp="1"/>
          </p:cNvSpPr>
          <p:nvPr>
            <p:ph type="dt" sz="half" idx="10"/>
          </p:nvPr>
        </p:nvSpPr>
        <p:spPr/>
        <p:txBody>
          <a:bodyPr/>
          <a:lstStyle/>
          <a:p>
            <a:fld id="{5DA0C6C5-3012-4B31-8A7F-822ABFD46152}" type="datetimeFigureOut">
              <a:rPr lang="en-CA" smtClean="0"/>
              <a:t>2025-10-10</a:t>
            </a:fld>
            <a:endParaRPr lang="en-CA"/>
          </a:p>
        </p:txBody>
      </p:sp>
      <p:sp>
        <p:nvSpPr>
          <p:cNvPr id="5" name="Footer Placeholder 4">
            <a:extLst>
              <a:ext uri="{FF2B5EF4-FFF2-40B4-BE49-F238E27FC236}">
                <a16:creationId xmlns:a16="http://schemas.microsoft.com/office/drawing/2014/main" id="{B901D73A-DB62-4C75-A4D6-314FF6740DC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EF3A0C3-B167-4547-94D4-7D3846E024D0}"/>
              </a:ext>
            </a:extLst>
          </p:cNvPr>
          <p:cNvSpPr>
            <a:spLocks noGrp="1"/>
          </p:cNvSpPr>
          <p:nvPr>
            <p:ph type="sldNum" sz="quarter" idx="12"/>
          </p:nvPr>
        </p:nvSpPr>
        <p:spPr/>
        <p:txBody>
          <a:bodyPr/>
          <a:lstStyle/>
          <a:p>
            <a:fld id="{F1521C25-45A5-4F7E-820F-6AD96B2AB4BA}" type="slidenum">
              <a:rPr lang="en-CA" smtClean="0"/>
              <a:t>‹#›</a:t>
            </a:fld>
            <a:endParaRPr lang="en-CA"/>
          </a:p>
        </p:txBody>
      </p:sp>
    </p:spTree>
    <p:extLst>
      <p:ext uri="{BB962C8B-B14F-4D97-AF65-F5344CB8AC3E}">
        <p14:creationId xmlns:p14="http://schemas.microsoft.com/office/powerpoint/2010/main" val="644257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CB50-3A7F-4040-B583-96DB89FE833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5AE1046-345F-43D3-892C-01AFEA435A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1C2383D-CBDF-4F8C-96D9-D4B5CCFC3E84}"/>
              </a:ext>
            </a:extLst>
          </p:cNvPr>
          <p:cNvSpPr>
            <a:spLocks noGrp="1"/>
          </p:cNvSpPr>
          <p:nvPr>
            <p:ph type="dt" sz="half" idx="10"/>
          </p:nvPr>
        </p:nvSpPr>
        <p:spPr/>
        <p:txBody>
          <a:bodyPr/>
          <a:lstStyle/>
          <a:p>
            <a:fld id="{5DA0C6C5-3012-4B31-8A7F-822ABFD46152}" type="datetimeFigureOut">
              <a:rPr lang="en-CA" smtClean="0"/>
              <a:t>2025-10-10</a:t>
            </a:fld>
            <a:endParaRPr lang="en-CA"/>
          </a:p>
        </p:txBody>
      </p:sp>
      <p:sp>
        <p:nvSpPr>
          <p:cNvPr id="5" name="Footer Placeholder 4">
            <a:extLst>
              <a:ext uri="{FF2B5EF4-FFF2-40B4-BE49-F238E27FC236}">
                <a16:creationId xmlns:a16="http://schemas.microsoft.com/office/drawing/2014/main" id="{2D3A54F7-AD5C-4A41-9784-C5146E65CB4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7CC6C35-4961-4F24-A20F-846D82D361A5}"/>
              </a:ext>
            </a:extLst>
          </p:cNvPr>
          <p:cNvSpPr>
            <a:spLocks noGrp="1"/>
          </p:cNvSpPr>
          <p:nvPr>
            <p:ph type="sldNum" sz="quarter" idx="12"/>
          </p:nvPr>
        </p:nvSpPr>
        <p:spPr/>
        <p:txBody>
          <a:bodyPr/>
          <a:lstStyle/>
          <a:p>
            <a:fld id="{F1521C25-45A5-4F7E-820F-6AD96B2AB4BA}" type="slidenum">
              <a:rPr lang="en-CA" smtClean="0"/>
              <a:t>‹#›</a:t>
            </a:fld>
            <a:endParaRPr lang="en-CA"/>
          </a:p>
        </p:txBody>
      </p:sp>
    </p:spTree>
    <p:extLst>
      <p:ext uri="{BB962C8B-B14F-4D97-AF65-F5344CB8AC3E}">
        <p14:creationId xmlns:p14="http://schemas.microsoft.com/office/powerpoint/2010/main" val="4008366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3381A-F577-4A21-88F9-09C0A125E564}"/>
              </a:ext>
            </a:extLst>
          </p:cNvPr>
          <p:cNvSpPr>
            <a:spLocks noGrp="1"/>
          </p:cNvSpPr>
          <p:nvPr>
            <p:ph type="title"/>
          </p:nvPr>
        </p:nvSpPr>
        <p:spPr>
          <a:xfrm>
            <a:off x="811213" y="1709738"/>
            <a:ext cx="10252075"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40AA5E94-7E79-411E-B4D8-D7C4DC3E9633}"/>
              </a:ext>
            </a:extLst>
          </p:cNvPr>
          <p:cNvSpPr>
            <a:spLocks noGrp="1"/>
          </p:cNvSpPr>
          <p:nvPr>
            <p:ph type="body" idx="1"/>
          </p:nvPr>
        </p:nvSpPr>
        <p:spPr>
          <a:xfrm>
            <a:off x="811213" y="4589463"/>
            <a:ext cx="1025207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9A79C2-7736-4E19-A5D6-5976366C12CE}"/>
              </a:ext>
            </a:extLst>
          </p:cNvPr>
          <p:cNvSpPr>
            <a:spLocks noGrp="1"/>
          </p:cNvSpPr>
          <p:nvPr>
            <p:ph type="dt" sz="half" idx="10"/>
          </p:nvPr>
        </p:nvSpPr>
        <p:spPr/>
        <p:txBody>
          <a:bodyPr/>
          <a:lstStyle/>
          <a:p>
            <a:fld id="{5DA0C6C5-3012-4B31-8A7F-822ABFD46152}" type="datetimeFigureOut">
              <a:rPr lang="en-CA" smtClean="0"/>
              <a:t>2025-10-10</a:t>
            </a:fld>
            <a:endParaRPr lang="en-CA"/>
          </a:p>
        </p:txBody>
      </p:sp>
      <p:sp>
        <p:nvSpPr>
          <p:cNvPr id="5" name="Footer Placeholder 4">
            <a:extLst>
              <a:ext uri="{FF2B5EF4-FFF2-40B4-BE49-F238E27FC236}">
                <a16:creationId xmlns:a16="http://schemas.microsoft.com/office/drawing/2014/main" id="{3523FC5D-5D2E-4C2E-8F30-99D1250DB76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93023FD-C02B-43CB-96C8-30CA1C57EE1F}"/>
              </a:ext>
            </a:extLst>
          </p:cNvPr>
          <p:cNvSpPr>
            <a:spLocks noGrp="1"/>
          </p:cNvSpPr>
          <p:nvPr>
            <p:ph type="sldNum" sz="quarter" idx="12"/>
          </p:nvPr>
        </p:nvSpPr>
        <p:spPr/>
        <p:txBody>
          <a:bodyPr/>
          <a:lstStyle/>
          <a:p>
            <a:fld id="{F1521C25-45A5-4F7E-820F-6AD96B2AB4BA}" type="slidenum">
              <a:rPr lang="en-CA" smtClean="0"/>
              <a:t>‹#›</a:t>
            </a:fld>
            <a:endParaRPr lang="en-CA"/>
          </a:p>
        </p:txBody>
      </p:sp>
    </p:spTree>
    <p:extLst>
      <p:ext uri="{BB962C8B-B14F-4D97-AF65-F5344CB8AC3E}">
        <p14:creationId xmlns:p14="http://schemas.microsoft.com/office/powerpoint/2010/main" val="2723929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3F77B-3BD4-4B72-A76C-DAB64A3B09A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7C09586-BD2B-49A8-8520-B9B11ABDFFD4}"/>
              </a:ext>
            </a:extLst>
          </p:cNvPr>
          <p:cNvSpPr>
            <a:spLocks noGrp="1"/>
          </p:cNvSpPr>
          <p:nvPr>
            <p:ph sz="half" idx="1"/>
          </p:nvPr>
        </p:nvSpPr>
        <p:spPr>
          <a:xfrm>
            <a:off x="817563" y="1825625"/>
            <a:ext cx="50498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0970038-8A85-473D-AAB8-AEF09D379B9D}"/>
              </a:ext>
            </a:extLst>
          </p:cNvPr>
          <p:cNvSpPr>
            <a:spLocks noGrp="1"/>
          </p:cNvSpPr>
          <p:nvPr>
            <p:ph sz="half" idx="2"/>
          </p:nvPr>
        </p:nvSpPr>
        <p:spPr>
          <a:xfrm>
            <a:off x="6019800" y="1825625"/>
            <a:ext cx="504983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34A03F5E-E9FD-4D9B-A19E-EA370B060890}"/>
              </a:ext>
            </a:extLst>
          </p:cNvPr>
          <p:cNvSpPr>
            <a:spLocks noGrp="1"/>
          </p:cNvSpPr>
          <p:nvPr>
            <p:ph type="dt" sz="half" idx="10"/>
          </p:nvPr>
        </p:nvSpPr>
        <p:spPr/>
        <p:txBody>
          <a:bodyPr/>
          <a:lstStyle/>
          <a:p>
            <a:fld id="{5DA0C6C5-3012-4B31-8A7F-822ABFD46152}" type="datetimeFigureOut">
              <a:rPr lang="en-CA" smtClean="0"/>
              <a:t>2025-10-10</a:t>
            </a:fld>
            <a:endParaRPr lang="en-CA"/>
          </a:p>
        </p:txBody>
      </p:sp>
      <p:sp>
        <p:nvSpPr>
          <p:cNvPr id="6" name="Footer Placeholder 5">
            <a:extLst>
              <a:ext uri="{FF2B5EF4-FFF2-40B4-BE49-F238E27FC236}">
                <a16:creationId xmlns:a16="http://schemas.microsoft.com/office/drawing/2014/main" id="{E79508FA-1BAB-40D4-998E-CE18B0AEBF4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D3A1532-BE16-4B2E-A4FC-E827EF578724}"/>
              </a:ext>
            </a:extLst>
          </p:cNvPr>
          <p:cNvSpPr>
            <a:spLocks noGrp="1"/>
          </p:cNvSpPr>
          <p:nvPr>
            <p:ph type="sldNum" sz="quarter" idx="12"/>
          </p:nvPr>
        </p:nvSpPr>
        <p:spPr/>
        <p:txBody>
          <a:bodyPr/>
          <a:lstStyle/>
          <a:p>
            <a:fld id="{F1521C25-45A5-4F7E-820F-6AD96B2AB4BA}" type="slidenum">
              <a:rPr lang="en-CA" smtClean="0"/>
              <a:t>‹#›</a:t>
            </a:fld>
            <a:endParaRPr lang="en-CA"/>
          </a:p>
        </p:txBody>
      </p:sp>
    </p:spTree>
    <p:extLst>
      <p:ext uri="{BB962C8B-B14F-4D97-AF65-F5344CB8AC3E}">
        <p14:creationId xmlns:p14="http://schemas.microsoft.com/office/powerpoint/2010/main" val="35777431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2AA3F-CE2E-4F07-8A3D-D85854136523}"/>
              </a:ext>
            </a:extLst>
          </p:cNvPr>
          <p:cNvSpPr>
            <a:spLocks noGrp="1"/>
          </p:cNvSpPr>
          <p:nvPr>
            <p:ph type="title"/>
          </p:nvPr>
        </p:nvSpPr>
        <p:spPr>
          <a:xfrm>
            <a:off x="819150" y="365125"/>
            <a:ext cx="10252075"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77D5287-C72D-4C81-81C9-C534AA0A0354}"/>
              </a:ext>
            </a:extLst>
          </p:cNvPr>
          <p:cNvSpPr>
            <a:spLocks noGrp="1"/>
          </p:cNvSpPr>
          <p:nvPr>
            <p:ph type="body" idx="1"/>
          </p:nvPr>
        </p:nvSpPr>
        <p:spPr>
          <a:xfrm>
            <a:off x="819150" y="1681163"/>
            <a:ext cx="50292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ECA8DA-EE3A-4522-B370-8E4A16B9FF10}"/>
              </a:ext>
            </a:extLst>
          </p:cNvPr>
          <p:cNvSpPr>
            <a:spLocks noGrp="1"/>
          </p:cNvSpPr>
          <p:nvPr>
            <p:ph sz="half" idx="2"/>
          </p:nvPr>
        </p:nvSpPr>
        <p:spPr>
          <a:xfrm>
            <a:off x="819150" y="2505075"/>
            <a:ext cx="50292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7744BFDD-C072-4268-8BB8-C95432C0334E}"/>
              </a:ext>
            </a:extLst>
          </p:cNvPr>
          <p:cNvSpPr>
            <a:spLocks noGrp="1"/>
          </p:cNvSpPr>
          <p:nvPr>
            <p:ph type="body" sz="quarter" idx="3"/>
          </p:nvPr>
        </p:nvSpPr>
        <p:spPr>
          <a:xfrm>
            <a:off x="6018213" y="1681163"/>
            <a:ext cx="50530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A0AD3A-4D25-42D1-8787-294A23F8D30A}"/>
              </a:ext>
            </a:extLst>
          </p:cNvPr>
          <p:cNvSpPr>
            <a:spLocks noGrp="1"/>
          </p:cNvSpPr>
          <p:nvPr>
            <p:ph sz="quarter" idx="4"/>
          </p:nvPr>
        </p:nvSpPr>
        <p:spPr>
          <a:xfrm>
            <a:off x="6018213" y="2505075"/>
            <a:ext cx="505301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03AAB1D-7DF4-4330-B91E-1F0BAA07E1F2}"/>
              </a:ext>
            </a:extLst>
          </p:cNvPr>
          <p:cNvSpPr>
            <a:spLocks noGrp="1"/>
          </p:cNvSpPr>
          <p:nvPr>
            <p:ph type="dt" sz="half" idx="10"/>
          </p:nvPr>
        </p:nvSpPr>
        <p:spPr/>
        <p:txBody>
          <a:bodyPr/>
          <a:lstStyle/>
          <a:p>
            <a:fld id="{5DA0C6C5-3012-4B31-8A7F-822ABFD46152}" type="datetimeFigureOut">
              <a:rPr lang="en-CA" smtClean="0"/>
              <a:t>2025-10-10</a:t>
            </a:fld>
            <a:endParaRPr lang="en-CA"/>
          </a:p>
        </p:txBody>
      </p:sp>
      <p:sp>
        <p:nvSpPr>
          <p:cNvPr id="8" name="Footer Placeholder 7">
            <a:extLst>
              <a:ext uri="{FF2B5EF4-FFF2-40B4-BE49-F238E27FC236}">
                <a16:creationId xmlns:a16="http://schemas.microsoft.com/office/drawing/2014/main" id="{95B9BD99-3540-4EEB-BC8A-2D0F03252913}"/>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C9E06C34-E029-4563-BD4B-CFF7916E5CAF}"/>
              </a:ext>
            </a:extLst>
          </p:cNvPr>
          <p:cNvSpPr>
            <a:spLocks noGrp="1"/>
          </p:cNvSpPr>
          <p:nvPr>
            <p:ph type="sldNum" sz="quarter" idx="12"/>
          </p:nvPr>
        </p:nvSpPr>
        <p:spPr/>
        <p:txBody>
          <a:bodyPr/>
          <a:lstStyle/>
          <a:p>
            <a:fld id="{F1521C25-45A5-4F7E-820F-6AD96B2AB4BA}" type="slidenum">
              <a:rPr lang="en-CA" smtClean="0"/>
              <a:t>‹#›</a:t>
            </a:fld>
            <a:endParaRPr lang="en-CA"/>
          </a:p>
        </p:txBody>
      </p:sp>
    </p:spTree>
    <p:extLst>
      <p:ext uri="{BB962C8B-B14F-4D97-AF65-F5344CB8AC3E}">
        <p14:creationId xmlns:p14="http://schemas.microsoft.com/office/powerpoint/2010/main" val="36331693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C657F-772D-4684-B773-8FC9CF59DF13}"/>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18B39019-E06C-4487-BBC3-0FAA5DDDB7D9}"/>
              </a:ext>
            </a:extLst>
          </p:cNvPr>
          <p:cNvSpPr>
            <a:spLocks noGrp="1"/>
          </p:cNvSpPr>
          <p:nvPr>
            <p:ph type="dt" sz="half" idx="10"/>
          </p:nvPr>
        </p:nvSpPr>
        <p:spPr/>
        <p:txBody>
          <a:bodyPr/>
          <a:lstStyle/>
          <a:p>
            <a:fld id="{5DA0C6C5-3012-4B31-8A7F-822ABFD46152}" type="datetimeFigureOut">
              <a:rPr lang="en-CA" smtClean="0"/>
              <a:t>2025-10-10</a:t>
            </a:fld>
            <a:endParaRPr lang="en-CA"/>
          </a:p>
        </p:txBody>
      </p:sp>
      <p:sp>
        <p:nvSpPr>
          <p:cNvPr id="4" name="Footer Placeholder 3">
            <a:extLst>
              <a:ext uri="{FF2B5EF4-FFF2-40B4-BE49-F238E27FC236}">
                <a16:creationId xmlns:a16="http://schemas.microsoft.com/office/drawing/2014/main" id="{36B324E9-C59A-4362-A498-932EF30FAB38}"/>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FDEFEBE-1ACF-424D-ADB7-E064710DB27C}"/>
              </a:ext>
            </a:extLst>
          </p:cNvPr>
          <p:cNvSpPr>
            <a:spLocks noGrp="1"/>
          </p:cNvSpPr>
          <p:nvPr>
            <p:ph type="sldNum" sz="quarter" idx="12"/>
          </p:nvPr>
        </p:nvSpPr>
        <p:spPr/>
        <p:txBody>
          <a:bodyPr/>
          <a:lstStyle/>
          <a:p>
            <a:fld id="{F1521C25-45A5-4F7E-820F-6AD96B2AB4BA}" type="slidenum">
              <a:rPr lang="en-CA" smtClean="0"/>
              <a:t>‹#›</a:t>
            </a:fld>
            <a:endParaRPr lang="en-CA"/>
          </a:p>
        </p:txBody>
      </p:sp>
    </p:spTree>
    <p:extLst>
      <p:ext uri="{BB962C8B-B14F-4D97-AF65-F5344CB8AC3E}">
        <p14:creationId xmlns:p14="http://schemas.microsoft.com/office/powerpoint/2010/main" val="3895540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581FA8-2C7A-4E5D-B117-F25FAFB68FC4}"/>
              </a:ext>
            </a:extLst>
          </p:cNvPr>
          <p:cNvSpPr>
            <a:spLocks noGrp="1"/>
          </p:cNvSpPr>
          <p:nvPr>
            <p:ph type="dt" sz="half" idx="10"/>
          </p:nvPr>
        </p:nvSpPr>
        <p:spPr/>
        <p:txBody>
          <a:bodyPr/>
          <a:lstStyle/>
          <a:p>
            <a:fld id="{5DA0C6C5-3012-4B31-8A7F-822ABFD46152}" type="datetimeFigureOut">
              <a:rPr lang="en-CA" smtClean="0"/>
              <a:t>2025-10-10</a:t>
            </a:fld>
            <a:endParaRPr lang="en-CA"/>
          </a:p>
        </p:txBody>
      </p:sp>
      <p:sp>
        <p:nvSpPr>
          <p:cNvPr id="3" name="Footer Placeholder 2">
            <a:extLst>
              <a:ext uri="{FF2B5EF4-FFF2-40B4-BE49-F238E27FC236}">
                <a16:creationId xmlns:a16="http://schemas.microsoft.com/office/drawing/2014/main" id="{5CBB8C49-2E0A-4044-BC86-057652A4E3B2}"/>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248FE0C0-DBFB-4BE6-AA0E-B6A0C8D74250}"/>
              </a:ext>
            </a:extLst>
          </p:cNvPr>
          <p:cNvSpPr>
            <a:spLocks noGrp="1"/>
          </p:cNvSpPr>
          <p:nvPr>
            <p:ph type="sldNum" sz="quarter" idx="12"/>
          </p:nvPr>
        </p:nvSpPr>
        <p:spPr/>
        <p:txBody>
          <a:bodyPr/>
          <a:lstStyle/>
          <a:p>
            <a:fld id="{F1521C25-45A5-4F7E-820F-6AD96B2AB4BA}" type="slidenum">
              <a:rPr lang="en-CA" smtClean="0"/>
              <a:t>‹#›</a:t>
            </a:fld>
            <a:endParaRPr lang="en-CA"/>
          </a:p>
        </p:txBody>
      </p:sp>
    </p:spTree>
    <p:extLst>
      <p:ext uri="{BB962C8B-B14F-4D97-AF65-F5344CB8AC3E}">
        <p14:creationId xmlns:p14="http://schemas.microsoft.com/office/powerpoint/2010/main" val="31902445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DE519-D372-45C1-8B87-46BEAD10B841}"/>
              </a:ext>
            </a:extLst>
          </p:cNvPr>
          <p:cNvSpPr>
            <a:spLocks noGrp="1"/>
          </p:cNvSpPr>
          <p:nvPr>
            <p:ph type="title"/>
          </p:nvPr>
        </p:nvSpPr>
        <p:spPr>
          <a:xfrm>
            <a:off x="819150" y="457200"/>
            <a:ext cx="3833813"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555A2A0E-2496-4D14-A8DB-786FDEFB9726}"/>
              </a:ext>
            </a:extLst>
          </p:cNvPr>
          <p:cNvSpPr>
            <a:spLocks noGrp="1"/>
          </p:cNvSpPr>
          <p:nvPr>
            <p:ph idx="1"/>
          </p:nvPr>
        </p:nvSpPr>
        <p:spPr>
          <a:xfrm>
            <a:off x="5053013" y="987425"/>
            <a:ext cx="60182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EEC73DD-162C-474B-9A09-0A1619F29650}"/>
              </a:ext>
            </a:extLst>
          </p:cNvPr>
          <p:cNvSpPr>
            <a:spLocks noGrp="1"/>
          </p:cNvSpPr>
          <p:nvPr>
            <p:ph type="body" sz="half" idx="2"/>
          </p:nvPr>
        </p:nvSpPr>
        <p:spPr>
          <a:xfrm>
            <a:off x="819150" y="2057400"/>
            <a:ext cx="383381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0367C3-4F7C-41A9-B538-C50A849F29EA}"/>
              </a:ext>
            </a:extLst>
          </p:cNvPr>
          <p:cNvSpPr>
            <a:spLocks noGrp="1"/>
          </p:cNvSpPr>
          <p:nvPr>
            <p:ph type="dt" sz="half" idx="10"/>
          </p:nvPr>
        </p:nvSpPr>
        <p:spPr/>
        <p:txBody>
          <a:bodyPr/>
          <a:lstStyle/>
          <a:p>
            <a:fld id="{5DA0C6C5-3012-4B31-8A7F-822ABFD46152}" type="datetimeFigureOut">
              <a:rPr lang="en-CA" smtClean="0"/>
              <a:t>2025-10-10</a:t>
            </a:fld>
            <a:endParaRPr lang="en-CA"/>
          </a:p>
        </p:txBody>
      </p:sp>
      <p:sp>
        <p:nvSpPr>
          <p:cNvPr id="6" name="Footer Placeholder 5">
            <a:extLst>
              <a:ext uri="{FF2B5EF4-FFF2-40B4-BE49-F238E27FC236}">
                <a16:creationId xmlns:a16="http://schemas.microsoft.com/office/drawing/2014/main" id="{9039A668-87D4-4ACF-85C8-A177C8F4AC8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1139AAA-262A-469C-998D-00A5BED42A72}"/>
              </a:ext>
            </a:extLst>
          </p:cNvPr>
          <p:cNvSpPr>
            <a:spLocks noGrp="1"/>
          </p:cNvSpPr>
          <p:nvPr>
            <p:ph type="sldNum" sz="quarter" idx="12"/>
          </p:nvPr>
        </p:nvSpPr>
        <p:spPr/>
        <p:txBody>
          <a:bodyPr/>
          <a:lstStyle/>
          <a:p>
            <a:fld id="{F1521C25-45A5-4F7E-820F-6AD96B2AB4BA}" type="slidenum">
              <a:rPr lang="en-CA" smtClean="0"/>
              <a:t>‹#›</a:t>
            </a:fld>
            <a:endParaRPr lang="en-CA"/>
          </a:p>
        </p:txBody>
      </p:sp>
    </p:spTree>
    <p:extLst>
      <p:ext uri="{BB962C8B-B14F-4D97-AF65-F5344CB8AC3E}">
        <p14:creationId xmlns:p14="http://schemas.microsoft.com/office/powerpoint/2010/main" val="1647548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86407-1B1C-4D9B-A497-F2334EFE20BA}"/>
              </a:ext>
            </a:extLst>
          </p:cNvPr>
          <p:cNvSpPr>
            <a:spLocks noGrp="1"/>
          </p:cNvSpPr>
          <p:nvPr>
            <p:ph type="title"/>
          </p:nvPr>
        </p:nvSpPr>
        <p:spPr>
          <a:xfrm>
            <a:off x="819150" y="457200"/>
            <a:ext cx="3833813"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48276637-8C3C-4871-B189-01BE1ACB4C8B}"/>
              </a:ext>
            </a:extLst>
          </p:cNvPr>
          <p:cNvSpPr>
            <a:spLocks noGrp="1"/>
          </p:cNvSpPr>
          <p:nvPr>
            <p:ph type="pic" idx="1"/>
          </p:nvPr>
        </p:nvSpPr>
        <p:spPr>
          <a:xfrm>
            <a:off x="5053013" y="987425"/>
            <a:ext cx="60182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646741DD-368A-4528-ADD2-1E9C0A453D5A}"/>
              </a:ext>
            </a:extLst>
          </p:cNvPr>
          <p:cNvSpPr>
            <a:spLocks noGrp="1"/>
          </p:cNvSpPr>
          <p:nvPr>
            <p:ph type="body" sz="half" idx="2"/>
          </p:nvPr>
        </p:nvSpPr>
        <p:spPr>
          <a:xfrm>
            <a:off x="819150" y="2057400"/>
            <a:ext cx="383381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A75138-EB66-47D1-8619-FC06C5AA5B41}"/>
              </a:ext>
            </a:extLst>
          </p:cNvPr>
          <p:cNvSpPr>
            <a:spLocks noGrp="1"/>
          </p:cNvSpPr>
          <p:nvPr>
            <p:ph type="dt" sz="half" idx="10"/>
          </p:nvPr>
        </p:nvSpPr>
        <p:spPr/>
        <p:txBody>
          <a:bodyPr/>
          <a:lstStyle/>
          <a:p>
            <a:fld id="{5DA0C6C5-3012-4B31-8A7F-822ABFD46152}" type="datetimeFigureOut">
              <a:rPr lang="en-CA" smtClean="0"/>
              <a:t>2025-10-10</a:t>
            </a:fld>
            <a:endParaRPr lang="en-CA"/>
          </a:p>
        </p:txBody>
      </p:sp>
      <p:sp>
        <p:nvSpPr>
          <p:cNvPr id="6" name="Footer Placeholder 5">
            <a:extLst>
              <a:ext uri="{FF2B5EF4-FFF2-40B4-BE49-F238E27FC236}">
                <a16:creationId xmlns:a16="http://schemas.microsoft.com/office/drawing/2014/main" id="{F2FDE65E-30CE-4254-85F3-860C6A61D91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7E770CE-4D63-42F9-B58E-0F576D6C20FF}"/>
              </a:ext>
            </a:extLst>
          </p:cNvPr>
          <p:cNvSpPr>
            <a:spLocks noGrp="1"/>
          </p:cNvSpPr>
          <p:nvPr>
            <p:ph type="sldNum" sz="quarter" idx="12"/>
          </p:nvPr>
        </p:nvSpPr>
        <p:spPr/>
        <p:txBody>
          <a:bodyPr/>
          <a:lstStyle/>
          <a:p>
            <a:fld id="{F1521C25-45A5-4F7E-820F-6AD96B2AB4BA}" type="slidenum">
              <a:rPr lang="en-CA" smtClean="0"/>
              <a:t>‹#›</a:t>
            </a:fld>
            <a:endParaRPr lang="en-CA"/>
          </a:p>
        </p:txBody>
      </p:sp>
    </p:spTree>
    <p:extLst>
      <p:ext uri="{BB962C8B-B14F-4D97-AF65-F5344CB8AC3E}">
        <p14:creationId xmlns:p14="http://schemas.microsoft.com/office/powerpoint/2010/main" val="19053205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91598-5129-4046-BE18-C6DB025F3A28}"/>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9FF070A-74EF-4EB2-AAB1-A4628B43C5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3160735-1E69-449C-BBA6-75BCDFE990A9}"/>
              </a:ext>
            </a:extLst>
          </p:cNvPr>
          <p:cNvSpPr>
            <a:spLocks noGrp="1"/>
          </p:cNvSpPr>
          <p:nvPr>
            <p:ph type="dt" sz="half" idx="10"/>
          </p:nvPr>
        </p:nvSpPr>
        <p:spPr/>
        <p:txBody>
          <a:bodyPr/>
          <a:lstStyle/>
          <a:p>
            <a:fld id="{5DA0C6C5-3012-4B31-8A7F-822ABFD46152}" type="datetimeFigureOut">
              <a:rPr lang="en-CA" smtClean="0"/>
              <a:t>2025-10-10</a:t>
            </a:fld>
            <a:endParaRPr lang="en-CA"/>
          </a:p>
        </p:txBody>
      </p:sp>
      <p:sp>
        <p:nvSpPr>
          <p:cNvPr id="5" name="Footer Placeholder 4">
            <a:extLst>
              <a:ext uri="{FF2B5EF4-FFF2-40B4-BE49-F238E27FC236}">
                <a16:creationId xmlns:a16="http://schemas.microsoft.com/office/drawing/2014/main" id="{7B2DA3FA-DF13-4ACE-8860-42B67292BC5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977D2B9-4457-4281-BC02-7E23FE0D822E}"/>
              </a:ext>
            </a:extLst>
          </p:cNvPr>
          <p:cNvSpPr>
            <a:spLocks noGrp="1"/>
          </p:cNvSpPr>
          <p:nvPr>
            <p:ph type="sldNum" sz="quarter" idx="12"/>
          </p:nvPr>
        </p:nvSpPr>
        <p:spPr/>
        <p:txBody>
          <a:bodyPr/>
          <a:lstStyle/>
          <a:p>
            <a:fld id="{F1521C25-45A5-4F7E-820F-6AD96B2AB4BA}" type="slidenum">
              <a:rPr lang="en-CA" smtClean="0"/>
              <a:t>‹#›</a:t>
            </a:fld>
            <a:endParaRPr lang="en-CA"/>
          </a:p>
        </p:txBody>
      </p:sp>
    </p:spTree>
    <p:extLst>
      <p:ext uri="{BB962C8B-B14F-4D97-AF65-F5344CB8AC3E}">
        <p14:creationId xmlns:p14="http://schemas.microsoft.com/office/powerpoint/2010/main" val="22458395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FC67CE-9D21-49B1-9794-96A1357B41F5}"/>
              </a:ext>
            </a:extLst>
          </p:cNvPr>
          <p:cNvSpPr>
            <a:spLocks noGrp="1"/>
          </p:cNvSpPr>
          <p:nvPr>
            <p:ph type="title" orient="vert"/>
          </p:nvPr>
        </p:nvSpPr>
        <p:spPr>
          <a:xfrm>
            <a:off x="8507413" y="365125"/>
            <a:ext cx="2562225"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5616017-8944-4CFC-80FC-F4E917E1C58E}"/>
              </a:ext>
            </a:extLst>
          </p:cNvPr>
          <p:cNvSpPr>
            <a:spLocks noGrp="1"/>
          </p:cNvSpPr>
          <p:nvPr>
            <p:ph type="body" orient="vert" idx="1"/>
          </p:nvPr>
        </p:nvSpPr>
        <p:spPr>
          <a:xfrm>
            <a:off x="817563" y="365125"/>
            <a:ext cx="753745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C63D881-A1BF-49D4-894B-931CCCAEC138}"/>
              </a:ext>
            </a:extLst>
          </p:cNvPr>
          <p:cNvSpPr>
            <a:spLocks noGrp="1"/>
          </p:cNvSpPr>
          <p:nvPr>
            <p:ph type="dt" sz="half" idx="10"/>
          </p:nvPr>
        </p:nvSpPr>
        <p:spPr/>
        <p:txBody>
          <a:bodyPr/>
          <a:lstStyle/>
          <a:p>
            <a:fld id="{5DA0C6C5-3012-4B31-8A7F-822ABFD46152}" type="datetimeFigureOut">
              <a:rPr lang="en-CA" smtClean="0"/>
              <a:t>2025-10-10</a:t>
            </a:fld>
            <a:endParaRPr lang="en-CA"/>
          </a:p>
        </p:txBody>
      </p:sp>
      <p:sp>
        <p:nvSpPr>
          <p:cNvPr id="5" name="Footer Placeholder 4">
            <a:extLst>
              <a:ext uri="{FF2B5EF4-FFF2-40B4-BE49-F238E27FC236}">
                <a16:creationId xmlns:a16="http://schemas.microsoft.com/office/drawing/2014/main" id="{CDD3B9F6-26E5-4134-B45A-4F0776C261D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5FE552B-374E-4FF6-93E5-A0F54E28F293}"/>
              </a:ext>
            </a:extLst>
          </p:cNvPr>
          <p:cNvSpPr>
            <a:spLocks noGrp="1"/>
          </p:cNvSpPr>
          <p:nvPr>
            <p:ph type="sldNum" sz="quarter" idx="12"/>
          </p:nvPr>
        </p:nvSpPr>
        <p:spPr/>
        <p:txBody>
          <a:bodyPr/>
          <a:lstStyle/>
          <a:p>
            <a:fld id="{F1521C25-45A5-4F7E-820F-6AD96B2AB4BA}" type="slidenum">
              <a:rPr lang="en-CA" smtClean="0"/>
              <a:t>‹#›</a:t>
            </a:fld>
            <a:endParaRPr lang="en-CA"/>
          </a:p>
        </p:txBody>
      </p:sp>
    </p:spTree>
    <p:extLst>
      <p:ext uri="{BB962C8B-B14F-4D97-AF65-F5344CB8AC3E}">
        <p14:creationId xmlns:p14="http://schemas.microsoft.com/office/powerpoint/2010/main" val="22752825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2885" y="1143000"/>
            <a:ext cx="11411712" cy="400110"/>
          </a:xfrm>
        </p:spPr>
        <p:txBody>
          <a:bodyPr wrap="square" anchor="t" anchorCtr="0">
            <a:spAutoFit/>
          </a:bodyPr>
          <a:lstStyle>
            <a:lvl1pPr marL="445749" indent="-445749">
              <a:lnSpc>
                <a:spcPct val="100000"/>
              </a:lnSpc>
              <a:spcBef>
                <a:spcPts val="0"/>
              </a:spcBef>
              <a:spcAft>
                <a:spcPts val="1560"/>
              </a:spcAft>
              <a:buFont typeface="+mj-lt"/>
              <a:buAutoNum type="arabicPeriod"/>
              <a:defRPr/>
            </a:lvl1pPr>
          </a:lstStyle>
          <a:p>
            <a:pPr lvl="0"/>
            <a:r>
              <a:rPr lang="en-US"/>
              <a:t>Click to edit Master text styles</a:t>
            </a:r>
          </a:p>
        </p:txBody>
      </p:sp>
      <p:sp>
        <p:nvSpPr>
          <p:cNvPr id="5" name="Text Placeholder 4">
            <a:extLst>
              <a:ext uri="{FF2B5EF4-FFF2-40B4-BE49-F238E27FC236}">
                <a16:creationId xmlns:a16="http://schemas.microsoft.com/office/drawing/2014/main" id="{CEF949FC-8988-43EE-9EFC-5632A57DFE93}"/>
              </a:ext>
            </a:extLst>
          </p:cNvPr>
          <p:cNvSpPr>
            <a:spLocks noGrp="1"/>
          </p:cNvSpPr>
          <p:nvPr>
            <p:ph type="body" sz="quarter" idx="13" hasCustomPrompt="1"/>
          </p:nvPr>
        </p:nvSpPr>
        <p:spPr>
          <a:xfrm>
            <a:off x="222885" y="5760720"/>
            <a:ext cx="11411712" cy="261610"/>
          </a:xfrm>
        </p:spPr>
        <p:txBody>
          <a:bodyPr anchor="b" anchorCtr="0"/>
          <a:lstStyle>
            <a:lvl1pPr>
              <a:defRPr sz="1073">
                <a:solidFill>
                  <a:schemeClr val="tx1"/>
                </a:solidFill>
                <a:latin typeface="Arial Narrow" panose="020B0606020202030204" pitchFamily="34" charset="0"/>
              </a:defRPr>
            </a:lvl1pPr>
          </a:lstStyle>
          <a:p>
            <a:pPr lvl="0"/>
            <a:r>
              <a:rPr lang="en-US"/>
              <a:t>Click to insert disclaimer</a:t>
            </a:r>
            <a:endParaRPr lang="en-CA"/>
          </a:p>
        </p:txBody>
      </p:sp>
      <p:sp>
        <p:nvSpPr>
          <p:cNvPr id="4" name="Footer Placeholder 3">
            <a:extLst>
              <a:ext uri="{FF2B5EF4-FFF2-40B4-BE49-F238E27FC236}">
                <a16:creationId xmlns:a16="http://schemas.microsoft.com/office/drawing/2014/main" id="{A3FB7D18-A4F7-425B-9A93-64EF6912217E}"/>
              </a:ext>
            </a:extLst>
          </p:cNvPr>
          <p:cNvSpPr>
            <a:spLocks noGrp="1"/>
          </p:cNvSpPr>
          <p:nvPr>
            <p:ph type="ftr" sz="quarter" idx="14"/>
          </p:nvPr>
        </p:nvSpPr>
        <p:spPr/>
        <p:txBody>
          <a:bodyPr/>
          <a:lstStyle/>
          <a:p>
            <a:pPr algn="ctr"/>
            <a:r>
              <a:rPr lang="en-CA"/>
              <a:t>CONFIDENTIAL</a:t>
            </a:r>
          </a:p>
        </p:txBody>
      </p:sp>
      <p:sp>
        <p:nvSpPr>
          <p:cNvPr id="8" name="Slide Number Placeholder 7">
            <a:extLst>
              <a:ext uri="{FF2B5EF4-FFF2-40B4-BE49-F238E27FC236}">
                <a16:creationId xmlns:a16="http://schemas.microsoft.com/office/drawing/2014/main" id="{E617CD90-F81B-43E0-9DEB-F087ABFFE594}"/>
              </a:ext>
            </a:extLst>
          </p:cNvPr>
          <p:cNvSpPr>
            <a:spLocks noGrp="1"/>
          </p:cNvSpPr>
          <p:nvPr>
            <p:ph type="sldNum" sz="quarter" idx="15"/>
          </p:nvPr>
        </p:nvSpPr>
        <p:spPr/>
        <p:txBody>
          <a:bodyPr/>
          <a:lstStyle/>
          <a:p>
            <a:fld id="{98834F8B-9DBE-4684-A222-1DB2782FF993}" type="slidenum">
              <a:rPr lang="en-US" smtClean="0"/>
              <a:pPr/>
              <a:t>‹#›</a:t>
            </a:fld>
            <a:endParaRPr lang="en-US"/>
          </a:p>
        </p:txBody>
      </p:sp>
      <p:sp>
        <p:nvSpPr>
          <p:cNvPr id="7" name="Title 6">
            <a:extLst>
              <a:ext uri="{FF2B5EF4-FFF2-40B4-BE49-F238E27FC236}">
                <a16:creationId xmlns:a16="http://schemas.microsoft.com/office/drawing/2014/main" id="{9F11A3E7-AF1E-4DCC-9BC0-6A83A3F67AD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881316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290956A-0190-4A6D-B1A9-1F42C1F151D1}"/>
              </a:ext>
            </a:extLst>
          </p:cNvPr>
          <p:cNvSpPr>
            <a:spLocks noGrp="1"/>
          </p:cNvSpPr>
          <p:nvPr>
            <p:ph sz="quarter" idx="15"/>
          </p:nvPr>
        </p:nvSpPr>
        <p:spPr>
          <a:xfrm>
            <a:off x="222885" y="1143000"/>
            <a:ext cx="11411712"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8" name="Text Placeholder 7">
            <a:extLst>
              <a:ext uri="{FF2B5EF4-FFF2-40B4-BE49-F238E27FC236}">
                <a16:creationId xmlns:a16="http://schemas.microsoft.com/office/drawing/2014/main" id="{E286CA45-039F-4EFE-85C3-1C57041515EA}"/>
              </a:ext>
            </a:extLst>
          </p:cNvPr>
          <p:cNvSpPr>
            <a:spLocks noGrp="1"/>
          </p:cNvSpPr>
          <p:nvPr>
            <p:ph type="body" sz="quarter" idx="13" hasCustomPrompt="1"/>
          </p:nvPr>
        </p:nvSpPr>
        <p:spPr>
          <a:xfrm>
            <a:off x="222885" y="5760720"/>
            <a:ext cx="11411712" cy="261610"/>
          </a:xfrm>
        </p:spPr>
        <p:txBody>
          <a:bodyPr anchor="b" anchorCtr="0">
            <a:spAutoFit/>
          </a:bodyPr>
          <a:lstStyle>
            <a:lvl1pPr marL="140392" indent="-140392">
              <a:lnSpc>
                <a:spcPct val="100000"/>
              </a:lnSpc>
              <a:spcBef>
                <a:spcPts val="0"/>
              </a:spcBef>
              <a:spcAft>
                <a:spcPts val="0"/>
              </a:spcAft>
              <a:tabLst>
                <a:tab pos="140392" algn="l"/>
              </a:tabLst>
              <a:defRPr sz="1073" b="0">
                <a:solidFill>
                  <a:schemeClr val="tx1"/>
                </a:solidFill>
                <a:latin typeface="Arial Narrow" panose="020B0606020202030204" pitchFamily="34" charset="0"/>
              </a:defRPr>
            </a:lvl1pPr>
          </a:lstStyle>
          <a:p>
            <a:pPr lvl="0"/>
            <a:r>
              <a:rPr lang="en-US"/>
              <a:t>Click to insert footnote</a:t>
            </a:r>
          </a:p>
        </p:txBody>
      </p:sp>
      <p:sp>
        <p:nvSpPr>
          <p:cNvPr id="3" name="Title 2">
            <a:extLst>
              <a:ext uri="{FF2B5EF4-FFF2-40B4-BE49-F238E27FC236}">
                <a16:creationId xmlns:a16="http://schemas.microsoft.com/office/drawing/2014/main" id="{3D05B574-B704-4A14-BA47-2DCAAFB982A2}"/>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194CB037-2874-4759-BCD9-9FF4476B7795}"/>
              </a:ext>
            </a:extLst>
          </p:cNvPr>
          <p:cNvSpPr>
            <a:spLocks noGrp="1"/>
          </p:cNvSpPr>
          <p:nvPr>
            <p:ph type="ftr" sz="quarter" idx="16"/>
          </p:nvPr>
        </p:nvSpPr>
        <p:spPr/>
        <p:txBody>
          <a:bodyPr/>
          <a:lstStyle/>
          <a:p>
            <a:pPr algn="ctr"/>
            <a:r>
              <a:rPr lang="en-CA"/>
              <a:t>CONFIDENTIAL</a:t>
            </a:r>
          </a:p>
        </p:txBody>
      </p:sp>
      <p:sp>
        <p:nvSpPr>
          <p:cNvPr id="6" name="Slide Number Placeholder 5">
            <a:extLst>
              <a:ext uri="{FF2B5EF4-FFF2-40B4-BE49-F238E27FC236}">
                <a16:creationId xmlns:a16="http://schemas.microsoft.com/office/drawing/2014/main" id="{DA1F062A-765B-4D92-8E4B-82AD91663397}"/>
              </a:ext>
            </a:extLst>
          </p:cNvPr>
          <p:cNvSpPr>
            <a:spLocks noGrp="1"/>
          </p:cNvSpPr>
          <p:nvPr>
            <p:ph type="sldNum" sz="quarter" idx="17"/>
          </p:nvPr>
        </p:nvSpPr>
        <p:spPr/>
        <p:txBody>
          <a:bodyPr/>
          <a:lstStyle/>
          <a:p>
            <a:fld id="{98834F8B-9DBE-4684-A222-1DB2782FF993}" type="slidenum">
              <a:rPr lang="en-US" smtClean="0"/>
              <a:pPr/>
              <a:t>‹#›</a:t>
            </a:fld>
            <a:endParaRPr lang="en-US"/>
          </a:p>
        </p:txBody>
      </p:sp>
    </p:spTree>
    <p:extLst>
      <p:ext uri="{BB962C8B-B14F-4D97-AF65-F5344CB8AC3E}">
        <p14:creationId xmlns:p14="http://schemas.microsoft.com/office/powerpoint/2010/main" val="3945525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_NO LOGO">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E23F2A-8B95-466A-80A8-E1E2FA01ECF8}"/>
              </a:ext>
            </a:extLst>
          </p:cNvPr>
          <p:cNvSpPr>
            <a:spLocks noGrp="1"/>
          </p:cNvSpPr>
          <p:nvPr>
            <p:ph sz="quarter" idx="15"/>
          </p:nvPr>
        </p:nvSpPr>
        <p:spPr>
          <a:xfrm>
            <a:off x="222885" y="1143000"/>
            <a:ext cx="11411712"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Text Placeholder 7">
            <a:extLst>
              <a:ext uri="{FF2B5EF4-FFF2-40B4-BE49-F238E27FC236}">
                <a16:creationId xmlns:a16="http://schemas.microsoft.com/office/drawing/2014/main" id="{C77C6DB6-E4A2-4A22-A3FD-3599A9FBF543}"/>
              </a:ext>
            </a:extLst>
          </p:cNvPr>
          <p:cNvSpPr>
            <a:spLocks noGrp="1"/>
          </p:cNvSpPr>
          <p:nvPr>
            <p:ph type="body" sz="quarter" idx="13" hasCustomPrompt="1"/>
          </p:nvPr>
        </p:nvSpPr>
        <p:spPr>
          <a:xfrm>
            <a:off x="222885" y="6080760"/>
            <a:ext cx="11411712" cy="261610"/>
          </a:xfrm>
        </p:spPr>
        <p:txBody>
          <a:bodyPr anchor="b" anchorCtr="0">
            <a:spAutoFit/>
          </a:bodyPr>
          <a:lstStyle>
            <a:lvl1pPr marL="140392" indent="-140392">
              <a:lnSpc>
                <a:spcPct val="100000"/>
              </a:lnSpc>
              <a:spcBef>
                <a:spcPts val="0"/>
              </a:spcBef>
              <a:spcAft>
                <a:spcPts val="0"/>
              </a:spcAft>
              <a:tabLst>
                <a:tab pos="140392" algn="l"/>
              </a:tabLst>
              <a:defRPr sz="1073" b="0">
                <a:solidFill>
                  <a:schemeClr val="tx1"/>
                </a:solidFill>
                <a:latin typeface="Arial Narrow" panose="020B0606020202030204" pitchFamily="34" charset="0"/>
              </a:defRPr>
            </a:lvl1pPr>
          </a:lstStyle>
          <a:p>
            <a:pPr lvl="0"/>
            <a:r>
              <a:rPr lang="en-US"/>
              <a:t>Click to insert footnote</a:t>
            </a:r>
          </a:p>
        </p:txBody>
      </p:sp>
      <p:sp>
        <p:nvSpPr>
          <p:cNvPr id="3" name="Title 2">
            <a:extLst>
              <a:ext uri="{FF2B5EF4-FFF2-40B4-BE49-F238E27FC236}">
                <a16:creationId xmlns:a16="http://schemas.microsoft.com/office/drawing/2014/main" id="{BA19B406-78D4-4A06-9CED-49E268625224}"/>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9FB3D766-4AD5-486D-A6AE-9DEE03CE94A9}"/>
              </a:ext>
            </a:extLst>
          </p:cNvPr>
          <p:cNvSpPr>
            <a:spLocks noGrp="1"/>
          </p:cNvSpPr>
          <p:nvPr>
            <p:ph type="ftr" sz="quarter" idx="16"/>
          </p:nvPr>
        </p:nvSpPr>
        <p:spPr/>
        <p:txBody>
          <a:bodyPr/>
          <a:lstStyle/>
          <a:p>
            <a:pPr algn="ctr"/>
            <a:r>
              <a:rPr lang="en-CA"/>
              <a:t>CONFIDENTIAL</a:t>
            </a:r>
          </a:p>
        </p:txBody>
      </p:sp>
      <p:sp>
        <p:nvSpPr>
          <p:cNvPr id="6" name="Slide Number Placeholder 5">
            <a:extLst>
              <a:ext uri="{FF2B5EF4-FFF2-40B4-BE49-F238E27FC236}">
                <a16:creationId xmlns:a16="http://schemas.microsoft.com/office/drawing/2014/main" id="{9908AFCD-7D88-45F6-9286-78744F72751D}"/>
              </a:ext>
            </a:extLst>
          </p:cNvPr>
          <p:cNvSpPr>
            <a:spLocks noGrp="1"/>
          </p:cNvSpPr>
          <p:nvPr>
            <p:ph type="sldNum" sz="quarter" idx="17"/>
          </p:nvPr>
        </p:nvSpPr>
        <p:spPr/>
        <p:txBody>
          <a:bodyPr/>
          <a:lstStyle/>
          <a:p>
            <a:fld id="{98834F8B-9DBE-4684-A222-1DB2782FF993}" type="slidenum">
              <a:rPr lang="en-US" smtClean="0"/>
              <a:pPr/>
              <a:t>‹#›</a:t>
            </a:fld>
            <a:endParaRPr lang="en-US"/>
          </a:p>
        </p:txBody>
      </p:sp>
    </p:spTree>
    <p:extLst>
      <p:ext uri="{BB962C8B-B14F-4D97-AF65-F5344CB8AC3E}">
        <p14:creationId xmlns:p14="http://schemas.microsoft.com/office/powerpoint/2010/main" val="1856260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3BB8ED27-FF05-42CF-AE8D-3238ED99A785}"/>
              </a:ext>
            </a:extLst>
          </p:cNvPr>
          <p:cNvSpPr>
            <a:spLocks noGrp="1"/>
          </p:cNvSpPr>
          <p:nvPr>
            <p:ph type="body" sz="quarter" idx="13" hasCustomPrompt="1"/>
          </p:nvPr>
        </p:nvSpPr>
        <p:spPr>
          <a:xfrm>
            <a:off x="222885" y="5760720"/>
            <a:ext cx="11411712" cy="261610"/>
          </a:xfrm>
        </p:spPr>
        <p:txBody>
          <a:bodyPr anchor="b" anchorCtr="0">
            <a:spAutoFit/>
          </a:bodyPr>
          <a:lstStyle>
            <a:lvl1pPr marL="140392" indent="-140392">
              <a:lnSpc>
                <a:spcPct val="100000"/>
              </a:lnSpc>
              <a:spcBef>
                <a:spcPts val="0"/>
              </a:spcBef>
              <a:spcAft>
                <a:spcPts val="0"/>
              </a:spcAft>
              <a:tabLst>
                <a:tab pos="140392" algn="l"/>
              </a:tabLst>
              <a:defRPr sz="1073" b="0">
                <a:solidFill>
                  <a:schemeClr val="tx1"/>
                </a:solidFill>
                <a:latin typeface="Arial Narrow" panose="020B0606020202030204" pitchFamily="34" charset="0"/>
              </a:defRPr>
            </a:lvl1pPr>
          </a:lstStyle>
          <a:p>
            <a:pPr lvl="0"/>
            <a:r>
              <a:rPr lang="en-US"/>
              <a:t>Click to insert footnote</a:t>
            </a:r>
          </a:p>
        </p:txBody>
      </p:sp>
      <p:sp>
        <p:nvSpPr>
          <p:cNvPr id="4" name="Title 3">
            <a:extLst>
              <a:ext uri="{FF2B5EF4-FFF2-40B4-BE49-F238E27FC236}">
                <a16:creationId xmlns:a16="http://schemas.microsoft.com/office/drawing/2014/main" id="{D66525E6-3DF4-4CDF-A89E-FCB33D37C4CC}"/>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261EF355-B59D-41A1-BA6C-998E610EF2E2}"/>
              </a:ext>
            </a:extLst>
          </p:cNvPr>
          <p:cNvSpPr>
            <a:spLocks noGrp="1"/>
          </p:cNvSpPr>
          <p:nvPr>
            <p:ph type="ftr" sz="quarter" idx="14"/>
          </p:nvPr>
        </p:nvSpPr>
        <p:spPr/>
        <p:txBody>
          <a:bodyPr/>
          <a:lstStyle/>
          <a:p>
            <a:pPr algn="ctr"/>
            <a:r>
              <a:rPr lang="en-CA"/>
              <a:t>CONFIDENTIAL</a:t>
            </a:r>
          </a:p>
        </p:txBody>
      </p:sp>
      <p:sp>
        <p:nvSpPr>
          <p:cNvPr id="8" name="Slide Number Placeholder 7">
            <a:extLst>
              <a:ext uri="{FF2B5EF4-FFF2-40B4-BE49-F238E27FC236}">
                <a16:creationId xmlns:a16="http://schemas.microsoft.com/office/drawing/2014/main" id="{733C889D-6C48-4021-8AC6-D672033AAE3A}"/>
              </a:ext>
            </a:extLst>
          </p:cNvPr>
          <p:cNvSpPr>
            <a:spLocks noGrp="1"/>
          </p:cNvSpPr>
          <p:nvPr>
            <p:ph type="sldNum" sz="quarter" idx="15"/>
          </p:nvPr>
        </p:nvSpPr>
        <p:spPr/>
        <p:txBody>
          <a:bodyPr/>
          <a:lstStyle/>
          <a:p>
            <a:fld id="{98834F8B-9DBE-4684-A222-1DB2782FF993}" type="slidenum">
              <a:rPr lang="en-US" smtClean="0"/>
              <a:pPr/>
              <a:t>‹#›</a:t>
            </a:fld>
            <a:endParaRPr lang="en-US"/>
          </a:p>
        </p:txBody>
      </p:sp>
    </p:spTree>
    <p:extLst>
      <p:ext uri="{BB962C8B-B14F-4D97-AF65-F5344CB8AC3E}">
        <p14:creationId xmlns:p14="http://schemas.microsoft.com/office/powerpoint/2010/main" val="551020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_NO LOGO">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CFED2BD6-656C-4397-957D-566C1FE0CD9C}"/>
              </a:ext>
            </a:extLst>
          </p:cNvPr>
          <p:cNvSpPr>
            <a:spLocks noGrp="1"/>
          </p:cNvSpPr>
          <p:nvPr>
            <p:ph type="body" sz="quarter" idx="13" hasCustomPrompt="1"/>
          </p:nvPr>
        </p:nvSpPr>
        <p:spPr>
          <a:xfrm>
            <a:off x="222885" y="6080760"/>
            <a:ext cx="11411712" cy="261610"/>
          </a:xfrm>
        </p:spPr>
        <p:txBody>
          <a:bodyPr anchor="b" anchorCtr="0">
            <a:spAutoFit/>
          </a:bodyPr>
          <a:lstStyle>
            <a:lvl1pPr marL="140392" indent="-140392">
              <a:lnSpc>
                <a:spcPct val="100000"/>
              </a:lnSpc>
              <a:spcBef>
                <a:spcPts val="0"/>
              </a:spcBef>
              <a:spcAft>
                <a:spcPts val="0"/>
              </a:spcAft>
              <a:tabLst>
                <a:tab pos="140392" algn="l"/>
              </a:tabLst>
              <a:defRPr sz="1073" b="0">
                <a:solidFill>
                  <a:schemeClr val="tx1"/>
                </a:solidFill>
                <a:latin typeface="Arial Narrow" panose="020B0606020202030204" pitchFamily="34" charset="0"/>
              </a:defRPr>
            </a:lvl1pPr>
          </a:lstStyle>
          <a:p>
            <a:pPr lvl="0"/>
            <a:r>
              <a:rPr lang="en-US"/>
              <a:t>Click to insert footnote</a:t>
            </a:r>
          </a:p>
        </p:txBody>
      </p:sp>
      <p:sp>
        <p:nvSpPr>
          <p:cNvPr id="4" name="Title 3">
            <a:extLst>
              <a:ext uri="{FF2B5EF4-FFF2-40B4-BE49-F238E27FC236}">
                <a16:creationId xmlns:a16="http://schemas.microsoft.com/office/drawing/2014/main" id="{E39220D4-9D3E-4F50-93B8-98A1FDD23483}"/>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E65C8E7-CADE-4346-BE67-088CB337165F}"/>
              </a:ext>
            </a:extLst>
          </p:cNvPr>
          <p:cNvSpPr>
            <a:spLocks noGrp="1"/>
          </p:cNvSpPr>
          <p:nvPr>
            <p:ph type="ftr" sz="quarter" idx="14"/>
          </p:nvPr>
        </p:nvSpPr>
        <p:spPr/>
        <p:txBody>
          <a:bodyPr/>
          <a:lstStyle/>
          <a:p>
            <a:pPr algn="ctr"/>
            <a:r>
              <a:rPr lang="en-CA"/>
              <a:t>CONFIDENTIAL</a:t>
            </a:r>
          </a:p>
        </p:txBody>
      </p:sp>
      <p:sp>
        <p:nvSpPr>
          <p:cNvPr id="8" name="Slide Number Placeholder 7">
            <a:extLst>
              <a:ext uri="{FF2B5EF4-FFF2-40B4-BE49-F238E27FC236}">
                <a16:creationId xmlns:a16="http://schemas.microsoft.com/office/drawing/2014/main" id="{D302F0F9-3622-43F1-9DDB-1E80EE5C4D62}"/>
              </a:ext>
            </a:extLst>
          </p:cNvPr>
          <p:cNvSpPr>
            <a:spLocks noGrp="1"/>
          </p:cNvSpPr>
          <p:nvPr>
            <p:ph type="sldNum" sz="quarter" idx="15"/>
          </p:nvPr>
        </p:nvSpPr>
        <p:spPr/>
        <p:txBody>
          <a:bodyPr/>
          <a:lstStyle/>
          <a:p>
            <a:fld id="{98834F8B-9DBE-4684-A222-1DB2782FF993}" type="slidenum">
              <a:rPr lang="en-US" smtClean="0"/>
              <a:pPr/>
              <a:t>‹#›</a:t>
            </a:fld>
            <a:endParaRPr lang="en-US"/>
          </a:p>
        </p:txBody>
      </p:sp>
    </p:spTree>
    <p:extLst>
      <p:ext uri="{BB962C8B-B14F-4D97-AF65-F5344CB8AC3E}">
        <p14:creationId xmlns:p14="http://schemas.microsoft.com/office/powerpoint/2010/main" val="14420709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2429A159-7B94-4DC4-AD75-F35C769851CE}"/>
              </a:ext>
            </a:extLst>
          </p:cNvPr>
          <p:cNvSpPr>
            <a:spLocks noGrp="1"/>
          </p:cNvSpPr>
          <p:nvPr>
            <p:ph sz="quarter" idx="14"/>
          </p:nvPr>
        </p:nvSpPr>
        <p:spPr>
          <a:xfrm>
            <a:off x="222885" y="1143000"/>
            <a:ext cx="5482971"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Text Placeholder 6">
            <a:extLst>
              <a:ext uri="{FF2B5EF4-FFF2-40B4-BE49-F238E27FC236}">
                <a16:creationId xmlns:a16="http://schemas.microsoft.com/office/drawing/2014/main" id="{26B98DAD-3CD7-4C39-A3D5-CDE88659F6D1}"/>
              </a:ext>
            </a:extLst>
          </p:cNvPr>
          <p:cNvSpPr>
            <a:spLocks noGrp="1"/>
          </p:cNvSpPr>
          <p:nvPr>
            <p:ph type="body" sz="quarter" idx="13" hasCustomPrompt="1"/>
          </p:nvPr>
        </p:nvSpPr>
        <p:spPr>
          <a:xfrm>
            <a:off x="222885" y="5760720"/>
            <a:ext cx="11411712" cy="261610"/>
          </a:xfrm>
        </p:spPr>
        <p:txBody>
          <a:bodyPr anchor="b" anchorCtr="0"/>
          <a:lstStyle>
            <a:lvl1pPr marL="140392" indent="-140392">
              <a:tabLst>
                <a:tab pos="140392" algn="l"/>
              </a:tabLst>
              <a:defRPr sz="1073">
                <a:solidFill>
                  <a:schemeClr val="tx1"/>
                </a:solidFill>
                <a:latin typeface="Arial Narrow" panose="020B0606020202030204" pitchFamily="34" charset="0"/>
              </a:defRPr>
            </a:lvl1pPr>
          </a:lstStyle>
          <a:p>
            <a:pPr lvl="0"/>
            <a:r>
              <a:rPr lang="en-US"/>
              <a:t>Click to insert footnote</a:t>
            </a:r>
            <a:endParaRPr lang="en-CA"/>
          </a:p>
        </p:txBody>
      </p:sp>
      <p:sp>
        <p:nvSpPr>
          <p:cNvPr id="5" name="Footer Placeholder 4">
            <a:extLst>
              <a:ext uri="{FF2B5EF4-FFF2-40B4-BE49-F238E27FC236}">
                <a16:creationId xmlns:a16="http://schemas.microsoft.com/office/drawing/2014/main" id="{20846A9D-A755-43AF-B3F8-8C13C1B642E0}"/>
              </a:ext>
            </a:extLst>
          </p:cNvPr>
          <p:cNvSpPr>
            <a:spLocks noGrp="1"/>
          </p:cNvSpPr>
          <p:nvPr>
            <p:ph type="ftr" sz="quarter" idx="15"/>
          </p:nvPr>
        </p:nvSpPr>
        <p:spPr/>
        <p:txBody>
          <a:bodyPr/>
          <a:lstStyle/>
          <a:p>
            <a:pPr algn="ctr"/>
            <a:r>
              <a:rPr lang="en-CA"/>
              <a:t>CONFIDENTIAL</a:t>
            </a:r>
          </a:p>
        </p:txBody>
      </p:sp>
      <p:sp>
        <p:nvSpPr>
          <p:cNvPr id="6" name="Slide Number Placeholder 5">
            <a:extLst>
              <a:ext uri="{FF2B5EF4-FFF2-40B4-BE49-F238E27FC236}">
                <a16:creationId xmlns:a16="http://schemas.microsoft.com/office/drawing/2014/main" id="{DA427C4D-878E-49C2-8634-F6DDC0C0027F}"/>
              </a:ext>
            </a:extLst>
          </p:cNvPr>
          <p:cNvSpPr>
            <a:spLocks noGrp="1"/>
          </p:cNvSpPr>
          <p:nvPr>
            <p:ph type="sldNum" sz="quarter" idx="16"/>
          </p:nvPr>
        </p:nvSpPr>
        <p:spPr/>
        <p:txBody>
          <a:bodyPr/>
          <a:lstStyle/>
          <a:p>
            <a:fld id="{98834F8B-9DBE-4684-A222-1DB2782FF993}" type="slidenum">
              <a:rPr lang="en-US" smtClean="0"/>
              <a:pPr/>
              <a:t>‹#›</a:t>
            </a:fld>
            <a:endParaRPr lang="en-US"/>
          </a:p>
        </p:txBody>
      </p:sp>
      <p:sp>
        <p:nvSpPr>
          <p:cNvPr id="3" name="Title 2">
            <a:extLst>
              <a:ext uri="{FF2B5EF4-FFF2-40B4-BE49-F238E27FC236}">
                <a16:creationId xmlns:a16="http://schemas.microsoft.com/office/drawing/2014/main" id="{6CE30579-7463-4BD0-AB97-1A38B3DC4C8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906395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2885" y="1143000"/>
            <a:ext cx="5482971"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51626" y="1143000"/>
            <a:ext cx="5482971"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951A68B3-1F24-4C6C-816B-D046231FCE4E}"/>
              </a:ext>
            </a:extLst>
          </p:cNvPr>
          <p:cNvSpPr>
            <a:spLocks noGrp="1"/>
          </p:cNvSpPr>
          <p:nvPr>
            <p:ph type="body" sz="quarter" idx="13" hasCustomPrompt="1"/>
          </p:nvPr>
        </p:nvSpPr>
        <p:spPr>
          <a:xfrm>
            <a:off x="222885" y="5760720"/>
            <a:ext cx="11411712" cy="261610"/>
          </a:xfrm>
        </p:spPr>
        <p:txBody>
          <a:bodyPr anchor="b" anchorCtr="0"/>
          <a:lstStyle>
            <a:lvl1pPr marL="140392" indent="-140392">
              <a:lnSpc>
                <a:spcPct val="100000"/>
              </a:lnSpc>
              <a:spcBef>
                <a:spcPts val="0"/>
              </a:spcBef>
              <a:spcAft>
                <a:spcPts val="0"/>
              </a:spcAft>
              <a:tabLst>
                <a:tab pos="140392" algn="l"/>
              </a:tabLst>
              <a:defRPr sz="1073" b="0">
                <a:solidFill>
                  <a:schemeClr val="tx1"/>
                </a:solidFill>
                <a:latin typeface="Arial Narrow" panose="020B0606020202030204" pitchFamily="34" charset="0"/>
              </a:defRPr>
            </a:lvl1pPr>
          </a:lstStyle>
          <a:p>
            <a:pPr lvl="0"/>
            <a:r>
              <a:rPr lang="en-US"/>
              <a:t>Click to insert footnote</a:t>
            </a:r>
          </a:p>
        </p:txBody>
      </p:sp>
      <p:sp>
        <p:nvSpPr>
          <p:cNvPr id="5" name="Footer Placeholder 4">
            <a:extLst>
              <a:ext uri="{FF2B5EF4-FFF2-40B4-BE49-F238E27FC236}">
                <a16:creationId xmlns:a16="http://schemas.microsoft.com/office/drawing/2014/main" id="{82382F50-3363-43C1-873B-C1C7B6DED716}"/>
              </a:ext>
            </a:extLst>
          </p:cNvPr>
          <p:cNvSpPr>
            <a:spLocks noGrp="1"/>
          </p:cNvSpPr>
          <p:nvPr>
            <p:ph type="ftr" sz="quarter" idx="14"/>
          </p:nvPr>
        </p:nvSpPr>
        <p:spPr/>
        <p:txBody>
          <a:bodyPr/>
          <a:lstStyle/>
          <a:p>
            <a:pPr algn="ctr"/>
            <a:r>
              <a:rPr lang="en-CA"/>
              <a:t>CONFIDENTIAL</a:t>
            </a:r>
          </a:p>
        </p:txBody>
      </p:sp>
      <p:sp>
        <p:nvSpPr>
          <p:cNvPr id="8" name="Slide Number Placeholder 7">
            <a:extLst>
              <a:ext uri="{FF2B5EF4-FFF2-40B4-BE49-F238E27FC236}">
                <a16:creationId xmlns:a16="http://schemas.microsoft.com/office/drawing/2014/main" id="{6FADA1FB-BB7C-4CD7-9390-75D39958B681}"/>
              </a:ext>
            </a:extLst>
          </p:cNvPr>
          <p:cNvSpPr>
            <a:spLocks noGrp="1"/>
          </p:cNvSpPr>
          <p:nvPr>
            <p:ph type="sldNum" sz="quarter" idx="15"/>
          </p:nvPr>
        </p:nvSpPr>
        <p:spPr/>
        <p:txBody>
          <a:bodyPr/>
          <a:lstStyle/>
          <a:p>
            <a:fld id="{98834F8B-9DBE-4684-A222-1DB2782FF993}" type="slidenum">
              <a:rPr lang="en-US" smtClean="0"/>
              <a:pPr/>
              <a:t>‹#›</a:t>
            </a:fld>
            <a:endParaRPr lang="en-US"/>
          </a:p>
        </p:txBody>
      </p:sp>
      <p:sp>
        <p:nvSpPr>
          <p:cNvPr id="6" name="Title 5">
            <a:extLst>
              <a:ext uri="{FF2B5EF4-FFF2-40B4-BE49-F238E27FC236}">
                <a16:creationId xmlns:a16="http://schemas.microsoft.com/office/drawing/2014/main" id="{C1D7D6D0-5783-4C94-A90B-CAD14B93373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128476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ultiple Content">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7B6552CF-C580-409B-8155-FC8466238860}"/>
              </a:ext>
            </a:extLst>
          </p:cNvPr>
          <p:cNvSpPr>
            <a:spLocks noGrp="1"/>
          </p:cNvSpPr>
          <p:nvPr>
            <p:ph type="body" sz="quarter" idx="17"/>
          </p:nvPr>
        </p:nvSpPr>
        <p:spPr>
          <a:xfrm>
            <a:off x="222885" y="3200400"/>
            <a:ext cx="5482971" cy="400110"/>
          </a:xfrm>
        </p:spPr>
        <p:txBody>
          <a:bodyPr anchor="t" anchorCtr="0">
            <a:spAutoFit/>
          </a:bodyPr>
          <a:lstStyle>
            <a:lvl1pPr>
              <a:defRPr sz="1950" b="1"/>
            </a:lvl1pPr>
          </a:lstStyle>
          <a:p>
            <a:pPr lvl="0"/>
            <a:r>
              <a:rPr lang="en-US"/>
              <a:t>Click to edit Master text styles</a:t>
            </a:r>
          </a:p>
        </p:txBody>
      </p:sp>
      <p:sp>
        <p:nvSpPr>
          <p:cNvPr id="34" name="Text Placeholder 29">
            <a:extLst>
              <a:ext uri="{FF2B5EF4-FFF2-40B4-BE49-F238E27FC236}">
                <a16:creationId xmlns:a16="http://schemas.microsoft.com/office/drawing/2014/main" id="{822ED9F7-B672-4A59-B586-465CB6266C96}"/>
              </a:ext>
            </a:extLst>
          </p:cNvPr>
          <p:cNvSpPr>
            <a:spLocks noGrp="1"/>
          </p:cNvSpPr>
          <p:nvPr>
            <p:ph type="body" sz="quarter" idx="20"/>
          </p:nvPr>
        </p:nvSpPr>
        <p:spPr>
          <a:xfrm>
            <a:off x="222885" y="3657600"/>
            <a:ext cx="5482971" cy="709425"/>
          </a:xfrm>
        </p:spPr>
        <p:txBody>
          <a:bodyPr anchor="t" anchorCtr="0">
            <a:spAutoFit/>
          </a:bodyPr>
          <a:lstStyle>
            <a:lvl1pPr>
              <a:spcBef>
                <a:spcPts val="0"/>
              </a:spcBef>
              <a:spcAft>
                <a:spcPts val="0"/>
              </a:spcAft>
              <a:defRPr sz="1755"/>
            </a:lvl1pPr>
            <a:lvl2pPr>
              <a:defRPr sz="1755"/>
            </a:lvl2pPr>
          </a:lstStyle>
          <a:p>
            <a:pPr lvl="0"/>
            <a:r>
              <a:rPr lang="en-US"/>
              <a:t>Click to edit Master text styles</a:t>
            </a:r>
          </a:p>
          <a:p>
            <a:pPr lvl="1"/>
            <a:r>
              <a:rPr lang="en-US"/>
              <a:t>Second level</a:t>
            </a:r>
          </a:p>
        </p:txBody>
      </p:sp>
      <p:sp>
        <p:nvSpPr>
          <p:cNvPr id="32" name="Text Placeholder 29">
            <a:extLst>
              <a:ext uri="{FF2B5EF4-FFF2-40B4-BE49-F238E27FC236}">
                <a16:creationId xmlns:a16="http://schemas.microsoft.com/office/drawing/2014/main" id="{52972D7A-B887-4BD7-9A00-EFFA05D37060}"/>
              </a:ext>
            </a:extLst>
          </p:cNvPr>
          <p:cNvSpPr>
            <a:spLocks noGrp="1"/>
          </p:cNvSpPr>
          <p:nvPr>
            <p:ph type="body" sz="quarter" idx="18"/>
          </p:nvPr>
        </p:nvSpPr>
        <p:spPr>
          <a:xfrm>
            <a:off x="6151626" y="3200400"/>
            <a:ext cx="5482971" cy="400110"/>
          </a:xfrm>
        </p:spPr>
        <p:txBody>
          <a:bodyPr anchor="t" anchorCtr="0">
            <a:spAutoFit/>
          </a:bodyPr>
          <a:lstStyle>
            <a:lvl1pPr>
              <a:defRPr sz="1950" b="1"/>
            </a:lvl1pPr>
          </a:lstStyle>
          <a:p>
            <a:pPr lvl="0"/>
            <a:r>
              <a:rPr lang="en-US"/>
              <a:t>Click to edit Master text styles</a:t>
            </a:r>
          </a:p>
        </p:txBody>
      </p:sp>
      <p:sp>
        <p:nvSpPr>
          <p:cNvPr id="33" name="Text Placeholder 29">
            <a:extLst>
              <a:ext uri="{FF2B5EF4-FFF2-40B4-BE49-F238E27FC236}">
                <a16:creationId xmlns:a16="http://schemas.microsoft.com/office/drawing/2014/main" id="{2AEBA8C0-D285-42C9-97A7-C66D225D8C1F}"/>
              </a:ext>
            </a:extLst>
          </p:cNvPr>
          <p:cNvSpPr>
            <a:spLocks noGrp="1"/>
          </p:cNvSpPr>
          <p:nvPr>
            <p:ph type="body" sz="quarter" idx="19"/>
          </p:nvPr>
        </p:nvSpPr>
        <p:spPr>
          <a:xfrm>
            <a:off x="6151626" y="3657600"/>
            <a:ext cx="5482971" cy="709425"/>
          </a:xfrm>
        </p:spPr>
        <p:txBody>
          <a:bodyPr anchor="t" anchorCtr="0">
            <a:spAutoFit/>
          </a:bodyPr>
          <a:lstStyle>
            <a:lvl1pPr>
              <a:spcBef>
                <a:spcPts val="0"/>
              </a:spcBef>
              <a:spcAft>
                <a:spcPts val="0"/>
              </a:spcAft>
              <a:defRPr sz="1755"/>
            </a:lvl1pPr>
            <a:lvl2pPr>
              <a:defRPr sz="1755"/>
            </a:lvl2pPr>
          </a:lstStyle>
          <a:p>
            <a:pPr lvl="0"/>
            <a:r>
              <a:rPr lang="en-US"/>
              <a:t>Click to edit Master text styles</a:t>
            </a:r>
          </a:p>
          <a:p>
            <a:pPr lvl="1"/>
            <a:r>
              <a:rPr lang="en-US"/>
              <a:t>Second level</a:t>
            </a:r>
          </a:p>
        </p:txBody>
      </p:sp>
      <p:sp>
        <p:nvSpPr>
          <p:cNvPr id="7" name="Text Placeholder 7">
            <a:extLst>
              <a:ext uri="{FF2B5EF4-FFF2-40B4-BE49-F238E27FC236}">
                <a16:creationId xmlns:a16="http://schemas.microsoft.com/office/drawing/2014/main" id="{C77C6DB6-E4A2-4A22-A3FD-3599A9FBF543}"/>
              </a:ext>
            </a:extLst>
          </p:cNvPr>
          <p:cNvSpPr>
            <a:spLocks noGrp="1"/>
          </p:cNvSpPr>
          <p:nvPr>
            <p:ph type="body" sz="quarter" idx="13" hasCustomPrompt="1"/>
          </p:nvPr>
        </p:nvSpPr>
        <p:spPr>
          <a:xfrm>
            <a:off x="222885" y="6080760"/>
            <a:ext cx="11411712" cy="261610"/>
          </a:xfrm>
        </p:spPr>
        <p:txBody>
          <a:bodyPr anchor="b" anchorCtr="0"/>
          <a:lstStyle>
            <a:lvl1pPr marL="140392" indent="-140392">
              <a:lnSpc>
                <a:spcPct val="100000"/>
              </a:lnSpc>
              <a:spcBef>
                <a:spcPts val="0"/>
              </a:spcBef>
              <a:spcAft>
                <a:spcPts val="0"/>
              </a:spcAft>
              <a:tabLst>
                <a:tab pos="140392" algn="l"/>
              </a:tabLst>
              <a:defRPr sz="1073" b="0">
                <a:solidFill>
                  <a:schemeClr val="tx1"/>
                </a:solidFill>
                <a:latin typeface="Arial Narrow" panose="020B0606020202030204" pitchFamily="34" charset="0"/>
              </a:defRPr>
            </a:lvl1pPr>
          </a:lstStyle>
          <a:p>
            <a:pPr lvl="0"/>
            <a:r>
              <a:rPr lang="en-US"/>
              <a:t>Click to insert footnote</a:t>
            </a:r>
          </a:p>
        </p:txBody>
      </p:sp>
      <p:sp>
        <p:nvSpPr>
          <p:cNvPr id="5" name="Title 4">
            <a:extLst>
              <a:ext uri="{FF2B5EF4-FFF2-40B4-BE49-F238E27FC236}">
                <a16:creationId xmlns:a16="http://schemas.microsoft.com/office/drawing/2014/main" id="{95EFA954-CBA2-41D4-A778-489A3EEF394B}"/>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337983EC-29A1-4820-A23E-A15BE4AB63DF}"/>
              </a:ext>
            </a:extLst>
          </p:cNvPr>
          <p:cNvSpPr>
            <a:spLocks noGrp="1"/>
          </p:cNvSpPr>
          <p:nvPr>
            <p:ph type="ftr" sz="quarter" idx="21"/>
          </p:nvPr>
        </p:nvSpPr>
        <p:spPr/>
        <p:txBody>
          <a:bodyPr/>
          <a:lstStyle/>
          <a:p>
            <a:pPr algn="ctr"/>
            <a:r>
              <a:rPr lang="en-CA"/>
              <a:t>CONFIDENTIAL</a:t>
            </a:r>
          </a:p>
        </p:txBody>
      </p:sp>
      <p:sp>
        <p:nvSpPr>
          <p:cNvPr id="6" name="Slide Number Placeholder 5">
            <a:extLst>
              <a:ext uri="{FF2B5EF4-FFF2-40B4-BE49-F238E27FC236}">
                <a16:creationId xmlns:a16="http://schemas.microsoft.com/office/drawing/2014/main" id="{BC0F37E6-F20E-49BD-A485-4016518B4B95}"/>
              </a:ext>
            </a:extLst>
          </p:cNvPr>
          <p:cNvSpPr>
            <a:spLocks noGrp="1"/>
          </p:cNvSpPr>
          <p:nvPr>
            <p:ph type="sldNum" sz="quarter" idx="22"/>
          </p:nvPr>
        </p:nvSpPr>
        <p:spPr/>
        <p:txBody>
          <a:bodyPr/>
          <a:lstStyle/>
          <a:p>
            <a:fld id="{98834F8B-9DBE-4684-A222-1DB2782FF993}" type="slidenum">
              <a:rPr lang="en-US" smtClean="0"/>
              <a:pPr/>
              <a:t>‹#›</a:t>
            </a:fld>
            <a:endParaRPr lang="en-US"/>
          </a:p>
        </p:txBody>
      </p:sp>
      <p:sp>
        <p:nvSpPr>
          <p:cNvPr id="10" name="Text Placeholder 9">
            <a:extLst>
              <a:ext uri="{FF2B5EF4-FFF2-40B4-BE49-F238E27FC236}">
                <a16:creationId xmlns:a16="http://schemas.microsoft.com/office/drawing/2014/main" id="{75929CE4-E209-461C-8561-AF5C19AA0526}"/>
              </a:ext>
            </a:extLst>
          </p:cNvPr>
          <p:cNvSpPr>
            <a:spLocks noGrp="1"/>
          </p:cNvSpPr>
          <p:nvPr>
            <p:ph type="body" sz="quarter" idx="23"/>
          </p:nvPr>
        </p:nvSpPr>
        <p:spPr>
          <a:xfrm>
            <a:off x="222885" y="1143000"/>
            <a:ext cx="11411712" cy="1857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79477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FF112E12-1B07-4439-854D-4FB3CD44AFE0}"/>
              </a:ext>
            </a:extLst>
          </p:cNvPr>
          <p:cNvSpPr>
            <a:spLocks noGrp="1"/>
          </p:cNvSpPr>
          <p:nvPr>
            <p:ph sz="half" idx="1"/>
          </p:nvPr>
        </p:nvSpPr>
        <p:spPr>
          <a:xfrm>
            <a:off x="222885" y="1143000"/>
            <a:ext cx="3655314"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970BC54A-D3F5-4B10-9575-D0254B069D26}"/>
              </a:ext>
            </a:extLst>
          </p:cNvPr>
          <p:cNvSpPr>
            <a:spLocks noGrp="1"/>
          </p:cNvSpPr>
          <p:nvPr>
            <p:ph sz="half" idx="2"/>
          </p:nvPr>
        </p:nvSpPr>
        <p:spPr>
          <a:xfrm>
            <a:off x="4101084" y="1143000"/>
            <a:ext cx="3655314"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8EE25B8B-BBF5-4339-9AD2-0C880ADBB985}"/>
              </a:ext>
            </a:extLst>
          </p:cNvPr>
          <p:cNvSpPr>
            <a:spLocks noGrp="1"/>
          </p:cNvSpPr>
          <p:nvPr>
            <p:ph sz="quarter" idx="14"/>
          </p:nvPr>
        </p:nvSpPr>
        <p:spPr>
          <a:xfrm>
            <a:off x="7979283" y="1143000"/>
            <a:ext cx="3655314"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38795D91-EAE2-494E-8B66-7D5557FF0970}"/>
              </a:ext>
            </a:extLst>
          </p:cNvPr>
          <p:cNvSpPr>
            <a:spLocks noGrp="1"/>
          </p:cNvSpPr>
          <p:nvPr>
            <p:ph type="body" sz="quarter" idx="13" hasCustomPrompt="1"/>
          </p:nvPr>
        </p:nvSpPr>
        <p:spPr>
          <a:xfrm>
            <a:off x="222885" y="5760720"/>
            <a:ext cx="11411712" cy="261610"/>
          </a:xfrm>
        </p:spPr>
        <p:txBody>
          <a:bodyPr anchor="b" anchorCtr="0"/>
          <a:lstStyle>
            <a:lvl1pPr marL="140392" indent="-140392">
              <a:lnSpc>
                <a:spcPct val="100000"/>
              </a:lnSpc>
              <a:spcBef>
                <a:spcPts val="0"/>
              </a:spcBef>
              <a:spcAft>
                <a:spcPts val="0"/>
              </a:spcAft>
              <a:tabLst>
                <a:tab pos="140392" algn="l"/>
              </a:tabLst>
              <a:defRPr sz="1073" b="0">
                <a:solidFill>
                  <a:schemeClr val="tx1"/>
                </a:solidFill>
                <a:latin typeface="Arial Narrow" panose="020B0606020202030204" pitchFamily="34" charset="0"/>
              </a:defRPr>
            </a:lvl1pPr>
          </a:lstStyle>
          <a:p>
            <a:pPr lvl="0"/>
            <a:r>
              <a:rPr lang="en-US"/>
              <a:t>Click to insert footnote</a:t>
            </a:r>
          </a:p>
        </p:txBody>
      </p:sp>
      <p:sp>
        <p:nvSpPr>
          <p:cNvPr id="3" name="Footer Placeholder 2">
            <a:extLst>
              <a:ext uri="{FF2B5EF4-FFF2-40B4-BE49-F238E27FC236}">
                <a16:creationId xmlns:a16="http://schemas.microsoft.com/office/drawing/2014/main" id="{4C06F9D8-EC15-4DE2-93E2-1221D97EC065}"/>
              </a:ext>
            </a:extLst>
          </p:cNvPr>
          <p:cNvSpPr>
            <a:spLocks noGrp="1"/>
          </p:cNvSpPr>
          <p:nvPr>
            <p:ph type="ftr" sz="quarter" idx="15"/>
          </p:nvPr>
        </p:nvSpPr>
        <p:spPr/>
        <p:txBody>
          <a:bodyPr/>
          <a:lstStyle/>
          <a:p>
            <a:pPr algn="ctr"/>
            <a:r>
              <a:rPr lang="en-CA"/>
              <a:t>CONFIDENTIAL</a:t>
            </a:r>
          </a:p>
        </p:txBody>
      </p:sp>
      <p:sp>
        <p:nvSpPr>
          <p:cNvPr id="4" name="Slide Number Placeholder 3">
            <a:extLst>
              <a:ext uri="{FF2B5EF4-FFF2-40B4-BE49-F238E27FC236}">
                <a16:creationId xmlns:a16="http://schemas.microsoft.com/office/drawing/2014/main" id="{D4E9C20C-6036-4BDA-8891-5020B32E0949}"/>
              </a:ext>
            </a:extLst>
          </p:cNvPr>
          <p:cNvSpPr>
            <a:spLocks noGrp="1"/>
          </p:cNvSpPr>
          <p:nvPr>
            <p:ph type="sldNum" sz="quarter" idx="16"/>
          </p:nvPr>
        </p:nvSpPr>
        <p:spPr/>
        <p:txBody>
          <a:bodyPr/>
          <a:lstStyle/>
          <a:p>
            <a:fld id="{98834F8B-9DBE-4684-A222-1DB2782FF993}" type="slidenum">
              <a:rPr lang="en-US" smtClean="0"/>
              <a:pPr/>
              <a:t>‹#›</a:t>
            </a:fld>
            <a:endParaRPr lang="en-US"/>
          </a:p>
        </p:txBody>
      </p:sp>
      <p:sp>
        <p:nvSpPr>
          <p:cNvPr id="5" name="Title 4">
            <a:extLst>
              <a:ext uri="{FF2B5EF4-FFF2-40B4-BE49-F238E27FC236}">
                <a16:creationId xmlns:a16="http://schemas.microsoft.com/office/drawing/2014/main" id="{15FB269E-325B-4F05-BB4B-EBE9F0632FF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206507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FB9B826-918C-4774-80A2-F0F28BD0379E}"/>
              </a:ext>
            </a:extLst>
          </p:cNvPr>
          <p:cNvSpPr>
            <a:spLocks noGrp="1"/>
          </p:cNvSpPr>
          <p:nvPr>
            <p:ph sz="quarter" idx="16"/>
          </p:nvPr>
        </p:nvSpPr>
        <p:spPr>
          <a:xfrm>
            <a:off x="222885" y="1143000"/>
            <a:ext cx="5482971"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0" name="Content Placeholder 9">
            <a:extLst>
              <a:ext uri="{FF2B5EF4-FFF2-40B4-BE49-F238E27FC236}">
                <a16:creationId xmlns:a16="http://schemas.microsoft.com/office/drawing/2014/main" id="{D96988CA-9F9D-48DB-B5A8-16FD191BF1FC}"/>
              </a:ext>
            </a:extLst>
          </p:cNvPr>
          <p:cNvSpPr>
            <a:spLocks noGrp="1"/>
          </p:cNvSpPr>
          <p:nvPr>
            <p:ph sz="quarter" idx="17"/>
          </p:nvPr>
        </p:nvSpPr>
        <p:spPr>
          <a:xfrm>
            <a:off x="6151626" y="1143000"/>
            <a:ext cx="5482971"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222885" y="3474720"/>
            <a:ext cx="5482971"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51626" y="3474720"/>
            <a:ext cx="5482971" cy="1892826"/>
          </a:xfrm>
        </p:spPr>
        <p:txBody>
          <a:bodyPr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7BD117E6-463B-4FF7-AEF9-81D6279222CC}"/>
              </a:ext>
            </a:extLst>
          </p:cNvPr>
          <p:cNvSpPr>
            <a:spLocks noGrp="1"/>
          </p:cNvSpPr>
          <p:nvPr>
            <p:ph type="body" sz="quarter" idx="15" hasCustomPrompt="1"/>
          </p:nvPr>
        </p:nvSpPr>
        <p:spPr>
          <a:xfrm>
            <a:off x="222885" y="6126480"/>
            <a:ext cx="11411712" cy="261610"/>
          </a:xfrm>
        </p:spPr>
        <p:txBody>
          <a:bodyPr anchor="b" anchorCtr="0"/>
          <a:lstStyle>
            <a:lvl1pPr marL="140392" indent="-140392">
              <a:lnSpc>
                <a:spcPct val="100000"/>
              </a:lnSpc>
              <a:spcBef>
                <a:spcPts val="0"/>
              </a:spcBef>
              <a:spcAft>
                <a:spcPts val="0"/>
              </a:spcAft>
              <a:tabLst>
                <a:tab pos="140392" algn="l"/>
              </a:tabLst>
              <a:defRPr sz="1073" b="0">
                <a:solidFill>
                  <a:schemeClr val="tx1"/>
                </a:solidFill>
                <a:latin typeface="Arial Narrow" panose="020B0606020202030204" pitchFamily="34" charset="0"/>
              </a:defRPr>
            </a:lvl1pPr>
          </a:lstStyle>
          <a:p>
            <a:pPr lvl="0"/>
            <a:r>
              <a:rPr lang="en-US"/>
              <a:t>Click to insert footnote</a:t>
            </a:r>
          </a:p>
        </p:txBody>
      </p:sp>
      <p:sp>
        <p:nvSpPr>
          <p:cNvPr id="3" name="Footer Placeholder 2">
            <a:extLst>
              <a:ext uri="{FF2B5EF4-FFF2-40B4-BE49-F238E27FC236}">
                <a16:creationId xmlns:a16="http://schemas.microsoft.com/office/drawing/2014/main" id="{94FFD821-F404-4A54-92C9-3A3C4738A6F6}"/>
              </a:ext>
            </a:extLst>
          </p:cNvPr>
          <p:cNvSpPr>
            <a:spLocks noGrp="1"/>
          </p:cNvSpPr>
          <p:nvPr>
            <p:ph type="ftr" sz="quarter" idx="18"/>
          </p:nvPr>
        </p:nvSpPr>
        <p:spPr/>
        <p:txBody>
          <a:bodyPr/>
          <a:lstStyle/>
          <a:p>
            <a:pPr algn="ctr"/>
            <a:r>
              <a:rPr lang="en-CA"/>
              <a:t>CONFIDENTIAL</a:t>
            </a:r>
          </a:p>
        </p:txBody>
      </p:sp>
      <p:sp>
        <p:nvSpPr>
          <p:cNvPr id="7" name="Slide Number Placeholder 6">
            <a:extLst>
              <a:ext uri="{FF2B5EF4-FFF2-40B4-BE49-F238E27FC236}">
                <a16:creationId xmlns:a16="http://schemas.microsoft.com/office/drawing/2014/main" id="{926952D3-9E24-4FBD-BCF2-509504EA7EC7}"/>
              </a:ext>
            </a:extLst>
          </p:cNvPr>
          <p:cNvSpPr>
            <a:spLocks noGrp="1"/>
          </p:cNvSpPr>
          <p:nvPr>
            <p:ph type="sldNum" sz="quarter" idx="19"/>
          </p:nvPr>
        </p:nvSpPr>
        <p:spPr/>
        <p:txBody>
          <a:bodyPr/>
          <a:lstStyle/>
          <a:p>
            <a:fld id="{98834F8B-9DBE-4684-A222-1DB2782FF993}" type="slidenum">
              <a:rPr lang="en-US" smtClean="0"/>
              <a:pPr/>
              <a:t>‹#›</a:t>
            </a:fld>
            <a:endParaRPr lang="en-US"/>
          </a:p>
        </p:txBody>
      </p:sp>
      <p:sp>
        <p:nvSpPr>
          <p:cNvPr id="8" name="Title 7">
            <a:extLst>
              <a:ext uri="{FF2B5EF4-FFF2-40B4-BE49-F238E27FC236}">
                <a16:creationId xmlns:a16="http://schemas.microsoft.com/office/drawing/2014/main" id="{D1DF8386-2DB8-479D-9522-330B96744AA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831566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s">
    <p:spTree>
      <p:nvGrpSpPr>
        <p:cNvPr id="1" name=""/>
        <p:cNvGrpSpPr/>
        <p:nvPr/>
      </p:nvGrpSpPr>
      <p:grpSpPr>
        <a:xfrm>
          <a:off x="0" y="0"/>
          <a:ext cx="0" cy="0"/>
          <a:chOff x="0" y="0"/>
          <a:chExt cx="0" cy="0"/>
        </a:xfrm>
      </p:grpSpPr>
      <p:sp>
        <p:nvSpPr>
          <p:cNvPr id="24" name="Text Placeholder 5">
            <a:extLst>
              <a:ext uri="{FF2B5EF4-FFF2-40B4-BE49-F238E27FC236}">
                <a16:creationId xmlns:a16="http://schemas.microsoft.com/office/drawing/2014/main" id="{187E0C91-7E70-47A8-A13D-58B35A572CD0}"/>
              </a:ext>
            </a:extLst>
          </p:cNvPr>
          <p:cNvSpPr>
            <a:spLocks noGrp="1"/>
          </p:cNvSpPr>
          <p:nvPr>
            <p:ph type="body" sz="quarter" idx="13" hasCustomPrompt="1"/>
          </p:nvPr>
        </p:nvSpPr>
        <p:spPr>
          <a:xfrm>
            <a:off x="222885" y="1737361"/>
            <a:ext cx="3566160" cy="584775"/>
          </a:xfrm>
        </p:spPr>
        <p:txBody>
          <a:bodyPr anchor="t" anchorCtr="0">
            <a:spAutoFit/>
          </a:bodyPr>
          <a:lstStyle>
            <a:lvl1pPr>
              <a:lnSpc>
                <a:spcPct val="100000"/>
              </a:lnSpc>
              <a:spcBef>
                <a:spcPts val="0"/>
              </a:spcBef>
              <a:spcAft>
                <a:spcPts val="0"/>
              </a:spcAft>
              <a:defRPr sz="1560" b="1">
                <a:solidFill>
                  <a:schemeClr val="tx1"/>
                </a:solidFill>
              </a:defRPr>
            </a:lvl1pPr>
            <a:lvl2pPr marL="0" indent="0">
              <a:lnSpc>
                <a:spcPct val="100000"/>
              </a:lnSpc>
              <a:spcBef>
                <a:spcPts val="0"/>
              </a:spcBef>
              <a:spcAft>
                <a:spcPts val="0"/>
              </a:spcAft>
              <a:buNone/>
              <a:defRPr sz="1560">
                <a:solidFill>
                  <a:schemeClr val="tx1"/>
                </a:solidFill>
              </a:defRPr>
            </a:lvl2pPr>
          </a:lstStyle>
          <a:p>
            <a:pPr lvl="0"/>
            <a:r>
              <a:rPr lang="en-US"/>
              <a:t>Name</a:t>
            </a:r>
          </a:p>
          <a:p>
            <a:pPr lvl="1"/>
            <a:r>
              <a:rPr lang="en-CA"/>
              <a:t>Second level</a:t>
            </a:r>
          </a:p>
        </p:txBody>
      </p:sp>
      <p:sp>
        <p:nvSpPr>
          <p:cNvPr id="25" name="Text Placeholder 5">
            <a:extLst>
              <a:ext uri="{FF2B5EF4-FFF2-40B4-BE49-F238E27FC236}">
                <a16:creationId xmlns:a16="http://schemas.microsoft.com/office/drawing/2014/main" id="{A62C2AFC-7149-4003-B988-851FF64C74AD}"/>
              </a:ext>
            </a:extLst>
          </p:cNvPr>
          <p:cNvSpPr>
            <a:spLocks noGrp="1"/>
          </p:cNvSpPr>
          <p:nvPr>
            <p:ph type="body" sz="quarter" idx="14" hasCustomPrompt="1"/>
          </p:nvPr>
        </p:nvSpPr>
        <p:spPr>
          <a:xfrm>
            <a:off x="4147943" y="1737361"/>
            <a:ext cx="3566160" cy="584775"/>
          </a:xfrm>
        </p:spPr>
        <p:txBody>
          <a:bodyPr anchor="t" anchorCtr="0">
            <a:spAutoFit/>
          </a:bodyPr>
          <a:lstStyle>
            <a:lvl1pPr>
              <a:lnSpc>
                <a:spcPct val="100000"/>
              </a:lnSpc>
              <a:spcBef>
                <a:spcPts val="0"/>
              </a:spcBef>
              <a:spcAft>
                <a:spcPts val="0"/>
              </a:spcAft>
              <a:defRPr sz="1560" b="1">
                <a:solidFill>
                  <a:schemeClr val="tx1"/>
                </a:solidFill>
              </a:defRPr>
            </a:lvl1pPr>
            <a:lvl2pPr marL="0" indent="0">
              <a:lnSpc>
                <a:spcPct val="100000"/>
              </a:lnSpc>
              <a:spcBef>
                <a:spcPts val="0"/>
              </a:spcBef>
              <a:spcAft>
                <a:spcPts val="0"/>
              </a:spcAft>
              <a:buNone/>
              <a:defRPr sz="1560">
                <a:solidFill>
                  <a:schemeClr val="tx1"/>
                </a:solidFill>
              </a:defRPr>
            </a:lvl2pPr>
          </a:lstStyle>
          <a:p>
            <a:pPr lvl="0"/>
            <a:r>
              <a:rPr lang="en-US"/>
              <a:t>Name</a:t>
            </a:r>
          </a:p>
          <a:p>
            <a:pPr lvl="1"/>
            <a:r>
              <a:rPr lang="en-CA"/>
              <a:t>Second level</a:t>
            </a:r>
          </a:p>
        </p:txBody>
      </p:sp>
      <p:sp>
        <p:nvSpPr>
          <p:cNvPr id="26" name="Text Placeholder 5">
            <a:extLst>
              <a:ext uri="{FF2B5EF4-FFF2-40B4-BE49-F238E27FC236}">
                <a16:creationId xmlns:a16="http://schemas.microsoft.com/office/drawing/2014/main" id="{047FA5B9-C8D5-494E-8D7E-A659EF9B4B78}"/>
              </a:ext>
            </a:extLst>
          </p:cNvPr>
          <p:cNvSpPr>
            <a:spLocks noGrp="1"/>
          </p:cNvSpPr>
          <p:nvPr>
            <p:ph type="body" sz="quarter" idx="15" hasCustomPrompt="1"/>
          </p:nvPr>
        </p:nvSpPr>
        <p:spPr>
          <a:xfrm>
            <a:off x="8073000" y="1737361"/>
            <a:ext cx="3566160" cy="584775"/>
          </a:xfrm>
        </p:spPr>
        <p:txBody>
          <a:bodyPr anchor="t" anchorCtr="0">
            <a:spAutoFit/>
          </a:bodyPr>
          <a:lstStyle>
            <a:lvl1pPr>
              <a:lnSpc>
                <a:spcPct val="100000"/>
              </a:lnSpc>
              <a:spcBef>
                <a:spcPts val="0"/>
              </a:spcBef>
              <a:spcAft>
                <a:spcPts val="0"/>
              </a:spcAft>
              <a:defRPr sz="1560" b="1">
                <a:solidFill>
                  <a:schemeClr val="tx1"/>
                </a:solidFill>
              </a:defRPr>
            </a:lvl1pPr>
            <a:lvl2pPr marL="0" indent="0">
              <a:lnSpc>
                <a:spcPct val="100000"/>
              </a:lnSpc>
              <a:spcBef>
                <a:spcPts val="0"/>
              </a:spcBef>
              <a:spcAft>
                <a:spcPts val="0"/>
              </a:spcAft>
              <a:buNone/>
              <a:defRPr sz="1560">
                <a:solidFill>
                  <a:schemeClr val="tx1"/>
                </a:solidFill>
              </a:defRPr>
            </a:lvl2pPr>
          </a:lstStyle>
          <a:p>
            <a:pPr lvl="0"/>
            <a:r>
              <a:rPr lang="en-US"/>
              <a:t>Name</a:t>
            </a:r>
          </a:p>
          <a:p>
            <a:pPr lvl="1"/>
            <a:r>
              <a:rPr lang="en-CA"/>
              <a:t>Second level</a:t>
            </a:r>
          </a:p>
        </p:txBody>
      </p:sp>
      <p:sp>
        <p:nvSpPr>
          <p:cNvPr id="27" name="Text Placeholder 5">
            <a:extLst>
              <a:ext uri="{FF2B5EF4-FFF2-40B4-BE49-F238E27FC236}">
                <a16:creationId xmlns:a16="http://schemas.microsoft.com/office/drawing/2014/main" id="{0CD75A03-9072-41C7-B6D8-D9F8A0F29FB2}"/>
              </a:ext>
            </a:extLst>
          </p:cNvPr>
          <p:cNvSpPr>
            <a:spLocks noGrp="1"/>
          </p:cNvSpPr>
          <p:nvPr>
            <p:ph type="body" sz="quarter" idx="16" hasCustomPrompt="1"/>
          </p:nvPr>
        </p:nvSpPr>
        <p:spPr>
          <a:xfrm>
            <a:off x="222885" y="3196930"/>
            <a:ext cx="3566160" cy="584775"/>
          </a:xfrm>
        </p:spPr>
        <p:txBody>
          <a:bodyPr anchor="t" anchorCtr="0">
            <a:spAutoFit/>
          </a:bodyPr>
          <a:lstStyle>
            <a:lvl1pPr>
              <a:lnSpc>
                <a:spcPct val="100000"/>
              </a:lnSpc>
              <a:spcBef>
                <a:spcPts val="0"/>
              </a:spcBef>
              <a:spcAft>
                <a:spcPts val="0"/>
              </a:spcAft>
              <a:defRPr sz="1560" b="1">
                <a:solidFill>
                  <a:schemeClr val="tx1"/>
                </a:solidFill>
              </a:defRPr>
            </a:lvl1pPr>
            <a:lvl2pPr marL="0" indent="0">
              <a:lnSpc>
                <a:spcPct val="100000"/>
              </a:lnSpc>
              <a:spcBef>
                <a:spcPts val="0"/>
              </a:spcBef>
              <a:spcAft>
                <a:spcPts val="0"/>
              </a:spcAft>
              <a:buNone/>
              <a:defRPr sz="1560">
                <a:solidFill>
                  <a:schemeClr val="tx1"/>
                </a:solidFill>
              </a:defRPr>
            </a:lvl2pPr>
          </a:lstStyle>
          <a:p>
            <a:pPr lvl="0"/>
            <a:r>
              <a:rPr lang="en-US"/>
              <a:t>Name</a:t>
            </a:r>
          </a:p>
          <a:p>
            <a:pPr lvl="1"/>
            <a:r>
              <a:rPr lang="en-CA"/>
              <a:t>Second level</a:t>
            </a:r>
          </a:p>
        </p:txBody>
      </p:sp>
      <p:sp>
        <p:nvSpPr>
          <p:cNvPr id="28" name="Text Placeholder 5">
            <a:extLst>
              <a:ext uri="{FF2B5EF4-FFF2-40B4-BE49-F238E27FC236}">
                <a16:creationId xmlns:a16="http://schemas.microsoft.com/office/drawing/2014/main" id="{1E90ADD7-2393-42B4-B9FF-C4215AECD6F6}"/>
              </a:ext>
            </a:extLst>
          </p:cNvPr>
          <p:cNvSpPr>
            <a:spLocks noGrp="1"/>
          </p:cNvSpPr>
          <p:nvPr>
            <p:ph type="body" sz="quarter" idx="17" hasCustomPrompt="1"/>
          </p:nvPr>
        </p:nvSpPr>
        <p:spPr>
          <a:xfrm>
            <a:off x="4147943" y="3196930"/>
            <a:ext cx="3566160" cy="584775"/>
          </a:xfrm>
        </p:spPr>
        <p:txBody>
          <a:bodyPr anchor="t" anchorCtr="0">
            <a:spAutoFit/>
          </a:bodyPr>
          <a:lstStyle>
            <a:lvl1pPr>
              <a:lnSpc>
                <a:spcPct val="100000"/>
              </a:lnSpc>
              <a:spcBef>
                <a:spcPts val="0"/>
              </a:spcBef>
              <a:spcAft>
                <a:spcPts val="0"/>
              </a:spcAft>
              <a:defRPr sz="1560" b="1">
                <a:solidFill>
                  <a:schemeClr val="tx1"/>
                </a:solidFill>
              </a:defRPr>
            </a:lvl1pPr>
            <a:lvl2pPr marL="0" indent="0">
              <a:lnSpc>
                <a:spcPct val="100000"/>
              </a:lnSpc>
              <a:spcBef>
                <a:spcPts val="0"/>
              </a:spcBef>
              <a:spcAft>
                <a:spcPts val="0"/>
              </a:spcAft>
              <a:buNone/>
              <a:defRPr sz="1560">
                <a:solidFill>
                  <a:schemeClr val="tx1"/>
                </a:solidFill>
              </a:defRPr>
            </a:lvl2pPr>
          </a:lstStyle>
          <a:p>
            <a:pPr lvl="0"/>
            <a:r>
              <a:rPr lang="en-US"/>
              <a:t>Name</a:t>
            </a:r>
          </a:p>
          <a:p>
            <a:pPr lvl="1"/>
            <a:r>
              <a:rPr lang="en-CA"/>
              <a:t>Second level</a:t>
            </a:r>
          </a:p>
        </p:txBody>
      </p:sp>
      <p:sp>
        <p:nvSpPr>
          <p:cNvPr id="29" name="Text Placeholder 5">
            <a:extLst>
              <a:ext uri="{FF2B5EF4-FFF2-40B4-BE49-F238E27FC236}">
                <a16:creationId xmlns:a16="http://schemas.microsoft.com/office/drawing/2014/main" id="{A109D271-D077-44ED-8C78-46CBCF76ACB3}"/>
              </a:ext>
            </a:extLst>
          </p:cNvPr>
          <p:cNvSpPr>
            <a:spLocks noGrp="1"/>
          </p:cNvSpPr>
          <p:nvPr>
            <p:ph type="body" sz="quarter" idx="18" hasCustomPrompt="1"/>
          </p:nvPr>
        </p:nvSpPr>
        <p:spPr>
          <a:xfrm>
            <a:off x="8073000" y="3196930"/>
            <a:ext cx="3566160" cy="584775"/>
          </a:xfrm>
        </p:spPr>
        <p:txBody>
          <a:bodyPr anchor="t" anchorCtr="0">
            <a:spAutoFit/>
          </a:bodyPr>
          <a:lstStyle>
            <a:lvl1pPr>
              <a:lnSpc>
                <a:spcPct val="100000"/>
              </a:lnSpc>
              <a:spcBef>
                <a:spcPts val="0"/>
              </a:spcBef>
              <a:spcAft>
                <a:spcPts val="0"/>
              </a:spcAft>
              <a:defRPr sz="1560" b="1">
                <a:solidFill>
                  <a:schemeClr val="tx1"/>
                </a:solidFill>
              </a:defRPr>
            </a:lvl1pPr>
            <a:lvl2pPr marL="0" indent="0">
              <a:lnSpc>
                <a:spcPct val="100000"/>
              </a:lnSpc>
              <a:spcBef>
                <a:spcPts val="0"/>
              </a:spcBef>
              <a:spcAft>
                <a:spcPts val="0"/>
              </a:spcAft>
              <a:buNone/>
              <a:defRPr sz="1560">
                <a:solidFill>
                  <a:schemeClr val="tx1"/>
                </a:solidFill>
              </a:defRPr>
            </a:lvl2pPr>
          </a:lstStyle>
          <a:p>
            <a:pPr lvl="0"/>
            <a:r>
              <a:rPr lang="en-US"/>
              <a:t>Name</a:t>
            </a:r>
          </a:p>
          <a:p>
            <a:pPr lvl="1"/>
            <a:r>
              <a:rPr lang="en-CA"/>
              <a:t>Second level</a:t>
            </a:r>
          </a:p>
        </p:txBody>
      </p:sp>
      <p:sp>
        <p:nvSpPr>
          <p:cNvPr id="30" name="Text Placeholder 5">
            <a:extLst>
              <a:ext uri="{FF2B5EF4-FFF2-40B4-BE49-F238E27FC236}">
                <a16:creationId xmlns:a16="http://schemas.microsoft.com/office/drawing/2014/main" id="{08DA1920-070A-4FDD-BAE6-534C30C39151}"/>
              </a:ext>
            </a:extLst>
          </p:cNvPr>
          <p:cNvSpPr>
            <a:spLocks noGrp="1"/>
          </p:cNvSpPr>
          <p:nvPr>
            <p:ph type="body" sz="quarter" idx="19" hasCustomPrompt="1"/>
          </p:nvPr>
        </p:nvSpPr>
        <p:spPr>
          <a:xfrm>
            <a:off x="222885" y="4656498"/>
            <a:ext cx="3566160" cy="584775"/>
          </a:xfrm>
        </p:spPr>
        <p:txBody>
          <a:bodyPr anchor="t" anchorCtr="0">
            <a:spAutoFit/>
          </a:bodyPr>
          <a:lstStyle>
            <a:lvl1pPr>
              <a:lnSpc>
                <a:spcPct val="100000"/>
              </a:lnSpc>
              <a:spcBef>
                <a:spcPts val="0"/>
              </a:spcBef>
              <a:spcAft>
                <a:spcPts val="0"/>
              </a:spcAft>
              <a:defRPr sz="1560" b="1">
                <a:solidFill>
                  <a:schemeClr val="tx1"/>
                </a:solidFill>
              </a:defRPr>
            </a:lvl1pPr>
            <a:lvl2pPr marL="0" indent="0">
              <a:lnSpc>
                <a:spcPct val="100000"/>
              </a:lnSpc>
              <a:spcBef>
                <a:spcPts val="0"/>
              </a:spcBef>
              <a:spcAft>
                <a:spcPts val="0"/>
              </a:spcAft>
              <a:buNone/>
              <a:defRPr sz="1560">
                <a:solidFill>
                  <a:schemeClr val="tx1"/>
                </a:solidFill>
              </a:defRPr>
            </a:lvl2pPr>
          </a:lstStyle>
          <a:p>
            <a:pPr lvl="0"/>
            <a:r>
              <a:rPr lang="en-US"/>
              <a:t>Name</a:t>
            </a:r>
          </a:p>
          <a:p>
            <a:pPr lvl="1"/>
            <a:r>
              <a:rPr lang="en-CA"/>
              <a:t>Second level</a:t>
            </a:r>
          </a:p>
        </p:txBody>
      </p:sp>
      <p:sp>
        <p:nvSpPr>
          <p:cNvPr id="31" name="Text Placeholder 5">
            <a:extLst>
              <a:ext uri="{FF2B5EF4-FFF2-40B4-BE49-F238E27FC236}">
                <a16:creationId xmlns:a16="http://schemas.microsoft.com/office/drawing/2014/main" id="{D25FBB1C-3AC7-424E-82E4-8B1FE11DC838}"/>
              </a:ext>
            </a:extLst>
          </p:cNvPr>
          <p:cNvSpPr>
            <a:spLocks noGrp="1"/>
          </p:cNvSpPr>
          <p:nvPr>
            <p:ph type="body" sz="quarter" idx="20" hasCustomPrompt="1"/>
          </p:nvPr>
        </p:nvSpPr>
        <p:spPr>
          <a:xfrm>
            <a:off x="4147943" y="4656498"/>
            <a:ext cx="3566160" cy="584775"/>
          </a:xfrm>
        </p:spPr>
        <p:txBody>
          <a:bodyPr anchor="t" anchorCtr="0">
            <a:spAutoFit/>
          </a:bodyPr>
          <a:lstStyle>
            <a:lvl1pPr>
              <a:lnSpc>
                <a:spcPct val="100000"/>
              </a:lnSpc>
              <a:spcBef>
                <a:spcPts val="0"/>
              </a:spcBef>
              <a:spcAft>
                <a:spcPts val="0"/>
              </a:spcAft>
              <a:defRPr sz="1560" b="1">
                <a:solidFill>
                  <a:schemeClr val="tx1"/>
                </a:solidFill>
              </a:defRPr>
            </a:lvl1pPr>
            <a:lvl2pPr marL="0" indent="0">
              <a:lnSpc>
                <a:spcPct val="100000"/>
              </a:lnSpc>
              <a:spcBef>
                <a:spcPts val="0"/>
              </a:spcBef>
              <a:spcAft>
                <a:spcPts val="0"/>
              </a:spcAft>
              <a:buNone/>
              <a:defRPr sz="1560">
                <a:solidFill>
                  <a:schemeClr val="tx1"/>
                </a:solidFill>
              </a:defRPr>
            </a:lvl2pPr>
          </a:lstStyle>
          <a:p>
            <a:pPr lvl="0"/>
            <a:r>
              <a:rPr lang="en-US"/>
              <a:t>Name</a:t>
            </a:r>
          </a:p>
          <a:p>
            <a:pPr lvl="1"/>
            <a:r>
              <a:rPr lang="en-CA"/>
              <a:t>Second level</a:t>
            </a:r>
          </a:p>
        </p:txBody>
      </p:sp>
      <p:sp>
        <p:nvSpPr>
          <p:cNvPr id="32" name="Text Placeholder 5">
            <a:extLst>
              <a:ext uri="{FF2B5EF4-FFF2-40B4-BE49-F238E27FC236}">
                <a16:creationId xmlns:a16="http://schemas.microsoft.com/office/drawing/2014/main" id="{F324F02F-B969-4826-AE43-0A3E9B5D9BE8}"/>
              </a:ext>
            </a:extLst>
          </p:cNvPr>
          <p:cNvSpPr>
            <a:spLocks noGrp="1"/>
          </p:cNvSpPr>
          <p:nvPr>
            <p:ph type="body" sz="quarter" idx="21" hasCustomPrompt="1"/>
          </p:nvPr>
        </p:nvSpPr>
        <p:spPr>
          <a:xfrm>
            <a:off x="8073000" y="4656498"/>
            <a:ext cx="3566160" cy="584775"/>
          </a:xfrm>
        </p:spPr>
        <p:txBody>
          <a:bodyPr anchor="t" anchorCtr="0">
            <a:spAutoFit/>
          </a:bodyPr>
          <a:lstStyle>
            <a:lvl1pPr>
              <a:lnSpc>
                <a:spcPct val="100000"/>
              </a:lnSpc>
              <a:spcBef>
                <a:spcPts val="0"/>
              </a:spcBef>
              <a:spcAft>
                <a:spcPts val="0"/>
              </a:spcAft>
              <a:defRPr sz="1560" b="1">
                <a:solidFill>
                  <a:schemeClr val="tx1"/>
                </a:solidFill>
              </a:defRPr>
            </a:lvl1pPr>
            <a:lvl2pPr marL="0" indent="0">
              <a:lnSpc>
                <a:spcPct val="100000"/>
              </a:lnSpc>
              <a:spcBef>
                <a:spcPts val="0"/>
              </a:spcBef>
              <a:spcAft>
                <a:spcPts val="0"/>
              </a:spcAft>
              <a:buNone/>
              <a:defRPr sz="1560">
                <a:solidFill>
                  <a:schemeClr val="tx1"/>
                </a:solidFill>
              </a:defRPr>
            </a:lvl2pPr>
          </a:lstStyle>
          <a:p>
            <a:pPr lvl="0"/>
            <a:r>
              <a:rPr lang="en-US"/>
              <a:t>Name</a:t>
            </a:r>
          </a:p>
          <a:p>
            <a:pPr lvl="1"/>
            <a:r>
              <a:rPr lang="en-CA"/>
              <a:t>Second level</a:t>
            </a:r>
          </a:p>
        </p:txBody>
      </p:sp>
      <p:sp>
        <p:nvSpPr>
          <p:cNvPr id="6" name="Slide Number Placeholder 5">
            <a:extLst>
              <a:ext uri="{FF2B5EF4-FFF2-40B4-BE49-F238E27FC236}">
                <a16:creationId xmlns:a16="http://schemas.microsoft.com/office/drawing/2014/main" id="{2563163B-6F88-48B6-9E42-35E68386BD81}"/>
              </a:ext>
            </a:extLst>
          </p:cNvPr>
          <p:cNvSpPr>
            <a:spLocks noGrp="1"/>
          </p:cNvSpPr>
          <p:nvPr>
            <p:ph type="sldNum" sz="quarter" idx="23"/>
          </p:nvPr>
        </p:nvSpPr>
        <p:spPr/>
        <p:txBody>
          <a:bodyPr/>
          <a:lstStyle/>
          <a:p>
            <a:fld id="{98834F8B-9DBE-4684-A222-1DB2782FF993}" type="slidenum">
              <a:rPr lang="en-US" smtClean="0"/>
              <a:pPr/>
              <a:t>‹#›</a:t>
            </a:fld>
            <a:endParaRPr lang="en-US"/>
          </a:p>
        </p:txBody>
      </p:sp>
      <p:sp>
        <p:nvSpPr>
          <p:cNvPr id="4" name="Title 3">
            <a:extLst>
              <a:ext uri="{FF2B5EF4-FFF2-40B4-BE49-F238E27FC236}">
                <a16:creationId xmlns:a16="http://schemas.microsoft.com/office/drawing/2014/main" id="{D0DEC100-DDFB-40B3-8746-5A4189678EAB}"/>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26FA4ED7-24EB-42F2-AC72-F9AF52DB85D6}"/>
              </a:ext>
            </a:extLst>
          </p:cNvPr>
          <p:cNvSpPr>
            <a:spLocks noGrp="1"/>
          </p:cNvSpPr>
          <p:nvPr>
            <p:ph type="ftr" sz="quarter" idx="24"/>
          </p:nvPr>
        </p:nvSpPr>
        <p:spPr/>
        <p:txBody>
          <a:bodyPr/>
          <a:lstStyle/>
          <a:p>
            <a:pPr algn="ctr"/>
            <a:r>
              <a:rPr lang="en-CA"/>
              <a:t>CONFIDENTIAL</a:t>
            </a:r>
          </a:p>
        </p:txBody>
      </p:sp>
      <p:sp>
        <p:nvSpPr>
          <p:cNvPr id="8" name="Text Placeholder 7">
            <a:extLst>
              <a:ext uri="{FF2B5EF4-FFF2-40B4-BE49-F238E27FC236}">
                <a16:creationId xmlns:a16="http://schemas.microsoft.com/office/drawing/2014/main" id="{1472E927-FD4A-4584-A14D-557EBF195A68}"/>
              </a:ext>
            </a:extLst>
          </p:cNvPr>
          <p:cNvSpPr>
            <a:spLocks noGrp="1"/>
          </p:cNvSpPr>
          <p:nvPr>
            <p:ph type="body" sz="quarter" idx="25"/>
          </p:nvPr>
        </p:nvSpPr>
        <p:spPr>
          <a:xfrm>
            <a:off x="222885" y="1143000"/>
            <a:ext cx="11412022" cy="338554"/>
          </a:xfrm>
        </p:spPr>
        <p:txBody>
          <a:bodyPr/>
          <a:lstStyle>
            <a:lvl1pPr>
              <a:defRPr sz="156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669191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image" Target="../media/image2.pn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7179" y="228600"/>
            <a:ext cx="10933748" cy="841248"/>
          </a:xfrm>
          <a:prstGeom prst="rect">
            <a:avLst/>
          </a:prstGeom>
        </p:spPr>
        <p:txBody>
          <a:bodyPr vert="horz" lIns="0" tIns="0" rIns="0" bIns="109728" rtlCol="0" anchor="b" anchorCtr="0">
            <a:noAutofit/>
          </a:bodyPr>
          <a:lstStyle/>
          <a:p>
            <a:r>
              <a:rPr lang="en-US"/>
              <a:t>Click to edit Master title style</a:t>
            </a:r>
            <a:endParaRPr lang="en-CA"/>
          </a:p>
        </p:txBody>
      </p:sp>
      <p:sp>
        <p:nvSpPr>
          <p:cNvPr id="3" name="Text Placeholder 2"/>
          <p:cNvSpPr>
            <a:spLocks noGrp="1"/>
          </p:cNvSpPr>
          <p:nvPr>
            <p:ph type="body" idx="1"/>
          </p:nvPr>
        </p:nvSpPr>
        <p:spPr>
          <a:xfrm>
            <a:off x="297180" y="1444755"/>
            <a:ext cx="11292840" cy="1762021"/>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Footer Placeholder 4">
            <a:extLst>
              <a:ext uri="{FF2B5EF4-FFF2-40B4-BE49-F238E27FC236}">
                <a16:creationId xmlns:a16="http://schemas.microsoft.com/office/drawing/2014/main" id="{00BE3865-0718-4BF3-972A-4C20FE8623CF}"/>
              </a:ext>
            </a:extLst>
          </p:cNvPr>
          <p:cNvSpPr>
            <a:spLocks noGrp="1"/>
          </p:cNvSpPr>
          <p:nvPr>
            <p:ph type="ftr" sz="quarter" idx="3"/>
          </p:nvPr>
        </p:nvSpPr>
        <p:spPr>
          <a:xfrm>
            <a:off x="1240838" y="6545883"/>
            <a:ext cx="990959" cy="167033"/>
          </a:xfrm>
          <a:prstGeom prst="rect">
            <a:avLst/>
          </a:prstGeom>
        </p:spPr>
        <p:txBody>
          <a:bodyPr vert="horz" wrap="square" lIns="0" tIns="0" rIns="0" bIns="0" rtlCol="0" anchor="b" anchorCtr="0">
            <a:spAutoFit/>
          </a:bodyPr>
          <a:lstStyle>
            <a:lvl1pPr>
              <a:lnSpc>
                <a:spcPts val="1400"/>
              </a:lnSpc>
              <a:defRPr lang="en-US" sz="1100" smtClean="0">
                <a:solidFill>
                  <a:schemeClr val="tx1"/>
                </a:solidFill>
              </a:defRPr>
            </a:lvl1pPr>
          </a:lstStyle>
          <a:p>
            <a:pPr algn="ctr"/>
            <a:r>
              <a:rPr lang="en-US"/>
              <a:t>INTERNAL</a:t>
            </a:r>
          </a:p>
        </p:txBody>
      </p:sp>
      <p:pic>
        <p:nvPicPr>
          <p:cNvPr id="2050" name="Picture 1" descr="CIBC">
            <a:extLst>
              <a:ext uri="{FF2B5EF4-FFF2-40B4-BE49-F238E27FC236}">
                <a16:creationId xmlns:a16="http://schemas.microsoft.com/office/drawing/2014/main" id="{CE397371-77D3-4107-BCA4-7AECE5D78AD2}"/>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88972" y="6484316"/>
            <a:ext cx="889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161813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2" r:id="rId3"/>
    <p:sldLayoutId id="2147483663" r:id="rId4"/>
    <p:sldLayoutId id="2147483664" r:id="rId5"/>
    <p:sldLayoutId id="2147483665" r:id="rId6"/>
    <p:sldLayoutId id="2147483666" r:id="rId7"/>
  </p:sldLayoutIdLst>
  <p:hf hdr="0" dt="0"/>
  <p:txStyles>
    <p:titleStyle>
      <a:lvl1pPr algn="l" defTabSz="914400" rtl="0" eaLnBrk="1" latinLnBrk="0" hangingPunct="1">
        <a:spcBef>
          <a:spcPct val="0"/>
        </a:spcBef>
        <a:buNone/>
        <a:defRPr sz="3200" b="1" kern="1200">
          <a:solidFill>
            <a:schemeClr val="accent6"/>
          </a:solidFill>
          <a:latin typeface="+mj-lt"/>
          <a:ea typeface="+mj-ea"/>
          <a:cs typeface="+mj-cs"/>
        </a:defRPr>
      </a:lvl1pPr>
    </p:titleStyle>
    <p:bodyStyle>
      <a:lvl1pPr marL="0" indent="0" algn="l" defTabSz="914400" rtl="0" eaLnBrk="1" latinLnBrk="0" hangingPunct="1">
        <a:spcBef>
          <a:spcPts val="600"/>
        </a:spcBef>
        <a:spcAft>
          <a:spcPts val="600"/>
        </a:spcAft>
        <a:buFont typeface="Arial" panose="020B0604020202020204" pitchFamily="34" charset="0"/>
        <a:buNone/>
        <a:defRPr sz="2000" b="1" kern="1200">
          <a:solidFill>
            <a:schemeClr val="accent6"/>
          </a:solidFill>
          <a:latin typeface="+mn-lt"/>
          <a:ea typeface="+mn-ea"/>
          <a:cs typeface="+mn-cs"/>
        </a:defRPr>
      </a:lvl1pPr>
      <a:lvl2pPr marL="228600" indent="-228600"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2pPr>
      <a:lvl3pPr marL="457200" indent="-22383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3pPr>
      <a:lvl4pPr marL="685800" indent="-231775"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4pPr>
      <a:lvl5pPr marL="915988" indent="-23018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00F4AA-F298-4764-BD7F-D8BD7E0F4774}"/>
              </a:ext>
            </a:extLst>
          </p:cNvPr>
          <p:cNvSpPr>
            <a:spLocks noGrp="1"/>
          </p:cNvSpPr>
          <p:nvPr>
            <p:ph type="title"/>
          </p:nvPr>
        </p:nvSpPr>
        <p:spPr>
          <a:xfrm>
            <a:off x="817563" y="365125"/>
            <a:ext cx="10252075"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71648CF-A63E-4A50-AE5C-55D14B3FA6E2}"/>
              </a:ext>
            </a:extLst>
          </p:cNvPr>
          <p:cNvSpPr>
            <a:spLocks noGrp="1"/>
          </p:cNvSpPr>
          <p:nvPr>
            <p:ph type="body" idx="1"/>
          </p:nvPr>
        </p:nvSpPr>
        <p:spPr>
          <a:xfrm>
            <a:off x="817563" y="1825625"/>
            <a:ext cx="1025207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EF08D89-7E85-4DAC-A8A1-FA78B70F851C}"/>
              </a:ext>
            </a:extLst>
          </p:cNvPr>
          <p:cNvSpPr>
            <a:spLocks noGrp="1"/>
          </p:cNvSpPr>
          <p:nvPr>
            <p:ph type="dt" sz="half" idx="2"/>
          </p:nvPr>
        </p:nvSpPr>
        <p:spPr>
          <a:xfrm>
            <a:off x="817563" y="6356350"/>
            <a:ext cx="267493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A0C6C5-3012-4B31-8A7F-822ABFD46152}" type="datetimeFigureOut">
              <a:rPr lang="en-CA" smtClean="0"/>
              <a:t>2025-10-10</a:t>
            </a:fld>
            <a:endParaRPr lang="en-CA"/>
          </a:p>
        </p:txBody>
      </p:sp>
      <p:sp>
        <p:nvSpPr>
          <p:cNvPr id="5" name="Footer Placeholder 4">
            <a:extLst>
              <a:ext uri="{FF2B5EF4-FFF2-40B4-BE49-F238E27FC236}">
                <a16:creationId xmlns:a16="http://schemas.microsoft.com/office/drawing/2014/main" id="{A797E044-E4FE-448C-BFA0-CB04FDAA8694}"/>
              </a:ext>
            </a:extLst>
          </p:cNvPr>
          <p:cNvSpPr>
            <a:spLocks noGrp="1"/>
          </p:cNvSpPr>
          <p:nvPr>
            <p:ph type="ftr" sz="quarter" idx="3"/>
          </p:nvPr>
        </p:nvSpPr>
        <p:spPr>
          <a:xfrm>
            <a:off x="3937000" y="6356350"/>
            <a:ext cx="401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96084856-518E-4ED0-921F-C440A1B06F60}"/>
              </a:ext>
            </a:extLst>
          </p:cNvPr>
          <p:cNvSpPr>
            <a:spLocks noGrp="1"/>
          </p:cNvSpPr>
          <p:nvPr>
            <p:ph type="sldNum" sz="quarter" idx="4"/>
          </p:nvPr>
        </p:nvSpPr>
        <p:spPr>
          <a:xfrm>
            <a:off x="8394700" y="6356350"/>
            <a:ext cx="267493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521C25-45A5-4F7E-820F-6AD96B2AB4BA}" type="slidenum">
              <a:rPr lang="en-CA" smtClean="0"/>
              <a:t>‹#›</a:t>
            </a:fld>
            <a:endParaRPr lang="en-CA"/>
          </a:p>
        </p:txBody>
      </p:sp>
    </p:spTree>
    <p:extLst>
      <p:ext uri="{BB962C8B-B14F-4D97-AF65-F5344CB8AC3E}">
        <p14:creationId xmlns:p14="http://schemas.microsoft.com/office/powerpoint/2010/main" val="3945758643"/>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884" y="228601"/>
            <a:ext cx="11411712" cy="461665"/>
          </a:xfrm>
          <a:prstGeom prst="rect">
            <a:avLst/>
          </a:prstGeom>
        </p:spPr>
        <p:txBody>
          <a:bodyPr vert="horz" wrap="square" lIns="0" tIns="45720" rIns="0" bIns="45720" rtlCol="0" anchor="t" anchorCtr="0">
            <a:spAutoFit/>
          </a:bodyPr>
          <a:lstStyle/>
          <a:p>
            <a:r>
              <a:rPr lang="en-US"/>
              <a:t>Click to edit Master title style</a:t>
            </a:r>
          </a:p>
        </p:txBody>
      </p:sp>
      <p:sp>
        <p:nvSpPr>
          <p:cNvPr id="3" name="Text Placeholder 2"/>
          <p:cNvSpPr>
            <a:spLocks noGrp="1"/>
          </p:cNvSpPr>
          <p:nvPr>
            <p:ph type="body" idx="1"/>
          </p:nvPr>
        </p:nvSpPr>
        <p:spPr>
          <a:xfrm>
            <a:off x="222885" y="1143000"/>
            <a:ext cx="11411712" cy="1892826"/>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477006" y="6473039"/>
            <a:ext cx="4903470" cy="184666"/>
          </a:xfrm>
          <a:prstGeom prst="rect">
            <a:avLst/>
          </a:prstGeom>
        </p:spPr>
        <p:txBody>
          <a:bodyPr vert="horz" lIns="0" tIns="0" rIns="0" bIns="0" rtlCol="0" anchor="b" anchorCtr="0">
            <a:spAutoFit/>
          </a:bodyPr>
          <a:lstStyle>
            <a:lvl1pPr>
              <a:defRPr lang="en-US" sz="1170" smtClean="0">
                <a:solidFill>
                  <a:schemeClr val="tx1"/>
                </a:solidFill>
              </a:defRPr>
            </a:lvl1pPr>
          </a:lstStyle>
          <a:p>
            <a:pPr algn="ctr"/>
            <a:r>
              <a:rPr lang="en-CA"/>
              <a:t>CONFIDENTIAL</a:t>
            </a:r>
          </a:p>
        </p:txBody>
      </p:sp>
      <p:sp>
        <p:nvSpPr>
          <p:cNvPr id="6" name="Slide Number Placeholder 5"/>
          <p:cNvSpPr>
            <a:spLocks noGrp="1"/>
          </p:cNvSpPr>
          <p:nvPr>
            <p:ph type="sldNum" sz="quarter" idx="4"/>
          </p:nvPr>
        </p:nvSpPr>
        <p:spPr>
          <a:xfrm>
            <a:off x="8959976" y="6473039"/>
            <a:ext cx="2674620" cy="184666"/>
          </a:xfrm>
          <a:prstGeom prst="rect">
            <a:avLst/>
          </a:prstGeom>
        </p:spPr>
        <p:txBody>
          <a:bodyPr vert="horz" lIns="0" tIns="0" rIns="0" bIns="0" rtlCol="0" anchor="b" anchorCtr="0">
            <a:spAutoFit/>
          </a:bodyPr>
          <a:lstStyle>
            <a:lvl1pPr algn="r">
              <a:defRPr sz="1170">
                <a:solidFill>
                  <a:schemeClr val="tx1"/>
                </a:solidFill>
              </a:defRPr>
            </a:lvl1pPr>
          </a:lstStyle>
          <a:p>
            <a:fld id="{98834F8B-9DBE-4684-A222-1DB2782FF993}" type="slidenum">
              <a:rPr lang="en-US" smtClean="0"/>
              <a:pPr/>
              <a:t>‹#›</a:t>
            </a:fld>
            <a:endParaRPr lang="en-US"/>
          </a:p>
        </p:txBody>
      </p:sp>
    </p:spTree>
    <p:extLst>
      <p:ext uri="{BB962C8B-B14F-4D97-AF65-F5344CB8AC3E}">
        <p14:creationId xmlns:p14="http://schemas.microsoft.com/office/powerpoint/2010/main" val="1059071167"/>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p:txStyles>
    <p:titleStyle>
      <a:lvl1pPr algn="l" defTabSz="1188662" rtl="0" eaLnBrk="1" latinLnBrk="0" hangingPunct="1">
        <a:lnSpc>
          <a:spcPct val="100000"/>
        </a:lnSpc>
        <a:spcBef>
          <a:spcPct val="0"/>
        </a:spcBef>
        <a:buNone/>
        <a:defRPr sz="2340" b="1" kern="1200" cap="none" baseline="0">
          <a:solidFill>
            <a:schemeClr val="accent5"/>
          </a:solidFill>
          <a:latin typeface="+mj-lt"/>
          <a:ea typeface="+mj-ea"/>
          <a:cs typeface="+mj-cs"/>
        </a:defRPr>
      </a:lvl1pPr>
    </p:titleStyle>
    <p:bodyStyle>
      <a:lvl1pPr marL="0" indent="0" algn="l" defTabSz="1188662" rtl="0" eaLnBrk="1" latinLnBrk="0" hangingPunct="1">
        <a:lnSpc>
          <a:spcPct val="100000"/>
        </a:lnSpc>
        <a:spcBef>
          <a:spcPts val="1170"/>
        </a:spcBef>
        <a:spcAft>
          <a:spcPts val="585"/>
        </a:spcAft>
        <a:buFont typeface="Arial" panose="020B0604020202020204" pitchFamily="34" charset="0"/>
        <a:buNone/>
        <a:defRPr sz="1950" b="0" kern="1200">
          <a:solidFill>
            <a:schemeClr val="accent5"/>
          </a:solidFill>
          <a:latin typeface="+mn-lt"/>
          <a:ea typeface="+mn-ea"/>
          <a:cs typeface="+mn-cs"/>
        </a:defRPr>
      </a:lvl1pPr>
      <a:lvl2pPr marL="222885" indent="-222885" algn="l" defTabSz="1188662" rtl="0" eaLnBrk="1" latinLnBrk="0" hangingPunct="1">
        <a:lnSpc>
          <a:spcPct val="100000"/>
        </a:lnSpc>
        <a:spcBef>
          <a:spcPts val="585"/>
        </a:spcBef>
        <a:spcAft>
          <a:spcPts val="0"/>
        </a:spcAft>
        <a:buClr>
          <a:schemeClr val="tx1"/>
        </a:buClr>
        <a:buFont typeface="Arial" panose="020B0604020202020204" pitchFamily="34" charset="0"/>
        <a:buChar char="•"/>
        <a:tabLst/>
        <a:defRPr sz="1755" kern="1200">
          <a:solidFill>
            <a:schemeClr val="tx1"/>
          </a:solidFill>
          <a:latin typeface="+mn-lt"/>
          <a:ea typeface="+mn-ea"/>
          <a:cs typeface="+mn-cs"/>
        </a:defRPr>
      </a:lvl2pPr>
      <a:lvl3pPr marL="445770" indent="-222885" algn="l" defTabSz="1188662" rtl="0" eaLnBrk="1" latinLnBrk="0" hangingPunct="1">
        <a:lnSpc>
          <a:spcPct val="100000"/>
        </a:lnSpc>
        <a:spcBef>
          <a:spcPts val="585"/>
        </a:spcBef>
        <a:spcAft>
          <a:spcPts val="0"/>
        </a:spcAft>
        <a:buClr>
          <a:schemeClr val="tx1"/>
        </a:buClr>
        <a:buFont typeface="Arial" panose="020B0604020202020204" pitchFamily="34" charset="0"/>
        <a:buChar char="•"/>
        <a:tabLst/>
        <a:defRPr sz="1755" kern="1200">
          <a:solidFill>
            <a:schemeClr val="tx1"/>
          </a:solidFill>
          <a:latin typeface="+mn-lt"/>
          <a:ea typeface="+mn-ea"/>
          <a:cs typeface="+mn-cs"/>
        </a:defRPr>
      </a:lvl3pPr>
      <a:lvl4pPr marL="668655" indent="-222885" algn="l" defTabSz="1188662" rtl="0" eaLnBrk="1" latinLnBrk="0" hangingPunct="1">
        <a:lnSpc>
          <a:spcPct val="100000"/>
        </a:lnSpc>
        <a:spcBef>
          <a:spcPts val="585"/>
        </a:spcBef>
        <a:spcAft>
          <a:spcPts val="0"/>
        </a:spcAft>
        <a:buClr>
          <a:schemeClr val="tx1"/>
        </a:buClr>
        <a:buFont typeface="Arial" panose="020B0604020202020204" pitchFamily="34" charset="0"/>
        <a:buChar char="•"/>
        <a:tabLst/>
        <a:defRPr sz="1755" kern="1200">
          <a:solidFill>
            <a:schemeClr val="tx1"/>
          </a:solidFill>
          <a:latin typeface="+mn-lt"/>
          <a:ea typeface="+mn-ea"/>
          <a:cs typeface="+mn-cs"/>
        </a:defRPr>
      </a:lvl4pPr>
      <a:lvl5pPr marL="891540" indent="-222885" algn="l" defTabSz="1188662" rtl="0" eaLnBrk="1" latinLnBrk="0" hangingPunct="1">
        <a:lnSpc>
          <a:spcPct val="100000"/>
        </a:lnSpc>
        <a:spcBef>
          <a:spcPts val="585"/>
        </a:spcBef>
        <a:spcAft>
          <a:spcPts val="0"/>
        </a:spcAft>
        <a:buClr>
          <a:schemeClr val="tx1"/>
        </a:buClr>
        <a:buFont typeface="Arial" panose="020B0604020202020204" pitchFamily="34" charset="0"/>
        <a:buChar char="•"/>
        <a:tabLst/>
        <a:defRPr sz="1755" kern="1200">
          <a:solidFill>
            <a:schemeClr val="tx1"/>
          </a:solidFill>
          <a:latin typeface="+mn-lt"/>
          <a:ea typeface="+mn-ea"/>
          <a:cs typeface="+mn-cs"/>
        </a:defRPr>
      </a:lvl5pPr>
      <a:lvl6pPr marL="3268816" indent="-297164" algn="l" defTabSz="1188662"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3147" indent="-297164" algn="l" defTabSz="1188662"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7478" indent="-297164" algn="l" defTabSz="1188662"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51807" indent="-297164" algn="l" defTabSz="1188662"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662" rtl="0" eaLnBrk="1" latinLnBrk="0" hangingPunct="1">
        <a:defRPr sz="2340" kern="1200">
          <a:solidFill>
            <a:schemeClr val="tx1"/>
          </a:solidFill>
          <a:latin typeface="+mn-lt"/>
          <a:ea typeface="+mn-ea"/>
          <a:cs typeface="+mn-cs"/>
        </a:defRPr>
      </a:lvl1pPr>
      <a:lvl2pPr marL="594331" algn="l" defTabSz="1188662" rtl="0" eaLnBrk="1" latinLnBrk="0" hangingPunct="1">
        <a:defRPr sz="2340" kern="1200">
          <a:solidFill>
            <a:schemeClr val="tx1"/>
          </a:solidFill>
          <a:latin typeface="+mn-lt"/>
          <a:ea typeface="+mn-ea"/>
          <a:cs typeface="+mn-cs"/>
        </a:defRPr>
      </a:lvl2pPr>
      <a:lvl3pPr marL="1188662" algn="l" defTabSz="1188662" rtl="0" eaLnBrk="1" latinLnBrk="0" hangingPunct="1">
        <a:defRPr sz="2340" kern="1200">
          <a:solidFill>
            <a:schemeClr val="tx1"/>
          </a:solidFill>
          <a:latin typeface="+mn-lt"/>
          <a:ea typeface="+mn-ea"/>
          <a:cs typeface="+mn-cs"/>
        </a:defRPr>
      </a:lvl3pPr>
      <a:lvl4pPr marL="1782991" algn="l" defTabSz="1188662" rtl="0" eaLnBrk="1" latinLnBrk="0" hangingPunct="1">
        <a:defRPr sz="2340" kern="1200">
          <a:solidFill>
            <a:schemeClr val="tx1"/>
          </a:solidFill>
          <a:latin typeface="+mn-lt"/>
          <a:ea typeface="+mn-ea"/>
          <a:cs typeface="+mn-cs"/>
        </a:defRPr>
      </a:lvl4pPr>
      <a:lvl5pPr marL="2377321" algn="l" defTabSz="1188662" rtl="0" eaLnBrk="1" latinLnBrk="0" hangingPunct="1">
        <a:defRPr sz="2340" kern="1200">
          <a:solidFill>
            <a:schemeClr val="tx1"/>
          </a:solidFill>
          <a:latin typeface="+mn-lt"/>
          <a:ea typeface="+mn-ea"/>
          <a:cs typeface="+mn-cs"/>
        </a:defRPr>
      </a:lvl5pPr>
      <a:lvl6pPr marL="2971652" algn="l" defTabSz="1188662" rtl="0" eaLnBrk="1" latinLnBrk="0" hangingPunct="1">
        <a:defRPr sz="2340" kern="1200">
          <a:solidFill>
            <a:schemeClr val="tx1"/>
          </a:solidFill>
          <a:latin typeface="+mn-lt"/>
          <a:ea typeface="+mn-ea"/>
          <a:cs typeface="+mn-cs"/>
        </a:defRPr>
      </a:lvl6pPr>
      <a:lvl7pPr marL="3565983" algn="l" defTabSz="1188662" rtl="0" eaLnBrk="1" latinLnBrk="0" hangingPunct="1">
        <a:defRPr sz="2340" kern="1200">
          <a:solidFill>
            <a:schemeClr val="tx1"/>
          </a:solidFill>
          <a:latin typeface="+mn-lt"/>
          <a:ea typeface="+mn-ea"/>
          <a:cs typeface="+mn-cs"/>
        </a:defRPr>
      </a:lvl7pPr>
      <a:lvl8pPr marL="4160312" algn="l" defTabSz="1188662" rtl="0" eaLnBrk="1" latinLnBrk="0" hangingPunct="1">
        <a:defRPr sz="2340" kern="1200">
          <a:solidFill>
            <a:schemeClr val="tx1"/>
          </a:solidFill>
          <a:latin typeface="+mn-lt"/>
          <a:ea typeface="+mn-ea"/>
          <a:cs typeface="+mn-cs"/>
        </a:defRPr>
      </a:lvl8pPr>
      <a:lvl9pPr marL="4754643" algn="l" defTabSz="1188662" rtl="0" eaLnBrk="1" latinLnBrk="0" hangingPunct="1">
        <a:defRPr sz="23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152">
          <p15:clr>
            <a:srgbClr val="F26B43"/>
          </p15:clr>
        </p15:guide>
        <p15:guide id="4" pos="7526">
          <p15:clr>
            <a:srgbClr val="F26B43"/>
          </p15:clr>
        </p15:guide>
        <p15:guide id="5" orient="horz" pos="144">
          <p15:clr>
            <a:srgbClr val="F26B43"/>
          </p15:clr>
        </p15:guide>
        <p15:guide id="6" orient="horz" pos="4176">
          <p15:clr>
            <a:srgbClr val="F26B43"/>
          </p15:clr>
        </p15:guide>
        <p15:guide id="8" pos="3696">
          <p15:clr>
            <a:srgbClr val="F26B43"/>
          </p15:clr>
        </p15:guide>
        <p15:guide id="9" pos="3984">
          <p15:clr>
            <a:srgbClr val="F26B43"/>
          </p15:clr>
        </p15:guide>
        <p15:guide id="10" orient="horz" pos="3744">
          <p15:clr>
            <a:srgbClr val="F26B43"/>
          </p15:clr>
        </p15:guide>
        <p15:guide id="11" orient="horz" pos="720">
          <p15:clr>
            <a:srgbClr val="F26B43"/>
          </p15:clr>
        </p15:guide>
        <p15:guide id="12" pos="2540">
          <p15:clr>
            <a:srgbClr val="F26B43"/>
          </p15:clr>
        </p15:guide>
        <p15:guide id="13" pos="272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slide" Target="slide8.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hyperlink" Target="mailto:servicedesk@transunion.ca" TargetMode="External"/><Relationship Id="rId3" Type="http://schemas.openxmlformats.org/officeDocument/2006/relationships/hyperlink" Target="mailto:Mailbox.ECIFBaseEssential@cibc.com" TargetMode="External"/><Relationship Id="rId7" Type="http://schemas.openxmlformats.org/officeDocument/2006/relationships/hyperlink" Target="mailto:Sabri.Madaoui@Sagen.ca"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mailto:ken.plowman@canadaguaranty.ca" TargetMode="External"/><Relationship Id="rId5" Type="http://schemas.openxmlformats.org/officeDocument/2006/relationships/hyperlink" Target="mailto:AdeshKumar.Bhati@CIBC.com" TargetMode="External"/><Relationship Id="rId4" Type="http://schemas.openxmlformats.org/officeDocument/2006/relationships/hyperlink" Target="mailto:harish1.kumar@cibc.com"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hyperlink" Target="mailto:servicedesk@transunion.ca" TargetMode="External"/><Relationship Id="rId3" Type="http://schemas.openxmlformats.org/officeDocument/2006/relationships/hyperlink" Target="mailto:Mailbox.ECIFBaseEssential@cibc.com" TargetMode="External"/><Relationship Id="rId7" Type="http://schemas.openxmlformats.org/officeDocument/2006/relationships/hyperlink" Target="mailto:Sabri.Madaoui@Sagen.ca"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hyperlink" Target="mailto:ken.plowman@canadaguaranty.ca" TargetMode="External"/><Relationship Id="rId5" Type="http://schemas.openxmlformats.org/officeDocument/2006/relationships/hyperlink" Target="mailto:AdeshKumar.Bhati@CIBC.com" TargetMode="External"/><Relationship Id="rId4" Type="http://schemas.openxmlformats.org/officeDocument/2006/relationships/hyperlink" Target="mailto:harish1.kumar@cibc.com"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7.sv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7.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8" Type="http://schemas.openxmlformats.org/officeDocument/2006/relationships/hyperlink" Target="mailto:Sabri.Madaoui@Sagen.ca" TargetMode="External"/><Relationship Id="rId3" Type="http://schemas.openxmlformats.org/officeDocument/2006/relationships/hyperlink" Target="mailto:Mailbox.ECIFBaseEssential@cibc.com" TargetMode="External"/><Relationship Id="rId7" Type="http://schemas.openxmlformats.org/officeDocument/2006/relationships/hyperlink" Target="mailto:applicationhotline@sagen.ca"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hyperlink" Target="mailto:ken.plowman@canadaguaranty.ca" TargetMode="External"/><Relationship Id="rId5" Type="http://schemas.openxmlformats.org/officeDocument/2006/relationships/hyperlink" Target="mailto:AdeshKumar.Bhati@CIBC.com" TargetMode="External"/><Relationship Id="rId4" Type="http://schemas.openxmlformats.org/officeDocument/2006/relationships/hyperlink" Target="mailto:harish1.kumar@cibc.com" TargetMode="External"/><Relationship Id="rId9" Type="http://schemas.openxmlformats.org/officeDocument/2006/relationships/hyperlink" Target="mailto:servicedesk@transunion.ca" TargetMode="Externa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004878B0-0E12-46AF-A99E-E15E38D651C3}"/>
              </a:ext>
            </a:extLst>
          </p:cNvPr>
          <p:cNvSpPr txBox="1">
            <a:spLocks/>
          </p:cNvSpPr>
          <p:nvPr/>
        </p:nvSpPr>
        <p:spPr>
          <a:xfrm>
            <a:off x="117633" y="100566"/>
            <a:ext cx="11292840" cy="553998"/>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US" altLang="en-US"/>
              <a:t>CB&amp;PT Release Management Status </a:t>
            </a:r>
            <a:endParaRPr lang="en-CA"/>
          </a:p>
        </p:txBody>
      </p:sp>
      <p:sp>
        <p:nvSpPr>
          <p:cNvPr id="32" name="Subtitle 2">
            <a:extLst>
              <a:ext uri="{FF2B5EF4-FFF2-40B4-BE49-F238E27FC236}">
                <a16:creationId xmlns:a16="http://schemas.microsoft.com/office/drawing/2014/main" id="{765EE408-3772-4DDA-B7E3-8AE7EAF7B75A}"/>
              </a:ext>
            </a:extLst>
          </p:cNvPr>
          <p:cNvSpPr txBox="1">
            <a:spLocks/>
          </p:cNvSpPr>
          <p:nvPr/>
        </p:nvSpPr>
        <p:spPr>
          <a:xfrm>
            <a:off x="117633" y="564947"/>
            <a:ext cx="11292840" cy="369332"/>
          </a:xfrm>
          <a:prstGeom prst="rect">
            <a:avLst/>
          </a:prstGeom>
        </p:spPr>
        <p:txBody>
          <a:bodyPr vert="horz" lIns="0" tIns="0" rIns="0" bIns="0" rtlCol="0" anchor="t">
            <a:spAutoFit/>
          </a:bodyPr>
          <a:lstStyle>
            <a:lvl1pPr marL="0" indent="0" algn="l" defTabSz="914400" rtl="0" eaLnBrk="1" latinLnBrk="0" hangingPunct="1">
              <a:spcBef>
                <a:spcPts val="600"/>
              </a:spcBef>
              <a:spcAft>
                <a:spcPts val="600"/>
              </a:spcAft>
              <a:buFont typeface="Arial" panose="020B0604020202020204" pitchFamily="34" charset="0"/>
              <a:buNone/>
              <a:defRPr sz="2000" b="1" kern="1200">
                <a:solidFill>
                  <a:schemeClr val="accent6"/>
                </a:solidFill>
                <a:latin typeface="+mn-lt"/>
                <a:ea typeface="+mn-ea"/>
                <a:cs typeface="+mn-cs"/>
              </a:defRPr>
            </a:lvl1pPr>
            <a:lvl2pPr marL="228600" indent="-228600"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2pPr>
            <a:lvl3pPr marL="457200" indent="-22383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3pPr>
            <a:lvl4pPr marL="685800" indent="-231775"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4pPr>
            <a:lvl5pPr marL="915988" indent="-23018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CA" sz="2400"/>
              <a:t>Executive Summary</a:t>
            </a:r>
          </a:p>
        </p:txBody>
      </p:sp>
      <p:graphicFrame>
        <p:nvGraphicFramePr>
          <p:cNvPr id="48" name="Table 2">
            <a:extLst>
              <a:ext uri="{FF2B5EF4-FFF2-40B4-BE49-F238E27FC236}">
                <a16:creationId xmlns:a16="http://schemas.microsoft.com/office/drawing/2014/main" id="{8A7EFDE5-A566-4E38-B9EA-0BE1AAC36ACE}"/>
              </a:ext>
            </a:extLst>
          </p:cNvPr>
          <p:cNvGraphicFramePr>
            <a:graphicFrameLocks noGrp="1"/>
          </p:cNvGraphicFramePr>
          <p:nvPr>
            <p:extLst>
              <p:ext uri="{D42A27DB-BD31-4B8C-83A1-F6EECF244321}">
                <p14:modId xmlns:p14="http://schemas.microsoft.com/office/powerpoint/2010/main" val="4224049886"/>
              </p:ext>
            </p:extLst>
          </p:nvPr>
        </p:nvGraphicFramePr>
        <p:xfrm>
          <a:off x="6344984" y="671732"/>
          <a:ext cx="4702235" cy="243840"/>
        </p:xfrm>
        <a:graphic>
          <a:graphicData uri="http://schemas.openxmlformats.org/drawingml/2006/table">
            <a:tbl>
              <a:tblPr firstRow="1" bandRow="1">
                <a:tableStyleId>{5940675A-B579-460E-94D1-54222C63F5DA}</a:tableStyleId>
              </a:tblPr>
              <a:tblGrid>
                <a:gridCol w="226662">
                  <a:extLst>
                    <a:ext uri="{9D8B030D-6E8A-4147-A177-3AD203B41FA5}">
                      <a16:colId xmlns:a16="http://schemas.microsoft.com/office/drawing/2014/main" val="2552748061"/>
                    </a:ext>
                  </a:extLst>
                </a:gridCol>
                <a:gridCol w="497989">
                  <a:extLst>
                    <a:ext uri="{9D8B030D-6E8A-4147-A177-3AD203B41FA5}">
                      <a16:colId xmlns:a16="http://schemas.microsoft.com/office/drawing/2014/main" val="2949818358"/>
                    </a:ext>
                  </a:extLst>
                </a:gridCol>
                <a:gridCol w="226662">
                  <a:extLst>
                    <a:ext uri="{9D8B030D-6E8A-4147-A177-3AD203B41FA5}">
                      <a16:colId xmlns:a16="http://schemas.microsoft.com/office/drawing/2014/main" val="3768384043"/>
                    </a:ext>
                  </a:extLst>
                </a:gridCol>
                <a:gridCol w="746984">
                  <a:extLst>
                    <a:ext uri="{9D8B030D-6E8A-4147-A177-3AD203B41FA5}">
                      <a16:colId xmlns:a16="http://schemas.microsoft.com/office/drawing/2014/main" val="3673821677"/>
                    </a:ext>
                  </a:extLst>
                </a:gridCol>
                <a:gridCol w="226662">
                  <a:extLst>
                    <a:ext uri="{9D8B030D-6E8A-4147-A177-3AD203B41FA5}">
                      <a16:colId xmlns:a16="http://schemas.microsoft.com/office/drawing/2014/main" val="1380191459"/>
                    </a:ext>
                  </a:extLst>
                </a:gridCol>
                <a:gridCol w="746984">
                  <a:extLst>
                    <a:ext uri="{9D8B030D-6E8A-4147-A177-3AD203B41FA5}">
                      <a16:colId xmlns:a16="http://schemas.microsoft.com/office/drawing/2014/main" val="2784429797"/>
                    </a:ext>
                  </a:extLst>
                </a:gridCol>
                <a:gridCol w="226662">
                  <a:extLst>
                    <a:ext uri="{9D8B030D-6E8A-4147-A177-3AD203B41FA5}">
                      <a16:colId xmlns:a16="http://schemas.microsoft.com/office/drawing/2014/main" val="906539283"/>
                    </a:ext>
                  </a:extLst>
                </a:gridCol>
                <a:gridCol w="746984">
                  <a:extLst>
                    <a:ext uri="{9D8B030D-6E8A-4147-A177-3AD203B41FA5}">
                      <a16:colId xmlns:a16="http://schemas.microsoft.com/office/drawing/2014/main" val="2265317318"/>
                    </a:ext>
                  </a:extLst>
                </a:gridCol>
                <a:gridCol w="226662">
                  <a:extLst>
                    <a:ext uri="{9D8B030D-6E8A-4147-A177-3AD203B41FA5}">
                      <a16:colId xmlns:a16="http://schemas.microsoft.com/office/drawing/2014/main" val="4095293917"/>
                    </a:ext>
                  </a:extLst>
                </a:gridCol>
                <a:gridCol w="482610">
                  <a:extLst>
                    <a:ext uri="{9D8B030D-6E8A-4147-A177-3AD203B41FA5}">
                      <a16:colId xmlns:a16="http://schemas.microsoft.com/office/drawing/2014/main" val="2870471116"/>
                    </a:ext>
                  </a:extLst>
                </a:gridCol>
                <a:gridCol w="347374">
                  <a:extLst>
                    <a:ext uri="{9D8B030D-6E8A-4147-A177-3AD203B41FA5}">
                      <a16:colId xmlns:a16="http://schemas.microsoft.com/office/drawing/2014/main" val="1409038864"/>
                    </a:ext>
                  </a:extLst>
                </a:gridCol>
              </a:tblGrid>
              <a:tr h="182880">
                <a:tc>
                  <a:txBody>
                    <a:bodyPr/>
                    <a:lstStyle/>
                    <a:p>
                      <a:pPr algn="ctr"/>
                      <a:r>
                        <a:rPr lang="en-CA" sz="500" b="1">
                          <a:solidFill>
                            <a:schemeClr val="bg1"/>
                          </a:solidFill>
                        </a:rPr>
                        <a:t>N</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l"/>
                      <a:r>
                        <a:rPr lang="en-CA" sz="500">
                          <a:solidFill>
                            <a:schemeClr val="tx1"/>
                          </a:solidFill>
                        </a:rPr>
                        <a:t>Not Started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solidFill>
                            <a:schemeClr val="bg1"/>
                          </a:solidFill>
                        </a:rPr>
                        <a:t>G</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l"/>
                      <a:r>
                        <a:rPr lang="en-CA" sz="500">
                          <a:solidFill>
                            <a:schemeClr val="tx1"/>
                          </a:solidFill>
                        </a:rPr>
                        <a:t>In Progress, On Track</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t>Y</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l"/>
                      <a:r>
                        <a:rPr lang="en-CA" sz="500">
                          <a:solidFill>
                            <a:schemeClr val="tx1"/>
                          </a:solidFill>
                        </a:rPr>
                        <a:t>May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solidFill>
                            <a:schemeClr val="bg1"/>
                          </a:solidFill>
                        </a:rPr>
                        <a:t>R</a:t>
                      </a:r>
                      <a:endParaRPr lang="en-US" sz="5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l"/>
                      <a:r>
                        <a:rPr lang="en-CA" sz="500">
                          <a:solidFill>
                            <a:schemeClr val="tx1"/>
                          </a:solidFill>
                        </a:rPr>
                        <a:t>Will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t>C</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500">
                          <a:solidFill>
                            <a:schemeClr val="tx1"/>
                          </a:solidFill>
                        </a:rPr>
                        <a:t>Complete</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pic>
        <p:nvPicPr>
          <p:cNvPr id="4" name="Picture 3">
            <a:extLst>
              <a:ext uri="{FF2B5EF4-FFF2-40B4-BE49-F238E27FC236}">
                <a16:creationId xmlns:a16="http://schemas.microsoft.com/office/drawing/2014/main" id="{41D32A65-A2F9-4C54-BA12-6800600C30AB}"/>
              </a:ext>
            </a:extLst>
          </p:cNvPr>
          <p:cNvPicPr>
            <a:picLocks noChangeAspect="1"/>
          </p:cNvPicPr>
          <p:nvPr/>
        </p:nvPicPr>
        <p:blipFill>
          <a:blip r:embed="rId3"/>
          <a:stretch>
            <a:fillRect/>
          </a:stretch>
        </p:blipFill>
        <p:spPr>
          <a:xfrm>
            <a:off x="42415" y="6153150"/>
            <a:ext cx="1314450" cy="704850"/>
          </a:xfrm>
          <a:prstGeom prst="rect">
            <a:avLst/>
          </a:prstGeom>
        </p:spPr>
      </p:pic>
      <p:pic>
        <p:nvPicPr>
          <p:cNvPr id="1026" name="Picture 3" descr="CIBC">
            <a:extLst>
              <a:ext uri="{FF2B5EF4-FFF2-40B4-BE49-F238E27FC236}">
                <a16:creationId xmlns:a16="http://schemas.microsoft.com/office/drawing/2014/main" id="{91BB53BC-C489-4D49-8CFF-57BC9D69DA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15" y="6612374"/>
            <a:ext cx="8858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D9D7B58A-2895-486D-9275-687067B2F703}"/>
              </a:ext>
            </a:extLst>
          </p:cNvPr>
          <p:cNvSpPr txBox="1"/>
          <p:nvPr/>
        </p:nvSpPr>
        <p:spPr>
          <a:xfrm>
            <a:off x="8778240" y="235241"/>
            <a:ext cx="1903314" cy="307777"/>
          </a:xfrm>
          <a:prstGeom prst="rect">
            <a:avLst/>
          </a:prstGeom>
          <a:noFill/>
        </p:spPr>
        <p:txBody>
          <a:bodyPr wrap="square" rtlCol="0">
            <a:spAutoFit/>
          </a:bodyPr>
          <a:lstStyle/>
          <a:p>
            <a:pPr algn="r"/>
            <a:r>
              <a:rPr lang="en-CA" sz="1400"/>
              <a:t>Oct 09, 2025</a:t>
            </a:r>
            <a:endParaRPr lang="en-US" sz="1400"/>
          </a:p>
        </p:txBody>
      </p:sp>
      <p:graphicFrame>
        <p:nvGraphicFramePr>
          <p:cNvPr id="7" name="Table 6">
            <a:extLst>
              <a:ext uri="{FF2B5EF4-FFF2-40B4-BE49-F238E27FC236}">
                <a16:creationId xmlns:a16="http://schemas.microsoft.com/office/drawing/2014/main" id="{52F21774-4156-2D12-1B27-D3B8F3C15E54}"/>
              </a:ext>
            </a:extLst>
          </p:cNvPr>
          <p:cNvGraphicFramePr>
            <a:graphicFrameLocks noGrp="1"/>
          </p:cNvGraphicFramePr>
          <p:nvPr>
            <p:extLst>
              <p:ext uri="{D42A27DB-BD31-4B8C-83A1-F6EECF244321}">
                <p14:modId xmlns:p14="http://schemas.microsoft.com/office/powerpoint/2010/main" val="3517939553"/>
              </p:ext>
            </p:extLst>
          </p:nvPr>
        </p:nvGraphicFramePr>
        <p:xfrm>
          <a:off x="130252" y="1393503"/>
          <a:ext cx="11626696" cy="1509196"/>
        </p:xfrm>
        <a:graphic>
          <a:graphicData uri="http://schemas.openxmlformats.org/drawingml/2006/table">
            <a:tbl>
              <a:tblPr/>
              <a:tblGrid>
                <a:gridCol w="1013152">
                  <a:extLst>
                    <a:ext uri="{9D8B030D-6E8A-4147-A177-3AD203B41FA5}">
                      <a16:colId xmlns:a16="http://schemas.microsoft.com/office/drawing/2014/main" val="542770605"/>
                    </a:ext>
                  </a:extLst>
                </a:gridCol>
                <a:gridCol w="591886">
                  <a:extLst>
                    <a:ext uri="{9D8B030D-6E8A-4147-A177-3AD203B41FA5}">
                      <a16:colId xmlns:a16="http://schemas.microsoft.com/office/drawing/2014/main" val="721424745"/>
                    </a:ext>
                  </a:extLst>
                </a:gridCol>
                <a:gridCol w="557555">
                  <a:extLst>
                    <a:ext uri="{9D8B030D-6E8A-4147-A177-3AD203B41FA5}">
                      <a16:colId xmlns:a16="http://schemas.microsoft.com/office/drawing/2014/main" val="2980709361"/>
                    </a:ext>
                  </a:extLst>
                </a:gridCol>
                <a:gridCol w="557555">
                  <a:extLst>
                    <a:ext uri="{9D8B030D-6E8A-4147-A177-3AD203B41FA5}">
                      <a16:colId xmlns:a16="http://schemas.microsoft.com/office/drawing/2014/main" val="4189054838"/>
                    </a:ext>
                  </a:extLst>
                </a:gridCol>
                <a:gridCol w="557555">
                  <a:extLst>
                    <a:ext uri="{9D8B030D-6E8A-4147-A177-3AD203B41FA5}">
                      <a16:colId xmlns:a16="http://schemas.microsoft.com/office/drawing/2014/main" val="1947436398"/>
                    </a:ext>
                  </a:extLst>
                </a:gridCol>
                <a:gridCol w="520386">
                  <a:extLst>
                    <a:ext uri="{9D8B030D-6E8A-4147-A177-3AD203B41FA5}">
                      <a16:colId xmlns:a16="http://schemas.microsoft.com/office/drawing/2014/main" val="3671164612"/>
                    </a:ext>
                  </a:extLst>
                </a:gridCol>
                <a:gridCol w="520386">
                  <a:extLst>
                    <a:ext uri="{9D8B030D-6E8A-4147-A177-3AD203B41FA5}">
                      <a16:colId xmlns:a16="http://schemas.microsoft.com/office/drawing/2014/main" val="4223143478"/>
                    </a:ext>
                  </a:extLst>
                </a:gridCol>
                <a:gridCol w="520386">
                  <a:extLst>
                    <a:ext uri="{9D8B030D-6E8A-4147-A177-3AD203B41FA5}">
                      <a16:colId xmlns:a16="http://schemas.microsoft.com/office/drawing/2014/main" val="1140894372"/>
                    </a:ext>
                  </a:extLst>
                </a:gridCol>
                <a:gridCol w="520386">
                  <a:extLst>
                    <a:ext uri="{9D8B030D-6E8A-4147-A177-3AD203B41FA5}">
                      <a16:colId xmlns:a16="http://schemas.microsoft.com/office/drawing/2014/main" val="159804669"/>
                    </a:ext>
                  </a:extLst>
                </a:gridCol>
                <a:gridCol w="520386">
                  <a:extLst>
                    <a:ext uri="{9D8B030D-6E8A-4147-A177-3AD203B41FA5}">
                      <a16:colId xmlns:a16="http://schemas.microsoft.com/office/drawing/2014/main" val="1706997556"/>
                    </a:ext>
                  </a:extLst>
                </a:gridCol>
                <a:gridCol w="966433">
                  <a:extLst>
                    <a:ext uri="{9D8B030D-6E8A-4147-A177-3AD203B41FA5}">
                      <a16:colId xmlns:a16="http://schemas.microsoft.com/office/drawing/2014/main" val="1630437860"/>
                    </a:ext>
                  </a:extLst>
                </a:gridCol>
                <a:gridCol w="520386">
                  <a:extLst>
                    <a:ext uri="{9D8B030D-6E8A-4147-A177-3AD203B41FA5}">
                      <a16:colId xmlns:a16="http://schemas.microsoft.com/office/drawing/2014/main" val="1549931440"/>
                    </a:ext>
                  </a:extLst>
                </a:gridCol>
                <a:gridCol w="520386">
                  <a:extLst>
                    <a:ext uri="{9D8B030D-6E8A-4147-A177-3AD203B41FA5}">
                      <a16:colId xmlns:a16="http://schemas.microsoft.com/office/drawing/2014/main" val="3188408529"/>
                    </a:ext>
                  </a:extLst>
                </a:gridCol>
                <a:gridCol w="1598330">
                  <a:extLst>
                    <a:ext uri="{9D8B030D-6E8A-4147-A177-3AD203B41FA5}">
                      <a16:colId xmlns:a16="http://schemas.microsoft.com/office/drawing/2014/main" val="4128971172"/>
                    </a:ext>
                  </a:extLst>
                </a:gridCol>
                <a:gridCol w="520386">
                  <a:extLst>
                    <a:ext uri="{9D8B030D-6E8A-4147-A177-3AD203B41FA5}">
                      <a16:colId xmlns:a16="http://schemas.microsoft.com/office/drawing/2014/main" val="55428124"/>
                    </a:ext>
                  </a:extLst>
                </a:gridCol>
                <a:gridCol w="1621142">
                  <a:extLst>
                    <a:ext uri="{9D8B030D-6E8A-4147-A177-3AD203B41FA5}">
                      <a16:colId xmlns:a16="http://schemas.microsoft.com/office/drawing/2014/main" val="2501393197"/>
                    </a:ext>
                  </a:extLst>
                </a:gridCol>
              </a:tblGrid>
              <a:tr h="23798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200" b="1" i="0" u="none" strike="noStrike">
                          <a:solidFill>
                            <a:schemeClr val="tx1"/>
                          </a:solidFill>
                          <a:effectLst/>
                          <a:latin typeface="Trebuchet MS"/>
                        </a:rPr>
                        <a:t>W</a:t>
                      </a:r>
                    </a:p>
                  </a:txBody>
                  <a:tcPr marL="9525" marR="9525" marT="8659"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l" defTabSz="914400" rtl="0" eaLnBrk="1" fontAlgn="ctr" latinLnBrk="0" hangingPunct="1"/>
                      <a:r>
                        <a:rPr lang="en-US" sz="1200" b="1" i="0" u="none" strike="noStrike" kern="1200">
                          <a:solidFill>
                            <a:srgbClr val="C00000"/>
                          </a:solidFill>
                          <a:effectLst/>
                          <a:latin typeface="Calibri" panose="020F0502020204030204"/>
                          <a:ea typeface="+mn-ea"/>
                          <a:cs typeface="+mn-cs"/>
                        </a:rPr>
                        <a:t>Core Banking - (Sep 21, 2025)</a:t>
                      </a:r>
                    </a:p>
                  </a:txBody>
                  <a:tcPr marL="114300" marR="9525" marT="41564" marB="41564"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endParaRPr lang="en-US" sz="1000" kern="1200">
                        <a:solidFill>
                          <a:srgbClr val="000000"/>
                        </a:solidFill>
                        <a:latin typeface="+mn-lt"/>
                        <a:ea typeface="+mn-ea"/>
                        <a:cs typeface="+mn-cs"/>
                      </a:endParaRPr>
                    </a:p>
                  </a:txBody>
                  <a:tcPr marL="9525" marR="114300" marT="41564" marB="41564" anchor="ctr">
                    <a:lnL w="12700" cap="flat" cmpd="sng" algn="ctr">
                      <a:solidFill>
                        <a:schemeClr val="tx1">
                          <a:lumMod val="65000"/>
                          <a:lumOff val="35000"/>
                        </a:schemeClr>
                      </a:solidFill>
                      <a:prstDash val="solid"/>
                      <a:round/>
                      <a:headEnd type="none" w="med" len="med"/>
                      <a:tailEnd type="none" w="med" len="med"/>
                    </a:lnL>
                    <a:lnR>
                      <a:noFill/>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R w="9525" cap="flat" cmpd="sng" algn="ctr">
                      <a:no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L>
                      <a:noFill/>
                    </a:lnL>
                    <a:lnR w="9525" cap="flat" cmpd="sng" algn="ctr">
                      <a:no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7013967"/>
                  </a:ext>
                </a:extLst>
              </a:tr>
              <a:tr h="182734">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r>
                        <a:rPr lang="en-US" sz="1000" b="1" i="0" u="none" strike="noStrike">
                          <a:solidFill>
                            <a:srgbClr val="000000"/>
                          </a:solidFill>
                          <a:effectLst/>
                          <a:latin typeface="Trebuchet MS"/>
                        </a:rPr>
                        <a:t>Phase:</a:t>
                      </a: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REQ</a:t>
                      </a:r>
                      <a:endParaRPr lang="en-US" sz="900" b="1" i="0" u="none" strike="noStrike">
                        <a:solidFill>
                          <a:srgbClr val="000000"/>
                        </a:solidFill>
                        <a:effectLst/>
                        <a:latin typeface="Trebuchet MS"/>
                      </a:endParaRP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DES</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CON</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DIT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SIT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UAT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PAT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INFRA</a:t>
                      </a:r>
                      <a:endParaRPr lang="en-US" sz="900" b="1" i="0" u="none" strike="noStrike">
                        <a:solidFill>
                          <a:srgbClr val="000000"/>
                        </a:solidFill>
                        <a:effectLst/>
                        <a:latin typeface="Trebuchet MS"/>
                      </a:endParaRPr>
                    </a:p>
                  </a:txBody>
                  <a:tcPr marL="9525" marR="9525" marT="27432" marB="27432" anchor="ctr">
                    <a:lnL>
                      <a:noFill/>
                    </a:lnL>
                    <a:lnR w="6350"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C/F </a:t>
                      </a:r>
                    </a:p>
                  </a:txBody>
                  <a:tcPr marL="9525" marR="9525" marT="27432" marB="27432" anchor="ctr">
                    <a:lnL>
                      <a:noFill/>
                    </a:lnL>
                    <a:lnR w="12700" cap="flat" cmpd="sng" algn="ctr">
                      <a:solidFill>
                        <a:srgbClr val="E7E6E6">
                          <a:lumMod val="75000"/>
                        </a:srgb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1000" b="1" i="0" u="none" strike="noStrike">
                          <a:solidFill>
                            <a:srgbClr val="000000"/>
                          </a:solidFill>
                          <a:effectLst/>
                          <a:latin typeface="Trebuchet MS"/>
                        </a:rPr>
                        <a:t>Scope:</a:t>
                      </a:r>
                    </a:p>
                  </a:txBody>
                  <a:tcPr marL="9525" marR="9525" marT="27432" marB="27432" anchor="ctr">
                    <a:lnL w="12700" cap="flat" cmpd="sng" algn="ctr">
                      <a:solidFill>
                        <a:srgbClr val="E7E6E6">
                          <a:lumMod val="75000"/>
                        </a:srgb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000" b="1" i="0" u="none" strike="noStrike">
                          <a:solidFill>
                            <a:srgbClr val="C00000"/>
                          </a:solidFill>
                          <a:effectLst/>
                          <a:latin typeface="Trebuchet MS"/>
                        </a:rPr>
                        <a:t>71</a:t>
                      </a:r>
                      <a:endParaRPr lang="en-US" sz="1000" b="1" i="0" u="none" strike="noStrike">
                        <a:solidFill>
                          <a:srgbClr val="C00000"/>
                        </a:solidFill>
                        <a:effectLst/>
                        <a:latin typeface="Trebuchet MS"/>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37</a:t>
                      </a:r>
                      <a:endParaRPr lang="en-US" sz="900" b="1" i="0" u="none" strike="noStrike">
                        <a:solidFill>
                          <a:srgbClr val="000000"/>
                        </a:solidFill>
                        <a:effectLst/>
                        <a:latin typeface="Trebuchet MS"/>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a:solidFill>
                            <a:srgbClr val="000000"/>
                          </a:solidFill>
                          <a:effectLst/>
                          <a:latin typeface="Trebuchet MS"/>
                        </a:rPr>
                        <a:t>Projects &amp; MOPs</a:t>
                      </a:r>
                    </a:p>
                  </a:txBody>
                  <a:tcPr marL="114300" marR="9525" marT="27432" marB="27432"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CA" sz="900" b="1" i="0" u="none" strike="noStrike">
                          <a:solidFill>
                            <a:srgbClr val="000000"/>
                          </a:solidFill>
                          <a:effectLst/>
                          <a:latin typeface="Trebuchet MS"/>
                        </a:rPr>
                        <a:t>8</a:t>
                      </a:r>
                      <a:endParaRPr lang="en-US" sz="900" b="1" i="0" u="none" strike="noStrike">
                        <a:solidFill>
                          <a:srgbClr val="000000"/>
                        </a:solidFill>
                        <a:effectLst/>
                        <a:latin typeface="Trebuchet MS"/>
                      </a:endParaRPr>
                    </a:p>
                  </a:txBody>
                  <a:tcPr marL="114300" marR="9525" marT="27432" marB="27432"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kern="1200">
                          <a:solidFill>
                            <a:srgbClr val="000000"/>
                          </a:solidFill>
                          <a:effectLst/>
                          <a:latin typeface="Trebuchet MS"/>
                          <a:ea typeface="+mn-ea"/>
                          <a:cs typeface="+mn-cs"/>
                        </a:rPr>
                        <a:t>Regulatory</a:t>
                      </a:r>
                    </a:p>
                  </a:txBody>
                  <a:tcPr marL="114300" marR="9525" marT="27432" marB="27432"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6548466"/>
                  </a:ext>
                </a:extLst>
              </a:tr>
              <a:tr h="54087">
                <a:tc vMerge="1">
                  <a:txBody>
                    <a:bodyPr/>
                    <a:lstStyle/>
                    <a:p>
                      <a:endParaRPr lang="en-US"/>
                    </a:p>
                  </a:txBody>
                  <a:tcPr>
                    <a:lnT w="12700" cmpd="sng">
                      <a:noFill/>
                      <a:prstDash val="solid"/>
                    </a:lnT>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chemeClr val="tx1"/>
                          </a:solidFill>
                          <a:effectLst/>
                          <a:latin typeface="Trebuchet MS"/>
                        </a:rPr>
                        <a:t>C</a:t>
                      </a:r>
                      <a:endParaRPr lang="en-US" sz="900" b="1" i="0" u="none" strike="noStrike">
                        <a:solidFill>
                          <a:schemeClr val="tx1"/>
                        </a:solidFill>
                        <a:effectLst/>
                        <a:latin typeface="Trebuchet MS"/>
                      </a:endParaRPr>
                    </a:p>
                  </a:txBody>
                  <a:tcPr marL="9525" marR="9525" marT="8659" marB="0" anchor="ctr">
                    <a:lnL w="12700" cap="flat" cmpd="sng" algn="ctr">
                      <a:solidFill>
                        <a:schemeClr val="tx1">
                          <a:lumMod val="65000"/>
                          <a:lumOff val="35000"/>
                        </a:schemeClr>
                      </a:solidFill>
                      <a:prstDash val="solid"/>
                      <a:round/>
                      <a:headEnd type="none" w="med" len="med"/>
                      <a:tailEnd type="none" w="med" len="me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w="6350"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w="12700" cap="flat" cmpd="sng" algn="ctr">
                      <a:solidFill>
                        <a:srgbClr val="E7E6E6">
                          <a:lumMod val="75000"/>
                        </a:srgb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vMerge="1">
                  <a:txBody>
                    <a:bodyPr/>
                    <a:lstStyle/>
                    <a:p>
                      <a:endParaRPr lang="en-US"/>
                    </a:p>
                  </a:txBody>
                  <a:tcPr>
                    <a:lnT w="6350" cap="flat" cmpd="sng" algn="ctr">
                      <a:solidFill>
                        <a:srgbClr val="000000"/>
                      </a:solidFill>
                      <a:prstDash val="solid"/>
                      <a:round/>
                      <a:headEnd type="none" w="med" len="med"/>
                      <a:tailEnd type="none" w="med" len="med"/>
                    </a:lnT>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34</a:t>
                      </a:r>
                    </a:p>
                  </a:txBody>
                  <a:tcPr marL="9525" marR="9525" marT="27432" marB="27432" anchor="ctr">
                    <a:lnL w="12700" cmpd="sng">
                      <a:noFill/>
                      <a:prstDash val="soli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a:solidFill>
                            <a:srgbClr val="000000"/>
                          </a:solidFill>
                          <a:effectLst/>
                          <a:latin typeface="Trebuchet MS"/>
                        </a:rPr>
                        <a:t>PRBs/INCs/Others</a:t>
                      </a:r>
                    </a:p>
                  </a:txBody>
                  <a:tcPr marL="114300" marR="9525" marT="27432" marB="27432"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CA" sz="900" b="1" i="0" u="none" strike="noStrike">
                          <a:solidFill>
                            <a:srgbClr val="000000"/>
                          </a:solidFill>
                          <a:effectLst/>
                          <a:latin typeface="Trebuchet MS"/>
                        </a:rPr>
                        <a:t>4</a:t>
                      </a:r>
                      <a:endParaRPr lang="en-US" sz="900" b="1" i="0" u="none" strike="noStrike">
                        <a:solidFill>
                          <a:srgbClr val="000000"/>
                        </a:solidFill>
                        <a:effectLst/>
                        <a:latin typeface="Trebuchet MS"/>
                      </a:endParaRPr>
                    </a:p>
                  </a:txBody>
                  <a:tcPr marL="114300" marR="9525" marT="27432" marB="27432"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CA" sz="900" b="0" i="0" u="none" strike="noStrike">
                          <a:solidFill>
                            <a:srgbClr val="000000"/>
                          </a:solidFill>
                          <a:effectLst/>
                          <a:latin typeface="Trebuchet MS"/>
                        </a:rPr>
                        <a:t>Financial</a:t>
                      </a:r>
                      <a:endParaRPr lang="en-US" sz="900" b="0" i="0" u="none" strike="noStrike">
                        <a:solidFill>
                          <a:srgbClr val="000000"/>
                        </a:solidFill>
                        <a:effectLst/>
                        <a:latin typeface="Trebuchet MS"/>
                      </a:endParaRPr>
                    </a:p>
                  </a:txBody>
                  <a:tcPr marL="114300" marR="9525" marT="27432" marB="27432"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9864797"/>
                  </a:ext>
                </a:extLst>
              </a:tr>
              <a:tr h="139589">
                <a:tc vMerge="1">
                  <a:txBody>
                    <a:bodyPr/>
                    <a:lstStyle/>
                    <a:p>
                      <a:pPr algn="r" fontAlgn="ctr"/>
                      <a:endParaRPr lang="en-US" sz="1000" b="1" i="0" u="none" strike="noStrike">
                        <a:solidFill>
                          <a:srgbClr val="000000"/>
                        </a:solidFill>
                        <a:effectLst/>
                        <a:latin typeface="Trebuchet MS"/>
                      </a:endParaRPr>
                    </a:p>
                  </a:txBody>
                  <a:tcPr marL="9525" marR="9525" marT="41564" marB="41564"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w="12700" cap="flat" cmpd="sng" algn="ctr">
                      <a:solidFill>
                        <a:schemeClr val="tx1">
                          <a:lumMod val="65000"/>
                          <a:lumOff val="35000"/>
                        </a:schemeClr>
                      </a:solidFill>
                      <a:prstDash val="solid"/>
                      <a:round/>
                      <a:headEnd type="none" w="med" len="med"/>
                      <a:tailEnd type="none" w="med" len="me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w="6350"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w="12700" cap="flat" cmpd="sng" algn="ctr">
                      <a:solidFill>
                        <a:srgbClr val="E7E6E6">
                          <a:lumMod val="75000"/>
                        </a:srgb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sz="1000" b="1" i="0" u="none" strike="noStrike">
                        <a:solidFill>
                          <a:srgbClr val="000000"/>
                        </a:solidFill>
                        <a:effectLst/>
                        <a:latin typeface="Trebuchet MS"/>
                      </a:endParaRPr>
                    </a:p>
                  </a:txBody>
                  <a:tcPr marL="9525" marR="9525" marT="41564" marB="41564" anchor="ctr">
                    <a:lnL w="12700" cap="flat" cmpd="sng" algn="ctr">
                      <a:solidFill>
                        <a:srgbClr val="E7E6E6">
                          <a:lumMod val="75000"/>
                        </a:srgb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sz="1000" b="1" i="0" u="none" strike="noStrike">
                        <a:solidFill>
                          <a:srgbClr val="C00000"/>
                        </a:solidFill>
                        <a:effectLst/>
                        <a:latin typeface="Trebuchet MS"/>
                      </a:endParaRPr>
                    </a:p>
                  </a:txBody>
                  <a:tcPr marL="9525" marR="9525" marT="41564" marB="41564"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sz="900" b="1" i="0" u="none" strike="noStrike">
                        <a:solidFill>
                          <a:srgbClr val="000000"/>
                        </a:solidFill>
                        <a:effectLst/>
                        <a:latin typeface="Trebuchet MS"/>
                      </a:endParaRPr>
                    </a:p>
                  </a:txBody>
                  <a:tcPr marL="9525" marR="9525" marT="8659" marB="0" anchor="ctr">
                    <a:lnL w="12700" cmpd="sng">
                      <a:noFill/>
                      <a:prstDash val="soli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4377228"/>
                  </a:ext>
                </a:extLst>
              </a:tr>
              <a:tr h="289233">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r>
                        <a:rPr lang="en-US" sz="1000" b="1" i="0" u="none" strike="noStrike">
                          <a:solidFill>
                            <a:srgbClr val="000000"/>
                          </a:solidFill>
                          <a:effectLst/>
                          <a:latin typeface="Trebuchet MS"/>
                        </a:rPr>
                        <a:t>Apps:</a:t>
                      </a: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1000" b="1" i="0" u="none" strike="noStrike">
                          <a:solidFill>
                            <a:srgbClr val="C00000"/>
                          </a:solidFill>
                          <a:effectLst/>
                          <a:latin typeface="+mj-lt"/>
                        </a:rPr>
                        <a:t>42</a:t>
                      </a: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mj-lt"/>
                        </a:rPr>
                        <a:t>30</a:t>
                      </a:r>
                      <a:endParaRPr lang="en-US" sz="900" b="1" i="0" u="none" strike="noStrike">
                        <a:solidFill>
                          <a:srgbClr val="000000"/>
                        </a:solidFill>
                        <a:effectLst/>
                        <a:latin typeface="+mj-lt"/>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j-lt"/>
                          <a:ea typeface="+mn-ea"/>
                          <a:cs typeface="+mn-cs"/>
                        </a:rPr>
                        <a:t>CBPT</a:t>
                      </a:r>
                    </a:p>
                  </a:txBody>
                  <a:tcPr marL="114300"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p>
                      <a:endParaRPr lang="en-US"/>
                    </a:p>
                  </a:txBody>
                  <a:tcPr/>
                </a:tc>
                <a:tc gridSpan="1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fr-FR" sz="900" b="0" i="0" u="none" strike="noStrike">
                          <a:solidFill>
                            <a:srgbClr val="000000"/>
                          </a:solidFill>
                          <a:effectLst/>
                          <a:latin typeface="Trebuchet MS" panose="020B0603020202020204" pitchFamily="34" charset="0"/>
                        </a:rPr>
                        <a:t>AIF, CAAP, CIBC R.Term, CLASS, COLT, DDGS, DDGS API, DM, DM (PEGA), ECM, EDTS, ENVOY, Excalibur, Excalibur API, Forms Management, IDP API, LCMS, LCMS API, Lending API, PCA/SAV, RPE, Remote Banking Batch, STB, TABS, W360 - FX, W360 - Non-Reg, W360 - RIF, W360 - RSP, W360 - TFSA, mMortgage</a:t>
                      </a:r>
                    </a:p>
                  </a:txBody>
                  <a:tcPr marL="9525" marR="9525" marT="27432" marB="27432"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lumMod val="65000"/>
                          <a:lumOff val="35000"/>
                        </a:schemeClr>
                      </a:solidFill>
                      <a:prstDash val="solid"/>
                      <a:round/>
                      <a:headEnd type="none" w="med" len="med"/>
                      <a:tailEnd type="none" w="med" len="med"/>
                    </a:lnL>
                    <a:lnT w="12700" cap="flat" cmpd="sng" algn="ctr">
                      <a:solidFill>
                        <a:srgbClr val="E7E6E6">
                          <a:lumMod val="75000"/>
                        </a:srgbClr>
                      </a:solidFill>
                      <a:prstDash val="solid"/>
                      <a:round/>
                      <a:headEnd type="none" w="med" len="med"/>
                      <a:tailEnd type="none" w="med" len="med"/>
                    </a:lnT>
                  </a:tcPr>
                </a:tc>
                <a:tc hMerge="1">
                  <a:txBody>
                    <a:bodyPr/>
                    <a:lstStyle/>
                    <a:p>
                      <a:endParaRPr 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Trebuchet MS" panose="020B0603020202020204" pitchFamily="34" charset="0"/>
                      </a:endParaRPr>
                    </a:p>
                  </a:txBody>
                  <a:tcPr marL="9525"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Trebuchet MS" panose="020B0603020202020204" pitchFamily="34" charset="0"/>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844036896"/>
                  </a:ext>
                </a:extLst>
              </a:tr>
              <a:tr h="182734">
                <a:tc vMerge="1">
                  <a:txBody>
                    <a:bodyPr/>
                    <a:lstStyle/>
                    <a:p>
                      <a:endParaRPr lang="en-US"/>
                    </a:p>
                  </a:txBody>
                  <a:tcPr>
                    <a:lnT w="12700" cmpd="sng">
                      <a:noFill/>
                      <a:prstDash val="solid"/>
                    </a:lnT>
                  </a:tcPr>
                </a:tc>
                <a:tc vMerge="1">
                  <a:txBody>
                    <a:bodyPr/>
                    <a:lstStyle/>
                    <a:p>
                      <a:endParaRPr lang="en-US"/>
                    </a:p>
                  </a:txBody>
                  <a:tcPr>
                    <a:lnT w="6350" cap="flat" cmpd="sng" algn="ctr">
                      <a:solidFill>
                        <a:srgbClr val="000000"/>
                      </a:solidFill>
                      <a:prstDash val="solid"/>
                      <a:round/>
                      <a:headEnd type="none" w="med" len="med"/>
                      <a:tailEnd type="none" w="med" len="med"/>
                    </a:lnT>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mj-lt"/>
                        </a:rPr>
                        <a:t>12</a:t>
                      </a:r>
                      <a:endParaRPr lang="en-US" sz="900" b="1" i="0" u="none" strike="noStrike">
                        <a:solidFill>
                          <a:srgbClr val="000000"/>
                        </a:solidFill>
                        <a:effectLst/>
                        <a:latin typeface="+mj-lt"/>
                      </a:endParaRPr>
                    </a:p>
                  </a:txBody>
                  <a:tcPr marL="9525" marR="9525" marT="27432" marB="27432" anchor="ctr">
                    <a:lnL w="12700" cmpd="sng">
                      <a:noFill/>
                      <a:prstDash val="soli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j-lt"/>
                          <a:ea typeface="+mn-ea"/>
                          <a:cs typeface="+mn-cs"/>
                        </a:rPr>
                        <a:t>Non-CBPT</a:t>
                      </a:r>
                    </a:p>
                  </a:txBody>
                  <a:tcPr marL="114300" marR="9525" marT="27432" marB="27432"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1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Trebuchet MS" panose="020B0603020202020204" pitchFamily="34" charset="0"/>
                          <a:ea typeface="+mn-ea"/>
                          <a:cs typeface="+mn-cs"/>
                        </a:rPr>
                        <a:t>CASA, CIW, COINS (Host Facilities), COMPASS-AIM, ECIF, EDH, EDSF, GOW, Lending BI, MI Lending, </a:t>
                      </a:r>
                      <a:r>
                        <a:rPr lang="en-US" sz="900" b="0" i="0" u="none" strike="noStrike" kern="1200" err="1">
                          <a:solidFill>
                            <a:srgbClr val="000000"/>
                          </a:solidFill>
                          <a:effectLst/>
                          <a:latin typeface="Trebuchet MS" panose="020B0603020202020204" pitchFamily="34" charset="0"/>
                          <a:ea typeface="+mn-ea"/>
                          <a:cs typeface="+mn-cs"/>
                        </a:rPr>
                        <a:t>PostEdge</a:t>
                      </a:r>
                      <a:r>
                        <a:rPr lang="en-US" sz="900" b="0" i="0" u="none" strike="noStrike" kern="1200">
                          <a:solidFill>
                            <a:srgbClr val="000000"/>
                          </a:solidFill>
                          <a:effectLst/>
                          <a:latin typeface="Trebuchet MS" panose="020B0603020202020204" pitchFamily="34" charset="0"/>
                          <a:ea typeface="+mn-ea"/>
                          <a:cs typeface="+mn-cs"/>
                        </a:rPr>
                        <a:t>, </a:t>
                      </a:r>
                      <a:r>
                        <a:rPr lang="en-US" sz="900" b="0" i="0" u="none" strike="noStrike" kern="1200" err="1">
                          <a:solidFill>
                            <a:srgbClr val="000000"/>
                          </a:solidFill>
                          <a:effectLst/>
                          <a:latin typeface="Trebuchet MS" panose="020B0603020202020204" pitchFamily="34" charset="0"/>
                          <a:ea typeface="+mn-ea"/>
                          <a:cs typeface="+mn-cs"/>
                        </a:rPr>
                        <a:t>eBanking</a:t>
                      </a:r>
                      <a:endParaRPr lang="en-US" sz="900" b="0" i="0" u="none" strike="noStrike" kern="1200">
                        <a:solidFill>
                          <a:srgbClr val="000000"/>
                        </a:solidFill>
                        <a:effectLst/>
                        <a:latin typeface="Trebuchet MS" panose="020B0603020202020204" pitchFamily="34" charset="0"/>
                        <a:ea typeface="+mn-ea"/>
                        <a:cs typeface="+mn-cs"/>
                      </a:endParaRPr>
                    </a:p>
                  </a:txBody>
                  <a:tcPr marL="9525" marR="9525" marT="27432" marB="27432"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mn-lt"/>
                      </a:endParaRPr>
                    </a:p>
                  </a:txBody>
                  <a:tcPr marL="9525" marR="9525" marT="8659" marB="0"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mn-lt"/>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1320110"/>
                  </a:ext>
                </a:extLst>
              </a:tr>
              <a:tr h="0">
                <a:tc>
                  <a:txBody>
                    <a:bodyPr/>
                    <a:lstStyle/>
                    <a:p>
                      <a:pPr algn="r" fontAlgn="ctr"/>
                      <a:r>
                        <a:rPr lang="en-CA" sz="1000" b="1" i="0" u="none" strike="noStrike">
                          <a:solidFill>
                            <a:srgbClr val="000000"/>
                          </a:solidFill>
                          <a:effectLst/>
                          <a:latin typeface="Trebuchet MS"/>
                        </a:rPr>
                        <a:t>Comments: </a:t>
                      </a:r>
                      <a:endParaRPr lang="en-US" sz="1000" b="1" i="0" u="none" strike="noStrike">
                        <a:solidFill>
                          <a:srgbClr val="000000"/>
                        </a:solidFill>
                        <a:effectLst/>
                        <a:latin typeface="Trebuchet MS"/>
                      </a:endParaRP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15">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900" b="0" kern="1200">
                          <a:solidFill>
                            <a:schemeClr val="tx1"/>
                          </a:solidFill>
                          <a:latin typeface="Arial" panose="020B0604020202020204" pitchFamily="34" charset="0"/>
                          <a:ea typeface="+mn-ea"/>
                          <a:cs typeface="Arial" panose="020B0604020202020204" pitchFamily="34" charset="0"/>
                        </a:rPr>
                        <a:t>Release has been implemented successfully. Warranty is complete.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900" b="0" kern="1200" noProof="0">
                          <a:solidFill>
                            <a:schemeClr val="tx1"/>
                          </a:solidFill>
                          <a:latin typeface="Arial" panose="020B0604020202020204" pitchFamily="34" charset="0"/>
                          <a:ea typeface="+mn-ea"/>
                          <a:cs typeface="Arial" panose="020B0604020202020204" pitchFamily="34" charset="0"/>
                        </a:rPr>
                        <a:t>Production Issues: 41 [07 Scheduled, 34 Closed]</a:t>
                      </a:r>
                    </a:p>
                  </a:txBody>
                  <a:tcPr marL="9128" marR="9128" marT="27432" marB="27432">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914400" rtl="0" eaLnBrk="1" fontAlgn="ctr" latinLnBrk="0" hangingPunct="1"/>
                      <a:endParaRPr lang="en-US" sz="800" b="1" i="0" u="none" strike="noStrike" kern="1200">
                        <a:solidFill>
                          <a:srgbClr val="000000"/>
                        </a:solidFill>
                        <a:effectLst/>
                        <a:latin typeface="+mn-lt"/>
                        <a:ea typeface="+mn-ea"/>
                        <a:cs typeface="+mn-cs"/>
                      </a:endParaRPr>
                    </a:p>
                  </a:txBody>
                  <a:tcPr marL="9128" marR="9128" marT="8298" marB="0" anchor="ctr">
                    <a:lnL w="12700" cmpd="sng">
                      <a:noFill/>
                      <a:prstDash val="solid"/>
                    </a:lnL>
                    <a:lnR>
                      <a:noFill/>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algn="ctr" defTabSz="914400" rtl="0" eaLnBrk="1" fontAlgn="ctr" latinLnBrk="0" hangingPunct="1"/>
                      <a:endParaRPr lang="en-US" sz="800" b="1" i="0" u="none" strike="noStrike" kern="1200">
                        <a:solidFill>
                          <a:srgbClr val="000000"/>
                        </a:solidFill>
                        <a:effectLst/>
                        <a:latin typeface="+mn-lt"/>
                        <a:ea typeface="+mn-ea"/>
                        <a:cs typeface="+mn-cs"/>
                      </a:endParaRPr>
                    </a:p>
                  </a:txBody>
                  <a:tcPr marL="9128" marR="9128" marT="8298"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algn="ctr" defTabSz="914400" rtl="0" eaLnBrk="1" fontAlgn="ctr" latinLnBrk="0" hangingPunct="1"/>
                      <a:endParaRPr lang="en-US" sz="800" b="0" i="0" u="none" strike="noStrike" kern="1200">
                        <a:solidFill>
                          <a:srgbClr val="000000"/>
                        </a:solidFill>
                        <a:effectLst/>
                        <a:latin typeface="+mn-lt"/>
                        <a:ea typeface="+mn-ea"/>
                        <a:cs typeface="+mn-cs"/>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pPr algn="ctr" fontAlgn="ctr"/>
                      <a:endParaRPr lang="en-US" sz="1500" b="0" i="0" u="none" strike="noStrike">
                        <a:solidFill>
                          <a:srgbClr val="000000"/>
                        </a:solidFill>
                        <a:effectLst/>
                        <a:latin typeface="Arial" panose="020B0604020202020204" pitchFamily="34" charset="0"/>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500" b="0" i="0" u="none" strike="noStrike">
                        <a:solidFill>
                          <a:srgbClr val="000000"/>
                        </a:solidFill>
                        <a:effectLst/>
                        <a:latin typeface="Arial" panose="020B0604020202020204" pitchFamily="34" charset="0"/>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rtl="0" fontAlgn="ctr"/>
                      <a:endParaRPr lang="en-US" sz="800" b="0" i="0" u="none" strike="noStrike">
                        <a:solidFill>
                          <a:srgbClr val="000000"/>
                        </a:solidFill>
                        <a:effectLst/>
                        <a:latin typeface="Trebuchet MS" panose="020B0603020202020204" pitchFamily="34" charset="0"/>
                      </a:endParaRPr>
                    </a:p>
                  </a:txBody>
                  <a:tcPr marL="109537"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en-US" sz="800" b="0" i="0" u="none" strike="noStrike">
                        <a:solidFill>
                          <a:srgbClr val="000000"/>
                        </a:solidFill>
                        <a:effectLst/>
                        <a:latin typeface="+mn-lt"/>
                      </a:endParaRPr>
                    </a:p>
                  </a:txBody>
                  <a:tcPr marL="9525" marR="9525" marT="8659" marB="0" anchor="ctr">
                    <a:lnL w="12700" cmpd="sng">
                      <a:noFill/>
                      <a:prstDash val="solid"/>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en-US" sz="800" b="0" i="0" u="none" strike="noStrike" kern="1200">
                        <a:solidFill>
                          <a:srgbClr val="000000"/>
                        </a:solidFill>
                        <a:effectLst/>
                        <a:latin typeface="Trebuchet MS"/>
                        <a:ea typeface="+mn-ea"/>
                        <a:cs typeface="+mn-cs"/>
                      </a:endParaRPr>
                    </a:p>
                  </a:txBody>
                  <a:tcPr marL="9525" marR="9525" marT="8659" marB="0" anchor="ctr">
                    <a:lnL>
                      <a:noFill/>
                    </a:lnL>
                    <a:lnR w="12700" cap="flat" cmpd="sng" algn="ctr">
                      <a:solidFill>
                        <a:sysClr val="windowText" lastClr="000000"/>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1958486"/>
                  </a:ext>
                </a:extLst>
              </a:tr>
            </a:tbl>
          </a:graphicData>
        </a:graphic>
      </p:graphicFrame>
      <p:graphicFrame>
        <p:nvGraphicFramePr>
          <p:cNvPr id="2" name="Table 1">
            <a:extLst>
              <a:ext uri="{FF2B5EF4-FFF2-40B4-BE49-F238E27FC236}">
                <a16:creationId xmlns:a16="http://schemas.microsoft.com/office/drawing/2014/main" id="{37D34095-442F-2735-0128-360919AC0B60}"/>
              </a:ext>
            </a:extLst>
          </p:cNvPr>
          <p:cNvGraphicFramePr>
            <a:graphicFrameLocks noGrp="1"/>
          </p:cNvGraphicFramePr>
          <p:nvPr>
            <p:extLst>
              <p:ext uri="{D42A27DB-BD31-4B8C-83A1-F6EECF244321}">
                <p14:modId xmlns:p14="http://schemas.microsoft.com/office/powerpoint/2010/main" val="2812687826"/>
              </p:ext>
            </p:extLst>
          </p:nvPr>
        </p:nvGraphicFramePr>
        <p:xfrm>
          <a:off x="130252" y="3013884"/>
          <a:ext cx="11626696" cy="1782261"/>
        </p:xfrm>
        <a:graphic>
          <a:graphicData uri="http://schemas.openxmlformats.org/drawingml/2006/table">
            <a:tbl>
              <a:tblPr/>
              <a:tblGrid>
                <a:gridCol w="1013152">
                  <a:extLst>
                    <a:ext uri="{9D8B030D-6E8A-4147-A177-3AD203B41FA5}">
                      <a16:colId xmlns:a16="http://schemas.microsoft.com/office/drawing/2014/main" val="542770605"/>
                    </a:ext>
                  </a:extLst>
                </a:gridCol>
                <a:gridCol w="591886">
                  <a:extLst>
                    <a:ext uri="{9D8B030D-6E8A-4147-A177-3AD203B41FA5}">
                      <a16:colId xmlns:a16="http://schemas.microsoft.com/office/drawing/2014/main" val="721424745"/>
                    </a:ext>
                  </a:extLst>
                </a:gridCol>
                <a:gridCol w="557555">
                  <a:extLst>
                    <a:ext uri="{9D8B030D-6E8A-4147-A177-3AD203B41FA5}">
                      <a16:colId xmlns:a16="http://schemas.microsoft.com/office/drawing/2014/main" val="2980709361"/>
                    </a:ext>
                  </a:extLst>
                </a:gridCol>
                <a:gridCol w="557555">
                  <a:extLst>
                    <a:ext uri="{9D8B030D-6E8A-4147-A177-3AD203B41FA5}">
                      <a16:colId xmlns:a16="http://schemas.microsoft.com/office/drawing/2014/main" val="4189054838"/>
                    </a:ext>
                  </a:extLst>
                </a:gridCol>
                <a:gridCol w="557555">
                  <a:extLst>
                    <a:ext uri="{9D8B030D-6E8A-4147-A177-3AD203B41FA5}">
                      <a16:colId xmlns:a16="http://schemas.microsoft.com/office/drawing/2014/main" val="1947436398"/>
                    </a:ext>
                  </a:extLst>
                </a:gridCol>
                <a:gridCol w="520386">
                  <a:extLst>
                    <a:ext uri="{9D8B030D-6E8A-4147-A177-3AD203B41FA5}">
                      <a16:colId xmlns:a16="http://schemas.microsoft.com/office/drawing/2014/main" val="3671164612"/>
                    </a:ext>
                  </a:extLst>
                </a:gridCol>
                <a:gridCol w="520386">
                  <a:extLst>
                    <a:ext uri="{9D8B030D-6E8A-4147-A177-3AD203B41FA5}">
                      <a16:colId xmlns:a16="http://schemas.microsoft.com/office/drawing/2014/main" val="4223143478"/>
                    </a:ext>
                  </a:extLst>
                </a:gridCol>
                <a:gridCol w="520386">
                  <a:extLst>
                    <a:ext uri="{9D8B030D-6E8A-4147-A177-3AD203B41FA5}">
                      <a16:colId xmlns:a16="http://schemas.microsoft.com/office/drawing/2014/main" val="1140894372"/>
                    </a:ext>
                  </a:extLst>
                </a:gridCol>
                <a:gridCol w="520386">
                  <a:extLst>
                    <a:ext uri="{9D8B030D-6E8A-4147-A177-3AD203B41FA5}">
                      <a16:colId xmlns:a16="http://schemas.microsoft.com/office/drawing/2014/main" val="159804669"/>
                    </a:ext>
                  </a:extLst>
                </a:gridCol>
                <a:gridCol w="520386">
                  <a:extLst>
                    <a:ext uri="{9D8B030D-6E8A-4147-A177-3AD203B41FA5}">
                      <a16:colId xmlns:a16="http://schemas.microsoft.com/office/drawing/2014/main" val="1706997556"/>
                    </a:ext>
                  </a:extLst>
                </a:gridCol>
                <a:gridCol w="966433">
                  <a:extLst>
                    <a:ext uri="{9D8B030D-6E8A-4147-A177-3AD203B41FA5}">
                      <a16:colId xmlns:a16="http://schemas.microsoft.com/office/drawing/2014/main" val="1630437860"/>
                    </a:ext>
                  </a:extLst>
                </a:gridCol>
                <a:gridCol w="520386">
                  <a:extLst>
                    <a:ext uri="{9D8B030D-6E8A-4147-A177-3AD203B41FA5}">
                      <a16:colId xmlns:a16="http://schemas.microsoft.com/office/drawing/2014/main" val="1549931440"/>
                    </a:ext>
                  </a:extLst>
                </a:gridCol>
                <a:gridCol w="520386">
                  <a:extLst>
                    <a:ext uri="{9D8B030D-6E8A-4147-A177-3AD203B41FA5}">
                      <a16:colId xmlns:a16="http://schemas.microsoft.com/office/drawing/2014/main" val="3188408529"/>
                    </a:ext>
                  </a:extLst>
                </a:gridCol>
                <a:gridCol w="1598330">
                  <a:extLst>
                    <a:ext uri="{9D8B030D-6E8A-4147-A177-3AD203B41FA5}">
                      <a16:colId xmlns:a16="http://schemas.microsoft.com/office/drawing/2014/main" val="4128971172"/>
                    </a:ext>
                  </a:extLst>
                </a:gridCol>
                <a:gridCol w="520386">
                  <a:extLst>
                    <a:ext uri="{9D8B030D-6E8A-4147-A177-3AD203B41FA5}">
                      <a16:colId xmlns:a16="http://schemas.microsoft.com/office/drawing/2014/main" val="55428124"/>
                    </a:ext>
                  </a:extLst>
                </a:gridCol>
                <a:gridCol w="1621142">
                  <a:extLst>
                    <a:ext uri="{9D8B030D-6E8A-4147-A177-3AD203B41FA5}">
                      <a16:colId xmlns:a16="http://schemas.microsoft.com/office/drawing/2014/main" val="2501393197"/>
                    </a:ext>
                  </a:extLst>
                </a:gridCol>
              </a:tblGrid>
              <a:tr h="23798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200" b="1" i="0" u="none" strike="noStrike">
                          <a:solidFill>
                            <a:schemeClr val="bg1"/>
                          </a:solidFill>
                          <a:effectLst/>
                          <a:latin typeface="Trebuchet MS"/>
                        </a:rPr>
                        <a:t>R</a:t>
                      </a:r>
                    </a:p>
                  </a:txBody>
                  <a:tcPr marL="9525" marR="9525" marT="8659"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gridSpan="15">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l" defTabSz="914400" rtl="0" eaLnBrk="1" fontAlgn="ctr" latinLnBrk="0" hangingPunct="1"/>
                      <a:r>
                        <a:rPr lang="en-US" sz="1200" b="1" i="0" u="none" strike="noStrike" kern="1200">
                          <a:solidFill>
                            <a:srgbClr val="C00000"/>
                          </a:solidFill>
                          <a:effectLst/>
                          <a:latin typeface="Calibri" panose="020F0502020204030204"/>
                          <a:ea typeface="+mn-ea"/>
                          <a:cs typeface="+mn-cs"/>
                        </a:rPr>
                        <a:t>Core Banking - (Nov 16, 2025)</a:t>
                      </a:r>
                    </a:p>
                  </a:txBody>
                  <a:tcPr marL="114300" marR="9525" marT="41564" marB="41564"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endParaRPr lang="en-US" sz="1000" kern="1200">
                        <a:solidFill>
                          <a:srgbClr val="000000"/>
                        </a:solidFill>
                        <a:latin typeface="+mn-lt"/>
                        <a:ea typeface="+mn-ea"/>
                        <a:cs typeface="+mn-cs"/>
                      </a:endParaRPr>
                    </a:p>
                  </a:txBody>
                  <a:tcPr marL="9525" marR="114300" marT="41564" marB="41564" anchor="ctr">
                    <a:lnL>
                      <a:noFill/>
                    </a:lnL>
                    <a:lnR>
                      <a:noFill/>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R w="9525" cap="flat" cmpd="sng" algn="ctr">
                      <a:no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L>
                      <a:noFill/>
                    </a:lnL>
                    <a:lnR w="9525" cap="flat" cmpd="sng" algn="ctr">
                      <a:no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7013967"/>
                  </a:ext>
                </a:extLst>
              </a:tr>
              <a:tr h="182734">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r>
                        <a:rPr lang="en-US" sz="1000" b="1" i="0" u="none" strike="noStrike">
                          <a:solidFill>
                            <a:srgbClr val="000000"/>
                          </a:solidFill>
                          <a:effectLst/>
                          <a:latin typeface="Trebuchet MS"/>
                        </a:rPr>
                        <a:t>Phase:</a:t>
                      </a: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REQ</a:t>
                      </a:r>
                      <a:endParaRPr lang="en-US" sz="900" b="1" i="0" u="none" strike="noStrike">
                        <a:solidFill>
                          <a:srgbClr val="000000"/>
                        </a:solidFill>
                        <a:effectLst/>
                        <a:latin typeface="Trebuchet MS"/>
                      </a:endParaRP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DES</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CON</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DIT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SIT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UAT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PAT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INFRA</a:t>
                      </a:r>
                      <a:endParaRPr lang="en-US" sz="900" b="1" i="0" u="none" strike="noStrike">
                        <a:solidFill>
                          <a:srgbClr val="000000"/>
                        </a:solidFill>
                        <a:effectLst/>
                        <a:latin typeface="Trebuchet MS"/>
                      </a:endParaRPr>
                    </a:p>
                  </a:txBody>
                  <a:tcPr marL="9525" marR="9525" marT="27432" marB="27432" anchor="ctr">
                    <a:lnL>
                      <a:noFill/>
                    </a:lnL>
                    <a:lnR w="6350"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C/F </a:t>
                      </a:r>
                    </a:p>
                  </a:txBody>
                  <a:tcPr marL="9525" marR="9525" marT="27432" marB="27432" anchor="ctr">
                    <a:lnL>
                      <a:noFill/>
                    </a:lnL>
                    <a:lnR w="12700" cap="flat" cmpd="sng" algn="ctr">
                      <a:solidFill>
                        <a:srgbClr val="E7E6E6">
                          <a:lumMod val="75000"/>
                        </a:srgb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1000" b="1" i="0" u="none" strike="noStrike">
                          <a:solidFill>
                            <a:srgbClr val="000000"/>
                          </a:solidFill>
                          <a:effectLst/>
                          <a:latin typeface="Trebuchet MS"/>
                        </a:rPr>
                        <a:t>Scope:</a:t>
                      </a:r>
                    </a:p>
                  </a:txBody>
                  <a:tcPr marL="9525" marR="9525" marT="27432" marB="27432" anchor="ctr">
                    <a:lnL w="12700" cap="flat" cmpd="sng" algn="ctr">
                      <a:solidFill>
                        <a:srgbClr val="E7E6E6">
                          <a:lumMod val="75000"/>
                        </a:srgb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000" b="1" i="0" u="none" strike="noStrike">
                          <a:solidFill>
                            <a:srgbClr val="C00000"/>
                          </a:solidFill>
                          <a:effectLst/>
                          <a:latin typeface="Trebuchet MS"/>
                        </a:rPr>
                        <a:t>61</a:t>
                      </a:r>
                      <a:endParaRPr lang="en-US" sz="1000" b="1" i="0" u="none" strike="noStrike">
                        <a:solidFill>
                          <a:srgbClr val="C00000"/>
                        </a:solidFill>
                        <a:effectLst/>
                        <a:latin typeface="Trebuchet MS"/>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32</a:t>
                      </a:r>
                      <a:endParaRPr lang="en-US" sz="900" b="1" i="0" u="none" strike="noStrike">
                        <a:solidFill>
                          <a:srgbClr val="000000"/>
                        </a:solidFill>
                        <a:effectLst/>
                        <a:latin typeface="Trebuchet MS"/>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a:solidFill>
                            <a:srgbClr val="000000"/>
                          </a:solidFill>
                          <a:effectLst/>
                          <a:latin typeface="Trebuchet MS"/>
                        </a:rPr>
                        <a:t>Projects &amp; MOPs</a:t>
                      </a:r>
                    </a:p>
                  </a:txBody>
                  <a:tcPr marL="114300" marR="9525" marT="27432" marB="27432"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CA" sz="900" b="1" i="0" u="none" strike="noStrike">
                          <a:solidFill>
                            <a:srgbClr val="000000"/>
                          </a:solidFill>
                          <a:effectLst/>
                          <a:latin typeface="Trebuchet MS"/>
                        </a:rPr>
                        <a:t>4</a:t>
                      </a:r>
                      <a:endParaRPr lang="en-US" sz="900" b="1" i="0" u="none" strike="noStrike">
                        <a:solidFill>
                          <a:srgbClr val="000000"/>
                        </a:solidFill>
                        <a:effectLst/>
                        <a:latin typeface="Trebuchet MS"/>
                      </a:endParaRPr>
                    </a:p>
                  </a:txBody>
                  <a:tcPr marL="114300" marR="9525" marT="27432" marB="27432"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kern="1200">
                          <a:solidFill>
                            <a:srgbClr val="000000"/>
                          </a:solidFill>
                          <a:effectLst/>
                          <a:latin typeface="Trebuchet MS"/>
                          <a:ea typeface="+mn-ea"/>
                          <a:cs typeface="+mn-cs"/>
                        </a:rPr>
                        <a:t>Regulatory</a:t>
                      </a:r>
                    </a:p>
                  </a:txBody>
                  <a:tcPr marL="114300" marR="9525" marT="27432" marB="27432"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6548466"/>
                  </a:ext>
                </a:extLst>
              </a:tr>
              <a:tr h="0">
                <a:tc vMerge="1">
                  <a:txBody>
                    <a:bodyPr/>
                    <a:lstStyle/>
                    <a:p>
                      <a:endParaRPr lang="en-US"/>
                    </a:p>
                  </a:txBody>
                  <a:tcPr>
                    <a:lnT w="12700" cmpd="sng">
                      <a:noFill/>
                      <a:prstDash val="solid"/>
                    </a:lnT>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chemeClr val="tx1"/>
                          </a:solidFill>
                          <a:effectLst/>
                          <a:latin typeface="Trebuchet MS"/>
                        </a:rPr>
                        <a:t>C</a:t>
                      </a:r>
                      <a:endParaRPr lang="en-US" sz="900" b="1" i="0" u="none" strike="noStrike">
                        <a:solidFill>
                          <a:schemeClr val="tx1"/>
                        </a:solidFill>
                        <a:effectLst/>
                        <a:latin typeface="Trebuchet MS"/>
                      </a:endParaRPr>
                    </a:p>
                  </a:txBody>
                  <a:tcPr marL="9525" marR="9525" marT="8659" marB="0" anchor="ctr">
                    <a:lnL w="12700" cap="flat" cmpd="sng" algn="ctr">
                      <a:solidFill>
                        <a:schemeClr val="tx1">
                          <a:lumMod val="65000"/>
                          <a:lumOff val="35000"/>
                        </a:schemeClr>
                      </a:solidFill>
                      <a:prstDash val="solid"/>
                      <a:round/>
                      <a:headEnd type="none" w="med" len="med"/>
                      <a:tailEnd type="none" w="med" len="me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w="6350"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w="12700" cap="flat" cmpd="sng" algn="ctr">
                      <a:solidFill>
                        <a:srgbClr val="E7E6E6">
                          <a:lumMod val="75000"/>
                        </a:srgb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vMerge="1">
                  <a:txBody>
                    <a:bodyPr/>
                    <a:lstStyle/>
                    <a:p>
                      <a:endParaRPr lang="en-US"/>
                    </a:p>
                  </a:txBody>
                  <a:tcPr>
                    <a:lnT w="6350" cap="flat" cmpd="sng" algn="ctr">
                      <a:solidFill>
                        <a:srgbClr val="000000"/>
                      </a:solidFill>
                      <a:prstDash val="solid"/>
                      <a:round/>
                      <a:headEnd type="none" w="med" len="med"/>
                      <a:tailEnd type="none" w="med" len="med"/>
                    </a:lnT>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29</a:t>
                      </a:r>
                      <a:endParaRPr lang="en-US" sz="900" b="1" i="0" u="none" strike="noStrike">
                        <a:solidFill>
                          <a:srgbClr val="000000"/>
                        </a:solidFill>
                        <a:effectLst/>
                        <a:latin typeface="Trebuchet MS"/>
                      </a:endParaRPr>
                    </a:p>
                  </a:txBody>
                  <a:tcPr marL="9525" marR="9525" marT="27432" marB="27432" anchor="ctr">
                    <a:lnL w="12700" cmpd="sng">
                      <a:noFill/>
                      <a:prstDash val="soli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a:solidFill>
                            <a:srgbClr val="000000"/>
                          </a:solidFill>
                          <a:effectLst/>
                          <a:latin typeface="Trebuchet MS"/>
                        </a:rPr>
                        <a:t>PRBs/INCs/Others</a:t>
                      </a:r>
                    </a:p>
                  </a:txBody>
                  <a:tcPr marL="114300" marR="9525" marT="27432" marB="27432"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CA" sz="900" b="1" i="0" u="none" strike="noStrike">
                          <a:solidFill>
                            <a:srgbClr val="000000"/>
                          </a:solidFill>
                          <a:effectLst/>
                          <a:latin typeface="Trebuchet MS"/>
                        </a:rPr>
                        <a:t>2</a:t>
                      </a:r>
                      <a:endParaRPr lang="en-US" sz="900" b="1" i="0" u="none" strike="noStrike">
                        <a:solidFill>
                          <a:srgbClr val="000000"/>
                        </a:solidFill>
                        <a:effectLst/>
                        <a:latin typeface="Trebuchet MS"/>
                      </a:endParaRPr>
                    </a:p>
                  </a:txBody>
                  <a:tcPr marL="114300" marR="9525" marT="27432" marB="27432"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CA" sz="900" b="0" i="0" u="none" strike="noStrike">
                          <a:solidFill>
                            <a:srgbClr val="000000"/>
                          </a:solidFill>
                          <a:effectLst/>
                          <a:latin typeface="Trebuchet MS"/>
                        </a:rPr>
                        <a:t>Financial</a:t>
                      </a:r>
                      <a:endParaRPr lang="en-US" sz="900" b="0" i="0" u="none" strike="noStrike">
                        <a:solidFill>
                          <a:srgbClr val="000000"/>
                        </a:solidFill>
                        <a:effectLst/>
                        <a:latin typeface="Trebuchet MS"/>
                      </a:endParaRPr>
                    </a:p>
                  </a:txBody>
                  <a:tcPr marL="114300" marR="9525" marT="27432" marB="27432"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9864797"/>
                  </a:ext>
                </a:extLst>
              </a:tr>
              <a:tr h="105023">
                <a:tc vMerge="1">
                  <a:txBody>
                    <a:bodyPr/>
                    <a:lstStyle/>
                    <a:p>
                      <a:pPr algn="r" fontAlgn="ctr"/>
                      <a:endParaRPr lang="en-US" sz="1000" b="1" i="0" u="none" strike="noStrike">
                        <a:solidFill>
                          <a:srgbClr val="000000"/>
                        </a:solidFill>
                        <a:effectLst/>
                        <a:latin typeface="Trebuchet MS"/>
                      </a:endParaRPr>
                    </a:p>
                  </a:txBody>
                  <a:tcPr marL="9525" marR="9525" marT="41564" marB="41564"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G</a:t>
                      </a:r>
                    </a:p>
                  </a:txBody>
                  <a:tcPr marL="9525" marR="9525" marT="9525" marB="0" anchor="ctr">
                    <a:lnL w="12700" cap="flat" cmpd="sng" algn="ctr">
                      <a:solidFill>
                        <a:schemeClr val="tx1">
                          <a:lumMod val="65000"/>
                          <a:lumOff val="35000"/>
                        </a:schemeClr>
                      </a:solidFill>
                      <a:prstDash val="solid"/>
                      <a:round/>
                      <a:headEnd type="none" w="med" len="med"/>
                      <a:tailEnd type="none" w="med" len="me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G</a:t>
                      </a: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G</a:t>
                      </a: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white"/>
                          </a:solidFill>
                          <a:effectLst/>
                          <a:uLnTx/>
                          <a:uFillTx/>
                          <a:latin typeface="Trebuchet MS"/>
                          <a:ea typeface="+mn-ea"/>
                          <a:cs typeface="+mn-cs"/>
                        </a:rPr>
                        <a:t>G</a:t>
                      </a:r>
                      <a:endParaRPr kumimoji="0" lang="en-US" sz="900" b="1" i="0" u="none" strike="noStrike" kern="1200" cap="none" spc="0" normalizeH="0" baseline="0" noProof="0">
                        <a:ln>
                          <a:noFill/>
                        </a:ln>
                        <a:solidFill>
                          <a:prstClr val="white"/>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R</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G</a:t>
                      </a:r>
                    </a:p>
                  </a:txBody>
                  <a:tcPr marL="9525" marR="9525" marT="9525" marB="0" anchor="ctr">
                    <a:lnL>
                      <a:noFill/>
                    </a:lnL>
                    <a:lnR w="6350"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marL="9525" marR="9525" marT="9525" marB="0" anchor="ctr">
                    <a:lnL>
                      <a:noFill/>
                    </a:lnL>
                    <a:lnR w="12700" cap="flat" cmpd="sng" algn="ctr">
                      <a:solidFill>
                        <a:srgbClr val="E7E6E6">
                          <a:lumMod val="75000"/>
                        </a:srgb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vMerge="1">
                  <a:txBody>
                    <a:bodyPr/>
                    <a:lstStyle/>
                    <a:p>
                      <a:pPr algn="ctr" fontAlgn="ctr"/>
                      <a:endParaRPr lang="en-US" sz="1000" b="1" i="0" u="none" strike="noStrike">
                        <a:solidFill>
                          <a:srgbClr val="000000"/>
                        </a:solidFill>
                        <a:effectLst/>
                        <a:latin typeface="Trebuchet MS"/>
                      </a:endParaRPr>
                    </a:p>
                  </a:txBody>
                  <a:tcPr marL="9525" marR="9525" marT="41564" marB="41564" anchor="ctr">
                    <a:lnL w="12700" cap="flat" cmpd="sng" algn="ctr">
                      <a:solidFill>
                        <a:srgbClr val="E7E6E6">
                          <a:lumMod val="75000"/>
                        </a:srgb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sz="1000" b="1" i="0" u="none" strike="noStrike">
                        <a:solidFill>
                          <a:srgbClr val="C00000"/>
                        </a:solidFill>
                        <a:effectLst/>
                        <a:latin typeface="Trebuchet MS"/>
                      </a:endParaRPr>
                    </a:p>
                  </a:txBody>
                  <a:tcPr marL="9525" marR="9525" marT="41564" marB="41564"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sz="900" b="1" i="0" u="none" strike="noStrike">
                        <a:solidFill>
                          <a:srgbClr val="000000"/>
                        </a:solidFill>
                        <a:effectLst/>
                        <a:latin typeface="Trebuchet MS"/>
                      </a:endParaRPr>
                    </a:p>
                  </a:txBody>
                  <a:tcPr marL="9525" marR="9525" marT="8659" marB="0" anchor="ctr">
                    <a:lnL w="12700" cmpd="sng">
                      <a:noFill/>
                      <a:prstDash val="soli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4377228"/>
                  </a:ext>
                </a:extLst>
              </a:tr>
              <a:tr h="289233">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r>
                        <a:rPr lang="en-US" sz="1000" b="1" i="0" u="none" strike="noStrike">
                          <a:solidFill>
                            <a:srgbClr val="000000"/>
                          </a:solidFill>
                          <a:effectLst/>
                          <a:latin typeface="Trebuchet MS"/>
                        </a:rPr>
                        <a:t>Apps:</a:t>
                      </a: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000" b="1" i="0" u="none" strike="noStrike">
                          <a:solidFill>
                            <a:srgbClr val="C00000"/>
                          </a:solidFill>
                          <a:effectLst/>
                          <a:latin typeface="+mj-lt"/>
                        </a:rPr>
                        <a:t>32</a:t>
                      </a:r>
                      <a:endParaRPr lang="en-US" sz="1000" b="1" i="0" u="none" strike="noStrike">
                        <a:solidFill>
                          <a:srgbClr val="C00000"/>
                        </a:solidFill>
                        <a:effectLst/>
                        <a:latin typeface="+mj-lt"/>
                      </a:endParaRP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mj-lt"/>
                        </a:rPr>
                        <a:t>26</a:t>
                      </a:r>
                      <a:endParaRPr lang="en-US" sz="900" b="1" i="0" u="none" strike="noStrike">
                        <a:solidFill>
                          <a:srgbClr val="000000"/>
                        </a:solidFill>
                        <a:effectLst/>
                        <a:latin typeface="+mj-lt"/>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j-lt"/>
                          <a:ea typeface="+mn-ea"/>
                          <a:cs typeface="+mn-cs"/>
                        </a:rPr>
                        <a:t>CBPT</a:t>
                      </a:r>
                    </a:p>
                  </a:txBody>
                  <a:tcPr marL="114300"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p>
                      <a:endParaRPr lang="en-US"/>
                    </a:p>
                  </a:txBody>
                  <a:tcPr/>
                </a:tc>
                <a:tc gridSpan="1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fr-FR" sz="900" b="0" i="0" u="none" strike="noStrike">
                          <a:solidFill>
                            <a:srgbClr val="000000"/>
                          </a:solidFill>
                          <a:effectLst/>
                          <a:latin typeface="Trebuchet MS" panose="020B0603020202020204" pitchFamily="34" charset="0"/>
                        </a:rPr>
                        <a:t>AMS, CAAP, CI, CLASS, COLT, DDGS, DDGS API, DM, DM (PEGA), ECM, EDTS, ENVOY, Excalibur, FX, FirstLine.com, Forms Management, IMDS, LAS, LCMS, Lending API, PCA/SAV, RPE, STB, TABS, Target, mMortgage</a:t>
                      </a:r>
                    </a:p>
                  </a:txBody>
                  <a:tcPr marL="9525" marR="9525" marT="27432" marB="27432"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Trebuchet MS" panose="020B0603020202020204" pitchFamily="34" charset="0"/>
                      </a:endParaRPr>
                    </a:p>
                  </a:txBody>
                  <a:tcPr marL="9525"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Trebuchet MS" panose="020B0603020202020204" pitchFamily="34" charset="0"/>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844036896"/>
                  </a:ext>
                </a:extLst>
              </a:tr>
              <a:tr h="182734">
                <a:tc vMerge="1">
                  <a:txBody>
                    <a:bodyPr/>
                    <a:lstStyle/>
                    <a:p>
                      <a:endParaRPr lang="en-US"/>
                    </a:p>
                  </a:txBody>
                  <a:tcPr>
                    <a:lnT w="12700" cmpd="sng">
                      <a:noFill/>
                      <a:prstDash val="solid"/>
                    </a:lnT>
                  </a:tcPr>
                </a:tc>
                <a:tc vMerge="1">
                  <a:txBody>
                    <a:bodyPr/>
                    <a:lstStyle/>
                    <a:p>
                      <a:endParaRPr lang="en-US"/>
                    </a:p>
                  </a:txBody>
                  <a:tcPr>
                    <a:lnT w="6350" cap="flat" cmpd="sng" algn="ctr">
                      <a:solidFill>
                        <a:srgbClr val="000000"/>
                      </a:solidFill>
                      <a:prstDash val="solid"/>
                      <a:round/>
                      <a:headEnd type="none" w="med" len="med"/>
                      <a:tailEnd type="none" w="med" len="med"/>
                    </a:lnT>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mj-lt"/>
                        </a:rPr>
                        <a:t>06</a:t>
                      </a:r>
                      <a:endParaRPr lang="en-US" sz="900" b="1" i="0" u="none" strike="noStrike">
                        <a:solidFill>
                          <a:srgbClr val="000000"/>
                        </a:solidFill>
                        <a:effectLst/>
                        <a:latin typeface="+mj-lt"/>
                      </a:endParaRPr>
                    </a:p>
                  </a:txBody>
                  <a:tcPr marL="9525" marR="9525" marT="27432" marB="27432" anchor="ctr">
                    <a:lnL w="12700" cmpd="sng">
                      <a:noFill/>
                      <a:prstDash val="soli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j-lt"/>
                          <a:ea typeface="+mn-ea"/>
                          <a:cs typeface="+mn-cs"/>
                        </a:rPr>
                        <a:t>Non-CBPT</a:t>
                      </a:r>
                    </a:p>
                  </a:txBody>
                  <a:tcPr marL="114300" marR="9525" marT="27432" marB="27432"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1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CA" sz="900" b="0" i="0" u="none" strike="noStrike" kern="1200">
                          <a:solidFill>
                            <a:srgbClr val="000000"/>
                          </a:solidFill>
                          <a:effectLst/>
                          <a:latin typeface="Trebuchet MS" panose="020B0603020202020204" pitchFamily="34" charset="0"/>
                          <a:ea typeface="+mn-ea"/>
                          <a:cs typeface="+mn-cs"/>
                        </a:rPr>
                        <a:t>COMPASS-AIM, Client Messaging Alert Broker (CMAB), ECIF, EDH, SKP (Vendor), eBanking</a:t>
                      </a:r>
                      <a:endParaRPr lang="en-US" sz="900" b="0" i="0" u="none" strike="noStrike" kern="1200">
                        <a:solidFill>
                          <a:srgbClr val="000000"/>
                        </a:solidFill>
                        <a:effectLst/>
                        <a:latin typeface="Trebuchet MS" panose="020B0603020202020204" pitchFamily="34" charset="0"/>
                        <a:ea typeface="+mn-ea"/>
                        <a:cs typeface="+mn-cs"/>
                      </a:endParaRPr>
                    </a:p>
                  </a:txBody>
                  <a:tcPr marL="9525" marR="9525" marT="27432" marB="27432"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mn-lt"/>
                      </a:endParaRPr>
                    </a:p>
                  </a:txBody>
                  <a:tcPr marL="9525" marR="9525" marT="8659" marB="0"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mn-lt"/>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1320110"/>
                  </a:ext>
                </a:extLst>
              </a:tr>
              <a:tr h="0">
                <a:tc>
                  <a:txBody>
                    <a:bodyPr/>
                    <a:lstStyle/>
                    <a:p>
                      <a:pPr algn="r" fontAlgn="ctr"/>
                      <a:r>
                        <a:rPr lang="en-CA" sz="1000" b="1" i="0" u="none" strike="noStrike">
                          <a:solidFill>
                            <a:srgbClr val="000000"/>
                          </a:solidFill>
                          <a:effectLst/>
                          <a:latin typeface="Trebuchet MS"/>
                        </a:rPr>
                        <a:t>Comments: </a:t>
                      </a:r>
                      <a:endParaRPr lang="en-US" sz="1000" b="1" i="0" u="none" strike="noStrike">
                        <a:solidFill>
                          <a:srgbClr val="000000"/>
                        </a:solidFill>
                        <a:effectLst/>
                        <a:latin typeface="Trebuchet MS"/>
                      </a:endParaRP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15">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900" kern="1200">
                          <a:solidFill>
                            <a:schemeClr val="tx1"/>
                          </a:solidFill>
                          <a:latin typeface="+mn-lt"/>
                          <a:ea typeface="+mn-ea"/>
                          <a:cs typeface="Arial" panose="020B0604020202020204" pitchFamily="34" charset="0"/>
                        </a:rPr>
                        <a:t>Release is Red as the impacted initiative listed below has testing delays caused by unresolved defects, SIT delays, and solution gaps, with key issues in data accuracy and formatting. UAT is dependent on E2E SIT which is delayed due to dependency on open defects from other teams (EDTS, GOW, Lending BI). Teams are prioritizing defect resolution and may re-baseline testing timelines if required.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900" b="0" i="0" u="none" strike="noStrike" kern="1200" noProof="0">
                          <a:solidFill>
                            <a:srgbClr val="000000"/>
                          </a:solidFill>
                          <a:effectLst/>
                          <a:latin typeface="+mn-lt"/>
                          <a:ea typeface="+mn-ea"/>
                          <a:cs typeface="+mn-cs"/>
                        </a:rPr>
                        <a:t>3517|Property Insurance Cancellation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900" b="0" i="0" u="none" strike="noStrike" kern="1200" noProof="0">
                          <a:solidFill>
                            <a:srgbClr val="000000"/>
                          </a:solidFill>
                          <a:effectLst/>
                          <a:latin typeface="+mn-lt"/>
                          <a:ea typeface="+mn-ea"/>
                          <a:cs typeface="+mn-cs"/>
                        </a:rPr>
                        <a:t>4149|</a:t>
                      </a:r>
                      <a:r>
                        <a:rPr lang="en-US" sz="900" b="0"/>
                        <a:t>NSOD Forms Update</a:t>
                      </a:r>
                      <a:r>
                        <a:rPr lang="en-CA" sz="900" b="0" i="0" u="none" strike="noStrike" kern="1200" noProof="0">
                          <a:solidFill>
                            <a:srgbClr val="000000"/>
                          </a:solidFill>
                          <a:effectLst/>
                          <a:latin typeface="+mn-lt"/>
                          <a:ea typeface="+mn-ea"/>
                          <a:cs typeface="+mn-cs"/>
                        </a:rPr>
                        <a:t> </a:t>
                      </a:r>
                      <a:endParaRPr lang="en-US" sz="900" b="0" kern="1200" noProof="0">
                        <a:solidFill>
                          <a:schemeClr val="tx1"/>
                        </a:solidFill>
                        <a:latin typeface="Arial" panose="020B0604020202020204" pitchFamily="34" charset="0"/>
                        <a:ea typeface="+mn-ea"/>
                        <a:cs typeface="Arial" panose="020B0604020202020204" pitchFamily="34" charset="0"/>
                      </a:endParaRPr>
                    </a:p>
                  </a:txBody>
                  <a:tcPr marL="9128" marR="9128" marT="27432" marB="27432">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914400" rtl="0" eaLnBrk="1" fontAlgn="ctr" latinLnBrk="0" hangingPunct="1"/>
                      <a:endParaRPr lang="en-US" sz="800" b="1" i="0" u="none" strike="noStrike" kern="1200">
                        <a:solidFill>
                          <a:srgbClr val="000000"/>
                        </a:solidFill>
                        <a:effectLst/>
                        <a:latin typeface="+mn-lt"/>
                        <a:ea typeface="+mn-ea"/>
                        <a:cs typeface="+mn-cs"/>
                      </a:endParaRPr>
                    </a:p>
                  </a:txBody>
                  <a:tcPr marL="9128" marR="9128" marT="8298" marB="0" anchor="ctr">
                    <a:lnL w="12700" cmpd="sng">
                      <a:noFill/>
                      <a:prstDash val="solid"/>
                    </a:lnL>
                    <a:lnR>
                      <a:noFill/>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algn="ctr" defTabSz="914400" rtl="0" eaLnBrk="1" fontAlgn="ctr" latinLnBrk="0" hangingPunct="1"/>
                      <a:endParaRPr lang="en-US" sz="800" b="1" i="0" u="none" strike="noStrike" kern="1200">
                        <a:solidFill>
                          <a:srgbClr val="000000"/>
                        </a:solidFill>
                        <a:effectLst/>
                        <a:latin typeface="+mn-lt"/>
                        <a:ea typeface="+mn-ea"/>
                        <a:cs typeface="+mn-cs"/>
                      </a:endParaRPr>
                    </a:p>
                  </a:txBody>
                  <a:tcPr marL="9128" marR="9128" marT="8298"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algn="ctr" defTabSz="914400" rtl="0" eaLnBrk="1" fontAlgn="ctr" latinLnBrk="0" hangingPunct="1"/>
                      <a:endParaRPr lang="en-US" sz="800" b="0" i="0" u="none" strike="noStrike" kern="1200">
                        <a:solidFill>
                          <a:srgbClr val="000000"/>
                        </a:solidFill>
                        <a:effectLst/>
                        <a:latin typeface="+mn-lt"/>
                        <a:ea typeface="+mn-ea"/>
                        <a:cs typeface="+mn-cs"/>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algn="ctr" fontAlgn="ctr"/>
                      <a:endParaRPr lang="en-US" sz="1500" b="0" i="0" u="none" strike="noStrike">
                        <a:solidFill>
                          <a:srgbClr val="000000"/>
                        </a:solidFill>
                        <a:effectLst/>
                        <a:latin typeface="Arial" panose="020B0604020202020204" pitchFamily="34" charset="0"/>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500" b="0" i="0" u="none" strike="noStrike">
                        <a:solidFill>
                          <a:srgbClr val="000000"/>
                        </a:solidFill>
                        <a:effectLst/>
                        <a:latin typeface="Arial" panose="020B0604020202020204" pitchFamily="34" charset="0"/>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rtl="0" fontAlgn="ctr"/>
                      <a:endParaRPr lang="en-US" sz="800" b="0" i="0" u="none" strike="noStrike">
                        <a:solidFill>
                          <a:srgbClr val="000000"/>
                        </a:solidFill>
                        <a:effectLst/>
                        <a:latin typeface="Trebuchet MS" panose="020B0603020202020204" pitchFamily="34" charset="0"/>
                      </a:endParaRPr>
                    </a:p>
                  </a:txBody>
                  <a:tcPr marL="109537"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en-US" sz="800" b="0" i="0" u="none" strike="noStrike">
                        <a:solidFill>
                          <a:srgbClr val="000000"/>
                        </a:solidFill>
                        <a:effectLst/>
                        <a:latin typeface="+mn-lt"/>
                      </a:endParaRPr>
                    </a:p>
                  </a:txBody>
                  <a:tcPr marL="9525" marR="9525" marT="8659" marB="0" anchor="ctr">
                    <a:lnL w="12700" cmpd="sng">
                      <a:noFill/>
                      <a:prstDash val="solid"/>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en-US" sz="800" b="0" i="0" u="none" strike="noStrike" kern="1200">
                        <a:solidFill>
                          <a:srgbClr val="000000"/>
                        </a:solidFill>
                        <a:effectLst/>
                        <a:latin typeface="Trebuchet MS"/>
                        <a:ea typeface="+mn-ea"/>
                        <a:cs typeface="+mn-cs"/>
                      </a:endParaRPr>
                    </a:p>
                  </a:txBody>
                  <a:tcPr marL="9525" marR="9525" marT="8659" marB="0" anchor="ctr">
                    <a:lnL>
                      <a:noFill/>
                    </a:lnL>
                    <a:lnR w="12700" cap="flat" cmpd="sng" algn="ctr">
                      <a:solidFill>
                        <a:sysClr val="windowText" lastClr="000000"/>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1958486"/>
                  </a:ext>
                </a:extLst>
              </a:tr>
            </a:tbl>
          </a:graphicData>
        </a:graphic>
      </p:graphicFrame>
      <p:graphicFrame>
        <p:nvGraphicFramePr>
          <p:cNvPr id="3" name="Table 2">
            <a:extLst>
              <a:ext uri="{FF2B5EF4-FFF2-40B4-BE49-F238E27FC236}">
                <a16:creationId xmlns:a16="http://schemas.microsoft.com/office/drawing/2014/main" id="{F0795E75-E986-3F39-16AC-8A8A4E7D4780}"/>
              </a:ext>
            </a:extLst>
          </p:cNvPr>
          <p:cNvGraphicFramePr>
            <a:graphicFrameLocks noGrp="1"/>
          </p:cNvGraphicFramePr>
          <p:nvPr>
            <p:extLst>
              <p:ext uri="{D42A27DB-BD31-4B8C-83A1-F6EECF244321}">
                <p14:modId xmlns:p14="http://schemas.microsoft.com/office/powerpoint/2010/main" val="1348945359"/>
              </p:ext>
            </p:extLst>
          </p:nvPr>
        </p:nvGraphicFramePr>
        <p:xfrm>
          <a:off x="117633" y="4935195"/>
          <a:ext cx="11626696" cy="1250116"/>
        </p:xfrm>
        <a:graphic>
          <a:graphicData uri="http://schemas.openxmlformats.org/drawingml/2006/table">
            <a:tbl>
              <a:tblPr/>
              <a:tblGrid>
                <a:gridCol w="1013152">
                  <a:extLst>
                    <a:ext uri="{9D8B030D-6E8A-4147-A177-3AD203B41FA5}">
                      <a16:colId xmlns:a16="http://schemas.microsoft.com/office/drawing/2014/main" val="542770605"/>
                    </a:ext>
                  </a:extLst>
                </a:gridCol>
                <a:gridCol w="591886">
                  <a:extLst>
                    <a:ext uri="{9D8B030D-6E8A-4147-A177-3AD203B41FA5}">
                      <a16:colId xmlns:a16="http://schemas.microsoft.com/office/drawing/2014/main" val="721424745"/>
                    </a:ext>
                  </a:extLst>
                </a:gridCol>
                <a:gridCol w="557555">
                  <a:extLst>
                    <a:ext uri="{9D8B030D-6E8A-4147-A177-3AD203B41FA5}">
                      <a16:colId xmlns:a16="http://schemas.microsoft.com/office/drawing/2014/main" val="2980709361"/>
                    </a:ext>
                  </a:extLst>
                </a:gridCol>
                <a:gridCol w="557555">
                  <a:extLst>
                    <a:ext uri="{9D8B030D-6E8A-4147-A177-3AD203B41FA5}">
                      <a16:colId xmlns:a16="http://schemas.microsoft.com/office/drawing/2014/main" val="4189054838"/>
                    </a:ext>
                  </a:extLst>
                </a:gridCol>
                <a:gridCol w="557555">
                  <a:extLst>
                    <a:ext uri="{9D8B030D-6E8A-4147-A177-3AD203B41FA5}">
                      <a16:colId xmlns:a16="http://schemas.microsoft.com/office/drawing/2014/main" val="1947436398"/>
                    </a:ext>
                  </a:extLst>
                </a:gridCol>
                <a:gridCol w="520386">
                  <a:extLst>
                    <a:ext uri="{9D8B030D-6E8A-4147-A177-3AD203B41FA5}">
                      <a16:colId xmlns:a16="http://schemas.microsoft.com/office/drawing/2014/main" val="3671164612"/>
                    </a:ext>
                  </a:extLst>
                </a:gridCol>
                <a:gridCol w="520386">
                  <a:extLst>
                    <a:ext uri="{9D8B030D-6E8A-4147-A177-3AD203B41FA5}">
                      <a16:colId xmlns:a16="http://schemas.microsoft.com/office/drawing/2014/main" val="4223143478"/>
                    </a:ext>
                  </a:extLst>
                </a:gridCol>
                <a:gridCol w="520386">
                  <a:extLst>
                    <a:ext uri="{9D8B030D-6E8A-4147-A177-3AD203B41FA5}">
                      <a16:colId xmlns:a16="http://schemas.microsoft.com/office/drawing/2014/main" val="1140894372"/>
                    </a:ext>
                  </a:extLst>
                </a:gridCol>
                <a:gridCol w="520386">
                  <a:extLst>
                    <a:ext uri="{9D8B030D-6E8A-4147-A177-3AD203B41FA5}">
                      <a16:colId xmlns:a16="http://schemas.microsoft.com/office/drawing/2014/main" val="159804669"/>
                    </a:ext>
                  </a:extLst>
                </a:gridCol>
                <a:gridCol w="520386">
                  <a:extLst>
                    <a:ext uri="{9D8B030D-6E8A-4147-A177-3AD203B41FA5}">
                      <a16:colId xmlns:a16="http://schemas.microsoft.com/office/drawing/2014/main" val="1706997556"/>
                    </a:ext>
                  </a:extLst>
                </a:gridCol>
                <a:gridCol w="966433">
                  <a:extLst>
                    <a:ext uri="{9D8B030D-6E8A-4147-A177-3AD203B41FA5}">
                      <a16:colId xmlns:a16="http://schemas.microsoft.com/office/drawing/2014/main" val="1630437860"/>
                    </a:ext>
                  </a:extLst>
                </a:gridCol>
                <a:gridCol w="520386">
                  <a:extLst>
                    <a:ext uri="{9D8B030D-6E8A-4147-A177-3AD203B41FA5}">
                      <a16:colId xmlns:a16="http://schemas.microsoft.com/office/drawing/2014/main" val="1549931440"/>
                    </a:ext>
                  </a:extLst>
                </a:gridCol>
                <a:gridCol w="520386">
                  <a:extLst>
                    <a:ext uri="{9D8B030D-6E8A-4147-A177-3AD203B41FA5}">
                      <a16:colId xmlns:a16="http://schemas.microsoft.com/office/drawing/2014/main" val="3188408529"/>
                    </a:ext>
                  </a:extLst>
                </a:gridCol>
                <a:gridCol w="1598330">
                  <a:extLst>
                    <a:ext uri="{9D8B030D-6E8A-4147-A177-3AD203B41FA5}">
                      <a16:colId xmlns:a16="http://schemas.microsoft.com/office/drawing/2014/main" val="4128971172"/>
                    </a:ext>
                  </a:extLst>
                </a:gridCol>
                <a:gridCol w="520386">
                  <a:extLst>
                    <a:ext uri="{9D8B030D-6E8A-4147-A177-3AD203B41FA5}">
                      <a16:colId xmlns:a16="http://schemas.microsoft.com/office/drawing/2014/main" val="55428124"/>
                    </a:ext>
                  </a:extLst>
                </a:gridCol>
                <a:gridCol w="1621142">
                  <a:extLst>
                    <a:ext uri="{9D8B030D-6E8A-4147-A177-3AD203B41FA5}">
                      <a16:colId xmlns:a16="http://schemas.microsoft.com/office/drawing/2014/main" val="2501393197"/>
                    </a:ext>
                  </a:extLst>
                </a:gridCol>
              </a:tblGrid>
              <a:tr h="23798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200" b="1" i="0" u="none" strike="noStrike">
                          <a:solidFill>
                            <a:schemeClr val="bg1"/>
                          </a:solidFill>
                          <a:effectLst/>
                          <a:latin typeface="Trebuchet MS"/>
                        </a:rPr>
                        <a:t>G</a:t>
                      </a:r>
                    </a:p>
                  </a:txBody>
                  <a:tcPr marL="9525" marR="9525" marT="8659"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gridSpan="15">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l" defTabSz="914400" rtl="0" eaLnBrk="1" fontAlgn="ctr" latinLnBrk="0" hangingPunct="1"/>
                      <a:r>
                        <a:rPr lang="en-US" sz="1200" b="1" i="0" u="none" strike="noStrike" kern="1200">
                          <a:solidFill>
                            <a:srgbClr val="C00000"/>
                          </a:solidFill>
                          <a:effectLst/>
                          <a:latin typeface="Calibri" panose="020F0502020204030204"/>
                          <a:ea typeface="+mn-ea"/>
                          <a:cs typeface="+mn-cs"/>
                        </a:rPr>
                        <a:t>Core Banking - Feb 1, 2025</a:t>
                      </a:r>
                    </a:p>
                  </a:txBody>
                  <a:tcPr marL="114300" marR="9525" marT="41564" marB="41564"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endParaRPr lang="en-US" sz="1000" kern="1200">
                        <a:solidFill>
                          <a:srgbClr val="000000"/>
                        </a:solidFill>
                        <a:latin typeface="+mn-lt"/>
                        <a:ea typeface="+mn-ea"/>
                        <a:cs typeface="+mn-cs"/>
                      </a:endParaRPr>
                    </a:p>
                  </a:txBody>
                  <a:tcPr marL="9525" marR="114300" marT="41564" marB="41564" anchor="ctr">
                    <a:lnL w="12700" cap="flat" cmpd="sng" algn="ctr">
                      <a:solidFill>
                        <a:schemeClr val="tx1">
                          <a:lumMod val="65000"/>
                          <a:lumOff val="35000"/>
                        </a:schemeClr>
                      </a:solidFill>
                      <a:prstDash val="solid"/>
                      <a:round/>
                      <a:headEnd type="none" w="med" len="med"/>
                      <a:tailEnd type="none" w="med" len="med"/>
                    </a:lnL>
                    <a:lnR>
                      <a:noFill/>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R w="9525" cap="flat" cmpd="sng" algn="ctr">
                      <a:no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L>
                      <a:noFill/>
                    </a:lnL>
                    <a:lnR w="9525" cap="flat" cmpd="sng" algn="ctr">
                      <a:no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7013967"/>
                  </a:ext>
                </a:extLst>
              </a:tr>
              <a:tr h="182734">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r>
                        <a:rPr lang="en-US" sz="1000" b="1" i="0" u="none" strike="noStrike">
                          <a:solidFill>
                            <a:srgbClr val="000000"/>
                          </a:solidFill>
                          <a:effectLst/>
                          <a:latin typeface="Trebuchet MS"/>
                        </a:rPr>
                        <a:t>Phase:</a:t>
                      </a: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REQ</a:t>
                      </a:r>
                      <a:endParaRPr lang="en-US" sz="900" b="1" i="0" u="none" strike="noStrike">
                        <a:solidFill>
                          <a:srgbClr val="000000"/>
                        </a:solidFill>
                        <a:effectLst/>
                        <a:latin typeface="Trebuchet MS"/>
                      </a:endParaRP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DES</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CON</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DIT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SIT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UAT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PAT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INFRA</a:t>
                      </a:r>
                      <a:endParaRPr lang="en-US" sz="900" b="1" i="0" u="none" strike="noStrike">
                        <a:solidFill>
                          <a:srgbClr val="000000"/>
                        </a:solidFill>
                        <a:effectLst/>
                        <a:latin typeface="Trebuchet MS"/>
                      </a:endParaRPr>
                    </a:p>
                  </a:txBody>
                  <a:tcPr marL="9525" marR="9525" marT="27432" marB="27432" anchor="ctr">
                    <a:lnL>
                      <a:noFill/>
                    </a:lnL>
                    <a:lnR w="6350"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C/F </a:t>
                      </a:r>
                    </a:p>
                  </a:txBody>
                  <a:tcPr marL="9525" marR="9525" marT="27432" marB="27432" anchor="ctr">
                    <a:lnL>
                      <a:noFill/>
                    </a:lnL>
                    <a:lnR w="12700" cap="flat" cmpd="sng" algn="ctr">
                      <a:solidFill>
                        <a:srgbClr val="E7E6E6">
                          <a:lumMod val="75000"/>
                        </a:srgb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1000" b="1" i="0" u="none" strike="noStrike">
                          <a:solidFill>
                            <a:srgbClr val="000000"/>
                          </a:solidFill>
                          <a:effectLst/>
                          <a:latin typeface="Trebuchet MS"/>
                        </a:rPr>
                        <a:t>Scope:</a:t>
                      </a:r>
                    </a:p>
                  </a:txBody>
                  <a:tcPr marL="9525" marR="9525" marT="27432" marB="27432" anchor="ctr">
                    <a:lnL w="12700" cap="flat" cmpd="sng" algn="ctr">
                      <a:solidFill>
                        <a:srgbClr val="E7E6E6">
                          <a:lumMod val="75000"/>
                        </a:srgb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000" b="1" i="0" u="none" strike="noStrike">
                          <a:solidFill>
                            <a:srgbClr val="C00000"/>
                          </a:solidFill>
                          <a:effectLst/>
                          <a:latin typeface="Trebuchet MS"/>
                        </a:rPr>
                        <a:t>20</a:t>
                      </a:r>
                      <a:endParaRPr lang="en-US" sz="1000" b="1" i="0" u="none" strike="noStrike">
                        <a:solidFill>
                          <a:srgbClr val="C00000"/>
                        </a:solidFill>
                        <a:effectLst/>
                        <a:latin typeface="Trebuchet MS"/>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13</a:t>
                      </a:r>
                      <a:endParaRPr lang="en-US" sz="900" b="1" i="0" u="none" strike="noStrike">
                        <a:solidFill>
                          <a:srgbClr val="000000"/>
                        </a:solidFill>
                        <a:effectLst/>
                        <a:latin typeface="Trebuchet MS"/>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a:solidFill>
                            <a:srgbClr val="000000"/>
                          </a:solidFill>
                          <a:effectLst/>
                          <a:latin typeface="Trebuchet MS"/>
                        </a:rPr>
                        <a:t>Projects &amp; MOPs</a:t>
                      </a:r>
                    </a:p>
                  </a:txBody>
                  <a:tcPr marL="114300" marR="9525" marT="27432" marB="27432"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900" b="1" i="0" u="none" strike="noStrike">
                        <a:solidFill>
                          <a:srgbClr val="000000"/>
                        </a:solidFill>
                        <a:effectLst/>
                        <a:latin typeface="Trebuchet MS"/>
                      </a:endParaRPr>
                    </a:p>
                  </a:txBody>
                  <a:tcPr marL="114300" marR="9525" marT="27432" marB="27432"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kern="1200">
                          <a:solidFill>
                            <a:srgbClr val="000000"/>
                          </a:solidFill>
                          <a:effectLst/>
                          <a:latin typeface="Trebuchet MS"/>
                          <a:ea typeface="+mn-ea"/>
                          <a:cs typeface="+mn-cs"/>
                        </a:rPr>
                        <a:t>Regulatory</a:t>
                      </a:r>
                    </a:p>
                  </a:txBody>
                  <a:tcPr marL="114300" marR="9525" marT="27432" marB="27432"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6548466"/>
                  </a:ext>
                </a:extLst>
              </a:tr>
              <a:tr h="54087">
                <a:tc vMerge="1">
                  <a:txBody>
                    <a:bodyPr/>
                    <a:lstStyle/>
                    <a:p>
                      <a:endParaRPr lang="en-US"/>
                    </a:p>
                  </a:txBody>
                  <a:tcPr>
                    <a:lnT w="12700" cmpd="sng">
                      <a:noFill/>
                      <a:prstDash val="solid"/>
                    </a:lnT>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chemeClr val="tx1"/>
                          </a:solidFill>
                          <a:effectLst/>
                          <a:latin typeface="Trebuchet MS"/>
                        </a:rPr>
                        <a:t>C</a:t>
                      </a:r>
                      <a:endParaRPr lang="en-US" sz="900" b="1" i="0" u="none" strike="noStrike">
                        <a:solidFill>
                          <a:schemeClr val="tx1"/>
                        </a:solidFill>
                        <a:effectLst/>
                        <a:latin typeface="Trebuchet MS"/>
                      </a:endParaRPr>
                    </a:p>
                  </a:txBody>
                  <a:tcPr marL="9525" marR="9525" marT="8659" marB="0" anchor="ctr">
                    <a:lnL w="12700" cap="flat" cmpd="sng" algn="ctr">
                      <a:solidFill>
                        <a:schemeClr val="tx1">
                          <a:lumMod val="65000"/>
                          <a:lumOff val="35000"/>
                        </a:schemeClr>
                      </a:solidFill>
                      <a:prstDash val="solid"/>
                      <a:round/>
                      <a:headEnd type="none" w="med" len="med"/>
                      <a:tailEnd type="none" w="med" len="me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w="6350"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w="12700" cap="flat" cmpd="sng" algn="ctr">
                      <a:solidFill>
                        <a:srgbClr val="E7E6E6">
                          <a:lumMod val="75000"/>
                        </a:srgb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vMerge="1">
                  <a:txBody>
                    <a:bodyPr/>
                    <a:lstStyle/>
                    <a:p>
                      <a:endParaRPr lang="en-US"/>
                    </a:p>
                  </a:txBody>
                  <a:tcPr>
                    <a:lnT w="6350" cap="flat" cmpd="sng" algn="ctr">
                      <a:solidFill>
                        <a:srgbClr val="000000"/>
                      </a:solidFill>
                      <a:prstDash val="solid"/>
                      <a:round/>
                      <a:headEnd type="none" w="med" len="med"/>
                      <a:tailEnd type="none" w="med" len="med"/>
                    </a:lnT>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7</a:t>
                      </a:r>
                      <a:endParaRPr lang="en-US" sz="900" b="1" i="0" u="none" strike="noStrike">
                        <a:solidFill>
                          <a:srgbClr val="000000"/>
                        </a:solidFill>
                        <a:effectLst/>
                        <a:latin typeface="Trebuchet MS"/>
                      </a:endParaRPr>
                    </a:p>
                  </a:txBody>
                  <a:tcPr marL="9525" marR="9525" marT="27432" marB="27432" anchor="ctr">
                    <a:lnL w="12700" cmpd="sng">
                      <a:noFill/>
                      <a:prstDash val="soli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a:solidFill>
                            <a:srgbClr val="000000"/>
                          </a:solidFill>
                          <a:effectLst/>
                          <a:latin typeface="Trebuchet MS"/>
                        </a:rPr>
                        <a:t>PRBs/INCs/Others</a:t>
                      </a:r>
                    </a:p>
                  </a:txBody>
                  <a:tcPr marL="114300" marR="9525" marT="27432" marB="27432"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900" b="1" i="0" u="none" strike="noStrike">
                        <a:solidFill>
                          <a:srgbClr val="000000"/>
                        </a:solidFill>
                        <a:effectLst/>
                        <a:latin typeface="Trebuchet MS"/>
                      </a:endParaRPr>
                    </a:p>
                  </a:txBody>
                  <a:tcPr marL="114300" marR="9525" marT="27432" marB="27432"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CA" sz="900" b="0" i="0" u="none" strike="noStrike">
                          <a:solidFill>
                            <a:srgbClr val="000000"/>
                          </a:solidFill>
                          <a:effectLst/>
                          <a:latin typeface="Trebuchet MS"/>
                        </a:rPr>
                        <a:t>Financial</a:t>
                      </a:r>
                      <a:endParaRPr lang="en-US" sz="900" b="0" i="0" u="none" strike="noStrike">
                        <a:solidFill>
                          <a:srgbClr val="000000"/>
                        </a:solidFill>
                        <a:effectLst/>
                        <a:latin typeface="Trebuchet MS"/>
                      </a:endParaRPr>
                    </a:p>
                  </a:txBody>
                  <a:tcPr marL="114300" marR="9525" marT="27432" marB="27432"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9864797"/>
                  </a:ext>
                </a:extLst>
              </a:tr>
              <a:tr h="139589">
                <a:tc vMerge="1">
                  <a:txBody>
                    <a:bodyPr/>
                    <a:lstStyle/>
                    <a:p>
                      <a:pPr algn="r" fontAlgn="ctr"/>
                      <a:endParaRPr lang="en-US" sz="1000" b="1" i="0" u="none" strike="noStrike">
                        <a:solidFill>
                          <a:srgbClr val="000000"/>
                        </a:solidFill>
                        <a:effectLst/>
                        <a:latin typeface="Trebuchet MS"/>
                      </a:endParaRPr>
                    </a:p>
                  </a:txBody>
                  <a:tcPr marL="9525" marR="9525" marT="41564" marB="41564"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w="12700" cap="flat" cmpd="sng" algn="ctr">
                      <a:solidFill>
                        <a:schemeClr val="tx1">
                          <a:lumMod val="65000"/>
                          <a:lumOff val="35000"/>
                        </a:schemeClr>
                      </a:solidFill>
                      <a:prstDash val="solid"/>
                      <a:round/>
                      <a:headEnd type="none" w="med" len="med"/>
                      <a:tailEnd type="none" w="med" len="me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w="6350"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w="12700" cap="flat" cmpd="sng" algn="ctr">
                      <a:solidFill>
                        <a:srgbClr val="E7E6E6">
                          <a:lumMod val="75000"/>
                        </a:srgb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vMerge="1">
                  <a:txBody>
                    <a:bodyPr/>
                    <a:lstStyle/>
                    <a:p>
                      <a:pPr algn="ctr" fontAlgn="ctr"/>
                      <a:endParaRPr lang="en-US" sz="1000" b="1" i="0" u="none" strike="noStrike">
                        <a:solidFill>
                          <a:srgbClr val="000000"/>
                        </a:solidFill>
                        <a:effectLst/>
                        <a:latin typeface="Trebuchet MS"/>
                      </a:endParaRPr>
                    </a:p>
                  </a:txBody>
                  <a:tcPr marL="9525" marR="9525" marT="41564" marB="41564" anchor="ctr">
                    <a:lnL w="12700" cap="flat" cmpd="sng" algn="ctr">
                      <a:solidFill>
                        <a:srgbClr val="E7E6E6">
                          <a:lumMod val="75000"/>
                        </a:srgb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sz="1000" b="1" i="0" u="none" strike="noStrike">
                        <a:solidFill>
                          <a:srgbClr val="C00000"/>
                        </a:solidFill>
                        <a:effectLst/>
                        <a:latin typeface="Trebuchet MS"/>
                      </a:endParaRPr>
                    </a:p>
                  </a:txBody>
                  <a:tcPr marL="9525" marR="9525" marT="41564" marB="41564"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sz="900" b="1" i="0" u="none" strike="noStrike">
                        <a:solidFill>
                          <a:srgbClr val="000000"/>
                        </a:solidFill>
                        <a:effectLst/>
                        <a:latin typeface="Trebuchet MS"/>
                      </a:endParaRPr>
                    </a:p>
                  </a:txBody>
                  <a:tcPr marL="9525" marR="9525" marT="8659" marB="0" anchor="ctr">
                    <a:lnL w="12700" cmpd="sng">
                      <a:noFill/>
                      <a:prstDash val="soli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4377228"/>
                  </a:ext>
                </a:extLst>
              </a:tr>
              <a:tr h="191360">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r>
                        <a:rPr lang="en-US" sz="1000" b="1" i="0" u="none" strike="noStrike">
                          <a:solidFill>
                            <a:srgbClr val="000000"/>
                          </a:solidFill>
                          <a:effectLst/>
                          <a:latin typeface="Trebuchet MS"/>
                        </a:rPr>
                        <a:t>Apps:</a:t>
                      </a: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000" b="1" i="0" u="none" strike="noStrike">
                          <a:solidFill>
                            <a:srgbClr val="C00000"/>
                          </a:solidFill>
                          <a:effectLst/>
                          <a:latin typeface="+mj-lt"/>
                        </a:rPr>
                        <a:t>2</a:t>
                      </a:r>
                      <a:r>
                        <a:rPr lang="en-US" sz="1000" b="1" i="0" u="none" strike="noStrike">
                          <a:solidFill>
                            <a:srgbClr val="C00000"/>
                          </a:solidFill>
                          <a:effectLst/>
                          <a:latin typeface="+mj-lt"/>
                        </a:rPr>
                        <a:t>5</a:t>
                      </a: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mj-lt"/>
                        </a:rPr>
                        <a:t>16</a:t>
                      </a:r>
                      <a:endParaRPr lang="en-US" sz="900" b="1" i="0" u="none" strike="noStrike">
                        <a:solidFill>
                          <a:srgbClr val="000000"/>
                        </a:solidFill>
                        <a:effectLst/>
                        <a:latin typeface="+mj-lt"/>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j-lt"/>
                          <a:ea typeface="+mn-ea"/>
                          <a:cs typeface="+mn-cs"/>
                        </a:rPr>
                        <a:t>CBPT</a:t>
                      </a:r>
                    </a:p>
                  </a:txBody>
                  <a:tcPr marL="114300"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p>
                      <a:endParaRPr lang="en-US"/>
                    </a:p>
                  </a:txBody>
                  <a:tcPr/>
                </a:tc>
                <a:tc gridSpan="1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fr-FR" sz="900" b="0" i="0" u="none" strike="noStrike">
                          <a:solidFill>
                            <a:srgbClr val="000000"/>
                          </a:solidFill>
                          <a:effectLst/>
                          <a:latin typeface="Trebuchet MS" panose="020B0603020202020204" pitchFamily="34" charset="0"/>
                        </a:rPr>
                        <a:t>CAAP, CIBC R.Term, CLASS, DDGS, DM, ECM, Excalibur, Forms Management, KC, LCMS, Lending API, mMortgage, PostEdge, RPE, TABS, Target</a:t>
                      </a:r>
                    </a:p>
                  </a:txBody>
                  <a:tcPr marL="9525" marR="9525" marT="27432" marB="27432"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lumMod val="65000"/>
                          <a:lumOff val="35000"/>
                        </a:schemeClr>
                      </a:solidFill>
                      <a:prstDash val="solid"/>
                      <a:round/>
                      <a:headEnd type="none" w="med" len="med"/>
                      <a:tailEnd type="none" w="med" len="med"/>
                    </a:lnL>
                    <a:lnT w="12700" cap="flat" cmpd="sng" algn="ctr">
                      <a:solidFill>
                        <a:srgbClr val="E7E6E6">
                          <a:lumMod val="75000"/>
                        </a:srgbClr>
                      </a:solidFill>
                      <a:prstDash val="solid"/>
                      <a:round/>
                      <a:headEnd type="none" w="med" len="med"/>
                      <a:tailEnd type="none" w="med" len="med"/>
                    </a:lnT>
                  </a:tcPr>
                </a:tc>
                <a:tc hMerge="1">
                  <a:txBody>
                    <a:bodyPr/>
                    <a:lstStyle/>
                    <a:p>
                      <a:endParaRPr 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Trebuchet MS" panose="020B0603020202020204" pitchFamily="34" charset="0"/>
                      </a:endParaRPr>
                    </a:p>
                  </a:txBody>
                  <a:tcPr marL="9525"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Trebuchet MS" panose="020B0603020202020204" pitchFamily="34" charset="0"/>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844036896"/>
                  </a:ext>
                </a:extLst>
              </a:tr>
              <a:tr h="182734">
                <a:tc vMerge="1">
                  <a:txBody>
                    <a:bodyPr/>
                    <a:lstStyle/>
                    <a:p>
                      <a:endParaRPr lang="en-US"/>
                    </a:p>
                  </a:txBody>
                  <a:tcPr>
                    <a:lnT w="12700" cmpd="sng">
                      <a:noFill/>
                      <a:prstDash val="solid"/>
                    </a:lnT>
                  </a:tcPr>
                </a:tc>
                <a:tc vMerge="1">
                  <a:txBody>
                    <a:bodyPr/>
                    <a:lstStyle/>
                    <a:p>
                      <a:endParaRPr lang="en-US"/>
                    </a:p>
                  </a:txBody>
                  <a:tcPr>
                    <a:lnT w="6350" cap="flat" cmpd="sng" algn="ctr">
                      <a:solidFill>
                        <a:srgbClr val="000000"/>
                      </a:solidFill>
                      <a:prstDash val="solid"/>
                      <a:round/>
                      <a:headEnd type="none" w="med" len="med"/>
                      <a:tailEnd type="none" w="med" len="med"/>
                    </a:lnT>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mj-lt"/>
                        </a:rPr>
                        <a:t>9</a:t>
                      </a:r>
                      <a:endParaRPr lang="en-US" sz="900" b="1" i="0" u="none" strike="noStrike">
                        <a:solidFill>
                          <a:srgbClr val="000000"/>
                        </a:solidFill>
                        <a:effectLst/>
                        <a:latin typeface="+mj-lt"/>
                      </a:endParaRPr>
                    </a:p>
                  </a:txBody>
                  <a:tcPr marL="9525" marR="9525" marT="27432" marB="27432" anchor="ctr">
                    <a:lnL w="12700" cmpd="sng">
                      <a:noFill/>
                      <a:prstDash val="soli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j-lt"/>
                          <a:ea typeface="+mn-ea"/>
                          <a:cs typeface="+mn-cs"/>
                        </a:rPr>
                        <a:t>Non-CBPT</a:t>
                      </a:r>
                    </a:p>
                  </a:txBody>
                  <a:tcPr marL="114300" marR="9525" marT="27432" marB="27432"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1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Trebuchet MS" panose="020B0603020202020204" pitchFamily="34" charset="0"/>
                          <a:ea typeface="+mn-ea"/>
                          <a:cs typeface="+mn-cs"/>
                        </a:rPr>
                        <a:t>Auth Hub, CCARS, CIW, eBanking, ECIF, EDSF, EPC, Fraud Analyst Engine (OLB), Lending BI</a:t>
                      </a:r>
                    </a:p>
                  </a:txBody>
                  <a:tcPr marL="9525" marR="9525" marT="27432" marB="27432"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mn-lt"/>
                      </a:endParaRPr>
                    </a:p>
                  </a:txBody>
                  <a:tcPr marL="9525" marR="9525" marT="8659" marB="0"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mn-lt"/>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1320110"/>
                  </a:ext>
                </a:extLst>
              </a:tr>
              <a:tr h="0">
                <a:tc>
                  <a:txBody>
                    <a:bodyPr/>
                    <a:lstStyle/>
                    <a:p>
                      <a:pPr algn="r" fontAlgn="ctr"/>
                      <a:r>
                        <a:rPr lang="en-CA" sz="1000" b="1" i="0" u="none" strike="noStrike">
                          <a:solidFill>
                            <a:srgbClr val="000000"/>
                          </a:solidFill>
                          <a:effectLst/>
                          <a:latin typeface="Trebuchet MS"/>
                        </a:rPr>
                        <a:t>Comments: </a:t>
                      </a:r>
                      <a:endParaRPr lang="en-US" sz="1000" b="1" i="0" u="none" strike="noStrike">
                        <a:solidFill>
                          <a:srgbClr val="000000"/>
                        </a:solidFill>
                        <a:effectLst/>
                        <a:latin typeface="Trebuchet MS"/>
                      </a:endParaRP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15">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900" b="0" kern="1200" noProof="0">
                          <a:solidFill>
                            <a:schemeClr val="tx1"/>
                          </a:solidFill>
                          <a:latin typeface="Arial" panose="020B0604020202020204" pitchFamily="34" charset="0"/>
                          <a:ea typeface="+mn-ea"/>
                          <a:cs typeface="Arial" panose="020B0604020202020204" pitchFamily="34" charset="0"/>
                        </a:rPr>
                        <a:t>Release is tracking Green. SIT execution is in progress. Detailed updates will be available as we approach the release.</a:t>
                      </a:r>
                    </a:p>
                  </a:txBody>
                  <a:tcPr marL="9128" marR="9128" marT="27432" marB="27432">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914400" rtl="0" eaLnBrk="1" fontAlgn="ctr" latinLnBrk="0" hangingPunct="1"/>
                      <a:endParaRPr lang="en-US" sz="800" b="1" i="0" u="none" strike="noStrike" kern="1200">
                        <a:solidFill>
                          <a:srgbClr val="000000"/>
                        </a:solidFill>
                        <a:effectLst/>
                        <a:latin typeface="+mn-lt"/>
                        <a:ea typeface="+mn-ea"/>
                        <a:cs typeface="+mn-cs"/>
                      </a:endParaRPr>
                    </a:p>
                  </a:txBody>
                  <a:tcPr marL="9128" marR="9128" marT="8298" marB="0" anchor="ctr">
                    <a:lnL w="12700" cmpd="sng">
                      <a:noFill/>
                      <a:prstDash val="solid"/>
                    </a:lnL>
                    <a:lnR>
                      <a:noFill/>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algn="ctr" defTabSz="914400" rtl="0" eaLnBrk="1" fontAlgn="ctr" latinLnBrk="0" hangingPunct="1"/>
                      <a:endParaRPr lang="en-US" sz="800" b="1" i="0" u="none" strike="noStrike" kern="1200">
                        <a:solidFill>
                          <a:srgbClr val="000000"/>
                        </a:solidFill>
                        <a:effectLst/>
                        <a:latin typeface="+mn-lt"/>
                        <a:ea typeface="+mn-ea"/>
                        <a:cs typeface="+mn-cs"/>
                      </a:endParaRPr>
                    </a:p>
                  </a:txBody>
                  <a:tcPr marL="9128" marR="9128" marT="8298"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algn="ctr" defTabSz="914400" rtl="0" eaLnBrk="1" fontAlgn="ctr" latinLnBrk="0" hangingPunct="1"/>
                      <a:endParaRPr lang="en-US" sz="800" b="0" i="0" u="none" strike="noStrike" kern="1200">
                        <a:solidFill>
                          <a:srgbClr val="000000"/>
                        </a:solidFill>
                        <a:effectLst/>
                        <a:latin typeface="+mn-lt"/>
                        <a:ea typeface="+mn-ea"/>
                        <a:cs typeface="+mn-cs"/>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pPr algn="ctr" fontAlgn="ctr"/>
                      <a:endParaRPr lang="en-US" sz="1500" b="0" i="0" u="none" strike="noStrike">
                        <a:solidFill>
                          <a:srgbClr val="000000"/>
                        </a:solidFill>
                        <a:effectLst/>
                        <a:latin typeface="Arial" panose="020B0604020202020204" pitchFamily="34" charset="0"/>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500" b="0" i="0" u="none" strike="noStrike">
                        <a:solidFill>
                          <a:srgbClr val="000000"/>
                        </a:solidFill>
                        <a:effectLst/>
                        <a:latin typeface="Arial" panose="020B0604020202020204" pitchFamily="34" charset="0"/>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rtl="0" fontAlgn="ctr"/>
                      <a:endParaRPr lang="en-US" sz="800" b="0" i="0" u="none" strike="noStrike">
                        <a:solidFill>
                          <a:srgbClr val="000000"/>
                        </a:solidFill>
                        <a:effectLst/>
                        <a:latin typeface="Trebuchet MS" panose="020B0603020202020204" pitchFamily="34" charset="0"/>
                      </a:endParaRPr>
                    </a:p>
                  </a:txBody>
                  <a:tcPr marL="109537"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en-US" sz="800" b="0" i="0" u="none" strike="noStrike">
                        <a:solidFill>
                          <a:srgbClr val="000000"/>
                        </a:solidFill>
                        <a:effectLst/>
                        <a:latin typeface="+mn-lt"/>
                      </a:endParaRPr>
                    </a:p>
                  </a:txBody>
                  <a:tcPr marL="9525" marR="9525" marT="8659" marB="0" anchor="ctr">
                    <a:lnL w="12700" cmpd="sng">
                      <a:noFill/>
                      <a:prstDash val="solid"/>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en-US" sz="800" b="0" i="0" u="none" strike="noStrike" kern="1200">
                        <a:solidFill>
                          <a:srgbClr val="000000"/>
                        </a:solidFill>
                        <a:effectLst/>
                        <a:latin typeface="Trebuchet MS"/>
                        <a:ea typeface="+mn-ea"/>
                        <a:cs typeface="+mn-cs"/>
                      </a:endParaRPr>
                    </a:p>
                  </a:txBody>
                  <a:tcPr marL="9525" marR="9525" marT="8659" marB="0" anchor="ctr">
                    <a:lnL>
                      <a:noFill/>
                    </a:lnL>
                    <a:lnR w="12700" cap="flat" cmpd="sng" algn="ctr">
                      <a:solidFill>
                        <a:sysClr val="windowText" lastClr="000000"/>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1958486"/>
                  </a:ext>
                </a:extLst>
              </a:tr>
            </a:tbl>
          </a:graphicData>
        </a:graphic>
      </p:graphicFrame>
    </p:spTree>
    <p:extLst>
      <p:ext uri="{BB962C8B-B14F-4D97-AF65-F5344CB8AC3E}">
        <p14:creationId xmlns:p14="http://schemas.microsoft.com/office/powerpoint/2010/main" val="470183937"/>
      </p:ext>
    </p:extLst>
  </p:cSld>
  <p:clrMapOvr>
    <a:masterClrMapping/>
  </p:clrMapOvr>
  <mc:AlternateContent xmlns:mc="http://schemas.openxmlformats.org/markup-compatibility/2006">
    <mc:Choice xmlns:p14="http://schemas.microsoft.com/office/powerpoint/2010/main" Requires="p14">
      <p:transition spd="slow" p14:dur="2000" advTm="30000"/>
    </mc:Choice>
    <mc:Fallback>
      <p:transition spd="slow" advTm="30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F4420-B273-BECC-E51F-5789F8DDA01C}"/>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F2C0FE28-B66E-D0B7-FEBA-B6C324F1BC31}"/>
              </a:ext>
            </a:extLst>
          </p:cNvPr>
          <p:cNvSpPr txBox="1">
            <a:spLocks/>
          </p:cNvSpPr>
          <p:nvPr/>
        </p:nvSpPr>
        <p:spPr>
          <a:xfrm>
            <a:off x="117633" y="100566"/>
            <a:ext cx="11292840" cy="553998"/>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US" altLang="en-US"/>
              <a:t>CB&amp;PT Release Management Status </a:t>
            </a:r>
            <a:endParaRPr lang="en-CA"/>
          </a:p>
        </p:txBody>
      </p:sp>
      <p:sp>
        <p:nvSpPr>
          <p:cNvPr id="32" name="Subtitle 2">
            <a:extLst>
              <a:ext uri="{FF2B5EF4-FFF2-40B4-BE49-F238E27FC236}">
                <a16:creationId xmlns:a16="http://schemas.microsoft.com/office/drawing/2014/main" id="{F7DBCEF7-5344-F423-9AA0-C97323F103AF}"/>
              </a:ext>
            </a:extLst>
          </p:cNvPr>
          <p:cNvSpPr txBox="1">
            <a:spLocks/>
          </p:cNvSpPr>
          <p:nvPr/>
        </p:nvSpPr>
        <p:spPr>
          <a:xfrm>
            <a:off x="117633" y="564947"/>
            <a:ext cx="11292840" cy="369332"/>
          </a:xfrm>
          <a:prstGeom prst="rect">
            <a:avLst/>
          </a:prstGeom>
        </p:spPr>
        <p:txBody>
          <a:bodyPr vert="horz" lIns="0" tIns="0" rIns="0" bIns="0" rtlCol="0" anchor="t">
            <a:spAutoFit/>
          </a:bodyPr>
          <a:lstStyle>
            <a:lvl1pPr marL="0" indent="0" algn="l" defTabSz="914400" rtl="0" eaLnBrk="1" latinLnBrk="0" hangingPunct="1">
              <a:spcBef>
                <a:spcPts val="600"/>
              </a:spcBef>
              <a:spcAft>
                <a:spcPts val="600"/>
              </a:spcAft>
              <a:buFont typeface="Arial" panose="020B0604020202020204" pitchFamily="34" charset="0"/>
              <a:buNone/>
              <a:defRPr sz="2000" b="1" kern="1200">
                <a:solidFill>
                  <a:schemeClr val="accent6"/>
                </a:solidFill>
                <a:latin typeface="+mn-lt"/>
                <a:ea typeface="+mn-ea"/>
                <a:cs typeface="+mn-cs"/>
              </a:defRPr>
            </a:lvl1pPr>
            <a:lvl2pPr marL="228600" indent="-228600"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2pPr>
            <a:lvl3pPr marL="457200" indent="-22383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3pPr>
            <a:lvl4pPr marL="685800" indent="-231775"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4pPr>
            <a:lvl5pPr marL="915988" indent="-23018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CA" sz="2400"/>
              <a:t>Executive Summary</a:t>
            </a:r>
          </a:p>
        </p:txBody>
      </p:sp>
      <p:graphicFrame>
        <p:nvGraphicFramePr>
          <p:cNvPr id="48" name="Table 2">
            <a:extLst>
              <a:ext uri="{FF2B5EF4-FFF2-40B4-BE49-F238E27FC236}">
                <a16:creationId xmlns:a16="http://schemas.microsoft.com/office/drawing/2014/main" id="{2952CB3A-4061-CC27-00B7-7D8766E9DE87}"/>
              </a:ext>
            </a:extLst>
          </p:cNvPr>
          <p:cNvGraphicFramePr>
            <a:graphicFrameLocks noGrp="1"/>
          </p:cNvGraphicFramePr>
          <p:nvPr/>
        </p:nvGraphicFramePr>
        <p:xfrm>
          <a:off x="6344984" y="671732"/>
          <a:ext cx="4702235" cy="243840"/>
        </p:xfrm>
        <a:graphic>
          <a:graphicData uri="http://schemas.openxmlformats.org/drawingml/2006/table">
            <a:tbl>
              <a:tblPr firstRow="1" bandRow="1">
                <a:tableStyleId>{5940675A-B579-460E-94D1-54222C63F5DA}</a:tableStyleId>
              </a:tblPr>
              <a:tblGrid>
                <a:gridCol w="226662">
                  <a:extLst>
                    <a:ext uri="{9D8B030D-6E8A-4147-A177-3AD203B41FA5}">
                      <a16:colId xmlns:a16="http://schemas.microsoft.com/office/drawing/2014/main" val="2552748061"/>
                    </a:ext>
                  </a:extLst>
                </a:gridCol>
                <a:gridCol w="497989">
                  <a:extLst>
                    <a:ext uri="{9D8B030D-6E8A-4147-A177-3AD203B41FA5}">
                      <a16:colId xmlns:a16="http://schemas.microsoft.com/office/drawing/2014/main" val="2949818358"/>
                    </a:ext>
                  </a:extLst>
                </a:gridCol>
                <a:gridCol w="226662">
                  <a:extLst>
                    <a:ext uri="{9D8B030D-6E8A-4147-A177-3AD203B41FA5}">
                      <a16:colId xmlns:a16="http://schemas.microsoft.com/office/drawing/2014/main" val="3768384043"/>
                    </a:ext>
                  </a:extLst>
                </a:gridCol>
                <a:gridCol w="746984">
                  <a:extLst>
                    <a:ext uri="{9D8B030D-6E8A-4147-A177-3AD203B41FA5}">
                      <a16:colId xmlns:a16="http://schemas.microsoft.com/office/drawing/2014/main" val="3673821677"/>
                    </a:ext>
                  </a:extLst>
                </a:gridCol>
                <a:gridCol w="226662">
                  <a:extLst>
                    <a:ext uri="{9D8B030D-6E8A-4147-A177-3AD203B41FA5}">
                      <a16:colId xmlns:a16="http://schemas.microsoft.com/office/drawing/2014/main" val="1380191459"/>
                    </a:ext>
                  </a:extLst>
                </a:gridCol>
                <a:gridCol w="746984">
                  <a:extLst>
                    <a:ext uri="{9D8B030D-6E8A-4147-A177-3AD203B41FA5}">
                      <a16:colId xmlns:a16="http://schemas.microsoft.com/office/drawing/2014/main" val="2784429797"/>
                    </a:ext>
                  </a:extLst>
                </a:gridCol>
                <a:gridCol w="226662">
                  <a:extLst>
                    <a:ext uri="{9D8B030D-6E8A-4147-A177-3AD203B41FA5}">
                      <a16:colId xmlns:a16="http://schemas.microsoft.com/office/drawing/2014/main" val="906539283"/>
                    </a:ext>
                  </a:extLst>
                </a:gridCol>
                <a:gridCol w="746984">
                  <a:extLst>
                    <a:ext uri="{9D8B030D-6E8A-4147-A177-3AD203B41FA5}">
                      <a16:colId xmlns:a16="http://schemas.microsoft.com/office/drawing/2014/main" val="2265317318"/>
                    </a:ext>
                  </a:extLst>
                </a:gridCol>
                <a:gridCol w="226662">
                  <a:extLst>
                    <a:ext uri="{9D8B030D-6E8A-4147-A177-3AD203B41FA5}">
                      <a16:colId xmlns:a16="http://schemas.microsoft.com/office/drawing/2014/main" val="4095293917"/>
                    </a:ext>
                  </a:extLst>
                </a:gridCol>
                <a:gridCol w="482610">
                  <a:extLst>
                    <a:ext uri="{9D8B030D-6E8A-4147-A177-3AD203B41FA5}">
                      <a16:colId xmlns:a16="http://schemas.microsoft.com/office/drawing/2014/main" val="2870471116"/>
                    </a:ext>
                  </a:extLst>
                </a:gridCol>
                <a:gridCol w="347374">
                  <a:extLst>
                    <a:ext uri="{9D8B030D-6E8A-4147-A177-3AD203B41FA5}">
                      <a16:colId xmlns:a16="http://schemas.microsoft.com/office/drawing/2014/main" val="1409038864"/>
                    </a:ext>
                  </a:extLst>
                </a:gridCol>
              </a:tblGrid>
              <a:tr h="182880">
                <a:tc>
                  <a:txBody>
                    <a:bodyPr/>
                    <a:lstStyle/>
                    <a:p>
                      <a:pPr algn="ctr"/>
                      <a:r>
                        <a:rPr lang="en-CA" sz="500" b="1">
                          <a:solidFill>
                            <a:schemeClr val="bg1"/>
                          </a:solidFill>
                        </a:rPr>
                        <a:t>N</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l"/>
                      <a:r>
                        <a:rPr lang="en-CA" sz="500">
                          <a:solidFill>
                            <a:schemeClr val="tx1"/>
                          </a:solidFill>
                        </a:rPr>
                        <a:t>Not Started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solidFill>
                            <a:schemeClr val="bg1"/>
                          </a:solidFill>
                        </a:rPr>
                        <a:t>G</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l"/>
                      <a:r>
                        <a:rPr lang="en-CA" sz="500">
                          <a:solidFill>
                            <a:schemeClr val="tx1"/>
                          </a:solidFill>
                        </a:rPr>
                        <a:t>In Progress, On Track</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t>Y</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l"/>
                      <a:r>
                        <a:rPr lang="en-CA" sz="500">
                          <a:solidFill>
                            <a:schemeClr val="tx1"/>
                          </a:solidFill>
                        </a:rPr>
                        <a:t>May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solidFill>
                            <a:schemeClr val="bg1"/>
                          </a:solidFill>
                        </a:rPr>
                        <a:t>R</a:t>
                      </a:r>
                      <a:endParaRPr lang="en-US" sz="5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l"/>
                      <a:r>
                        <a:rPr lang="en-CA" sz="500">
                          <a:solidFill>
                            <a:schemeClr val="tx1"/>
                          </a:solidFill>
                        </a:rPr>
                        <a:t>Will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t>C</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500">
                          <a:solidFill>
                            <a:schemeClr val="tx1"/>
                          </a:solidFill>
                        </a:rPr>
                        <a:t>Complete</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pic>
        <p:nvPicPr>
          <p:cNvPr id="4" name="Picture 3">
            <a:extLst>
              <a:ext uri="{FF2B5EF4-FFF2-40B4-BE49-F238E27FC236}">
                <a16:creationId xmlns:a16="http://schemas.microsoft.com/office/drawing/2014/main" id="{E9603BC5-B093-41C9-3EC6-14FBC74EB13C}"/>
              </a:ext>
            </a:extLst>
          </p:cNvPr>
          <p:cNvPicPr>
            <a:picLocks noChangeAspect="1"/>
          </p:cNvPicPr>
          <p:nvPr/>
        </p:nvPicPr>
        <p:blipFill>
          <a:blip r:embed="rId3"/>
          <a:stretch>
            <a:fillRect/>
          </a:stretch>
        </p:blipFill>
        <p:spPr>
          <a:xfrm>
            <a:off x="42415" y="6153150"/>
            <a:ext cx="1314450" cy="704850"/>
          </a:xfrm>
          <a:prstGeom prst="rect">
            <a:avLst/>
          </a:prstGeom>
        </p:spPr>
      </p:pic>
      <p:pic>
        <p:nvPicPr>
          <p:cNvPr id="1026" name="Picture 3" descr="CIBC">
            <a:extLst>
              <a:ext uri="{FF2B5EF4-FFF2-40B4-BE49-F238E27FC236}">
                <a16:creationId xmlns:a16="http://schemas.microsoft.com/office/drawing/2014/main" id="{6436B9EA-AE99-64FE-8932-CC52AE1F53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15" y="6612374"/>
            <a:ext cx="8858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256F78D2-DD1C-5EBE-E473-FBEE5E933ACC}"/>
              </a:ext>
            </a:extLst>
          </p:cNvPr>
          <p:cNvSpPr txBox="1"/>
          <p:nvPr/>
        </p:nvSpPr>
        <p:spPr>
          <a:xfrm>
            <a:off x="8778240" y="235241"/>
            <a:ext cx="1903314" cy="307777"/>
          </a:xfrm>
          <a:prstGeom prst="rect">
            <a:avLst/>
          </a:prstGeom>
          <a:noFill/>
        </p:spPr>
        <p:txBody>
          <a:bodyPr wrap="square" rtlCol="0">
            <a:spAutoFit/>
          </a:bodyPr>
          <a:lstStyle/>
          <a:p>
            <a:pPr algn="r"/>
            <a:r>
              <a:rPr lang="en-CA" sz="1400"/>
              <a:t>Oct 9, 2025</a:t>
            </a:r>
            <a:endParaRPr lang="en-US" sz="1400"/>
          </a:p>
        </p:txBody>
      </p:sp>
      <p:graphicFrame>
        <p:nvGraphicFramePr>
          <p:cNvPr id="7" name="Table 6">
            <a:extLst>
              <a:ext uri="{FF2B5EF4-FFF2-40B4-BE49-F238E27FC236}">
                <a16:creationId xmlns:a16="http://schemas.microsoft.com/office/drawing/2014/main" id="{D1EFA96B-45A1-32B8-D16A-49BB8D959531}"/>
              </a:ext>
            </a:extLst>
          </p:cNvPr>
          <p:cNvGraphicFramePr>
            <a:graphicFrameLocks noGrp="1"/>
          </p:cNvGraphicFramePr>
          <p:nvPr>
            <p:extLst>
              <p:ext uri="{D42A27DB-BD31-4B8C-83A1-F6EECF244321}">
                <p14:modId xmlns:p14="http://schemas.microsoft.com/office/powerpoint/2010/main" val="4293053921"/>
              </p:ext>
            </p:extLst>
          </p:nvPr>
        </p:nvGraphicFramePr>
        <p:xfrm>
          <a:off x="130252" y="1393503"/>
          <a:ext cx="11626696" cy="1250116"/>
        </p:xfrm>
        <a:graphic>
          <a:graphicData uri="http://schemas.openxmlformats.org/drawingml/2006/table">
            <a:tbl>
              <a:tblPr/>
              <a:tblGrid>
                <a:gridCol w="1013152">
                  <a:extLst>
                    <a:ext uri="{9D8B030D-6E8A-4147-A177-3AD203B41FA5}">
                      <a16:colId xmlns:a16="http://schemas.microsoft.com/office/drawing/2014/main" val="542770605"/>
                    </a:ext>
                  </a:extLst>
                </a:gridCol>
                <a:gridCol w="591886">
                  <a:extLst>
                    <a:ext uri="{9D8B030D-6E8A-4147-A177-3AD203B41FA5}">
                      <a16:colId xmlns:a16="http://schemas.microsoft.com/office/drawing/2014/main" val="721424745"/>
                    </a:ext>
                  </a:extLst>
                </a:gridCol>
                <a:gridCol w="557555">
                  <a:extLst>
                    <a:ext uri="{9D8B030D-6E8A-4147-A177-3AD203B41FA5}">
                      <a16:colId xmlns:a16="http://schemas.microsoft.com/office/drawing/2014/main" val="2980709361"/>
                    </a:ext>
                  </a:extLst>
                </a:gridCol>
                <a:gridCol w="557555">
                  <a:extLst>
                    <a:ext uri="{9D8B030D-6E8A-4147-A177-3AD203B41FA5}">
                      <a16:colId xmlns:a16="http://schemas.microsoft.com/office/drawing/2014/main" val="4189054838"/>
                    </a:ext>
                  </a:extLst>
                </a:gridCol>
                <a:gridCol w="557555">
                  <a:extLst>
                    <a:ext uri="{9D8B030D-6E8A-4147-A177-3AD203B41FA5}">
                      <a16:colId xmlns:a16="http://schemas.microsoft.com/office/drawing/2014/main" val="1947436398"/>
                    </a:ext>
                  </a:extLst>
                </a:gridCol>
                <a:gridCol w="520386">
                  <a:extLst>
                    <a:ext uri="{9D8B030D-6E8A-4147-A177-3AD203B41FA5}">
                      <a16:colId xmlns:a16="http://schemas.microsoft.com/office/drawing/2014/main" val="3671164612"/>
                    </a:ext>
                  </a:extLst>
                </a:gridCol>
                <a:gridCol w="520386">
                  <a:extLst>
                    <a:ext uri="{9D8B030D-6E8A-4147-A177-3AD203B41FA5}">
                      <a16:colId xmlns:a16="http://schemas.microsoft.com/office/drawing/2014/main" val="4223143478"/>
                    </a:ext>
                  </a:extLst>
                </a:gridCol>
                <a:gridCol w="520386">
                  <a:extLst>
                    <a:ext uri="{9D8B030D-6E8A-4147-A177-3AD203B41FA5}">
                      <a16:colId xmlns:a16="http://schemas.microsoft.com/office/drawing/2014/main" val="1140894372"/>
                    </a:ext>
                  </a:extLst>
                </a:gridCol>
                <a:gridCol w="520386">
                  <a:extLst>
                    <a:ext uri="{9D8B030D-6E8A-4147-A177-3AD203B41FA5}">
                      <a16:colId xmlns:a16="http://schemas.microsoft.com/office/drawing/2014/main" val="159804669"/>
                    </a:ext>
                  </a:extLst>
                </a:gridCol>
                <a:gridCol w="520386">
                  <a:extLst>
                    <a:ext uri="{9D8B030D-6E8A-4147-A177-3AD203B41FA5}">
                      <a16:colId xmlns:a16="http://schemas.microsoft.com/office/drawing/2014/main" val="1706997556"/>
                    </a:ext>
                  </a:extLst>
                </a:gridCol>
                <a:gridCol w="966433">
                  <a:extLst>
                    <a:ext uri="{9D8B030D-6E8A-4147-A177-3AD203B41FA5}">
                      <a16:colId xmlns:a16="http://schemas.microsoft.com/office/drawing/2014/main" val="1630437860"/>
                    </a:ext>
                  </a:extLst>
                </a:gridCol>
                <a:gridCol w="520386">
                  <a:extLst>
                    <a:ext uri="{9D8B030D-6E8A-4147-A177-3AD203B41FA5}">
                      <a16:colId xmlns:a16="http://schemas.microsoft.com/office/drawing/2014/main" val="1549931440"/>
                    </a:ext>
                  </a:extLst>
                </a:gridCol>
                <a:gridCol w="520386">
                  <a:extLst>
                    <a:ext uri="{9D8B030D-6E8A-4147-A177-3AD203B41FA5}">
                      <a16:colId xmlns:a16="http://schemas.microsoft.com/office/drawing/2014/main" val="3188408529"/>
                    </a:ext>
                  </a:extLst>
                </a:gridCol>
                <a:gridCol w="1598330">
                  <a:extLst>
                    <a:ext uri="{9D8B030D-6E8A-4147-A177-3AD203B41FA5}">
                      <a16:colId xmlns:a16="http://schemas.microsoft.com/office/drawing/2014/main" val="4128971172"/>
                    </a:ext>
                  </a:extLst>
                </a:gridCol>
                <a:gridCol w="520386">
                  <a:extLst>
                    <a:ext uri="{9D8B030D-6E8A-4147-A177-3AD203B41FA5}">
                      <a16:colId xmlns:a16="http://schemas.microsoft.com/office/drawing/2014/main" val="55428124"/>
                    </a:ext>
                  </a:extLst>
                </a:gridCol>
                <a:gridCol w="1621142">
                  <a:extLst>
                    <a:ext uri="{9D8B030D-6E8A-4147-A177-3AD203B41FA5}">
                      <a16:colId xmlns:a16="http://schemas.microsoft.com/office/drawing/2014/main" val="2501393197"/>
                    </a:ext>
                  </a:extLst>
                </a:gridCol>
              </a:tblGrid>
              <a:tr h="23798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200" b="1" i="0" u="none" strike="noStrike">
                          <a:solidFill>
                            <a:schemeClr val="bg1"/>
                          </a:solidFill>
                          <a:effectLst/>
                          <a:latin typeface="Trebuchet MS"/>
                        </a:rPr>
                        <a:t>G</a:t>
                      </a:r>
                    </a:p>
                  </a:txBody>
                  <a:tcPr marL="9525" marR="9525" marT="8659"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gridSpan="15">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l" defTabSz="914400" rtl="0" eaLnBrk="1" fontAlgn="ctr" latinLnBrk="0" hangingPunct="1"/>
                      <a:r>
                        <a:rPr lang="en-US" sz="1200" b="1" i="0" u="none" strike="noStrike" kern="1200">
                          <a:solidFill>
                            <a:srgbClr val="C00000"/>
                          </a:solidFill>
                          <a:effectLst/>
                          <a:latin typeface="Calibri" panose="020F0502020204030204"/>
                          <a:ea typeface="+mn-ea"/>
                          <a:cs typeface="+mn-cs"/>
                        </a:rPr>
                        <a:t>Core Banking - Feb 1, 2025</a:t>
                      </a:r>
                    </a:p>
                  </a:txBody>
                  <a:tcPr marL="114300" marR="9525" marT="41564" marB="41564"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endParaRPr lang="en-US" sz="1000" kern="1200">
                        <a:solidFill>
                          <a:srgbClr val="000000"/>
                        </a:solidFill>
                        <a:latin typeface="+mn-lt"/>
                        <a:ea typeface="+mn-ea"/>
                        <a:cs typeface="+mn-cs"/>
                      </a:endParaRPr>
                    </a:p>
                  </a:txBody>
                  <a:tcPr marL="9525" marR="114300" marT="41564" marB="41564" anchor="ctr">
                    <a:lnL w="12700" cap="flat" cmpd="sng" algn="ctr">
                      <a:solidFill>
                        <a:schemeClr val="tx1">
                          <a:lumMod val="65000"/>
                          <a:lumOff val="35000"/>
                        </a:schemeClr>
                      </a:solidFill>
                      <a:prstDash val="solid"/>
                      <a:round/>
                      <a:headEnd type="none" w="med" len="med"/>
                      <a:tailEnd type="none" w="med" len="med"/>
                    </a:lnL>
                    <a:lnR>
                      <a:noFill/>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R w="9525" cap="flat" cmpd="sng" algn="ctr">
                      <a:no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L>
                      <a:noFill/>
                    </a:lnL>
                    <a:lnR w="9525" cap="flat" cmpd="sng" algn="ctr">
                      <a:no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endParaRPr lang="en-US" sz="1000" kern="1200">
                        <a:solidFill>
                          <a:srgbClr val="000000"/>
                        </a:solidFill>
                        <a:latin typeface="+mn-lt"/>
                        <a:ea typeface="+mn-ea"/>
                        <a:cs typeface="+mn-cs"/>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7013967"/>
                  </a:ext>
                </a:extLst>
              </a:tr>
              <a:tr h="182734">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r>
                        <a:rPr lang="en-US" sz="1000" b="1" i="0" u="none" strike="noStrike">
                          <a:solidFill>
                            <a:srgbClr val="000000"/>
                          </a:solidFill>
                          <a:effectLst/>
                          <a:latin typeface="Trebuchet MS"/>
                        </a:rPr>
                        <a:t>Phase:</a:t>
                      </a: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REQ</a:t>
                      </a:r>
                      <a:endParaRPr lang="en-US" sz="900" b="1" i="0" u="none" strike="noStrike">
                        <a:solidFill>
                          <a:srgbClr val="000000"/>
                        </a:solidFill>
                        <a:effectLst/>
                        <a:latin typeface="Trebuchet MS"/>
                      </a:endParaRP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DES</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CON</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DIT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SIT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UAT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PAT</a:t>
                      </a: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INFRA</a:t>
                      </a:r>
                      <a:endParaRPr lang="en-US" sz="900" b="1" i="0" u="none" strike="noStrike">
                        <a:solidFill>
                          <a:srgbClr val="000000"/>
                        </a:solidFill>
                        <a:effectLst/>
                        <a:latin typeface="Trebuchet MS"/>
                      </a:endParaRPr>
                    </a:p>
                  </a:txBody>
                  <a:tcPr marL="9525" marR="9525" marT="27432" marB="27432" anchor="ctr">
                    <a:lnL>
                      <a:noFill/>
                    </a:lnL>
                    <a:lnR w="6350"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900" b="1" i="0" u="none" strike="noStrike">
                          <a:solidFill>
                            <a:srgbClr val="000000"/>
                          </a:solidFill>
                          <a:effectLst/>
                          <a:latin typeface="Trebuchet MS"/>
                        </a:rPr>
                        <a:t>C/F </a:t>
                      </a:r>
                    </a:p>
                  </a:txBody>
                  <a:tcPr marL="9525" marR="9525" marT="27432" marB="27432" anchor="ctr">
                    <a:lnL>
                      <a:noFill/>
                    </a:lnL>
                    <a:lnR w="12700" cap="flat" cmpd="sng" algn="ctr">
                      <a:solidFill>
                        <a:srgbClr val="E7E6E6">
                          <a:lumMod val="75000"/>
                        </a:srgb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US" sz="1000" b="1" i="0" u="none" strike="noStrike">
                          <a:solidFill>
                            <a:srgbClr val="000000"/>
                          </a:solidFill>
                          <a:effectLst/>
                          <a:latin typeface="Trebuchet MS"/>
                        </a:rPr>
                        <a:t>Scope:</a:t>
                      </a:r>
                    </a:p>
                  </a:txBody>
                  <a:tcPr marL="9525" marR="9525" marT="27432" marB="27432" anchor="ctr">
                    <a:lnL w="12700" cap="flat" cmpd="sng" algn="ctr">
                      <a:solidFill>
                        <a:srgbClr val="E7E6E6">
                          <a:lumMod val="75000"/>
                        </a:srgb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000" b="1" i="0" u="none" strike="noStrike">
                          <a:solidFill>
                            <a:srgbClr val="C00000"/>
                          </a:solidFill>
                          <a:effectLst/>
                          <a:latin typeface="Trebuchet MS"/>
                        </a:rPr>
                        <a:t>20</a:t>
                      </a:r>
                      <a:endParaRPr lang="en-US" sz="1000" b="1" i="0" u="none" strike="noStrike">
                        <a:solidFill>
                          <a:srgbClr val="C00000"/>
                        </a:solidFill>
                        <a:effectLst/>
                        <a:latin typeface="Trebuchet MS"/>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13</a:t>
                      </a:r>
                      <a:endParaRPr lang="en-US" sz="900" b="1" i="0" u="none" strike="noStrike">
                        <a:solidFill>
                          <a:srgbClr val="000000"/>
                        </a:solidFill>
                        <a:effectLst/>
                        <a:latin typeface="Trebuchet MS"/>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a:solidFill>
                            <a:srgbClr val="000000"/>
                          </a:solidFill>
                          <a:effectLst/>
                          <a:latin typeface="Trebuchet MS"/>
                        </a:rPr>
                        <a:t>Projects &amp; MOPs</a:t>
                      </a:r>
                    </a:p>
                  </a:txBody>
                  <a:tcPr marL="114300" marR="9525" marT="27432" marB="27432"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900" b="1" i="0" u="none" strike="noStrike">
                        <a:solidFill>
                          <a:srgbClr val="000000"/>
                        </a:solidFill>
                        <a:effectLst/>
                        <a:latin typeface="Trebuchet MS"/>
                      </a:endParaRPr>
                    </a:p>
                  </a:txBody>
                  <a:tcPr marL="114300" marR="9525" marT="27432" marB="27432"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kern="1200">
                          <a:solidFill>
                            <a:srgbClr val="000000"/>
                          </a:solidFill>
                          <a:effectLst/>
                          <a:latin typeface="Trebuchet MS"/>
                          <a:ea typeface="+mn-ea"/>
                          <a:cs typeface="+mn-cs"/>
                        </a:rPr>
                        <a:t>Regulatory</a:t>
                      </a:r>
                    </a:p>
                  </a:txBody>
                  <a:tcPr marL="114300" marR="9525" marT="27432" marB="27432"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6548466"/>
                  </a:ext>
                </a:extLst>
              </a:tr>
              <a:tr h="54087">
                <a:tc vMerge="1">
                  <a:txBody>
                    <a:bodyPr/>
                    <a:lstStyle/>
                    <a:p>
                      <a:endParaRPr lang="en-US"/>
                    </a:p>
                  </a:txBody>
                  <a:tcPr>
                    <a:lnT w="12700" cmpd="sng">
                      <a:noFill/>
                      <a:prstDash val="solid"/>
                    </a:lnT>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chemeClr val="tx1"/>
                          </a:solidFill>
                          <a:effectLst/>
                          <a:latin typeface="Trebuchet MS"/>
                        </a:rPr>
                        <a:t>C</a:t>
                      </a:r>
                      <a:endParaRPr lang="en-US" sz="900" b="1" i="0" u="none" strike="noStrike">
                        <a:solidFill>
                          <a:schemeClr val="tx1"/>
                        </a:solidFill>
                        <a:effectLst/>
                        <a:latin typeface="Trebuchet MS"/>
                      </a:endParaRPr>
                    </a:p>
                  </a:txBody>
                  <a:tcPr marL="9525" marR="9525" marT="8659" marB="0" anchor="ctr">
                    <a:lnL w="12700" cap="flat" cmpd="sng" algn="ctr">
                      <a:solidFill>
                        <a:schemeClr val="tx1">
                          <a:lumMod val="65000"/>
                          <a:lumOff val="35000"/>
                        </a:schemeClr>
                      </a:solidFill>
                      <a:prstDash val="solid"/>
                      <a:round/>
                      <a:headEnd type="none" w="med" len="med"/>
                      <a:tailEnd type="none" w="med" len="me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8659"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w="6350"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8659" marB="0" anchor="ctr">
                    <a:lnL>
                      <a:noFill/>
                    </a:lnL>
                    <a:lnR w="12700" cap="flat" cmpd="sng" algn="ctr">
                      <a:solidFill>
                        <a:srgbClr val="E7E6E6">
                          <a:lumMod val="75000"/>
                        </a:srgb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vMerge="1">
                  <a:txBody>
                    <a:bodyPr/>
                    <a:lstStyle/>
                    <a:p>
                      <a:endParaRPr lang="en-US"/>
                    </a:p>
                  </a:txBody>
                  <a:tcPr>
                    <a:lnT w="6350" cap="flat" cmpd="sng" algn="ctr">
                      <a:solidFill>
                        <a:srgbClr val="000000"/>
                      </a:solidFill>
                      <a:prstDash val="solid"/>
                      <a:round/>
                      <a:headEnd type="none" w="med" len="med"/>
                      <a:tailEnd type="none" w="med" len="med"/>
                    </a:lnT>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Trebuchet MS"/>
                        </a:rPr>
                        <a:t>7</a:t>
                      </a:r>
                      <a:endParaRPr lang="en-US" sz="900" b="1" i="0" u="none" strike="noStrike">
                        <a:solidFill>
                          <a:srgbClr val="000000"/>
                        </a:solidFill>
                        <a:effectLst/>
                        <a:latin typeface="Trebuchet MS"/>
                      </a:endParaRPr>
                    </a:p>
                  </a:txBody>
                  <a:tcPr marL="9525" marR="9525" marT="27432" marB="27432" anchor="ctr">
                    <a:lnL w="12700" cmpd="sng">
                      <a:noFill/>
                      <a:prstDash val="soli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US" sz="900" b="0" i="0" u="none" strike="noStrike">
                          <a:solidFill>
                            <a:srgbClr val="000000"/>
                          </a:solidFill>
                          <a:effectLst/>
                          <a:latin typeface="Trebuchet MS"/>
                        </a:rPr>
                        <a:t>PRBs/INCs/Others</a:t>
                      </a:r>
                    </a:p>
                  </a:txBody>
                  <a:tcPr marL="114300" marR="9525" marT="27432" marB="27432"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900" b="1" i="0" u="none" strike="noStrike">
                        <a:solidFill>
                          <a:srgbClr val="000000"/>
                        </a:solidFill>
                        <a:effectLst/>
                        <a:latin typeface="Trebuchet MS"/>
                      </a:endParaRPr>
                    </a:p>
                  </a:txBody>
                  <a:tcPr marL="114300" marR="9525" marT="27432" marB="27432"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en-CA" sz="900" b="0" i="0" u="none" strike="noStrike">
                          <a:solidFill>
                            <a:srgbClr val="000000"/>
                          </a:solidFill>
                          <a:effectLst/>
                          <a:latin typeface="Trebuchet MS"/>
                        </a:rPr>
                        <a:t>Financial</a:t>
                      </a:r>
                      <a:endParaRPr lang="en-US" sz="900" b="0" i="0" u="none" strike="noStrike">
                        <a:solidFill>
                          <a:srgbClr val="000000"/>
                        </a:solidFill>
                        <a:effectLst/>
                        <a:latin typeface="Trebuchet MS"/>
                      </a:endParaRPr>
                    </a:p>
                  </a:txBody>
                  <a:tcPr marL="114300" marR="9525" marT="27432" marB="27432"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9864797"/>
                  </a:ext>
                </a:extLst>
              </a:tr>
              <a:tr h="139589">
                <a:tc vMerge="1">
                  <a:txBody>
                    <a:bodyPr/>
                    <a:lstStyle/>
                    <a:p>
                      <a:pPr algn="r" fontAlgn="ctr"/>
                      <a:endParaRPr lang="en-US" sz="1000" b="1" i="0" u="none" strike="noStrike">
                        <a:solidFill>
                          <a:srgbClr val="000000"/>
                        </a:solidFill>
                        <a:effectLst/>
                        <a:latin typeface="Trebuchet MS"/>
                      </a:endParaRPr>
                    </a:p>
                  </a:txBody>
                  <a:tcPr marL="9525" marR="9525" marT="41564" marB="41564"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w="12700" cap="flat" cmpd="sng" algn="ctr">
                      <a:solidFill>
                        <a:schemeClr val="tx1">
                          <a:lumMod val="65000"/>
                          <a:lumOff val="35000"/>
                        </a:schemeClr>
                      </a:solidFill>
                      <a:prstDash val="solid"/>
                      <a:round/>
                      <a:headEnd type="none" w="med" len="med"/>
                      <a:tailEnd type="none" w="med" len="me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w="6350"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w="12700" cap="flat" cmpd="sng" algn="ctr">
                      <a:solidFill>
                        <a:srgbClr val="E7E6E6">
                          <a:lumMod val="75000"/>
                        </a:srgb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vMerge="1">
                  <a:txBody>
                    <a:bodyPr/>
                    <a:lstStyle/>
                    <a:p>
                      <a:pPr algn="ctr" fontAlgn="ctr"/>
                      <a:endParaRPr lang="en-US" sz="1000" b="1" i="0" u="none" strike="noStrike">
                        <a:solidFill>
                          <a:srgbClr val="000000"/>
                        </a:solidFill>
                        <a:effectLst/>
                        <a:latin typeface="Trebuchet MS"/>
                      </a:endParaRPr>
                    </a:p>
                  </a:txBody>
                  <a:tcPr marL="9525" marR="9525" marT="41564" marB="41564" anchor="ctr">
                    <a:lnL w="12700" cap="flat" cmpd="sng" algn="ctr">
                      <a:solidFill>
                        <a:srgbClr val="E7E6E6">
                          <a:lumMod val="75000"/>
                        </a:srgb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sz="1000" b="1" i="0" u="none" strike="noStrike">
                        <a:solidFill>
                          <a:srgbClr val="C00000"/>
                        </a:solidFill>
                        <a:effectLst/>
                        <a:latin typeface="Trebuchet MS"/>
                      </a:endParaRPr>
                    </a:p>
                  </a:txBody>
                  <a:tcPr marL="9525" marR="9525" marT="41564" marB="41564"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sz="900" b="1" i="0" u="none" strike="noStrike">
                        <a:solidFill>
                          <a:srgbClr val="000000"/>
                        </a:solidFill>
                        <a:effectLst/>
                        <a:latin typeface="Trebuchet MS"/>
                      </a:endParaRPr>
                    </a:p>
                  </a:txBody>
                  <a:tcPr marL="9525" marR="9525" marT="8659" marB="0" anchor="ctr">
                    <a:lnL w="12700" cmpd="sng">
                      <a:noFill/>
                      <a:prstDash val="soli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900" b="0" i="0" u="none" strike="noStrike">
                        <a:solidFill>
                          <a:srgbClr val="000000"/>
                        </a:solidFill>
                        <a:effectLst/>
                        <a:latin typeface="Trebuchet MS"/>
                      </a:endParaRPr>
                    </a:p>
                  </a:txBody>
                  <a:tcPr marL="114300"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4377228"/>
                  </a:ext>
                </a:extLst>
              </a:tr>
              <a:tr h="191360">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r" fontAlgn="ctr"/>
                      <a:r>
                        <a:rPr lang="en-US" sz="1000" b="1" i="0" u="none" strike="noStrike">
                          <a:solidFill>
                            <a:srgbClr val="000000"/>
                          </a:solidFill>
                          <a:effectLst/>
                          <a:latin typeface="Trebuchet MS"/>
                        </a:rPr>
                        <a:t>Apps:</a:t>
                      </a: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000" b="1" i="0" u="none" strike="noStrike">
                          <a:solidFill>
                            <a:srgbClr val="C00000"/>
                          </a:solidFill>
                          <a:effectLst/>
                          <a:latin typeface="+mj-lt"/>
                        </a:rPr>
                        <a:t>2</a:t>
                      </a:r>
                      <a:r>
                        <a:rPr lang="en-US" sz="1000" b="1" i="0" u="none" strike="noStrike">
                          <a:solidFill>
                            <a:srgbClr val="C00000"/>
                          </a:solidFill>
                          <a:effectLst/>
                          <a:latin typeface="+mj-lt"/>
                        </a:rPr>
                        <a:t>5</a:t>
                      </a: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a:noFill/>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mj-lt"/>
                        </a:rPr>
                        <a:t>16</a:t>
                      </a:r>
                      <a:endParaRPr lang="en-US" sz="900" b="1" i="0" u="none" strike="noStrike">
                        <a:solidFill>
                          <a:srgbClr val="000000"/>
                        </a:solidFill>
                        <a:effectLst/>
                        <a:latin typeface="+mj-lt"/>
                      </a:endParaRPr>
                    </a:p>
                  </a:txBody>
                  <a:tcPr marL="9525"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j-lt"/>
                          <a:ea typeface="+mn-ea"/>
                          <a:cs typeface="+mn-cs"/>
                        </a:rPr>
                        <a:t>CBPT</a:t>
                      </a:r>
                    </a:p>
                  </a:txBody>
                  <a:tcPr marL="114300" marR="9525" marT="27432" marB="27432" anchor="ctr">
                    <a:lnL>
                      <a:noFill/>
                    </a:lnL>
                    <a:lnR>
                      <a:noFill/>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p>
                      <a:endParaRPr lang="en-US"/>
                    </a:p>
                  </a:txBody>
                  <a:tcPr/>
                </a:tc>
                <a:tc gridSpan="1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fr-FR" sz="900" b="0" i="0" u="none" strike="noStrike">
                          <a:solidFill>
                            <a:srgbClr val="000000"/>
                          </a:solidFill>
                          <a:effectLst/>
                          <a:latin typeface="Trebuchet MS" panose="020B0603020202020204" pitchFamily="34" charset="0"/>
                        </a:rPr>
                        <a:t>CAAP, CIBC R.Term, CLASS, DDGS, DM, ECM, Excalibur, Forms Management, KC, LCMS, Lending API, mMortgage, PostEdge, RPE, TABS, Target</a:t>
                      </a:r>
                    </a:p>
                  </a:txBody>
                  <a:tcPr marL="9525" marR="9525" marT="27432" marB="27432"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lumMod val="65000"/>
                          <a:lumOff val="35000"/>
                        </a:schemeClr>
                      </a:solidFill>
                      <a:prstDash val="solid"/>
                      <a:round/>
                      <a:headEnd type="none" w="med" len="med"/>
                      <a:tailEnd type="none" w="med" len="med"/>
                    </a:lnL>
                    <a:lnT w="12700" cap="flat" cmpd="sng" algn="ctr">
                      <a:solidFill>
                        <a:srgbClr val="E7E6E6">
                          <a:lumMod val="75000"/>
                        </a:srgbClr>
                      </a:solidFill>
                      <a:prstDash val="solid"/>
                      <a:round/>
                      <a:headEnd type="none" w="med" len="med"/>
                      <a:tailEnd type="none" w="med" len="med"/>
                    </a:lnT>
                  </a:tcPr>
                </a:tc>
                <a:tc hMerge="1">
                  <a:txBody>
                    <a:bodyPr/>
                    <a:lstStyle/>
                    <a:p>
                      <a:endParaRPr 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Trebuchet MS" panose="020B0603020202020204" pitchFamily="34" charset="0"/>
                      </a:endParaRPr>
                    </a:p>
                  </a:txBody>
                  <a:tcPr marL="9525" marR="9525" marT="8659"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Trebuchet MS" panose="020B0603020202020204" pitchFamily="34" charset="0"/>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844036896"/>
                  </a:ext>
                </a:extLst>
              </a:tr>
              <a:tr h="182734">
                <a:tc vMerge="1">
                  <a:txBody>
                    <a:bodyPr/>
                    <a:lstStyle/>
                    <a:p>
                      <a:endParaRPr lang="en-US"/>
                    </a:p>
                  </a:txBody>
                  <a:tcPr>
                    <a:lnT w="12700" cmpd="sng">
                      <a:noFill/>
                      <a:prstDash val="solid"/>
                    </a:lnT>
                  </a:tcPr>
                </a:tc>
                <a:tc vMerge="1">
                  <a:txBody>
                    <a:bodyPr/>
                    <a:lstStyle/>
                    <a:p>
                      <a:endParaRPr lang="en-US"/>
                    </a:p>
                  </a:txBody>
                  <a:tcPr>
                    <a:lnT w="6350" cap="flat" cmpd="sng" algn="ctr">
                      <a:solidFill>
                        <a:srgbClr val="000000"/>
                      </a:solidFill>
                      <a:prstDash val="solid"/>
                      <a:round/>
                      <a:headEnd type="none" w="med" len="med"/>
                      <a:tailEnd type="none" w="med" len="med"/>
                    </a:lnT>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mj-lt"/>
                        </a:rPr>
                        <a:t>9</a:t>
                      </a:r>
                      <a:endParaRPr lang="en-US" sz="900" b="1" i="0" u="none" strike="noStrike">
                        <a:solidFill>
                          <a:srgbClr val="000000"/>
                        </a:solidFill>
                        <a:effectLst/>
                        <a:latin typeface="+mj-lt"/>
                      </a:endParaRPr>
                    </a:p>
                  </a:txBody>
                  <a:tcPr marL="9525" marR="9525" marT="27432" marB="27432" anchor="ctr">
                    <a:lnL w="12700" cmpd="sng">
                      <a:noFill/>
                      <a:prstDash val="solid"/>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j-lt"/>
                          <a:ea typeface="+mn-ea"/>
                          <a:cs typeface="+mn-cs"/>
                        </a:rPr>
                        <a:t>Non-CBPT</a:t>
                      </a:r>
                    </a:p>
                  </a:txBody>
                  <a:tcPr marL="114300" marR="9525" marT="27432" marB="27432" anchor="ctr">
                    <a:lnL>
                      <a:noFill/>
                    </a:lnL>
                    <a:lnR>
                      <a:noFill/>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1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Trebuchet MS" panose="020B0603020202020204" pitchFamily="34" charset="0"/>
                          <a:ea typeface="+mn-ea"/>
                          <a:cs typeface="+mn-cs"/>
                        </a:rPr>
                        <a:t>Auth Hub, CCARS, CIW, eBanking, ECIF, EDSF, EPC, Fraud Analyst Engine (OLB), Lending BI</a:t>
                      </a:r>
                    </a:p>
                  </a:txBody>
                  <a:tcPr marL="9525" marR="9525" marT="27432" marB="27432"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mn-lt"/>
                      </a:endParaRPr>
                    </a:p>
                  </a:txBody>
                  <a:tcPr marL="9525" marR="9525" marT="8659" marB="0" anchor="ctr">
                    <a:lnL>
                      <a:noFill/>
                    </a:lnL>
                    <a:lnR w="9525" cap="flat" cmpd="sng" algn="ctr">
                      <a:no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endParaRPr lang="en-US" sz="800" b="0" i="0" u="none" strike="noStrike">
                        <a:solidFill>
                          <a:srgbClr val="000000"/>
                        </a:solidFill>
                        <a:effectLst/>
                        <a:latin typeface="+mn-lt"/>
                      </a:endParaRPr>
                    </a:p>
                  </a:txBody>
                  <a:tcPr marL="9525" marR="9525" marT="8659" marB="0" anchor="ctr">
                    <a:lnL>
                      <a:noFill/>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1320110"/>
                  </a:ext>
                </a:extLst>
              </a:tr>
              <a:tr h="0">
                <a:tc>
                  <a:txBody>
                    <a:bodyPr/>
                    <a:lstStyle/>
                    <a:p>
                      <a:pPr algn="r" fontAlgn="ctr"/>
                      <a:r>
                        <a:rPr lang="en-CA" sz="1000" b="1" i="0" u="none" strike="noStrike">
                          <a:solidFill>
                            <a:srgbClr val="000000"/>
                          </a:solidFill>
                          <a:effectLst/>
                          <a:latin typeface="Trebuchet MS"/>
                        </a:rPr>
                        <a:t>Comments: </a:t>
                      </a:r>
                      <a:endParaRPr lang="en-US" sz="1000" b="1" i="0" u="none" strike="noStrike">
                        <a:solidFill>
                          <a:srgbClr val="000000"/>
                        </a:solidFill>
                        <a:effectLst/>
                        <a:latin typeface="Trebuchet MS"/>
                      </a:endParaRP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a:noFill/>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15">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900" b="0" kern="1200" noProof="0">
                          <a:solidFill>
                            <a:schemeClr val="tx1"/>
                          </a:solidFill>
                          <a:latin typeface="Arial" panose="020B0604020202020204" pitchFamily="34" charset="0"/>
                          <a:ea typeface="+mn-ea"/>
                          <a:cs typeface="Arial" panose="020B0604020202020204" pitchFamily="34" charset="0"/>
                        </a:rPr>
                        <a:t>Release is tracking Green. SIT execution is in progress. Detailed updates will be available as we approach the release.</a:t>
                      </a:r>
                    </a:p>
                  </a:txBody>
                  <a:tcPr marL="9128" marR="9128" marT="27432" marB="27432">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914400" rtl="0" eaLnBrk="1" fontAlgn="ctr" latinLnBrk="0" hangingPunct="1"/>
                      <a:endParaRPr lang="en-US" sz="800" b="1" i="0" u="none" strike="noStrike" kern="1200">
                        <a:solidFill>
                          <a:srgbClr val="000000"/>
                        </a:solidFill>
                        <a:effectLst/>
                        <a:latin typeface="+mn-lt"/>
                        <a:ea typeface="+mn-ea"/>
                        <a:cs typeface="+mn-cs"/>
                      </a:endParaRPr>
                    </a:p>
                  </a:txBody>
                  <a:tcPr marL="9128" marR="9128" marT="8298" marB="0" anchor="ctr">
                    <a:lnL w="12700" cmpd="sng">
                      <a:noFill/>
                      <a:prstDash val="solid"/>
                    </a:lnL>
                    <a:lnR>
                      <a:noFill/>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a:noFill/>
                    </a:lnL>
                    <a:lnR>
                      <a:noFill/>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algn="ctr" defTabSz="914400" rtl="0" eaLnBrk="1" fontAlgn="ctr" latinLnBrk="0" hangingPunct="1"/>
                      <a:endParaRPr lang="en-US" sz="800" b="1" i="0" u="none" strike="noStrike" kern="1200">
                        <a:solidFill>
                          <a:srgbClr val="000000"/>
                        </a:solidFill>
                        <a:effectLst/>
                        <a:latin typeface="+mn-lt"/>
                        <a:ea typeface="+mn-ea"/>
                        <a:cs typeface="+mn-cs"/>
                      </a:endParaRPr>
                    </a:p>
                  </a:txBody>
                  <a:tcPr marL="9128" marR="9128" marT="8298" marB="0"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a:noFill/>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algn="ctr" defTabSz="914400" rtl="0" eaLnBrk="1" fontAlgn="ctr" latinLnBrk="0" hangingPunct="1"/>
                      <a:endParaRPr lang="en-US" sz="800" b="0" i="0" u="none" strike="noStrike" kern="1200">
                        <a:solidFill>
                          <a:srgbClr val="000000"/>
                        </a:solidFill>
                        <a:effectLst/>
                        <a:latin typeface="+mn-lt"/>
                        <a:ea typeface="+mn-ea"/>
                        <a:cs typeface="+mn-cs"/>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ctr" latinLnBrk="0" hangingPunct="1"/>
                      <a:endParaRPr lang="en-US" sz="800" b="0" i="0" u="none" strike="noStrike" kern="1200">
                        <a:solidFill>
                          <a:srgbClr val="000000"/>
                        </a:solidFill>
                        <a:effectLst/>
                        <a:latin typeface="+mn-lt"/>
                        <a:ea typeface="+mn-ea"/>
                        <a:cs typeface="+mn-cs"/>
                      </a:endParaRPr>
                    </a:p>
                  </a:txBody>
                  <a:tcPr marL="109537" marR="9128" marT="41564" marB="41564"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pPr algn="ctr" fontAlgn="ctr"/>
                      <a:endParaRPr lang="en-US" sz="1500" b="0" i="0" u="none" strike="noStrike">
                        <a:solidFill>
                          <a:srgbClr val="000000"/>
                        </a:solidFill>
                        <a:effectLst/>
                        <a:latin typeface="Arial" panose="020B0604020202020204" pitchFamily="34" charset="0"/>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500" b="0" i="0" u="none" strike="noStrike">
                        <a:solidFill>
                          <a:srgbClr val="000000"/>
                        </a:solidFill>
                        <a:effectLst/>
                        <a:latin typeface="Arial" panose="020B0604020202020204" pitchFamily="34" charset="0"/>
                      </a:endParaRPr>
                    </a:p>
                  </a:txBody>
                  <a:tcPr marL="9128"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rtl="0" fontAlgn="ctr"/>
                      <a:endParaRPr lang="en-US" sz="800" b="0" i="0" u="none" strike="noStrike">
                        <a:solidFill>
                          <a:srgbClr val="000000"/>
                        </a:solidFill>
                        <a:effectLst/>
                        <a:latin typeface="Trebuchet MS" panose="020B0603020202020204" pitchFamily="34" charset="0"/>
                      </a:endParaRPr>
                    </a:p>
                  </a:txBody>
                  <a:tcPr marL="109537" marR="9128" marT="8298" marB="0" anchor="ctr">
                    <a:lnL w="12700" cmpd="sng">
                      <a:noFill/>
                      <a:prstDash val="solid"/>
                    </a:lnL>
                    <a:lnR w="12700" cmpd="sng">
                      <a:noFill/>
                      <a:prstDash val="soli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en-US" sz="800" b="0" i="0" u="none" strike="noStrike">
                        <a:solidFill>
                          <a:srgbClr val="000000"/>
                        </a:solidFill>
                        <a:effectLst/>
                        <a:latin typeface="+mn-lt"/>
                      </a:endParaRPr>
                    </a:p>
                  </a:txBody>
                  <a:tcPr marL="9525" marR="9525" marT="8659" marB="0" anchor="ctr">
                    <a:lnL w="12700" cmpd="sng">
                      <a:noFill/>
                      <a:prstDash val="solid"/>
                    </a:lnL>
                    <a:lnR w="9525" cap="flat" cmpd="sng" algn="ctr">
                      <a:no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en-US" sz="800" b="0" i="0" u="none" strike="noStrike" kern="1200">
                        <a:solidFill>
                          <a:srgbClr val="000000"/>
                        </a:solidFill>
                        <a:effectLst/>
                        <a:latin typeface="Trebuchet MS"/>
                        <a:ea typeface="+mn-ea"/>
                        <a:cs typeface="+mn-cs"/>
                      </a:endParaRPr>
                    </a:p>
                  </a:txBody>
                  <a:tcPr marL="9525" marR="9525" marT="8659" marB="0" anchor="ctr">
                    <a:lnL>
                      <a:noFill/>
                    </a:lnL>
                    <a:lnR w="12700" cap="flat" cmpd="sng" algn="ctr">
                      <a:solidFill>
                        <a:sysClr val="windowText" lastClr="000000"/>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1958486"/>
                  </a:ext>
                </a:extLst>
              </a:tr>
            </a:tbl>
          </a:graphicData>
        </a:graphic>
      </p:graphicFrame>
    </p:spTree>
    <p:extLst>
      <p:ext uri="{BB962C8B-B14F-4D97-AF65-F5344CB8AC3E}">
        <p14:creationId xmlns:p14="http://schemas.microsoft.com/office/powerpoint/2010/main" val="46510994"/>
      </p:ext>
    </p:extLst>
  </p:cSld>
  <p:clrMapOvr>
    <a:masterClrMapping/>
  </p:clrMapOvr>
  <mc:AlternateContent xmlns:mc="http://schemas.openxmlformats.org/markup-compatibility/2006">
    <mc:Choice xmlns:p14="http://schemas.microsoft.com/office/powerpoint/2010/main" Requires="p14">
      <p:transition spd="slow" p14:dur="2000" advTm="30000"/>
    </mc:Choice>
    <mc:Fallback>
      <p:transition spd="slow" advTm="30000"/>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B681107-7AE4-4287-938C-686FA620EFFF}"/>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33B8B32D-7E99-CB97-947B-060ED89150BD}"/>
              </a:ext>
            </a:extLst>
          </p:cNvPr>
          <p:cNvSpPr txBox="1">
            <a:spLocks/>
          </p:cNvSpPr>
          <p:nvPr/>
        </p:nvSpPr>
        <p:spPr>
          <a:xfrm>
            <a:off x="117633" y="100566"/>
            <a:ext cx="11292840" cy="553998"/>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US" altLang="en-US"/>
              <a:t>2026 Core Banking Release Calendar</a:t>
            </a:r>
            <a:endParaRPr lang="en-CA"/>
          </a:p>
        </p:txBody>
      </p:sp>
      <p:sp>
        <p:nvSpPr>
          <p:cNvPr id="32" name="Subtitle 2">
            <a:extLst>
              <a:ext uri="{FF2B5EF4-FFF2-40B4-BE49-F238E27FC236}">
                <a16:creationId xmlns:a16="http://schemas.microsoft.com/office/drawing/2014/main" id="{3C89119A-81F0-9F06-2D2E-6AF67893D473}"/>
              </a:ext>
            </a:extLst>
          </p:cNvPr>
          <p:cNvSpPr txBox="1">
            <a:spLocks/>
          </p:cNvSpPr>
          <p:nvPr/>
        </p:nvSpPr>
        <p:spPr>
          <a:xfrm>
            <a:off x="117633" y="564947"/>
            <a:ext cx="11292840" cy="369332"/>
          </a:xfrm>
          <a:prstGeom prst="rect">
            <a:avLst/>
          </a:prstGeom>
        </p:spPr>
        <p:txBody>
          <a:bodyPr vert="horz" lIns="0" tIns="0" rIns="0" bIns="0" rtlCol="0" anchor="t">
            <a:spAutoFit/>
          </a:bodyPr>
          <a:lstStyle>
            <a:lvl1pPr marL="0" indent="0" algn="l" defTabSz="914400" rtl="0" eaLnBrk="1" latinLnBrk="0" hangingPunct="1">
              <a:spcBef>
                <a:spcPts val="600"/>
              </a:spcBef>
              <a:spcAft>
                <a:spcPts val="600"/>
              </a:spcAft>
              <a:buFont typeface="Arial" panose="020B0604020202020204" pitchFamily="34" charset="0"/>
              <a:buNone/>
              <a:defRPr sz="2000" b="1" kern="1200">
                <a:solidFill>
                  <a:schemeClr val="accent6"/>
                </a:solidFill>
                <a:latin typeface="+mn-lt"/>
                <a:ea typeface="+mn-ea"/>
                <a:cs typeface="+mn-cs"/>
              </a:defRPr>
            </a:lvl1pPr>
            <a:lvl2pPr marL="228600" indent="-228600"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2pPr>
            <a:lvl3pPr marL="457200" indent="-22383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3pPr>
            <a:lvl4pPr marL="685800" indent="-231775"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4pPr>
            <a:lvl5pPr marL="915988" indent="-23018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CA" sz="2400"/>
              <a:t>Proposed Combined Releases</a:t>
            </a:r>
          </a:p>
        </p:txBody>
      </p:sp>
      <p:pic>
        <p:nvPicPr>
          <p:cNvPr id="4" name="Picture 3">
            <a:extLst>
              <a:ext uri="{FF2B5EF4-FFF2-40B4-BE49-F238E27FC236}">
                <a16:creationId xmlns:a16="http://schemas.microsoft.com/office/drawing/2014/main" id="{9C6222A6-F4B8-C86B-C9C3-905CFC343EA3}"/>
              </a:ext>
            </a:extLst>
          </p:cNvPr>
          <p:cNvPicPr>
            <a:picLocks noChangeAspect="1"/>
          </p:cNvPicPr>
          <p:nvPr/>
        </p:nvPicPr>
        <p:blipFill>
          <a:blip r:embed="rId3"/>
          <a:stretch>
            <a:fillRect/>
          </a:stretch>
        </p:blipFill>
        <p:spPr>
          <a:xfrm>
            <a:off x="42415" y="6153150"/>
            <a:ext cx="1314450" cy="704850"/>
          </a:xfrm>
          <a:prstGeom prst="rect">
            <a:avLst/>
          </a:prstGeom>
        </p:spPr>
      </p:pic>
      <p:pic>
        <p:nvPicPr>
          <p:cNvPr id="1026" name="Picture 3" descr="CIBC">
            <a:extLst>
              <a:ext uri="{FF2B5EF4-FFF2-40B4-BE49-F238E27FC236}">
                <a16:creationId xmlns:a16="http://schemas.microsoft.com/office/drawing/2014/main" id="{AC57740C-7015-8B9E-4016-E2903DE336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48" y="6505575"/>
            <a:ext cx="8858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hlinkClick r:id="rId5" action="ppaction://hlinksldjump"/>
            <a:extLst>
              <a:ext uri="{FF2B5EF4-FFF2-40B4-BE49-F238E27FC236}">
                <a16:creationId xmlns:a16="http://schemas.microsoft.com/office/drawing/2014/main" id="{21DC167F-E50B-886C-2CBC-5E1DD8EC9194}"/>
              </a:ext>
            </a:extLst>
          </p:cNvPr>
          <p:cNvSpPr/>
          <p:nvPr/>
        </p:nvSpPr>
        <p:spPr>
          <a:xfrm>
            <a:off x="5508783" y="1265939"/>
            <a:ext cx="6273800" cy="1692771"/>
          </a:xfrm>
          <a:prstGeom prst="rect">
            <a:avLst/>
          </a:prstGeom>
          <a:ln>
            <a:noFill/>
          </a:ln>
        </p:spPr>
        <p:txBody>
          <a:bodyPr wrap="square" lIns="91440" tIns="45720" rIns="91440" bIns="45720" anchor="t">
            <a:spAutoFit/>
          </a:bodyPr>
          <a:lstStyle/>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mj-lt"/>
                <a:ea typeface="+mn-ea"/>
                <a:cs typeface="+mn-cs"/>
              </a:rPr>
              <a:t>Summary:</a:t>
            </a:r>
          </a:p>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r>
              <a:rPr lang="en-US" sz="1000">
                <a:solidFill>
                  <a:srgbClr val="000000"/>
                </a:solidFill>
                <a:latin typeface="+mj-lt"/>
              </a:rPr>
              <a:t>Lending &amp; Deposit Releases are combined in planning to simplify co-ordination and overhead in supporting release activities</a:t>
            </a:r>
          </a:p>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endParaRPr lang="en-US" sz="1000">
              <a:solidFill>
                <a:srgbClr val="000000"/>
              </a:solidFill>
              <a:latin typeface="+mj-lt"/>
            </a:endParaRPr>
          </a:p>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mj-lt"/>
                <a:ea typeface="+mn-ea"/>
                <a:cs typeface="+mn-cs"/>
              </a:rPr>
              <a:t>Note:</a:t>
            </a:r>
          </a:p>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r>
              <a:rPr lang="en-US" sz="1000">
                <a:solidFill>
                  <a:srgbClr val="000000"/>
                </a:solidFill>
                <a:latin typeface="+mj-lt"/>
              </a:rPr>
              <a:t>Dates are subject to potential 2-week shift, dependent upon COINS/CLASS/GDF scope requirements necessitating a 2-week deployment stagger.</a:t>
            </a:r>
          </a:p>
          <a:p>
            <a:pPr marL="771296" lvl="1" indent="-171450" defTabSz="914400">
              <a:buFont typeface="Arial" panose="020B0604020202020204" pitchFamily="34" charset="0"/>
              <a:buChar char="•"/>
              <a:defRPr/>
            </a:pPr>
            <a:r>
              <a:rPr lang="en-US" sz="1000">
                <a:solidFill>
                  <a:srgbClr val="000000"/>
                </a:solidFill>
                <a:latin typeface="+mj-lt"/>
              </a:rPr>
              <a:t>This situation is rare, and will be handled ad-hoc as requirements come in.</a:t>
            </a:r>
          </a:p>
          <a:p>
            <a:pPr marL="771296" lvl="1" indent="-171450" defTabSz="914400">
              <a:buFont typeface="Arial" panose="020B0604020202020204" pitchFamily="34" charset="0"/>
              <a:buChar char="•"/>
              <a:defRPr/>
            </a:pPr>
            <a:r>
              <a:rPr lang="en-US" sz="1000">
                <a:solidFill>
                  <a:srgbClr val="000000"/>
                </a:solidFill>
                <a:latin typeface="+mj-lt"/>
              </a:rPr>
              <a:t>Given enough time, COINS Release can still be planned 2-weeks in advance of these dates, leaving no impact to Lending-side changes</a:t>
            </a:r>
          </a:p>
        </p:txBody>
      </p:sp>
      <p:sp>
        <p:nvSpPr>
          <p:cNvPr id="7" name="Rectangle 6">
            <a:hlinkClick r:id="rId5" action="ppaction://hlinksldjump"/>
            <a:extLst>
              <a:ext uri="{FF2B5EF4-FFF2-40B4-BE49-F238E27FC236}">
                <a16:creationId xmlns:a16="http://schemas.microsoft.com/office/drawing/2014/main" id="{9D2D7B6D-45C6-5938-5093-987EEBCFC6EB}"/>
              </a:ext>
            </a:extLst>
          </p:cNvPr>
          <p:cNvSpPr/>
          <p:nvPr/>
        </p:nvSpPr>
        <p:spPr>
          <a:xfrm>
            <a:off x="244475" y="3532343"/>
            <a:ext cx="5699125" cy="738664"/>
          </a:xfrm>
          <a:prstGeom prst="rect">
            <a:avLst/>
          </a:prstGeom>
          <a:ln>
            <a:noFill/>
          </a:ln>
        </p:spPr>
        <p:txBody>
          <a:bodyPr wrap="square" lIns="91440" tIns="45720" rIns="91440" bIns="45720" anchor="t">
            <a:spAutoFit/>
          </a:bodyPr>
          <a:lstStyle/>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mj-lt"/>
                <a:ea typeface="+mn-ea"/>
                <a:cs typeface="+mn-cs"/>
              </a:rPr>
              <a:t>2026 Freezes:</a:t>
            </a:r>
          </a:p>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r>
              <a:rPr lang="en-US" sz="1000">
                <a:solidFill>
                  <a:srgbClr val="000000"/>
                </a:solidFill>
                <a:latin typeface="+mj-lt"/>
              </a:rPr>
              <a:t>RRSP and Holiday Freeze have reduced in length, by removing first week from each.</a:t>
            </a:r>
          </a:p>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r>
              <a:rPr lang="en-US" sz="1000">
                <a:solidFill>
                  <a:srgbClr val="000000"/>
                </a:solidFill>
                <a:latin typeface="+mj-lt"/>
              </a:rPr>
              <a:t>Informal freeze imposed annually in last 2 weeks of June for Lending pipeline to support high volume funding season.</a:t>
            </a:r>
          </a:p>
        </p:txBody>
      </p:sp>
      <p:graphicFrame>
        <p:nvGraphicFramePr>
          <p:cNvPr id="8" name="Table 7">
            <a:extLst>
              <a:ext uri="{FF2B5EF4-FFF2-40B4-BE49-F238E27FC236}">
                <a16:creationId xmlns:a16="http://schemas.microsoft.com/office/drawing/2014/main" id="{297E5B78-BD7D-8640-A493-85F64E278A47}"/>
              </a:ext>
            </a:extLst>
          </p:cNvPr>
          <p:cNvGraphicFramePr>
            <a:graphicFrameLocks noGrp="1"/>
          </p:cNvGraphicFramePr>
          <p:nvPr>
            <p:extLst>
              <p:ext uri="{D42A27DB-BD31-4B8C-83A1-F6EECF244321}">
                <p14:modId xmlns:p14="http://schemas.microsoft.com/office/powerpoint/2010/main" val="3471603000"/>
              </p:ext>
            </p:extLst>
          </p:nvPr>
        </p:nvGraphicFramePr>
        <p:xfrm>
          <a:off x="6315075" y="3570085"/>
          <a:ext cx="5245258" cy="982980"/>
        </p:xfrm>
        <a:graphic>
          <a:graphicData uri="http://schemas.openxmlformats.org/drawingml/2006/table">
            <a:tbl>
              <a:tblPr/>
              <a:tblGrid>
                <a:gridCol w="2962275">
                  <a:extLst>
                    <a:ext uri="{9D8B030D-6E8A-4147-A177-3AD203B41FA5}">
                      <a16:colId xmlns:a16="http://schemas.microsoft.com/office/drawing/2014/main" val="3705332289"/>
                    </a:ext>
                  </a:extLst>
                </a:gridCol>
                <a:gridCol w="2282983">
                  <a:extLst>
                    <a:ext uri="{9D8B030D-6E8A-4147-A177-3AD203B41FA5}">
                      <a16:colId xmlns:a16="http://schemas.microsoft.com/office/drawing/2014/main" val="3058892115"/>
                    </a:ext>
                  </a:extLst>
                </a:gridCol>
              </a:tblGrid>
              <a:tr h="190500">
                <a:tc>
                  <a:txBody>
                    <a:bodyPr/>
                    <a:lstStyle/>
                    <a:p>
                      <a:pPr algn="ctr" fontAlgn="ctr"/>
                      <a:r>
                        <a:rPr lang="en-US" sz="1400" b="1" i="0" u="none" strike="noStrike">
                          <a:solidFill>
                            <a:srgbClr val="000000"/>
                          </a:solidFill>
                          <a:effectLst/>
                          <a:latin typeface="Calibri" panose="020F0502020204030204" pitchFamily="34" charset="0"/>
                        </a:rPr>
                        <a:t>Freeze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Calibri" panose="020F0502020204030204" pitchFamily="34" charset="0"/>
                        </a:rPr>
                        <a:t>Dates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1789701"/>
                  </a:ext>
                </a:extLst>
              </a:tr>
              <a:tr h="190500">
                <a:tc>
                  <a:txBody>
                    <a:bodyPr/>
                    <a:lstStyle/>
                    <a:p>
                      <a:pPr algn="l" fontAlgn="ctr"/>
                      <a:r>
                        <a:rPr lang="en-US" sz="1100" b="1" i="0" u="none" strike="noStrike">
                          <a:solidFill>
                            <a:srgbClr val="000000"/>
                          </a:solidFill>
                          <a:effectLst/>
                          <a:latin typeface="Trebuchet MS" panose="020B0603020202020204" pitchFamily="34" charset="0"/>
                        </a:rPr>
                        <a:t>RRSP Freeze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rebuchet MS" panose="020B0603020202020204" pitchFamily="34" charset="0"/>
                        </a:rPr>
                        <a:t>Feb 16 00:01 - Mar 2 23:59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7633771"/>
                  </a:ext>
                </a:extLst>
              </a:tr>
              <a:tr h="190500">
                <a:tc>
                  <a:txBody>
                    <a:bodyPr/>
                    <a:lstStyle/>
                    <a:p>
                      <a:pPr algn="l" fontAlgn="ctr"/>
                      <a:r>
                        <a:rPr lang="en-US" sz="1100" b="1" i="0" u="none" strike="noStrike">
                          <a:solidFill>
                            <a:srgbClr val="000000"/>
                          </a:solidFill>
                          <a:effectLst/>
                          <a:latin typeface="Trebuchet MS" panose="020B0603020202020204" pitchFamily="34" charset="0"/>
                        </a:rPr>
                        <a:t>Funding Freeze (Informal)</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r>
                        <a:rPr lang="es-ES" sz="1100" b="0" i="0" u="none" strike="noStrike">
                          <a:solidFill>
                            <a:srgbClr val="000000"/>
                          </a:solidFill>
                          <a:effectLst/>
                          <a:latin typeface="Trebuchet MS" panose="020B0603020202020204" pitchFamily="34" charset="0"/>
                        </a:rPr>
                        <a:t>Jun 15 00:01 - Jun 30 23:59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994045"/>
                  </a:ext>
                </a:extLst>
              </a:tr>
              <a:tr h="190500">
                <a:tc>
                  <a:txBody>
                    <a:bodyPr/>
                    <a:lstStyle/>
                    <a:p>
                      <a:pPr algn="l" fontAlgn="ctr"/>
                      <a:r>
                        <a:rPr lang="en-CA" sz="1100" b="1" i="0" u="none" strike="noStrike">
                          <a:solidFill>
                            <a:srgbClr val="000000"/>
                          </a:solidFill>
                          <a:effectLst/>
                          <a:latin typeface="Trebuchet MS" panose="020B0603020202020204" pitchFamily="34" charset="0"/>
                        </a:rPr>
                        <a:t>Black Friday / Cyber Monday Freeze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rebuchet MS" panose="020B0603020202020204" pitchFamily="34" charset="0"/>
                        </a:rPr>
                        <a:t>Nov 27 00:01 - Nov 30 23:59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6834373"/>
                  </a:ext>
                </a:extLst>
              </a:tr>
              <a:tr h="190500">
                <a:tc>
                  <a:txBody>
                    <a:bodyPr/>
                    <a:lstStyle/>
                    <a:p>
                      <a:pPr algn="l" fontAlgn="ctr"/>
                      <a:r>
                        <a:rPr lang="en-US" sz="1100" b="1" i="0" u="none" strike="noStrike">
                          <a:solidFill>
                            <a:srgbClr val="000000"/>
                          </a:solidFill>
                          <a:effectLst/>
                          <a:latin typeface="Trebuchet MS" panose="020B0603020202020204" pitchFamily="34" charset="0"/>
                        </a:rPr>
                        <a:t>Holiday Freeze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rebuchet MS" panose="020B0603020202020204" pitchFamily="34" charset="0"/>
                        </a:rPr>
                        <a:t>Dec 14 00:01 - Jan 1 23:59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97589"/>
                  </a:ext>
                </a:extLst>
              </a:tr>
            </a:tbl>
          </a:graphicData>
        </a:graphic>
      </p:graphicFrame>
      <p:graphicFrame>
        <p:nvGraphicFramePr>
          <p:cNvPr id="11" name="Table 10">
            <a:extLst>
              <a:ext uri="{FF2B5EF4-FFF2-40B4-BE49-F238E27FC236}">
                <a16:creationId xmlns:a16="http://schemas.microsoft.com/office/drawing/2014/main" id="{8A4ACAC6-8B9B-93AC-4F3B-994FF774DBAE}"/>
              </a:ext>
            </a:extLst>
          </p:cNvPr>
          <p:cNvGraphicFramePr>
            <a:graphicFrameLocks noGrp="1"/>
          </p:cNvGraphicFramePr>
          <p:nvPr>
            <p:extLst>
              <p:ext uri="{D42A27DB-BD31-4B8C-83A1-F6EECF244321}">
                <p14:modId xmlns:p14="http://schemas.microsoft.com/office/powerpoint/2010/main" val="1568653797"/>
              </p:ext>
            </p:extLst>
          </p:nvPr>
        </p:nvGraphicFramePr>
        <p:xfrm>
          <a:off x="244475" y="1265939"/>
          <a:ext cx="4927600" cy="1653540"/>
        </p:xfrm>
        <a:graphic>
          <a:graphicData uri="http://schemas.openxmlformats.org/drawingml/2006/table">
            <a:tbl>
              <a:tblPr/>
              <a:tblGrid>
                <a:gridCol w="2037265">
                  <a:extLst>
                    <a:ext uri="{9D8B030D-6E8A-4147-A177-3AD203B41FA5}">
                      <a16:colId xmlns:a16="http://schemas.microsoft.com/office/drawing/2014/main" val="1479758206"/>
                    </a:ext>
                  </a:extLst>
                </a:gridCol>
                <a:gridCol w="2890335">
                  <a:extLst>
                    <a:ext uri="{9D8B030D-6E8A-4147-A177-3AD203B41FA5}">
                      <a16:colId xmlns:a16="http://schemas.microsoft.com/office/drawing/2014/main" val="1153901824"/>
                    </a:ext>
                  </a:extLst>
                </a:gridCol>
              </a:tblGrid>
              <a:tr h="289560">
                <a:tc gridSpan="2">
                  <a:txBody>
                    <a:bodyPr/>
                    <a:lstStyle/>
                    <a:p>
                      <a:pPr algn="ctr" fontAlgn="ctr"/>
                      <a:r>
                        <a:rPr lang="en-CA" sz="1400" b="1" i="0" u="none" strike="noStrike">
                          <a:solidFill>
                            <a:srgbClr val="C00000"/>
                          </a:solidFill>
                          <a:effectLst/>
                          <a:latin typeface="Trebuchet MS" panose="020B0603020202020204" pitchFamily="34" charset="0"/>
                        </a:rPr>
                        <a:t>CBPT Core Banking Release Calendar 2026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989859545"/>
                  </a:ext>
                </a:extLst>
              </a:tr>
              <a:tr h="190500">
                <a:tc>
                  <a:txBody>
                    <a:bodyPr/>
                    <a:lstStyle/>
                    <a:p>
                      <a:pPr algn="ctr" fontAlgn="ctr"/>
                      <a:r>
                        <a:rPr lang="en-US" sz="1400" b="1" i="0" u="none" strike="noStrike">
                          <a:solidFill>
                            <a:srgbClr val="000000"/>
                          </a:solidFill>
                          <a:effectLst/>
                          <a:latin typeface="Calibri" panose="020F0502020204030204" pitchFamily="34" charset="0"/>
                        </a:rPr>
                        <a:t>Release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Calibri" panose="020F0502020204030204" pitchFamily="34" charset="0"/>
                        </a:rPr>
                        <a:t>Implementation Date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0656446"/>
                  </a:ext>
                </a:extLst>
              </a:tr>
              <a:tr h="190500">
                <a:tc>
                  <a:txBody>
                    <a:bodyPr/>
                    <a:lstStyle/>
                    <a:p>
                      <a:pPr algn="l" fontAlgn="ctr"/>
                      <a:r>
                        <a:rPr lang="en-US" sz="1100" b="1" i="0" u="none" strike="noStrike">
                          <a:solidFill>
                            <a:srgbClr val="000000"/>
                          </a:solidFill>
                          <a:effectLst/>
                          <a:latin typeface="Trebuchet MS" panose="020B0603020202020204" pitchFamily="34" charset="0"/>
                        </a:rPr>
                        <a:t>Core Banking 26.2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rebuchet MS" panose="020B0603020202020204" pitchFamily="34" charset="0"/>
                        </a:rPr>
                        <a:t>February 1, 2026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9848198"/>
                  </a:ext>
                </a:extLst>
              </a:tr>
              <a:tr h="190500">
                <a:tc>
                  <a:txBody>
                    <a:bodyPr/>
                    <a:lstStyle/>
                    <a:p>
                      <a:pPr algn="l" fontAlgn="ctr"/>
                      <a:r>
                        <a:rPr lang="en-US" sz="1100" b="1" i="0" u="none" strike="noStrike">
                          <a:solidFill>
                            <a:srgbClr val="000000"/>
                          </a:solidFill>
                          <a:effectLst/>
                          <a:latin typeface="Trebuchet MS" panose="020B0603020202020204" pitchFamily="34" charset="0"/>
                        </a:rPr>
                        <a:t>Core Banking 26.3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rebuchet MS" panose="020B0603020202020204" pitchFamily="34" charset="0"/>
                        </a:rPr>
                        <a:t>April 19, 2026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2502790"/>
                  </a:ext>
                </a:extLst>
              </a:tr>
              <a:tr h="190500">
                <a:tc>
                  <a:txBody>
                    <a:bodyPr/>
                    <a:lstStyle/>
                    <a:p>
                      <a:pPr algn="l" fontAlgn="ctr"/>
                      <a:r>
                        <a:rPr lang="en-US" sz="1100" b="1" i="0" u="none" strike="noStrike">
                          <a:solidFill>
                            <a:srgbClr val="000000"/>
                          </a:solidFill>
                          <a:effectLst/>
                          <a:latin typeface="Trebuchet MS" panose="020B0603020202020204" pitchFamily="34" charset="0"/>
                        </a:rPr>
                        <a:t>Core Banking 26.4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rebuchet MS" panose="020B0603020202020204" pitchFamily="34" charset="0"/>
                        </a:rPr>
                        <a:t>July 5, 2026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307637"/>
                  </a:ext>
                </a:extLst>
              </a:tr>
              <a:tr h="190500">
                <a:tc>
                  <a:txBody>
                    <a:bodyPr/>
                    <a:lstStyle/>
                    <a:p>
                      <a:pPr algn="l" fontAlgn="ctr"/>
                      <a:r>
                        <a:rPr lang="en-US" sz="1100" b="1" i="0" u="none" strike="noStrike">
                          <a:solidFill>
                            <a:srgbClr val="000000"/>
                          </a:solidFill>
                          <a:effectLst/>
                          <a:latin typeface="Trebuchet MS" panose="020B0603020202020204" pitchFamily="34" charset="0"/>
                        </a:rPr>
                        <a:t>Core Banking 26.5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rebuchet MS" panose="020B0603020202020204" pitchFamily="34" charset="0"/>
                        </a:rPr>
                        <a:t>September 20, 2026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0308668"/>
                  </a:ext>
                </a:extLst>
              </a:tr>
              <a:tr h="190500">
                <a:tc>
                  <a:txBody>
                    <a:bodyPr/>
                    <a:lstStyle/>
                    <a:p>
                      <a:pPr algn="l" fontAlgn="ctr"/>
                      <a:r>
                        <a:rPr lang="en-US" sz="1100" b="1" i="0" u="none" strike="noStrike">
                          <a:solidFill>
                            <a:srgbClr val="000000"/>
                          </a:solidFill>
                          <a:effectLst/>
                          <a:latin typeface="Trebuchet MS" panose="020B0603020202020204" pitchFamily="34" charset="0"/>
                        </a:rPr>
                        <a:t>Core Banking 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rebuchet MS" panose="020B0603020202020204" pitchFamily="34" charset="0"/>
                        </a:rPr>
                        <a:t>November 15, 2026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5853007"/>
                  </a:ext>
                </a:extLst>
              </a:tr>
              <a:tr h="190500">
                <a:tc>
                  <a:txBody>
                    <a:bodyPr/>
                    <a:lstStyle/>
                    <a:p>
                      <a:pPr algn="l" fontAlgn="ctr"/>
                      <a:r>
                        <a:rPr lang="en-US" sz="1100" b="1" i="0" u="none" strike="noStrike">
                          <a:solidFill>
                            <a:srgbClr val="000000"/>
                          </a:solidFill>
                          <a:effectLst/>
                          <a:latin typeface="Trebuchet MS" panose="020B0603020202020204" pitchFamily="34" charset="0"/>
                        </a:rPr>
                        <a:t>AMS 2026 Release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rebuchet MS" panose="020B0603020202020204" pitchFamily="34" charset="0"/>
                        </a:rPr>
                        <a:t>December 6, 2026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9884747"/>
                  </a:ext>
                </a:extLst>
              </a:tr>
            </a:tbl>
          </a:graphicData>
        </a:graphic>
      </p:graphicFrame>
    </p:spTree>
    <p:extLst>
      <p:ext uri="{BB962C8B-B14F-4D97-AF65-F5344CB8AC3E}">
        <p14:creationId xmlns:p14="http://schemas.microsoft.com/office/powerpoint/2010/main" val="600805559"/>
      </p:ext>
    </p:extLst>
  </p:cSld>
  <p:clrMapOvr>
    <a:masterClrMapping/>
  </p:clrMapOvr>
  <mc:AlternateContent xmlns:mc="http://schemas.openxmlformats.org/markup-compatibility/2006">
    <mc:Choice xmlns:p14="http://schemas.microsoft.com/office/powerpoint/2010/main" Requires="p14">
      <p:transition spd="slow" p14:dur="2000" advTm="30000"/>
    </mc:Choice>
    <mc:Fallback>
      <p:transition spd="slow" advTm="3000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34285-0FF7-4735-A30C-542A2AAE9452}"/>
              </a:ext>
            </a:extLst>
          </p:cNvPr>
          <p:cNvSpPr>
            <a:spLocks noGrp="1"/>
          </p:cNvSpPr>
          <p:nvPr>
            <p:ph type="title"/>
          </p:nvPr>
        </p:nvSpPr>
        <p:spPr>
          <a:xfrm>
            <a:off x="353830" y="260322"/>
            <a:ext cx="10660404" cy="554846"/>
          </a:xfrm>
        </p:spPr>
        <p:txBody>
          <a:bodyPr/>
          <a:lstStyle/>
          <a:p>
            <a:r>
              <a:rPr lang="en-CA" sz="2800"/>
              <a:t>Apr Rel - Overview</a:t>
            </a:r>
            <a:endParaRPr lang="en-US" sz="2800"/>
          </a:p>
        </p:txBody>
      </p:sp>
      <p:sp>
        <p:nvSpPr>
          <p:cNvPr id="3" name="Rectangle: Rounded Corners 2">
            <a:extLst>
              <a:ext uri="{FF2B5EF4-FFF2-40B4-BE49-F238E27FC236}">
                <a16:creationId xmlns:a16="http://schemas.microsoft.com/office/drawing/2014/main" id="{6970FACB-F4A4-28BB-C44C-A5D6341663AE}"/>
              </a:ext>
            </a:extLst>
          </p:cNvPr>
          <p:cNvSpPr/>
          <p:nvPr/>
        </p:nvSpPr>
        <p:spPr>
          <a:xfrm>
            <a:off x="353830" y="815168"/>
            <a:ext cx="5453081" cy="635698"/>
          </a:xfrm>
          <a:prstGeom prst="roundRect">
            <a:avLst>
              <a:gd name="adj" fmla="val 14766"/>
            </a:avLst>
          </a:prstGeom>
          <a:solidFill>
            <a:schemeClr val="accent6">
              <a:lumMod val="75000"/>
            </a:schemeClr>
          </a:solidFill>
          <a:scene3d>
            <a:camera prst="orthographicFront"/>
            <a:lightRig rig="threePt" dir="t"/>
          </a:scene3d>
          <a:sp3d>
            <a:bevelT/>
            <a:bevelB/>
          </a:sp3d>
        </p:spPr>
        <p:txBody>
          <a:bodyPr wrap="square" rtlCol="0" anchor="ctr">
            <a:noAutofit/>
          </a:bodyPr>
          <a:lstStyle/>
          <a:p>
            <a:pPr algn="ctr"/>
            <a:r>
              <a:rPr lang="en-CA" sz="1600" b="1">
                <a:solidFill>
                  <a:schemeClr val="bg1"/>
                </a:solidFill>
              </a:rPr>
              <a:t>RELEASE RECAP</a:t>
            </a:r>
            <a:endParaRPr lang="en-US" sz="1600" b="1">
              <a:solidFill>
                <a:schemeClr val="bg1"/>
              </a:solidFill>
            </a:endParaRPr>
          </a:p>
        </p:txBody>
      </p:sp>
      <p:sp>
        <p:nvSpPr>
          <p:cNvPr id="5" name="Rectangle: Rounded Corners 4">
            <a:extLst>
              <a:ext uri="{FF2B5EF4-FFF2-40B4-BE49-F238E27FC236}">
                <a16:creationId xmlns:a16="http://schemas.microsoft.com/office/drawing/2014/main" id="{182AFF5F-6ABA-9342-522A-A9FDC48F093F}"/>
              </a:ext>
            </a:extLst>
          </p:cNvPr>
          <p:cNvSpPr/>
          <p:nvPr/>
        </p:nvSpPr>
        <p:spPr>
          <a:xfrm>
            <a:off x="6061601" y="818440"/>
            <a:ext cx="5471769" cy="635698"/>
          </a:xfrm>
          <a:prstGeom prst="roundRect">
            <a:avLst>
              <a:gd name="adj" fmla="val 14766"/>
            </a:avLst>
          </a:prstGeom>
          <a:solidFill>
            <a:schemeClr val="accent6">
              <a:lumMod val="75000"/>
            </a:schemeClr>
          </a:solidFill>
          <a:scene3d>
            <a:camera prst="orthographicFront"/>
            <a:lightRig rig="threePt" dir="t"/>
          </a:scene3d>
          <a:sp3d>
            <a:bevelT/>
            <a:bevelB/>
          </a:sp3d>
        </p:spPr>
        <p:txBody>
          <a:bodyPr wrap="square" rtlCol="0" anchor="ctr">
            <a:noAutofit/>
          </a:bodyPr>
          <a:lstStyle/>
          <a:p>
            <a:pPr algn="ctr"/>
            <a:r>
              <a:rPr lang="en-CA" sz="1600" b="1">
                <a:solidFill>
                  <a:schemeClr val="bg1"/>
                </a:solidFill>
              </a:rPr>
              <a:t>PROD ISSUE BY INTAKE DISTRIBUTION &amp; RCA</a:t>
            </a:r>
          </a:p>
        </p:txBody>
      </p:sp>
      <p:sp>
        <p:nvSpPr>
          <p:cNvPr id="15" name="Rectangle: Rounded Corners 14">
            <a:extLst>
              <a:ext uri="{FF2B5EF4-FFF2-40B4-BE49-F238E27FC236}">
                <a16:creationId xmlns:a16="http://schemas.microsoft.com/office/drawing/2014/main" id="{1C0BD1AF-5F51-357E-CD0F-792D0948E043}"/>
              </a:ext>
            </a:extLst>
          </p:cNvPr>
          <p:cNvSpPr/>
          <p:nvPr/>
        </p:nvSpPr>
        <p:spPr>
          <a:xfrm>
            <a:off x="353829" y="1737628"/>
            <a:ext cx="1555726" cy="1156398"/>
          </a:xfrm>
          <a:prstGeom prst="roundRect">
            <a:avLst>
              <a:gd name="adj" fmla="val 20482"/>
            </a:avLst>
          </a:prstGeom>
          <a:solidFill>
            <a:srgbClr val="E7E7E7"/>
          </a:solidFill>
          <a:ln>
            <a:noFill/>
          </a:ln>
          <a:effectLst>
            <a:outerShdw blurRad="107950" dist="12700" dir="5400000" algn="ctr">
              <a:srgbClr val="000000"/>
            </a:outerShdw>
          </a:effectLst>
        </p:spPr>
        <p:txBody>
          <a:bodyPr wrap="none" rtlCol="0" anchor="ctr">
            <a:noAutofit/>
          </a:bodyPr>
          <a:lstStyle/>
          <a:p>
            <a:pPr algn="ctr"/>
            <a:r>
              <a:rPr lang="en-CA" sz="1800" b="1"/>
              <a:t>47</a:t>
            </a:r>
          </a:p>
          <a:p>
            <a:pPr algn="ctr"/>
            <a:r>
              <a:rPr lang="en-CA" sz="1400"/>
              <a:t>Release Items</a:t>
            </a:r>
            <a:endParaRPr lang="en-US" sz="1400"/>
          </a:p>
        </p:txBody>
      </p:sp>
      <p:sp>
        <p:nvSpPr>
          <p:cNvPr id="16" name="Rectangle: Rounded Corners 15">
            <a:extLst>
              <a:ext uri="{FF2B5EF4-FFF2-40B4-BE49-F238E27FC236}">
                <a16:creationId xmlns:a16="http://schemas.microsoft.com/office/drawing/2014/main" id="{8C8C7AF2-0C3B-638B-E34E-12879D85638E}"/>
              </a:ext>
            </a:extLst>
          </p:cNvPr>
          <p:cNvSpPr/>
          <p:nvPr/>
        </p:nvSpPr>
        <p:spPr>
          <a:xfrm>
            <a:off x="2300310" y="1737628"/>
            <a:ext cx="1555726" cy="1156397"/>
          </a:xfrm>
          <a:prstGeom prst="roundRect">
            <a:avLst>
              <a:gd name="adj" fmla="val 20482"/>
            </a:avLst>
          </a:prstGeom>
          <a:solidFill>
            <a:srgbClr val="E7E7E7"/>
          </a:solidFill>
          <a:ln>
            <a:noFill/>
          </a:ln>
          <a:effectLst>
            <a:outerShdw blurRad="107950" dist="12700" dir="5400000" algn="ctr">
              <a:srgbClr val="000000"/>
            </a:outerShdw>
          </a:effectLst>
        </p:spPr>
        <p:txBody>
          <a:bodyPr wrap="none" rtlCol="0" anchor="ctr">
            <a:noAutofit/>
          </a:bodyPr>
          <a:lstStyle/>
          <a:p>
            <a:pPr algn="ctr"/>
            <a:r>
              <a:rPr lang="en-CA" sz="1800" b="1"/>
              <a:t>24</a:t>
            </a:r>
          </a:p>
          <a:p>
            <a:pPr algn="ctr"/>
            <a:r>
              <a:rPr lang="en-CA" sz="1400"/>
              <a:t>CBPT Apps</a:t>
            </a:r>
            <a:endParaRPr lang="en-US" sz="1400"/>
          </a:p>
        </p:txBody>
      </p:sp>
      <p:sp>
        <p:nvSpPr>
          <p:cNvPr id="17" name="Rectangle: Rounded Corners 16">
            <a:extLst>
              <a:ext uri="{FF2B5EF4-FFF2-40B4-BE49-F238E27FC236}">
                <a16:creationId xmlns:a16="http://schemas.microsoft.com/office/drawing/2014/main" id="{A31DEFF4-40CA-4D2A-307B-BBDDCD8B7CC3}"/>
              </a:ext>
            </a:extLst>
          </p:cNvPr>
          <p:cNvSpPr/>
          <p:nvPr/>
        </p:nvSpPr>
        <p:spPr>
          <a:xfrm>
            <a:off x="4251184" y="1737628"/>
            <a:ext cx="1555727" cy="1156398"/>
          </a:xfrm>
          <a:prstGeom prst="roundRect">
            <a:avLst>
              <a:gd name="adj" fmla="val 20482"/>
            </a:avLst>
          </a:prstGeom>
          <a:solidFill>
            <a:srgbClr val="E7E7E7"/>
          </a:solidFill>
          <a:ln>
            <a:noFill/>
          </a:ln>
          <a:effectLst>
            <a:outerShdw blurRad="107950" dist="12700" dir="5400000" algn="ctr">
              <a:srgbClr val="000000"/>
            </a:outerShdw>
          </a:effectLst>
        </p:spPr>
        <p:txBody>
          <a:bodyPr wrap="none" rtlCol="0" anchor="ctr">
            <a:noAutofit/>
          </a:bodyPr>
          <a:lstStyle/>
          <a:p>
            <a:pPr algn="ctr"/>
            <a:r>
              <a:rPr lang="en-CA" sz="1800" b="1"/>
              <a:t>6</a:t>
            </a:r>
          </a:p>
          <a:p>
            <a:pPr algn="ctr"/>
            <a:r>
              <a:rPr lang="en-CA" sz="1400"/>
              <a:t>External Apps</a:t>
            </a:r>
            <a:endParaRPr lang="en-US" sz="1400"/>
          </a:p>
        </p:txBody>
      </p:sp>
      <p:sp>
        <p:nvSpPr>
          <p:cNvPr id="18" name="Rectangle: Rounded Corners 17">
            <a:extLst>
              <a:ext uri="{FF2B5EF4-FFF2-40B4-BE49-F238E27FC236}">
                <a16:creationId xmlns:a16="http://schemas.microsoft.com/office/drawing/2014/main" id="{13FC1DD5-40F6-2093-C291-F94C819A8209}"/>
              </a:ext>
            </a:extLst>
          </p:cNvPr>
          <p:cNvSpPr/>
          <p:nvPr/>
        </p:nvSpPr>
        <p:spPr>
          <a:xfrm>
            <a:off x="353828" y="3177516"/>
            <a:ext cx="5453079" cy="2865316"/>
          </a:xfrm>
          <a:prstGeom prst="roundRect">
            <a:avLst>
              <a:gd name="adj" fmla="val 6377"/>
            </a:avLst>
          </a:prstGeom>
          <a:solidFill>
            <a:srgbClr val="E7E7E7"/>
          </a:solidFill>
          <a:ln>
            <a:noFill/>
          </a:ln>
          <a:effectLst>
            <a:outerShdw blurRad="107950" dist="12700" dir="5400000" algn="ctr">
              <a:srgbClr val="000000"/>
            </a:outerShdw>
          </a:effectLst>
        </p:spPr>
        <p:txBody>
          <a:bodyPr wrap="square" lIns="91440" rIns="91440" rtlCol="0" anchor="ctr">
            <a:noAutofit/>
          </a:bodyPr>
          <a:lstStyle/>
          <a:p>
            <a:pPr algn="ctr"/>
            <a:r>
              <a:rPr lang="en-CA" sz="1400" b="1" u="sng"/>
              <a:t>Key Initiatives</a:t>
            </a:r>
          </a:p>
          <a:p>
            <a:pPr algn="ctr"/>
            <a:endParaRPr lang="en-CA" sz="1400" b="1" u="sng"/>
          </a:p>
          <a:p>
            <a:pPr marL="285750" indent="-285750">
              <a:buFont typeface="Wingdings" panose="05000000000000000000" pitchFamily="2" charset="2"/>
              <a:buChar char="v"/>
            </a:pPr>
            <a:r>
              <a:rPr lang="en-CA" sz="1400"/>
              <a:t>2616 | RDD (Renewal Due Diligence)</a:t>
            </a:r>
          </a:p>
          <a:p>
            <a:pPr marL="285750" indent="-285750">
              <a:buFont typeface="Wingdings" panose="05000000000000000000" pitchFamily="2" charset="2"/>
              <a:buChar char="v"/>
            </a:pPr>
            <a:r>
              <a:rPr lang="en-CA" sz="1400"/>
              <a:t>2646 | HPP MA Refinance</a:t>
            </a:r>
          </a:p>
          <a:p>
            <a:pPr marL="285750" indent="-285750">
              <a:buFont typeface="Wingdings" panose="05000000000000000000" pitchFamily="2" charset="2"/>
              <a:buChar char="v"/>
            </a:pPr>
            <a:r>
              <a:rPr lang="en-CA" sz="1400"/>
              <a:t>2682 | Mortgage Insurance Affordability</a:t>
            </a:r>
          </a:p>
          <a:p>
            <a:pPr marL="285750" indent="-285750">
              <a:buFont typeface="Wingdings" panose="05000000000000000000" pitchFamily="2" charset="2"/>
              <a:buChar char="v"/>
            </a:pPr>
            <a:r>
              <a:rPr lang="en-CA" sz="1400"/>
              <a:t>2921 | LCMS Routing for RESL</a:t>
            </a:r>
          </a:p>
          <a:p>
            <a:pPr marL="285750" indent="-285750">
              <a:buFont typeface="Wingdings" panose="05000000000000000000" pitchFamily="2" charset="2"/>
              <a:buChar char="v"/>
            </a:pPr>
            <a:r>
              <a:rPr lang="en-CA" sz="1400"/>
              <a:t>2800 | IDP (Intelligent Document Processing)</a:t>
            </a:r>
          </a:p>
          <a:p>
            <a:pPr marL="285750" indent="-285750">
              <a:buFont typeface="Wingdings" panose="05000000000000000000" pitchFamily="2" charset="2"/>
              <a:buChar char="v"/>
            </a:pPr>
            <a:r>
              <a:rPr lang="en-CA" sz="1400"/>
              <a:t>3081 | Insurer Enhancements and Priority Changes (Hopper 1)</a:t>
            </a:r>
          </a:p>
          <a:p>
            <a:pPr marL="285750" indent="-285750">
              <a:buFont typeface="Wingdings" panose="05000000000000000000" pitchFamily="2" charset="2"/>
              <a:buChar char="v"/>
            </a:pPr>
            <a:r>
              <a:rPr lang="en-CA" sz="1400"/>
              <a:t>3273 | Renewal Letter for Canadian Mortgage Charter</a:t>
            </a:r>
          </a:p>
          <a:p>
            <a:pPr marL="285750" indent="-285750">
              <a:buFont typeface="Wingdings" panose="05000000000000000000" pitchFamily="2" charset="2"/>
              <a:buChar char="v"/>
            </a:pPr>
            <a:r>
              <a:rPr lang="en-CA" sz="1400"/>
              <a:t>3843 / 3686 | RESL Pod Phase 2</a:t>
            </a:r>
          </a:p>
          <a:p>
            <a:pPr marL="285750" indent="-285750">
              <a:buFont typeface="Wingdings" panose="05000000000000000000" pitchFamily="2" charset="2"/>
              <a:buChar char="v"/>
            </a:pPr>
            <a:r>
              <a:rPr lang="en-CA" sz="1400"/>
              <a:t>4133 | What If Calculator</a:t>
            </a:r>
          </a:p>
          <a:p>
            <a:pPr marL="285750" indent="-285750">
              <a:buFont typeface="Wingdings" panose="05000000000000000000" pitchFamily="2" charset="2"/>
              <a:buChar char="v"/>
            </a:pPr>
            <a:r>
              <a:rPr lang="en-CA" sz="1400"/>
              <a:t>PRB0056242 | </a:t>
            </a:r>
            <a:r>
              <a:rPr lang="en-CA" sz="1400" err="1"/>
              <a:t>mMTG</a:t>
            </a:r>
            <a:r>
              <a:rPr lang="en-CA" sz="1400"/>
              <a:t> | Angular JS upgrade</a:t>
            </a:r>
          </a:p>
        </p:txBody>
      </p:sp>
      <p:graphicFrame>
        <p:nvGraphicFramePr>
          <p:cNvPr id="21" name="Chart 20">
            <a:extLst>
              <a:ext uri="{FF2B5EF4-FFF2-40B4-BE49-F238E27FC236}">
                <a16:creationId xmlns:a16="http://schemas.microsoft.com/office/drawing/2014/main" id="{25026CD2-8F78-2B22-7385-11152764A631}"/>
              </a:ext>
            </a:extLst>
          </p:cNvPr>
          <p:cNvGraphicFramePr/>
          <p:nvPr>
            <p:extLst>
              <p:ext uri="{D42A27DB-BD31-4B8C-83A1-F6EECF244321}">
                <p14:modId xmlns:p14="http://schemas.microsoft.com/office/powerpoint/2010/main" val="1860321069"/>
              </p:ext>
            </p:extLst>
          </p:nvPr>
        </p:nvGraphicFramePr>
        <p:xfrm>
          <a:off x="6080291" y="1737628"/>
          <a:ext cx="5453079" cy="4663172"/>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B468C3F1-F3FA-16AC-7FB2-D17F02ACCB15}"/>
              </a:ext>
            </a:extLst>
          </p:cNvPr>
          <p:cNvSpPr txBox="1"/>
          <p:nvPr/>
        </p:nvSpPr>
        <p:spPr>
          <a:xfrm>
            <a:off x="7323507" y="2249361"/>
            <a:ext cx="1288933" cy="246221"/>
          </a:xfrm>
          <a:prstGeom prst="rect">
            <a:avLst/>
          </a:prstGeom>
          <a:noFill/>
        </p:spPr>
        <p:txBody>
          <a:bodyPr wrap="square" rtlCol="0">
            <a:spAutoFit/>
          </a:bodyPr>
          <a:lstStyle/>
          <a:p>
            <a:r>
              <a:rPr lang="en-CA" sz="1000" b="1"/>
              <a:t>DM / mMtg / CLASS</a:t>
            </a:r>
            <a:endParaRPr lang="en-US" sz="1000" b="1"/>
          </a:p>
        </p:txBody>
      </p:sp>
      <p:sp>
        <p:nvSpPr>
          <p:cNvPr id="6" name="TextBox 5">
            <a:extLst>
              <a:ext uri="{FF2B5EF4-FFF2-40B4-BE49-F238E27FC236}">
                <a16:creationId xmlns:a16="http://schemas.microsoft.com/office/drawing/2014/main" id="{236E083E-BFAC-3A70-AF66-EE47FC5D4B08}"/>
              </a:ext>
            </a:extLst>
          </p:cNvPr>
          <p:cNvSpPr txBox="1"/>
          <p:nvPr/>
        </p:nvSpPr>
        <p:spPr>
          <a:xfrm>
            <a:off x="8612440" y="2175655"/>
            <a:ext cx="2904007" cy="400110"/>
          </a:xfrm>
          <a:prstGeom prst="rect">
            <a:avLst/>
          </a:prstGeom>
          <a:noFill/>
        </p:spPr>
        <p:txBody>
          <a:bodyPr wrap="square" rtlCol="0">
            <a:spAutoFit/>
          </a:bodyPr>
          <a:lstStyle/>
          <a:p>
            <a:r>
              <a:rPr lang="en-CA" sz="1000" b="1"/>
              <a:t>BRD Miss / SRD Miss / Build Issue / Existing Issue / Performance Testing Issue</a:t>
            </a:r>
            <a:endParaRPr lang="en-US" sz="1000" b="1"/>
          </a:p>
        </p:txBody>
      </p:sp>
      <p:sp>
        <p:nvSpPr>
          <p:cNvPr id="8" name="TextBox 7">
            <a:extLst>
              <a:ext uri="{FF2B5EF4-FFF2-40B4-BE49-F238E27FC236}">
                <a16:creationId xmlns:a16="http://schemas.microsoft.com/office/drawing/2014/main" id="{D5136224-7B56-0FE5-0CBE-FCCE3482D96D}"/>
              </a:ext>
            </a:extLst>
          </p:cNvPr>
          <p:cNvSpPr txBox="1"/>
          <p:nvPr/>
        </p:nvSpPr>
        <p:spPr>
          <a:xfrm>
            <a:off x="8627362" y="3159117"/>
            <a:ext cx="1575183" cy="246221"/>
          </a:xfrm>
          <a:prstGeom prst="rect">
            <a:avLst/>
          </a:prstGeom>
          <a:noFill/>
        </p:spPr>
        <p:txBody>
          <a:bodyPr wrap="square" rtlCol="0">
            <a:spAutoFit/>
          </a:bodyPr>
          <a:lstStyle/>
          <a:p>
            <a:r>
              <a:rPr lang="en-CA" sz="1000" b="1"/>
              <a:t>Code Defect</a:t>
            </a:r>
            <a:endParaRPr lang="en-US" sz="1000" b="1"/>
          </a:p>
        </p:txBody>
      </p:sp>
      <p:sp>
        <p:nvSpPr>
          <p:cNvPr id="9" name="TextBox 8">
            <a:extLst>
              <a:ext uri="{FF2B5EF4-FFF2-40B4-BE49-F238E27FC236}">
                <a16:creationId xmlns:a16="http://schemas.microsoft.com/office/drawing/2014/main" id="{83A17081-34A3-587C-7285-0A4BB68EFE8F}"/>
              </a:ext>
            </a:extLst>
          </p:cNvPr>
          <p:cNvSpPr txBox="1"/>
          <p:nvPr/>
        </p:nvSpPr>
        <p:spPr>
          <a:xfrm>
            <a:off x="7323507" y="3625013"/>
            <a:ext cx="698510" cy="246221"/>
          </a:xfrm>
          <a:prstGeom prst="rect">
            <a:avLst/>
          </a:prstGeom>
          <a:noFill/>
        </p:spPr>
        <p:txBody>
          <a:bodyPr wrap="square" rtlCol="0">
            <a:spAutoFit/>
          </a:bodyPr>
          <a:lstStyle/>
          <a:p>
            <a:r>
              <a:rPr lang="en-CA" sz="1000" b="1"/>
              <a:t>BRCC</a:t>
            </a:r>
            <a:endParaRPr lang="en-US" sz="1000" b="1"/>
          </a:p>
        </p:txBody>
      </p:sp>
      <p:sp>
        <p:nvSpPr>
          <p:cNvPr id="10" name="TextBox 9">
            <a:extLst>
              <a:ext uri="{FF2B5EF4-FFF2-40B4-BE49-F238E27FC236}">
                <a16:creationId xmlns:a16="http://schemas.microsoft.com/office/drawing/2014/main" id="{31F38D4F-E496-8C43-003F-EC49A811EF0C}"/>
              </a:ext>
            </a:extLst>
          </p:cNvPr>
          <p:cNvSpPr txBox="1"/>
          <p:nvPr/>
        </p:nvSpPr>
        <p:spPr>
          <a:xfrm>
            <a:off x="8627361" y="3619572"/>
            <a:ext cx="1575183" cy="246221"/>
          </a:xfrm>
          <a:prstGeom prst="rect">
            <a:avLst/>
          </a:prstGeom>
          <a:noFill/>
        </p:spPr>
        <p:txBody>
          <a:bodyPr wrap="square" rtlCol="0">
            <a:spAutoFit/>
          </a:bodyPr>
          <a:lstStyle/>
          <a:p>
            <a:r>
              <a:rPr lang="en-CA" sz="1000" b="1"/>
              <a:t>Third Party</a:t>
            </a:r>
            <a:endParaRPr lang="en-US" sz="1000" b="1"/>
          </a:p>
        </p:txBody>
      </p:sp>
      <p:sp>
        <p:nvSpPr>
          <p:cNvPr id="13" name="TextBox 12">
            <a:extLst>
              <a:ext uri="{FF2B5EF4-FFF2-40B4-BE49-F238E27FC236}">
                <a16:creationId xmlns:a16="http://schemas.microsoft.com/office/drawing/2014/main" id="{37BB750D-CAB4-5055-CE07-13491D33FE3D}"/>
              </a:ext>
            </a:extLst>
          </p:cNvPr>
          <p:cNvSpPr txBox="1"/>
          <p:nvPr/>
        </p:nvSpPr>
        <p:spPr>
          <a:xfrm>
            <a:off x="7332651" y="2632911"/>
            <a:ext cx="1353721" cy="400110"/>
          </a:xfrm>
          <a:prstGeom prst="rect">
            <a:avLst/>
          </a:prstGeom>
          <a:noFill/>
        </p:spPr>
        <p:txBody>
          <a:bodyPr wrap="square" rtlCol="0">
            <a:spAutoFit/>
          </a:bodyPr>
          <a:lstStyle/>
          <a:p>
            <a:r>
              <a:rPr lang="en-CA" sz="1000" b="1"/>
              <a:t>mMtg / Excalibur / OLB</a:t>
            </a:r>
            <a:endParaRPr lang="en-US" sz="1000" b="1"/>
          </a:p>
        </p:txBody>
      </p:sp>
      <p:sp>
        <p:nvSpPr>
          <p:cNvPr id="14" name="TextBox 13">
            <a:extLst>
              <a:ext uri="{FF2B5EF4-FFF2-40B4-BE49-F238E27FC236}">
                <a16:creationId xmlns:a16="http://schemas.microsoft.com/office/drawing/2014/main" id="{45C0ED16-314C-D4B5-4D6A-C32DAD1CB6D5}"/>
              </a:ext>
            </a:extLst>
          </p:cNvPr>
          <p:cNvSpPr txBox="1"/>
          <p:nvPr/>
        </p:nvSpPr>
        <p:spPr>
          <a:xfrm>
            <a:off x="8627362" y="4510746"/>
            <a:ext cx="2382299" cy="246221"/>
          </a:xfrm>
          <a:prstGeom prst="rect">
            <a:avLst/>
          </a:prstGeom>
          <a:noFill/>
        </p:spPr>
        <p:txBody>
          <a:bodyPr wrap="square" rtlCol="0">
            <a:spAutoFit/>
          </a:bodyPr>
          <a:lstStyle/>
          <a:p>
            <a:r>
              <a:rPr lang="en-CA" sz="1000" b="1"/>
              <a:t>SRD Miss</a:t>
            </a:r>
            <a:endParaRPr lang="en-US" sz="1000" b="1"/>
          </a:p>
        </p:txBody>
      </p:sp>
      <p:sp>
        <p:nvSpPr>
          <p:cNvPr id="19" name="TextBox 18">
            <a:extLst>
              <a:ext uri="{FF2B5EF4-FFF2-40B4-BE49-F238E27FC236}">
                <a16:creationId xmlns:a16="http://schemas.microsoft.com/office/drawing/2014/main" id="{A2DCC1B0-DD93-5595-171F-240C557DC5A1}"/>
              </a:ext>
            </a:extLst>
          </p:cNvPr>
          <p:cNvSpPr txBox="1"/>
          <p:nvPr/>
        </p:nvSpPr>
        <p:spPr>
          <a:xfrm>
            <a:off x="7332653" y="1500850"/>
            <a:ext cx="1353719" cy="553998"/>
          </a:xfrm>
          <a:prstGeom prst="rect">
            <a:avLst/>
          </a:prstGeom>
          <a:noFill/>
        </p:spPr>
        <p:txBody>
          <a:bodyPr wrap="square" rtlCol="0">
            <a:spAutoFit/>
          </a:bodyPr>
          <a:lstStyle/>
          <a:p>
            <a:r>
              <a:rPr lang="en-CA" sz="1000" b="1"/>
              <a:t>mMtg / CLASS / Excalibur / LCMS / Digital / EDH / SKP</a:t>
            </a:r>
            <a:endParaRPr lang="en-US" sz="1000" b="1"/>
          </a:p>
        </p:txBody>
      </p:sp>
      <p:sp>
        <p:nvSpPr>
          <p:cNvPr id="20" name="TextBox 19">
            <a:extLst>
              <a:ext uri="{FF2B5EF4-FFF2-40B4-BE49-F238E27FC236}">
                <a16:creationId xmlns:a16="http://schemas.microsoft.com/office/drawing/2014/main" id="{3C0AA9D0-B6B8-B450-8AEC-3D221E586A95}"/>
              </a:ext>
            </a:extLst>
          </p:cNvPr>
          <p:cNvSpPr txBox="1"/>
          <p:nvPr/>
        </p:nvSpPr>
        <p:spPr>
          <a:xfrm>
            <a:off x="8631935" y="1645993"/>
            <a:ext cx="2688337" cy="400110"/>
          </a:xfrm>
          <a:prstGeom prst="rect">
            <a:avLst/>
          </a:prstGeom>
          <a:noFill/>
        </p:spPr>
        <p:txBody>
          <a:bodyPr wrap="square" rtlCol="0">
            <a:spAutoFit/>
          </a:bodyPr>
          <a:lstStyle/>
          <a:p>
            <a:r>
              <a:rPr lang="en-CA" sz="1000" b="1"/>
              <a:t>SRD Miss / Code Defect / Build Issue / Third Party</a:t>
            </a:r>
            <a:endParaRPr lang="en-US" sz="1000" b="1"/>
          </a:p>
        </p:txBody>
      </p:sp>
      <p:sp>
        <p:nvSpPr>
          <p:cNvPr id="24" name="TextBox 23">
            <a:extLst>
              <a:ext uri="{FF2B5EF4-FFF2-40B4-BE49-F238E27FC236}">
                <a16:creationId xmlns:a16="http://schemas.microsoft.com/office/drawing/2014/main" id="{7620E500-154F-D290-F6F6-67EF5655ED92}"/>
              </a:ext>
            </a:extLst>
          </p:cNvPr>
          <p:cNvSpPr txBox="1"/>
          <p:nvPr/>
        </p:nvSpPr>
        <p:spPr>
          <a:xfrm>
            <a:off x="7323507" y="3168835"/>
            <a:ext cx="1308428" cy="246221"/>
          </a:xfrm>
          <a:prstGeom prst="rect">
            <a:avLst/>
          </a:prstGeom>
          <a:noFill/>
        </p:spPr>
        <p:txBody>
          <a:bodyPr wrap="square" rtlCol="0">
            <a:spAutoFit/>
          </a:bodyPr>
          <a:lstStyle/>
          <a:p>
            <a:r>
              <a:rPr lang="en-CA" sz="1000" b="1"/>
              <a:t>mMtg</a:t>
            </a:r>
            <a:endParaRPr lang="en-US" sz="1000" b="1"/>
          </a:p>
        </p:txBody>
      </p:sp>
      <p:sp>
        <p:nvSpPr>
          <p:cNvPr id="7" name="TextBox 6">
            <a:extLst>
              <a:ext uri="{FF2B5EF4-FFF2-40B4-BE49-F238E27FC236}">
                <a16:creationId xmlns:a16="http://schemas.microsoft.com/office/drawing/2014/main" id="{44A2AA3A-F091-6478-D02F-FC27BB68A99F}"/>
              </a:ext>
            </a:extLst>
          </p:cNvPr>
          <p:cNvSpPr txBox="1"/>
          <p:nvPr/>
        </p:nvSpPr>
        <p:spPr>
          <a:xfrm>
            <a:off x="7323507" y="5443289"/>
            <a:ext cx="1353719" cy="246221"/>
          </a:xfrm>
          <a:prstGeom prst="rect">
            <a:avLst/>
          </a:prstGeom>
          <a:noFill/>
        </p:spPr>
        <p:txBody>
          <a:bodyPr wrap="square" rtlCol="0">
            <a:spAutoFit/>
          </a:bodyPr>
          <a:lstStyle/>
          <a:p>
            <a:r>
              <a:rPr lang="en-CA" sz="1000" b="1"/>
              <a:t>mMtg</a:t>
            </a:r>
            <a:endParaRPr lang="en-US" sz="1000" b="1"/>
          </a:p>
        </p:txBody>
      </p:sp>
      <p:sp>
        <p:nvSpPr>
          <p:cNvPr id="11" name="TextBox 10">
            <a:extLst>
              <a:ext uri="{FF2B5EF4-FFF2-40B4-BE49-F238E27FC236}">
                <a16:creationId xmlns:a16="http://schemas.microsoft.com/office/drawing/2014/main" id="{3FFA6378-4C8B-15BF-2132-F6D55D3C8C7F}"/>
              </a:ext>
            </a:extLst>
          </p:cNvPr>
          <p:cNvSpPr txBox="1"/>
          <p:nvPr/>
        </p:nvSpPr>
        <p:spPr>
          <a:xfrm>
            <a:off x="8633045" y="5443289"/>
            <a:ext cx="1575183" cy="246221"/>
          </a:xfrm>
          <a:prstGeom prst="rect">
            <a:avLst/>
          </a:prstGeom>
          <a:noFill/>
        </p:spPr>
        <p:txBody>
          <a:bodyPr wrap="square" rtlCol="0">
            <a:spAutoFit/>
          </a:bodyPr>
          <a:lstStyle/>
          <a:p>
            <a:r>
              <a:rPr lang="en-CA" sz="1000" b="1"/>
              <a:t>Code Defect</a:t>
            </a:r>
            <a:endParaRPr lang="en-US" sz="1000" b="1"/>
          </a:p>
        </p:txBody>
      </p:sp>
      <p:sp>
        <p:nvSpPr>
          <p:cNvPr id="12" name="TextBox 11">
            <a:extLst>
              <a:ext uri="{FF2B5EF4-FFF2-40B4-BE49-F238E27FC236}">
                <a16:creationId xmlns:a16="http://schemas.microsoft.com/office/drawing/2014/main" id="{9718B8B3-02C6-BE92-6F03-063A4751803D}"/>
              </a:ext>
            </a:extLst>
          </p:cNvPr>
          <p:cNvSpPr txBox="1"/>
          <p:nvPr/>
        </p:nvSpPr>
        <p:spPr>
          <a:xfrm>
            <a:off x="8631935" y="2732425"/>
            <a:ext cx="2480597" cy="246221"/>
          </a:xfrm>
          <a:prstGeom prst="rect">
            <a:avLst/>
          </a:prstGeom>
          <a:noFill/>
        </p:spPr>
        <p:txBody>
          <a:bodyPr wrap="square" rtlCol="0">
            <a:spAutoFit/>
          </a:bodyPr>
          <a:lstStyle/>
          <a:p>
            <a:r>
              <a:rPr lang="en-CA" sz="1000" b="1"/>
              <a:t>SRD Miss / Code Defect / Existing Issue</a:t>
            </a:r>
            <a:endParaRPr lang="en-US" sz="1000" b="1"/>
          </a:p>
        </p:txBody>
      </p:sp>
      <p:sp>
        <p:nvSpPr>
          <p:cNvPr id="22" name="TextBox 21">
            <a:extLst>
              <a:ext uri="{FF2B5EF4-FFF2-40B4-BE49-F238E27FC236}">
                <a16:creationId xmlns:a16="http://schemas.microsoft.com/office/drawing/2014/main" id="{DD597F4C-16FE-9AA8-0F02-11686E21203D}"/>
              </a:ext>
            </a:extLst>
          </p:cNvPr>
          <p:cNvSpPr txBox="1"/>
          <p:nvPr/>
        </p:nvSpPr>
        <p:spPr>
          <a:xfrm>
            <a:off x="8624314" y="4994013"/>
            <a:ext cx="1575183" cy="246221"/>
          </a:xfrm>
          <a:prstGeom prst="rect">
            <a:avLst/>
          </a:prstGeom>
          <a:noFill/>
        </p:spPr>
        <p:txBody>
          <a:bodyPr wrap="square" rtlCol="0">
            <a:spAutoFit/>
          </a:bodyPr>
          <a:lstStyle/>
          <a:p>
            <a:r>
              <a:rPr lang="en-CA" sz="1000" b="1"/>
              <a:t>SRD Miss</a:t>
            </a:r>
            <a:endParaRPr lang="en-US" sz="1000" b="1"/>
          </a:p>
        </p:txBody>
      </p:sp>
      <p:sp>
        <p:nvSpPr>
          <p:cNvPr id="23" name="TextBox 22">
            <a:extLst>
              <a:ext uri="{FF2B5EF4-FFF2-40B4-BE49-F238E27FC236}">
                <a16:creationId xmlns:a16="http://schemas.microsoft.com/office/drawing/2014/main" id="{69709E07-151A-52DE-BF36-B1085B26B0A1}"/>
              </a:ext>
            </a:extLst>
          </p:cNvPr>
          <p:cNvSpPr txBox="1"/>
          <p:nvPr/>
        </p:nvSpPr>
        <p:spPr>
          <a:xfrm>
            <a:off x="8630410" y="4094853"/>
            <a:ext cx="1575183" cy="246221"/>
          </a:xfrm>
          <a:prstGeom prst="rect">
            <a:avLst/>
          </a:prstGeom>
          <a:noFill/>
        </p:spPr>
        <p:txBody>
          <a:bodyPr wrap="square" rtlCol="0">
            <a:spAutoFit/>
          </a:bodyPr>
          <a:lstStyle/>
          <a:p>
            <a:r>
              <a:rPr lang="en-CA" sz="1000" b="1"/>
              <a:t>SRD Miss</a:t>
            </a:r>
            <a:endParaRPr lang="en-US" sz="1000" b="1"/>
          </a:p>
        </p:txBody>
      </p:sp>
      <p:sp>
        <p:nvSpPr>
          <p:cNvPr id="25" name="TextBox 24">
            <a:extLst>
              <a:ext uri="{FF2B5EF4-FFF2-40B4-BE49-F238E27FC236}">
                <a16:creationId xmlns:a16="http://schemas.microsoft.com/office/drawing/2014/main" id="{49B003CC-F05B-7F08-3555-31167443CA90}"/>
              </a:ext>
            </a:extLst>
          </p:cNvPr>
          <p:cNvSpPr txBox="1"/>
          <p:nvPr/>
        </p:nvSpPr>
        <p:spPr>
          <a:xfrm>
            <a:off x="7329603" y="4544129"/>
            <a:ext cx="1353719" cy="246221"/>
          </a:xfrm>
          <a:prstGeom prst="rect">
            <a:avLst/>
          </a:prstGeom>
          <a:noFill/>
        </p:spPr>
        <p:txBody>
          <a:bodyPr wrap="square" rtlCol="0">
            <a:spAutoFit/>
          </a:bodyPr>
          <a:lstStyle/>
          <a:p>
            <a:r>
              <a:rPr lang="en-CA" sz="1000" b="1"/>
              <a:t>DM / Target</a:t>
            </a:r>
            <a:endParaRPr lang="en-US" sz="1000" b="1"/>
          </a:p>
        </p:txBody>
      </p:sp>
      <p:sp>
        <p:nvSpPr>
          <p:cNvPr id="26" name="TextBox 25">
            <a:extLst>
              <a:ext uri="{FF2B5EF4-FFF2-40B4-BE49-F238E27FC236}">
                <a16:creationId xmlns:a16="http://schemas.microsoft.com/office/drawing/2014/main" id="{15A6B680-BC2F-CDDB-3180-3AD4242FEBAD}"/>
              </a:ext>
            </a:extLst>
          </p:cNvPr>
          <p:cNvSpPr txBox="1"/>
          <p:nvPr/>
        </p:nvSpPr>
        <p:spPr>
          <a:xfrm>
            <a:off x="7329603" y="5001329"/>
            <a:ext cx="1353719" cy="246221"/>
          </a:xfrm>
          <a:prstGeom prst="rect">
            <a:avLst/>
          </a:prstGeom>
          <a:noFill/>
        </p:spPr>
        <p:txBody>
          <a:bodyPr wrap="square" rtlCol="0">
            <a:spAutoFit/>
          </a:bodyPr>
          <a:lstStyle/>
          <a:p>
            <a:r>
              <a:rPr lang="en-CA" sz="1000" b="1"/>
              <a:t>LCMS</a:t>
            </a:r>
            <a:endParaRPr lang="en-US" sz="1000" b="1"/>
          </a:p>
        </p:txBody>
      </p:sp>
      <p:sp>
        <p:nvSpPr>
          <p:cNvPr id="27" name="TextBox 26">
            <a:extLst>
              <a:ext uri="{FF2B5EF4-FFF2-40B4-BE49-F238E27FC236}">
                <a16:creationId xmlns:a16="http://schemas.microsoft.com/office/drawing/2014/main" id="{9E20621F-87D2-1820-936C-1EED7910C84D}"/>
              </a:ext>
            </a:extLst>
          </p:cNvPr>
          <p:cNvSpPr txBox="1"/>
          <p:nvPr/>
        </p:nvSpPr>
        <p:spPr>
          <a:xfrm>
            <a:off x="7329603" y="4088309"/>
            <a:ext cx="698510" cy="246221"/>
          </a:xfrm>
          <a:prstGeom prst="rect">
            <a:avLst/>
          </a:prstGeom>
          <a:noFill/>
        </p:spPr>
        <p:txBody>
          <a:bodyPr wrap="square" rtlCol="0">
            <a:spAutoFit/>
          </a:bodyPr>
          <a:lstStyle/>
          <a:p>
            <a:r>
              <a:rPr lang="en-CA" sz="1000" b="1"/>
              <a:t>CAAP</a:t>
            </a:r>
            <a:endParaRPr lang="en-US" sz="1000" b="1"/>
          </a:p>
        </p:txBody>
      </p:sp>
    </p:spTree>
    <p:extLst>
      <p:ext uri="{BB962C8B-B14F-4D97-AF65-F5344CB8AC3E}">
        <p14:creationId xmlns:p14="http://schemas.microsoft.com/office/powerpoint/2010/main" val="315508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AF96D-6065-A9DF-4B71-911E5B80F90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11B2B-B805-3C0B-D208-D65DB73A22C0}"/>
              </a:ext>
            </a:extLst>
          </p:cNvPr>
          <p:cNvSpPr>
            <a:spLocks noGrp="1"/>
          </p:cNvSpPr>
          <p:nvPr>
            <p:ph type="title"/>
          </p:nvPr>
        </p:nvSpPr>
        <p:spPr>
          <a:xfrm>
            <a:off x="353830" y="260322"/>
            <a:ext cx="10660404" cy="554846"/>
          </a:xfrm>
        </p:spPr>
        <p:txBody>
          <a:bodyPr/>
          <a:lstStyle/>
          <a:p>
            <a:r>
              <a:rPr lang="en-CA" sz="2800"/>
              <a:t>Sep Rel – Issue Count Overview - FY ‘24 vs FY ‘25 Releases</a:t>
            </a:r>
            <a:endParaRPr lang="en-US" sz="2800"/>
          </a:p>
        </p:txBody>
      </p:sp>
      <p:sp>
        <p:nvSpPr>
          <p:cNvPr id="7" name="TextBox 6">
            <a:extLst>
              <a:ext uri="{FF2B5EF4-FFF2-40B4-BE49-F238E27FC236}">
                <a16:creationId xmlns:a16="http://schemas.microsoft.com/office/drawing/2014/main" id="{2D07C7FF-7EF3-CCDC-F98F-39DF034643FB}"/>
              </a:ext>
            </a:extLst>
          </p:cNvPr>
          <p:cNvSpPr txBox="1"/>
          <p:nvPr/>
        </p:nvSpPr>
        <p:spPr>
          <a:xfrm>
            <a:off x="932690" y="6196082"/>
            <a:ext cx="1122965" cy="230832"/>
          </a:xfrm>
          <a:prstGeom prst="rect">
            <a:avLst/>
          </a:prstGeom>
          <a:noFill/>
        </p:spPr>
        <p:txBody>
          <a:bodyPr wrap="square" rtlCol="0">
            <a:spAutoFit/>
          </a:bodyPr>
          <a:lstStyle/>
          <a:p>
            <a:pPr algn="ctr"/>
            <a:r>
              <a:rPr lang="en-CA" sz="900" b="1">
                <a:latin typeface="Aptos" panose="020B0004020202020204" pitchFamily="34" charset="0"/>
              </a:rPr>
              <a:t>Business</a:t>
            </a:r>
            <a:endParaRPr lang="en-US" sz="900" b="1">
              <a:latin typeface="Aptos" panose="020B0004020202020204" pitchFamily="34" charset="0"/>
            </a:endParaRPr>
          </a:p>
        </p:txBody>
      </p:sp>
      <p:grpSp>
        <p:nvGrpSpPr>
          <p:cNvPr id="8" name="Group 7">
            <a:extLst>
              <a:ext uri="{FF2B5EF4-FFF2-40B4-BE49-F238E27FC236}">
                <a16:creationId xmlns:a16="http://schemas.microsoft.com/office/drawing/2014/main" id="{A4FE20AB-4DB2-4A3A-C020-5CBEAB9737BC}"/>
              </a:ext>
            </a:extLst>
          </p:cNvPr>
          <p:cNvGrpSpPr/>
          <p:nvPr/>
        </p:nvGrpSpPr>
        <p:grpSpPr>
          <a:xfrm>
            <a:off x="5786859" y="6416658"/>
            <a:ext cx="1447684" cy="461665"/>
            <a:chOff x="3564127" y="5896487"/>
            <a:chExt cx="1103334" cy="461665"/>
          </a:xfrm>
        </p:grpSpPr>
        <p:sp>
          <p:nvSpPr>
            <p:cNvPr id="9" name="Rectangle 8">
              <a:extLst>
                <a:ext uri="{FF2B5EF4-FFF2-40B4-BE49-F238E27FC236}">
                  <a16:creationId xmlns:a16="http://schemas.microsoft.com/office/drawing/2014/main" id="{A1AD14BC-03BB-B5F1-AE1A-1F50A365C6CB}"/>
                </a:ext>
              </a:extLst>
            </p:cNvPr>
            <p:cNvSpPr/>
            <p:nvPr/>
          </p:nvSpPr>
          <p:spPr>
            <a:xfrm>
              <a:off x="3564127" y="6001523"/>
              <a:ext cx="94377" cy="253916"/>
            </a:xfrm>
            <a:prstGeom prst="rect">
              <a:avLst/>
            </a:prstGeom>
            <a:solidFill>
              <a:srgbClr val="C00000"/>
            </a:solidFill>
          </p:spPr>
          <p:txBody>
            <a:bodyPr wrap="square" rtlCol="0" anchor="ctr">
              <a:spAutoFit/>
            </a:bodyPr>
            <a:lstStyle/>
            <a:p>
              <a:pPr algn="ctr"/>
              <a:endParaRPr lang="en-US" sz="1050"/>
            </a:p>
          </p:txBody>
        </p:sp>
        <p:sp>
          <p:nvSpPr>
            <p:cNvPr id="10" name="TextBox 9">
              <a:extLst>
                <a:ext uri="{FF2B5EF4-FFF2-40B4-BE49-F238E27FC236}">
                  <a16:creationId xmlns:a16="http://schemas.microsoft.com/office/drawing/2014/main" id="{E94D431F-9858-CB27-19BB-EB0C4594871B}"/>
                </a:ext>
              </a:extLst>
            </p:cNvPr>
            <p:cNvSpPr txBox="1"/>
            <p:nvPr/>
          </p:nvSpPr>
          <p:spPr>
            <a:xfrm>
              <a:off x="3648401" y="5896487"/>
              <a:ext cx="1019060" cy="461665"/>
            </a:xfrm>
            <a:prstGeom prst="rect">
              <a:avLst/>
            </a:prstGeom>
            <a:noFill/>
          </p:spPr>
          <p:txBody>
            <a:bodyPr wrap="square" rtlCol="0">
              <a:spAutoFit/>
            </a:bodyPr>
            <a:lstStyle/>
            <a:p>
              <a:r>
                <a:rPr lang="en-CA" sz="800" b="1">
                  <a:latin typeface="Aptos" panose="020B0004020202020204" pitchFamily="34" charset="0"/>
                </a:rPr>
                <a:t>Code error</a:t>
              </a:r>
            </a:p>
            <a:p>
              <a:r>
                <a:rPr lang="en-CA" sz="800">
                  <a:latin typeface="Aptos" panose="020B0004020202020204" pitchFamily="34" charset="0"/>
                </a:rPr>
                <a:t>Not coded to spec (code/config)</a:t>
              </a:r>
              <a:endParaRPr lang="en-US" sz="800">
                <a:latin typeface="Aptos" panose="020B0004020202020204" pitchFamily="34" charset="0"/>
              </a:endParaRPr>
            </a:p>
          </p:txBody>
        </p:sp>
      </p:grpSp>
      <p:grpSp>
        <p:nvGrpSpPr>
          <p:cNvPr id="11" name="Group 10">
            <a:extLst>
              <a:ext uri="{FF2B5EF4-FFF2-40B4-BE49-F238E27FC236}">
                <a16:creationId xmlns:a16="http://schemas.microsoft.com/office/drawing/2014/main" id="{2392F894-2389-473B-AE18-2F5C66F7325E}"/>
              </a:ext>
            </a:extLst>
          </p:cNvPr>
          <p:cNvGrpSpPr/>
          <p:nvPr/>
        </p:nvGrpSpPr>
        <p:grpSpPr>
          <a:xfrm>
            <a:off x="4181443" y="6416658"/>
            <a:ext cx="1456666" cy="461665"/>
            <a:chOff x="4542951" y="5918231"/>
            <a:chExt cx="1110180" cy="461665"/>
          </a:xfrm>
        </p:grpSpPr>
        <p:sp>
          <p:nvSpPr>
            <p:cNvPr id="12" name="Rectangle 11">
              <a:extLst>
                <a:ext uri="{FF2B5EF4-FFF2-40B4-BE49-F238E27FC236}">
                  <a16:creationId xmlns:a16="http://schemas.microsoft.com/office/drawing/2014/main" id="{52D09D9D-9276-01DF-2B50-9BC557D2E603}"/>
                </a:ext>
              </a:extLst>
            </p:cNvPr>
            <p:cNvSpPr/>
            <p:nvPr/>
          </p:nvSpPr>
          <p:spPr>
            <a:xfrm>
              <a:off x="4542951" y="6014964"/>
              <a:ext cx="94377" cy="253916"/>
            </a:xfrm>
            <a:prstGeom prst="rect">
              <a:avLst/>
            </a:prstGeom>
            <a:solidFill>
              <a:srgbClr val="ED4945"/>
            </a:solidFill>
          </p:spPr>
          <p:txBody>
            <a:bodyPr wrap="square" rtlCol="0" anchor="ctr">
              <a:spAutoFit/>
            </a:bodyPr>
            <a:lstStyle/>
            <a:p>
              <a:pPr algn="ctr"/>
              <a:endParaRPr lang="en-US" sz="1050"/>
            </a:p>
          </p:txBody>
        </p:sp>
        <p:sp>
          <p:nvSpPr>
            <p:cNvPr id="13" name="TextBox 12">
              <a:extLst>
                <a:ext uri="{FF2B5EF4-FFF2-40B4-BE49-F238E27FC236}">
                  <a16:creationId xmlns:a16="http://schemas.microsoft.com/office/drawing/2014/main" id="{88445F21-9AAD-764C-28D0-CC59E3D6B8B8}"/>
                </a:ext>
              </a:extLst>
            </p:cNvPr>
            <p:cNvSpPr txBox="1"/>
            <p:nvPr/>
          </p:nvSpPr>
          <p:spPr>
            <a:xfrm>
              <a:off x="4634071" y="5918231"/>
              <a:ext cx="1019060" cy="461665"/>
            </a:xfrm>
            <a:prstGeom prst="rect">
              <a:avLst/>
            </a:prstGeom>
            <a:noFill/>
          </p:spPr>
          <p:txBody>
            <a:bodyPr wrap="square" rtlCol="0">
              <a:spAutoFit/>
            </a:bodyPr>
            <a:lstStyle/>
            <a:p>
              <a:r>
                <a:rPr lang="en-CA" sz="800" b="1" err="1">
                  <a:latin typeface="Aptos" panose="020B0004020202020204" pitchFamily="34" charset="0"/>
                </a:rPr>
                <a:t>Soln</a:t>
              </a:r>
              <a:r>
                <a:rPr lang="en-CA" sz="800" b="1">
                  <a:latin typeface="Aptos" panose="020B0004020202020204" pitchFamily="34" charset="0"/>
                </a:rPr>
                <a:t> </a:t>
              </a:r>
              <a:r>
                <a:rPr lang="en-CA" sz="800" b="1" err="1">
                  <a:latin typeface="Aptos" panose="020B0004020202020204" pitchFamily="34" charset="0"/>
                </a:rPr>
                <a:t>reqmts</a:t>
              </a:r>
              <a:endParaRPr lang="en-CA" sz="800" b="1">
                <a:latin typeface="Aptos" panose="020B0004020202020204" pitchFamily="34" charset="0"/>
              </a:endParaRPr>
            </a:p>
            <a:p>
              <a:r>
                <a:rPr lang="en-CA" sz="800">
                  <a:latin typeface="Aptos" panose="020B0004020202020204" pitchFamily="34" charset="0"/>
                </a:rPr>
                <a:t>Gaps in detailed </a:t>
              </a:r>
              <a:r>
                <a:rPr lang="en-CA" sz="800" err="1">
                  <a:latin typeface="Aptos" panose="020B0004020202020204" pitchFamily="34" charset="0"/>
                </a:rPr>
                <a:t>reqmts</a:t>
              </a:r>
              <a:r>
                <a:rPr lang="en-CA" sz="800">
                  <a:latin typeface="Aptos" panose="020B0004020202020204" pitchFamily="34" charset="0"/>
                </a:rPr>
                <a:t> or tech </a:t>
              </a:r>
              <a:r>
                <a:rPr lang="en-CA" sz="800" err="1">
                  <a:latin typeface="Aptos" panose="020B0004020202020204" pitchFamily="34" charset="0"/>
                </a:rPr>
                <a:t>soln</a:t>
              </a:r>
              <a:r>
                <a:rPr lang="en-CA" sz="800">
                  <a:latin typeface="Aptos" panose="020B0004020202020204" pitchFamily="34" charset="0"/>
                </a:rPr>
                <a:t> </a:t>
              </a:r>
              <a:endParaRPr lang="en-US" sz="800">
                <a:latin typeface="Aptos" panose="020B0004020202020204" pitchFamily="34" charset="0"/>
              </a:endParaRPr>
            </a:p>
          </p:txBody>
        </p:sp>
      </p:grpSp>
      <p:grpSp>
        <p:nvGrpSpPr>
          <p:cNvPr id="14" name="Group 13">
            <a:extLst>
              <a:ext uri="{FF2B5EF4-FFF2-40B4-BE49-F238E27FC236}">
                <a16:creationId xmlns:a16="http://schemas.microsoft.com/office/drawing/2014/main" id="{E97AF16C-C604-B808-B57B-D87BF68E200E}"/>
              </a:ext>
            </a:extLst>
          </p:cNvPr>
          <p:cNvGrpSpPr/>
          <p:nvPr/>
        </p:nvGrpSpPr>
        <p:grpSpPr>
          <a:xfrm>
            <a:off x="1209833" y="6404466"/>
            <a:ext cx="1447684" cy="461665"/>
            <a:chOff x="3564127" y="5896487"/>
            <a:chExt cx="1103334" cy="461665"/>
          </a:xfrm>
        </p:grpSpPr>
        <p:sp>
          <p:nvSpPr>
            <p:cNvPr id="15" name="Rectangle 14">
              <a:extLst>
                <a:ext uri="{FF2B5EF4-FFF2-40B4-BE49-F238E27FC236}">
                  <a16:creationId xmlns:a16="http://schemas.microsoft.com/office/drawing/2014/main" id="{5CC8D352-A9D3-E7D0-6FB6-FD2B3C7B6E7E}"/>
                </a:ext>
              </a:extLst>
            </p:cNvPr>
            <p:cNvSpPr/>
            <p:nvPr/>
          </p:nvSpPr>
          <p:spPr>
            <a:xfrm>
              <a:off x="3564127" y="6001523"/>
              <a:ext cx="94377" cy="253916"/>
            </a:xfrm>
            <a:prstGeom prst="rect">
              <a:avLst/>
            </a:prstGeom>
            <a:solidFill>
              <a:srgbClr val="AFDDE8"/>
            </a:solidFill>
          </p:spPr>
          <p:txBody>
            <a:bodyPr wrap="square" rtlCol="0" anchor="ctr">
              <a:spAutoFit/>
            </a:bodyPr>
            <a:lstStyle/>
            <a:p>
              <a:pPr algn="ctr"/>
              <a:endParaRPr lang="en-US" sz="1050"/>
            </a:p>
          </p:txBody>
        </p:sp>
        <p:sp>
          <p:nvSpPr>
            <p:cNvPr id="16" name="TextBox 15">
              <a:extLst>
                <a:ext uri="{FF2B5EF4-FFF2-40B4-BE49-F238E27FC236}">
                  <a16:creationId xmlns:a16="http://schemas.microsoft.com/office/drawing/2014/main" id="{60986AA5-C858-3804-AF3A-3005C2AC2467}"/>
                </a:ext>
              </a:extLst>
            </p:cNvPr>
            <p:cNvSpPr txBox="1"/>
            <p:nvPr/>
          </p:nvSpPr>
          <p:spPr>
            <a:xfrm>
              <a:off x="3648401" y="5896487"/>
              <a:ext cx="1019060" cy="461665"/>
            </a:xfrm>
            <a:prstGeom prst="rect">
              <a:avLst/>
            </a:prstGeom>
            <a:noFill/>
          </p:spPr>
          <p:txBody>
            <a:bodyPr wrap="square" rtlCol="0">
              <a:spAutoFit/>
            </a:bodyPr>
            <a:lstStyle/>
            <a:p>
              <a:r>
                <a:rPr lang="en-CA" sz="800" b="1">
                  <a:latin typeface="Aptos" panose="020B0004020202020204" pitchFamily="34" charset="0"/>
                </a:rPr>
                <a:t>Training/Comm</a:t>
              </a:r>
            </a:p>
            <a:p>
              <a:r>
                <a:rPr lang="en-CA" sz="800">
                  <a:latin typeface="Aptos" panose="020B0004020202020204" pitchFamily="34" charset="0"/>
                </a:rPr>
                <a:t>Gaps in training, communication, PCM</a:t>
              </a:r>
              <a:endParaRPr lang="en-US" sz="800">
                <a:latin typeface="Aptos" panose="020B0004020202020204" pitchFamily="34" charset="0"/>
              </a:endParaRPr>
            </a:p>
          </p:txBody>
        </p:sp>
      </p:grpSp>
      <p:grpSp>
        <p:nvGrpSpPr>
          <p:cNvPr id="17" name="Group 16">
            <a:extLst>
              <a:ext uri="{FF2B5EF4-FFF2-40B4-BE49-F238E27FC236}">
                <a16:creationId xmlns:a16="http://schemas.microsoft.com/office/drawing/2014/main" id="{0D5F83F5-FE08-24B1-7381-1C7C5FC7C083}"/>
              </a:ext>
            </a:extLst>
          </p:cNvPr>
          <p:cNvGrpSpPr/>
          <p:nvPr/>
        </p:nvGrpSpPr>
        <p:grpSpPr>
          <a:xfrm>
            <a:off x="2601442" y="6410114"/>
            <a:ext cx="1456666" cy="461665"/>
            <a:chOff x="4542951" y="5918231"/>
            <a:chExt cx="1110180" cy="461665"/>
          </a:xfrm>
        </p:grpSpPr>
        <p:sp>
          <p:nvSpPr>
            <p:cNvPr id="18" name="Rectangle 17">
              <a:extLst>
                <a:ext uri="{FF2B5EF4-FFF2-40B4-BE49-F238E27FC236}">
                  <a16:creationId xmlns:a16="http://schemas.microsoft.com/office/drawing/2014/main" id="{7C73D538-8FBE-3B30-FD33-340128E50A9A}"/>
                </a:ext>
              </a:extLst>
            </p:cNvPr>
            <p:cNvSpPr/>
            <p:nvPr/>
          </p:nvSpPr>
          <p:spPr>
            <a:xfrm>
              <a:off x="4542951" y="6014964"/>
              <a:ext cx="94377" cy="253916"/>
            </a:xfrm>
            <a:prstGeom prst="rect">
              <a:avLst/>
            </a:prstGeom>
            <a:solidFill>
              <a:srgbClr val="3398AF"/>
            </a:solidFill>
          </p:spPr>
          <p:txBody>
            <a:bodyPr wrap="square" rtlCol="0" anchor="ctr">
              <a:spAutoFit/>
            </a:bodyPr>
            <a:lstStyle/>
            <a:p>
              <a:pPr algn="ctr"/>
              <a:endParaRPr lang="en-US" sz="1050"/>
            </a:p>
          </p:txBody>
        </p:sp>
        <p:sp>
          <p:nvSpPr>
            <p:cNvPr id="19" name="TextBox 18">
              <a:extLst>
                <a:ext uri="{FF2B5EF4-FFF2-40B4-BE49-F238E27FC236}">
                  <a16:creationId xmlns:a16="http://schemas.microsoft.com/office/drawing/2014/main" id="{66241F22-3A97-089C-68B6-D3ED79DAA9F6}"/>
                </a:ext>
              </a:extLst>
            </p:cNvPr>
            <p:cNvSpPr txBox="1"/>
            <p:nvPr/>
          </p:nvSpPr>
          <p:spPr>
            <a:xfrm>
              <a:off x="4634071" y="5918231"/>
              <a:ext cx="1019060" cy="461665"/>
            </a:xfrm>
            <a:prstGeom prst="rect">
              <a:avLst/>
            </a:prstGeom>
            <a:noFill/>
          </p:spPr>
          <p:txBody>
            <a:bodyPr wrap="square" rtlCol="0">
              <a:spAutoFit/>
            </a:bodyPr>
            <a:lstStyle/>
            <a:p>
              <a:r>
                <a:rPr lang="en-CA" sz="800" b="1">
                  <a:latin typeface="Aptos" panose="020B0004020202020204" pitchFamily="34" charset="0"/>
                </a:rPr>
                <a:t>Business </a:t>
              </a:r>
              <a:r>
                <a:rPr lang="en-CA" sz="800" b="1" err="1">
                  <a:latin typeface="Aptos" panose="020B0004020202020204" pitchFamily="34" charset="0"/>
                </a:rPr>
                <a:t>reqmts</a:t>
              </a:r>
              <a:endParaRPr lang="en-CA" sz="800" b="1">
                <a:latin typeface="Aptos" panose="020B0004020202020204" pitchFamily="34" charset="0"/>
              </a:endParaRPr>
            </a:p>
            <a:p>
              <a:r>
                <a:rPr lang="en-CA" sz="800">
                  <a:latin typeface="Aptos" panose="020B0004020202020204" pitchFamily="34" charset="0"/>
                </a:rPr>
                <a:t>Gaps in detailed </a:t>
              </a:r>
              <a:r>
                <a:rPr lang="en-CA" sz="800" err="1">
                  <a:latin typeface="Aptos" panose="020B0004020202020204" pitchFamily="34" charset="0"/>
                </a:rPr>
                <a:t>reqmts</a:t>
              </a:r>
              <a:r>
                <a:rPr lang="en-CA" sz="800">
                  <a:latin typeface="Aptos" panose="020B0004020202020204" pitchFamily="34" charset="0"/>
                </a:rPr>
                <a:t> or tech </a:t>
              </a:r>
              <a:r>
                <a:rPr lang="en-CA" sz="800" err="1">
                  <a:latin typeface="Aptos" panose="020B0004020202020204" pitchFamily="34" charset="0"/>
                </a:rPr>
                <a:t>soln</a:t>
              </a:r>
              <a:r>
                <a:rPr lang="en-CA" sz="800">
                  <a:latin typeface="Aptos" panose="020B0004020202020204" pitchFamily="34" charset="0"/>
                </a:rPr>
                <a:t> </a:t>
              </a:r>
              <a:endParaRPr lang="en-US" sz="800">
                <a:latin typeface="Aptos" panose="020B0004020202020204" pitchFamily="34" charset="0"/>
              </a:endParaRPr>
            </a:p>
          </p:txBody>
        </p:sp>
      </p:grpSp>
      <p:grpSp>
        <p:nvGrpSpPr>
          <p:cNvPr id="20" name="Group 19">
            <a:extLst>
              <a:ext uri="{FF2B5EF4-FFF2-40B4-BE49-F238E27FC236}">
                <a16:creationId xmlns:a16="http://schemas.microsoft.com/office/drawing/2014/main" id="{EBE121BC-6F9D-B594-A487-E3E11D5C47BD}"/>
              </a:ext>
            </a:extLst>
          </p:cNvPr>
          <p:cNvGrpSpPr/>
          <p:nvPr/>
        </p:nvGrpSpPr>
        <p:grpSpPr>
          <a:xfrm>
            <a:off x="10245113" y="6416870"/>
            <a:ext cx="1447684" cy="461665"/>
            <a:chOff x="3564127" y="5896487"/>
            <a:chExt cx="1103334" cy="461665"/>
          </a:xfrm>
        </p:grpSpPr>
        <p:sp>
          <p:nvSpPr>
            <p:cNvPr id="21" name="Rectangle 20">
              <a:extLst>
                <a:ext uri="{FF2B5EF4-FFF2-40B4-BE49-F238E27FC236}">
                  <a16:creationId xmlns:a16="http://schemas.microsoft.com/office/drawing/2014/main" id="{F5C8C8A3-C555-9DD6-F648-4FE17D41810B}"/>
                </a:ext>
              </a:extLst>
            </p:cNvPr>
            <p:cNvSpPr/>
            <p:nvPr/>
          </p:nvSpPr>
          <p:spPr>
            <a:xfrm>
              <a:off x="3564127" y="6001523"/>
              <a:ext cx="94377" cy="253916"/>
            </a:xfrm>
            <a:prstGeom prst="rect">
              <a:avLst/>
            </a:prstGeom>
            <a:solidFill>
              <a:srgbClr val="A6A6A6"/>
            </a:solidFill>
          </p:spPr>
          <p:txBody>
            <a:bodyPr wrap="square" rtlCol="0" anchor="ctr">
              <a:spAutoFit/>
            </a:bodyPr>
            <a:lstStyle/>
            <a:p>
              <a:pPr algn="ctr"/>
              <a:endParaRPr lang="en-US" sz="1050"/>
            </a:p>
          </p:txBody>
        </p:sp>
        <p:sp>
          <p:nvSpPr>
            <p:cNvPr id="23" name="TextBox 22">
              <a:extLst>
                <a:ext uri="{FF2B5EF4-FFF2-40B4-BE49-F238E27FC236}">
                  <a16:creationId xmlns:a16="http://schemas.microsoft.com/office/drawing/2014/main" id="{EDE079A9-2927-9FFD-9C3D-6B1978A4B6CC}"/>
                </a:ext>
              </a:extLst>
            </p:cNvPr>
            <p:cNvSpPr txBox="1"/>
            <p:nvPr/>
          </p:nvSpPr>
          <p:spPr>
            <a:xfrm>
              <a:off x="3648401" y="5896487"/>
              <a:ext cx="1019060" cy="461665"/>
            </a:xfrm>
            <a:prstGeom prst="rect">
              <a:avLst/>
            </a:prstGeom>
            <a:noFill/>
          </p:spPr>
          <p:txBody>
            <a:bodyPr wrap="square" rtlCol="0">
              <a:spAutoFit/>
            </a:bodyPr>
            <a:lstStyle/>
            <a:p>
              <a:r>
                <a:rPr lang="en-CA" sz="800" b="1">
                  <a:latin typeface="Aptos" panose="020B0004020202020204" pitchFamily="34" charset="0"/>
                </a:rPr>
                <a:t>Third party</a:t>
              </a:r>
            </a:p>
            <a:p>
              <a:r>
                <a:rPr lang="en-CA" sz="800">
                  <a:latin typeface="Aptos" panose="020B0004020202020204" pitchFamily="34" charset="0"/>
                </a:rPr>
                <a:t>Gaps attributed to tech teams outside for CBPT</a:t>
              </a:r>
              <a:endParaRPr lang="en-US" sz="800">
                <a:latin typeface="Aptos" panose="020B0004020202020204" pitchFamily="34" charset="0"/>
              </a:endParaRPr>
            </a:p>
          </p:txBody>
        </p:sp>
      </p:grpSp>
      <p:grpSp>
        <p:nvGrpSpPr>
          <p:cNvPr id="24" name="Group 23">
            <a:extLst>
              <a:ext uri="{FF2B5EF4-FFF2-40B4-BE49-F238E27FC236}">
                <a16:creationId xmlns:a16="http://schemas.microsoft.com/office/drawing/2014/main" id="{43DCC9CE-BA37-EDDA-4ADF-123B095C5527}"/>
              </a:ext>
            </a:extLst>
          </p:cNvPr>
          <p:cNvGrpSpPr/>
          <p:nvPr/>
        </p:nvGrpSpPr>
        <p:grpSpPr>
          <a:xfrm>
            <a:off x="7234541" y="6416870"/>
            <a:ext cx="1447684" cy="461665"/>
            <a:chOff x="3564127" y="5896487"/>
            <a:chExt cx="1103334" cy="461665"/>
          </a:xfrm>
        </p:grpSpPr>
        <p:sp>
          <p:nvSpPr>
            <p:cNvPr id="25" name="Rectangle 24">
              <a:extLst>
                <a:ext uri="{FF2B5EF4-FFF2-40B4-BE49-F238E27FC236}">
                  <a16:creationId xmlns:a16="http://schemas.microsoft.com/office/drawing/2014/main" id="{DA2C3BA4-A9C8-A8E1-C72F-0FBE35615F61}"/>
                </a:ext>
              </a:extLst>
            </p:cNvPr>
            <p:cNvSpPr/>
            <p:nvPr/>
          </p:nvSpPr>
          <p:spPr>
            <a:xfrm>
              <a:off x="3564127" y="6001523"/>
              <a:ext cx="94377" cy="253916"/>
            </a:xfrm>
            <a:prstGeom prst="rect">
              <a:avLst/>
            </a:prstGeom>
            <a:solidFill>
              <a:srgbClr val="F78591"/>
            </a:solidFill>
          </p:spPr>
          <p:txBody>
            <a:bodyPr wrap="square" rtlCol="0" anchor="ctr">
              <a:spAutoFit/>
            </a:bodyPr>
            <a:lstStyle/>
            <a:p>
              <a:pPr algn="ctr"/>
              <a:endParaRPr lang="en-US" sz="1050"/>
            </a:p>
          </p:txBody>
        </p:sp>
        <p:sp>
          <p:nvSpPr>
            <p:cNvPr id="26" name="TextBox 25">
              <a:extLst>
                <a:ext uri="{FF2B5EF4-FFF2-40B4-BE49-F238E27FC236}">
                  <a16:creationId xmlns:a16="http://schemas.microsoft.com/office/drawing/2014/main" id="{32762FDC-1F82-E014-8ED5-60C1B2F16683}"/>
                </a:ext>
              </a:extLst>
            </p:cNvPr>
            <p:cNvSpPr txBox="1"/>
            <p:nvPr/>
          </p:nvSpPr>
          <p:spPr>
            <a:xfrm>
              <a:off x="3648401" y="5896487"/>
              <a:ext cx="1019060" cy="461665"/>
            </a:xfrm>
            <a:prstGeom prst="rect">
              <a:avLst/>
            </a:prstGeom>
            <a:noFill/>
          </p:spPr>
          <p:txBody>
            <a:bodyPr wrap="square" rtlCol="0">
              <a:spAutoFit/>
            </a:bodyPr>
            <a:lstStyle/>
            <a:p>
              <a:r>
                <a:rPr lang="en-CA" sz="800" b="1">
                  <a:latin typeface="Aptos" panose="020B0004020202020204" pitchFamily="34" charset="0"/>
                </a:rPr>
                <a:t>Deployment</a:t>
              </a:r>
            </a:p>
            <a:p>
              <a:r>
                <a:rPr lang="en-CA" sz="800">
                  <a:latin typeface="Aptos" panose="020B0004020202020204" pitchFamily="34" charset="0"/>
                </a:rPr>
                <a:t>Gaps in code packaging and deployment</a:t>
              </a:r>
              <a:endParaRPr lang="en-US" sz="800">
                <a:latin typeface="Aptos" panose="020B0004020202020204" pitchFamily="34" charset="0"/>
              </a:endParaRPr>
            </a:p>
          </p:txBody>
        </p:sp>
      </p:grpSp>
      <p:grpSp>
        <p:nvGrpSpPr>
          <p:cNvPr id="27" name="Group 26">
            <a:extLst>
              <a:ext uri="{FF2B5EF4-FFF2-40B4-BE49-F238E27FC236}">
                <a16:creationId xmlns:a16="http://schemas.microsoft.com/office/drawing/2014/main" id="{29802880-ACB2-A35E-2F05-BC86A86AEF6D}"/>
              </a:ext>
            </a:extLst>
          </p:cNvPr>
          <p:cNvGrpSpPr/>
          <p:nvPr/>
        </p:nvGrpSpPr>
        <p:grpSpPr>
          <a:xfrm>
            <a:off x="8865859" y="6416870"/>
            <a:ext cx="1456666" cy="461665"/>
            <a:chOff x="4542951" y="5918231"/>
            <a:chExt cx="1110180" cy="461665"/>
          </a:xfrm>
        </p:grpSpPr>
        <p:sp>
          <p:nvSpPr>
            <p:cNvPr id="28" name="Rectangle 27">
              <a:extLst>
                <a:ext uri="{FF2B5EF4-FFF2-40B4-BE49-F238E27FC236}">
                  <a16:creationId xmlns:a16="http://schemas.microsoft.com/office/drawing/2014/main" id="{3545AC4A-BA55-B1C0-3630-E84C89FDEB09}"/>
                </a:ext>
              </a:extLst>
            </p:cNvPr>
            <p:cNvSpPr/>
            <p:nvPr/>
          </p:nvSpPr>
          <p:spPr>
            <a:xfrm>
              <a:off x="4542951" y="6014964"/>
              <a:ext cx="94377" cy="253916"/>
            </a:xfrm>
            <a:prstGeom prst="rect">
              <a:avLst/>
            </a:prstGeom>
            <a:solidFill>
              <a:srgbClr val="FBC2C8"/>
            </a:solidFill>
          </p:spPr>
          <p:txBody>
            <a:bodyPr wrap="square" rtlCol="0" anchor="ctr">
              <a:spAutoFit/>
            </a:bodyPr>
            <a:lstStyle/>
            <a:p>
              <a:pPr algn="ctr"/>
              <a:endParaRPr lang="en-US" sz="1050"/>
            </a:p>
          </p:txBody>
        </p:sp>
        <p:sp>
          <p:nvSpPr>
            <p:cNvPr id="30" name="TextBox 29">
              <a:extLst>
                <a:ext uri="{FF2B5EF4-FFF2-40B4-BE49-F238E27FC236}">
                  <a16:creationId xmlns:a16="http://schemas.microsoft.com/office/drawing/2014/main" id="{8EB3824C-EB3A-082D-4CBC-DDE0EF861710}"/>
                </a:ext>
              </a:extLst>
            </p:cNvPr>
            <p:cNvSpPr txBox="1"/>
            <p:nvPr/>
          </p:nvSpPr>
          <p:spPr>
            <a:xfrm>
              <a:off x="4634071" y="5918231"/>
              <a:ext cx="1019060" cy="461665"/>
            </a:xfrm>
            <a:prstGeom prst="rect">
              <a:avLst/>
            </a:prstGeom>
            <a:noFill/>
          </p:spPr>
          <p:txBody>
            <a:bodyPr wrap="square" rtlCol="0">
              <a:spAutoFit/>
            </a:bodyPr>
            <a:lstStyle/>
            <a:p>
              <a:r>
                <a:rPr lang="en-CA" sz="800" b="1">
                  <a:latin typeface="Aptos" panose="020B0004020202020204" pitchFamily="34" charset="0"/>
                </a:rPr>
                <a:t>Performance</a:t>
              </a:r>
            </a:p>
            <a:p>
              <a:r>
                <a:rPr lang="en-CA" sz="800">
                  <a:latin typeface="Aptos" panose="020B0004020202020204" pitchFamily="34" charset="0"/>
                </a:rPr>
                <a:t>Gaps in </a:t>
              </a:r>
              <a:r>
                <a:rPr lang="en-CA" sz="800" err="1">
                  <a:latin typeface="Aptos" panose="020B0004020202020204" pitchFamily="34" charset="0"/>
                </a:rPr>
                <a:t>appln</a:t>
              </a:r>
              <a:r>
                <a:rPr lang="en-CA" sz="800">
                  <a:latin typeface="Aptos" panose="020B0004020202020204" pitchFamily="34" charset="0"/>
                </a:rPr>
                <a:t> performance / slowness </a:t>
              </a:r>
              <a:endParaRPr lang="en-US" sz="800">
                <a:latin typeface="Aptos" panose="020B0004020202020204" pitchFamily="34" charset="0"/>
              </a:endParaRPr>
            </a:p>
          </p:txBody>
        </p:sp>
      </p:grpSp>
      <p:sp>
        <p:nvSpPr>
          <p:cNvPr id="31" name="TextBox 30">
            <a:extLst>
              <a:ext uri="{FF2B5EF4-FFF2-40B4-BE49-F238E27FC236}">
                <a16:creationId xmlns:a16="http://schemas.microsoft.com/office/drawing/2014/main" id="{1324B139-FEFE-BA7D-E866-CBE17DC2CF0E}"/>
              </a:ext>
            </a:extLst>
          </p:cNvPr>
          <p:cNvSpPr txBox="1"/>
          <p:nvPr/>
        </p:nvSpPr>
        <p:spPr>
          <a:xfrm>
            <a:off x="3975033" y="6191999"/>
            <a:ext cx="1122965" cy="230832"/>
          </a:xfrm>
          <a:prstGeom prst="rect">
            <a:avLst/>
          </a:prstGeom>
          <a:noFill/>
        </p:spPr>
        <p:txBody>
          <a:bodyPr wrap="square" rtlCol="0">
            <a:spAutoFit/>
          </a:bodyPr>
          <a:lstStyle/>
          <a:p>
            <a:pPr algn="ctr"/>
            <a:r>
              <a:rPr lang="en-CA" sz="900" b="1">
                <a:latin typeface="Aptos" panose="020B0004020202020204" pitchFamily="34" charset="0"/>
              </a:rPr>
              <a:t>Technology</a:t>
            </a:r>
            <a:endParaRPr lang="en-US" sz="900" b="1">
              <a:latin typeface="Aptos" panose="020B0004020202020204" pitchFamily="34" charset="0"/>
            </a:endParaRPr>
          </a:p>
        </p:txBody>
      </p:sp>
      <p:sp>
        <p:nvSpPr>
          <p:cNvPr id="32" name="Rectangle 31">
            <a:extLst>
              <a:ext uri="{FF2B5EF4-FFF2-40B4-BE49-F238E27FC236}">
                <a16:creationId xmlns:a16="http://schemas.microsoft.com/office/drawing/2014/main" id="{9B893BF4-5471-27F8-1D1D-153DFB0779F9}"/>
              </a:ext>
            </a:extLst>
          </p:cNvPr>
          <p:cNvSpPr/>
          <p:nvPr/>
        </p:nvSpPr>
        <p:spPr>
          <a:xfrm>
            <a:off x="1209826" y="6364012"/>
            <a:ext cx="2759499" cy="45720"/>
          </a:xfrm>
          <a:prstGeom prst="rect">
            <a:avLst/>
          </a:prstGeom>
          <a:solidFill>
            <a:schemeClr val="bg2">
              <a:lumMod val="90000"/>
            </a:schemeClr>
          </a:solidFill>
        </p:spPr>
        <p:txBody>
          <a:bodyPr wrap="none" rtlCol="0" anchor="ctr">
            <a:spAutoFit/>
          </a:bodyPr>
          <a:lstStyle/>
          <a:p>
            <a:pPr algn="ctr"/>
            <a:endParaRPr lang="en-US" sz="1100"/>
          </a:p>
        </p:txBody>
      </p:sp>
      <p:sp>
        <p:nvSpPr>
          <p:cNvPr id="33" name="Rectangle 32">
            <a:extLst>
              <a:ext uri="{FF2B5EF4-FFF2-40B4-BE49-F238E27FC236}">
                <a16:creationId xmlns:a16="http://schemas.microsoft.com/office/drawing/2014/main" id="{BED8A1DB-053F-B147-5A9D-46F2591313DF}"/>
              </a:ext>
            </a:extLst>
          </p:cNvPr>
          <p:cNvSpPr/>
          <p:nvPr/>
        </p:nvSpPr>
        <p:spPr>
          <a:xfrm>
            <a:off x="4169289" y="6360964"/>
            <a:ext cx="5878933" cy="45720"/>
          </a:xfrm>
          <a:prstGeom prst="rect">
            <a:avLst/>
          </a:prstGeom>
          <a:solidFill>
            <a:schemeClr val="accent1">
              <a:lumMod val="40000"/>
              <a:lumOff val="60000"/>
            </a:schemeClr>
          </a:solidFill>
        </p:spPr>
        <p:txBody>
          <a:bodyPr wrap="none" rtlCol="0" anchor="ctr">
            <a:spAutoFit/>
          </a:bodyPr>
          <a:lstStyle/>
          <a:p>
            <a:pPr algn="ctr"/>
            <a:endParaRPr lang="en-US" sz="1100"/>
          </a:p>
        </p:txBody>
      </p:sp>
      <p:sp>
        <p:nvSpPr>
          <p:cNvPr id="34" name="Rectangle 33">
            <a:extLst>
              <a:ext uri="{FF2B5EF4-FFF2-40B4-BE49-F238E27FC236}">
                <a16:creationId xmlns:a16="http://schemas.microsoft.com/office/drawing/2014/main" id="{7B7F66C8-1221-87C4-C7C0-4A772C2465DF}"/>
              </a:ext>
            </a:extLst>
          </p:cNvPr>
          <p:cNvSpPr/>
          <p:nvPr/>
        </p:nvSpPr>
        <p:spPr>
          <a:xfrm>
            <a:off x="10230867" y="6367060"/>
            <a:ext cx="1439739" cy="45720"/>
          </a:xfrm>
          <a:prstGeom prst="rect">
            <a:avLst/>
          </a:prstGeom>
          <a:solidFill>
            <a:schemeClr val="bg1">
              <a:lumMod val="75000"/>
            </a:schemeClr>
          </a:solidFill>
        </p:spPr>
        <p:txBody>
          <a:bodyPr wrap="none" rtlCol="0" anchor="ctr">
            <a:spAutoFit/>
          </a:bodyPr>
          <a:lstStyle/>
          <a:p>
            <a:pPr algn="ctr"/>
            <a:endParaRPr lang="en-US" sz="1100"/>
          </a:p>
        </p:txBody>
      </p:sp>
      <p:sp>
        <p:nvSpPr>
          <p:cNvPr id="35" name="TextBox 34">
            <a:extLst>
              <a:ext uri="{FF2B5EF4-FFF2-40B4-BE49-F238E27FC236}">
                <a16:creationId xmlns:a16="http://schemas.microsoft.com/office/drawing/2014/main" id="{EC05E8A3-0C8E-2CCC-EEBF-510D5892CF1E}"/>
              </a:ext>
            </a:extLst>
          </p:cNvPr>
          <p:cNvSpPr txBox="1"/>
          <p:nvPr/>
        </p:nvSpPr>
        <p:spPr>
          <a:xfrm>
            <a:off x="9900609" y="6196403"/>
            <a:ext cx="1122965" cy="230832"/>
          </a:xfrm>
          <a:prstGeom prst="rect">
            <a:avLst/>
          </a:prstGeom>
          <a:noFill/>
        </p:spPr>
        <p:txBody>
          <a:bodyPr wrap="square" rtlCol="0">
            <a:spAutoFit/>
          </a:bodyPr>
          <a:lstStyle/>
          <a:p>
            <a:pPr algn="ctr"/>
            <a:r>
              <a:rPr lang="en-CA" sz="900" b="1">
                <a:latin typeface="Aptos" panose="020B0004020202020204" pitchFamily="34" charset="0"/>
              </a:rPr>
              <a:t>Others</a:t>
            </a:r>
            <a:endParaRPr lang="en-US" sz="900" b="1">
              <a:latin typeface="Aptos" panose="020B0004020202020204" pitchFamily="34" charset="0"/>
            </a:endParaRPr>
          </a:p>
        </p:txBody>
      </p:sp>
      <p:graphicFrame>
        <p:nvGraphicFramePr>
          <p:cNvPr id="61" name="Chart 60">
            <a:extLst>
              <a:ext uri="{FF2B5EF4-FFF2-40B4-BE49-F238E27FC236}">
                <a16:creationId xmlns:a16="http://schemas.microsoft.com/office/drawing/2014/main" id="{B63FA995-A4B2-1ABC-1DAF-B2870B9E8FA8}"/>
              </a:ext>
            </a:extLst>
          </p:cNvPr>
          <p:cNvGraphicFramePr/>
          <p:nvPr>
            <p:extLst>
              <p:ext uri="{D42A27DB-BD31-4B8C-83A1-F6EECF244321}">
                <p14:modId xmlns:p14="http://schemas.microsoft.com/office/powerpoint/2010/main" val="3362980434"/>
              </p:ext>
            </p:extLst>
          </p:nvPr>
        </p:nvGraphicFramePr>
        <p:xfrm>
          <a:off x="7610589" y="1963809"/>
          <a:ext cx="4114800" cy="4273889"/>
        </p:xfrm>
        <a:graphic>
          <a:graphicData uri="http://schemas.openxmlformats.org/drawingml/2006/chart">
            <c:chart xmlns:c="http://schemas.openxmlformats.org/drawingml/2006/chart" xmlns:r="http://schemas.openxmlformats.org/officeDocument/2006/relationships" r:id="rId3"/>
          </a:graphicData>
        </a:graphic>
      </p:graphicFrame>
      <p:cxnSp>
        <p:nvCxnSpPr>
          <p:cNvPr id="62" name="Straight Connector 61">
            <a:extLst>
              <a:ext uri="{FF2B5EF4-FFF2-40B4-BE49-F238E27FC236}">
                <a16:creationId xmlns:a16="http://schemas.microsoft.com/office/drawing/2014/main" id="{5078D06F-1FA5-A7B0-B336-1F97065832EA}"/>
              </a:ext>
            </a:extLst>
          </p:cNvPr>
          <p:cNvCxnSpPr>
            <a:cxnSpLocks/>
          </p:cNvCxnSpPr>
          <p:nvPr/>
        </p:nvCxnSpPr>
        <p:spPr>
          <a:xfrm>
            <a:off x="161451" y="1879206"/>
            <a:ext cx="11521440" cy="0"/>
          </a:xfrm>
          <a:prstGeom prst="line">
            <a:avLst/>
          </a:prstGeom>
          <a:ln w="19050">
            <a:solidFill>
              <a:schemeClr val="bg1">
                <a:lumMod val="85000"/>
              </a:schemeClr>
            </a:solidFill>
          </a:ln>
        </p:spPr>
        <p:style>
          <a:lnRef idx="1">
            <a:schemeClr val="dk1"/>
          </a:lnRef>
          <a:fillRef idx="0">
            <a:schemeClr val="dk1"/>
          </a:fillRef>
          <a:effectRef idx="0">
            <a:schemeClr val="dk1"/>
          </a:effectRef>
          <a:fontRef idx="minor">
            <a:schemeClr val="tx1"/>
          </a:fontRef>
        </p:style>
      </p:cxnSp>
      <p:graphicFrame>
        <p:nvGraphicFramePr>
          <p:cNvPr id="63" name="Chart 62">
            <a:extLst>
              <a:ext uri="{FF2B5EF4-FFF2-40B4-BE49-F238E27FC236}">
                <a16:creationId xmlns:a16="http://schemas.microsoft.com/office/drawing/2014/main" id="{C411492E-00A5-3466-2F72-5ABDB41C4881}"/>
              </a:ext>
            </a:extLst>
          </p:cNvPr>
          <p:cNvGraphicFramePr/>
          <p:nvPr>
            <p:extLst>
              <p:ext uri="{D42A27DB-BD31-4B8C-83A1-F6EECF244321}">
                <p14:modId xmlns:p14="http://schemas.microsoft.com/office/powerpoint/2010/main" val="1599335193"/>
              </p:ext>
            </p:extLst>
          </p:nvPr>
        </p:nvGraphicFramePr>
        <p:xfrm>
          <a:off x="1649267" y="1937025"/>
          <a:ext cx="4114800" cy="4273889"/>
        </p:xfrm>
        <a:graphic>
          <a:graphicData uri="http://schemas.openxmlformats.org/drawingml/2006/chart">
            <c:chart xmlns:c="http://schemas.openxmlformats.org/drawingml/2006/chart" xmlns:r="http://schemas.openxmlformats.org/officeDocument/2006/relationships" r:id="rId4"/>
          </a:graphicData>
        </a:graphic>
      </p:graphicFrame>
      <p:grpSp>
        <p:nvGrpSpPr>
          <p:cNvPr id="256" name="Group 255">
            <a:extLst>
              <a:ext uri="{FF2B5EF4-FFF2-40B4-BE49-F238E27FC236}">
                <a16:creationId xmlns:a16="http://schemas.microsoft.com/office/drawing/2014/main" id="{5EB32F8D-32E9-27EB-2ED5-5CF6BD1C9454}"/>
              </a:ext>
            </a:extLst>
          </p:cNvPr>
          <p:cNvGrpSpPr/>
          <p:nvPr/>
        </p:nvGrpSpPr>
        <p:grpSpPr>
          <a:xfrm>
            <a:off x="202422" y="3031249"/>
            <a:ext cx="1536163" cy="437998"/>
            <a:chOff x="35995" y="1641196"/>
            <a:chExt cx="1601550" cy="416875"/>
          </a:xfrm>
        </p:grpSpPr>
        <p:sp>
          <p:nvSpPr>
            <p:cNvPr id="106" name="TextBox 105">
              <a:extLst>
                <a:ext uri="{FF2B5EF4-FFF2-40B4-BE49-F238E27FC236}">
                  <a16:creationId xmlns:a16="http://schemas.microsoft.com/office/drawing/2014/main" id="{F4824473-505D-D226-EEC6-66992EB9A481}"/>
                </a:ext>
              </a:extLst>
            </p:cNvPr>
            <p:cNvSpPr txBox="1"/>
            <p:nvPr/>
          </p:nvSpPr>
          <p:spPr>
            <a:xfrm>
              <a:off x="223910" y="1677288"/>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13</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107" name="TextBox 106">
              <a:extLst>
                <a:ext uri="{FF2B5EF4-FFF2-40B4-BE49-F238E27FC236}">
                  <a16:creationId xmlns:a16="http://schemas.microsoft.com/office/drawing/2014/main" id="{669F0994-7F28-182F-DA6D-290CC25089A5}"/>
                </a:ext>
              </a:extLst>
            </p:cNvPr>
            <p:cNvSpPr txBox="1"/>
            <p:nvPr/>
          </p:nvSpPr>
          <p:spPr>
            <a:xfrm>
              <a:off x="575320" y="1676193"/>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31</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108" name="TextBox 107">
              <a:extLst>
                <a:ext uri="{FF2B5EF4-FFF2-40B4-BE49-F238E27FC236}">
                  <a16:creationId xmlns:a16="http://schemas.microsoft.com/office/drawing/2014/main" id="{FDA55EFB-EFC2-419F-F34F-1B6179259C48}"/>
                </a:ext>
              </a:extLst>
            </p:cNvPr>
            <p:cNvSpPr txBox="1"/>
            <p:nvPr/>
          </p:nvSpPr>
          <p:spPr>
            <a:xfrm>
              <a:off x="1072945" y="1677385"/>
              <a:ext cx="564600" cy="375262"/>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0070C0"/>
                  </a:solidFill>
                  <a:effectLst/>
                  <a:uLnTx/>
                  <a:uFillTx/>
                  <a:latin typeface="Aptos" panose="020B0004020202020204" pitchFamily="34" charset="0"/>
                </a:rPr>
                <a:t>5</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109" name="Rectangle: Rounded Corners 108">
              <a:extLst>
                <a:ext uri="{FF2B5EF4-FFF2-40B4-BE49-F238E27FC236}">
                  <a16:creationId xmlns:a16="http://schemas.microsoft.com/office/drawing/2014/main" id="{1117D75B-1000-1965-45EE-D7D8552C6D4D}"/>
                </a:ext>
              </a:extLst>
            </p:cNvPr>
            <p:cNvSpPr/>
            <p:nvPr/>
          </p:nvSpPr>
          <p:spPr>
            <a:xfrm>
              <a:off x="199275" y="1695913"/>
              <a:ext cx="842859"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111" name="Rectangle 110">
              <a:extLst>
                <a:ext uri="{FF2B5EF4-FFF2-40B4-BE49-F238E27FC236}">
                  <a16:creationId xmlns:a16="http://schemas.microsoft.com/office/drawing/2014/main" id="{63D233BE-CC0B-B515-37F9-B28D810C483A}"/>
                </a:ext>
              </a:extLst>
            </p:cNvPr>
            <p:cNvSpPr/>
            <p:nvPr/>
          </p:nvSpPr>
          <p:spPr>
            <a:xfrm rot="16200000">
              <a:off x="-60135" y="1737326"/>
              <a:ext cx="416875" cy="224615"/>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FEB</a:t>
              </a:r>
              <a:endParaRPr lang="en-US" sz="800" b="1">
                <a:latin typeface="Aptos" panose="020B0004020202020204" pitchFamily="34" charset="0"/>
              </a:endParaRPr>
            </a:p>
          </p:txBody>
        </p:sp>
        <p:sp>
          <p:nvSpPr>
            <p:cNvPr id="113" name="Rectangle: Rounded Corners 112">
              <a:extLst>
                <a:ext uri="{FF2B5EF4-FFF2-40B4-BE49-F238E27FC236}">
                  <a16:creationId xmlns:a16="http://schemas.microsoft.com/office/drawing/2014/main" id="{5AF99AC7-6BCB-901B-92D7-C53DF44902E3}"/>
                </a:ext>
              </a:extLst>
            </p:cNvPr>
            <p:cNvSpPr/>
            <p:nvPr/>
          </p:nvSpPr>
          <p:spPr>
            <a:xfrm>
              <a:off x="1082381" y="1695913"/>
              <a:ext cx="527333"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57" name="Group 256">
            <a:extLst>
              <a:ext uri="{FF2B5EF4-FFF2-40B4-BE49-F238E27FC236}">
                <a16:creationId xmlns:a16="http://schemas.microsoft.com/office/drawing/2014/main" id="{AA27FED2-1CA5-DE4D-D7E4-C8D5ACA4C44B}"/>
              </a:ext>
            </a:extLst>
          </p:cNvPr>
          <p:cNvGrpSpPr/>
          <p:nvPr/>
        </p:nvGrpSpPr>
        <p:grpSpPr>
          <a:xfrm>
            <a:off x="188244" y="3825015"/>
            <a:ext cx="1536163" cy="437998"/>
            <a:chOff x="35995" y="1641196"/>
            <a:chExt cx="1601550" cy="416875"/>
          </a:xfrm>
        </p:grpSpPr>
        <p:sp>
          <p:nvSpPr>
            <p:cNvPr id="338" name="TextBox 337">
              <a:extLst>
                <a:ext uri="{FF2B5EF4-FFF2-40B4-BE49-F238E27FC236}">
                  <a16:creationId xmlns:a16="http://schemas.microsoft.com/office/drawing/2014/main" id="{B4F77AE3-D19F-C3BA-3A1F-953C52D8C822}"/>
                </a:ext>
              </a:extLst>
            </p:cNvPr>
            <p:cNvSpPr txBox="1"/>
            <p:nvPr/>
          </p:nvSpPr>
          <p:spPr>
            <a:xfrm>
              <a:off x="223910" y="1677288"/>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17</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339" name="TextBox 338">
              <a:extLst>
                <a:ext uri="{FF2B5EF4-FFF2-40B4-BE49-F238E27FC236}">
                  <a16:creationId xmlns:a16="http://schemas.microsoft.com/office/drawing/2014/main" id="{7BC9CB1D-83C8-0AE5-A41F-C185A4DDE8DA}"/>
                </a:ext>
              </a:extLst>
            </p:cNvPr>
            <p:cNvSpPr txBox="1"/>
            <p:nvPr/>
          </p:nvSpPr>
          <p:spPr>
            <a:xfrm>
              <a:off x="575320" y="1676193"/>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21</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100" name="TextBox 99">
              <a:extLst>
                <a:ext uri="{FF2B5EF4-FFF2-40B4-BE49-F238E27FC236}">
                  <a16:creationId xmlns:a16="http://schemas.microsoft.com/office/drawing/2014/main" id="{93046E9D-621F-A183-8B62-BAD69969A029}"/>
                </a:ext>
              </a:extLst>
            </p:cNvPr>
            <p:cNvSpPr txBox="1"/>
            <p:nvPr/>
          </p:nvSpPr>
          <p:spPr>
            <a:xfrm>
              <a:off x="1072945" y="1677385"/>
              <a:ext cx="564600" cy="344196"/>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lang="en-CA" sz="1000">
                  <a:solidFill>
                    <a:srgbClr val="0070C0"/>
                  </a:solidFill>
                  <a:latin typeface="Aptos" panose="020B0004020202020204" pitchFamily="34" charset="0"/>
                </a:rPr>
                <a:t>2</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101" name="Rectangle: Rounded Corners 100">
              <a:extLst>
                <a:ext uri="{FF2B5EF4-FFF2-40B4-BE49-F238E27FC236}">
                  <a16:creationId xmlns:a16="http://schemas.microsoft.com/office/drawing/2014/main" id="{D178369C-DB52-14DC-7779-D8E0E95002D6}"/>
                </a:ext>
              </a:extLst>
            </p:cNvPr>
            <p:cNvSpPr/>
            <p:nvPr/>
          </p:nvSpPr>
          <p:spPr>
            <a:xfrm>
              <a:off x="199275" y="1695913"/>
              <a:ext cx="842859"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102" name="Rectangle 101">
              <a:extLst>
                <a:ext uri="{FF2B5EF4-FFF2-40B4-BE49-F238E27FC236}">
                  <a16:creationId xmlns:a16="http://schemas.microsoft.com/office/drawing/2014/main" id="{026143EA-47BD-23FF-FC1E-E92C7DB88CC9}"/>
                </a:ext>
              </a:extLst>
            </p:cNvPr>
            <p:cNvSpPr/>
            <p:nvPr/>
          </p:nvSpPr>
          <p:spPr>
            <a:xfrm rot="16200000">
              <a:off x="-60135" y="1737326"/>
              <a:ext cx="416875" cy="224615"/>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APR</a:t>
              </a:r>
              <a:endParaRPr lang="en-US" sz="800" b="1">
                <a:latin typeface="Aptos" panose="020B0004020202020204" pitchFamily="34" charset="0"/>
              </a:endParaRPr>
            </a:p>
          </p:txBody>
        </p:sp>
        <p:sp>
          <p:nvSpPr>
            <p:cNvPr id="103" name="Rectangle: Rounded Corners 102">
              <a:extLst>
                <a:ext uri="{FF2B5EF4-FFF2-40B4-BE49-F238E27FC236}">
                  <a16:creationId xmlns:a16="http://schemas.microsoft.com/office/drawing/2014/main" id="{C16000E2-FD03-F354-6856-02157F5D359C}"/>
                </a:ext>
              </a:extLst>
            </p:cNvPr>
            <p:cNvSpPr/>
            <p:nvPr/>
          </p:nvSpPr>
          <p:spPr>
            <a:xfrm>
              <a:off x="1082381" y="1695913"/>
              <a:ext cx="527333"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58" name="Group 257">
            <a:extLst>
              <a:ext uri="{FF2B5EF4-FFF2-40B4-BE49-F238E27FC236}">
                <a16:creationId xmlns:a16="http://schemas.microsoft.com/office/drawing/2014/main" id="{6A39C928-6273-6BC3-1D1E-4FAD992D354B}"/>
              </a:ext>
            </a:extLst>
          </p:cNvPr>
          <p:cNvGrpSpPr/>
          <p:nvPr/>
        </p:nvGrpSpPr>
        <p:grpSpPr>
          <a:xfrm>
            <a:off x="188244" y="4628132"/>
            <a:ext cx="1536163" cy="439622"/>
            <a:chOff x="35995" y="1641196"/>
            <a:chExt cx="1601550" cy="418417"/>
          </a:xfrm>
        </p:grpSpPr>
        <p:sp>
          <p:nvSpPr>
            <p:cNvPr id="332" name="TextBox 331">
              <a:extLst>
                <a:ext uri="{FF2B5EF4-FFF2-40B4-BE49-F238E27FC236}">
                  <a16:creationId xmlns:a16="http://schemas.microsoft.com/office/drawing/2014/main" id="{2EF1CF3D-ABF7-0990-9F2E-A08E5C6A917F}"/>
                </a:ext>
              </a:extLst>
            </p:cNvPr>
            <p:cNvSpPr txBox="1"/>
            <p:nvPr/>
          </p:nvSpPr>
          <p:spPr>
            <a:xfrm>
              <a:off x="223910" y="1677288"/>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15</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333" name="TextBox 332">
              <a:extLst>
                <a:ext uri="{FF2B5EF4-FFF2-40B4-BE49-F238E27FC236}">
                  <a16:creationId xmlns:a16="http://schemas.microsoft.com/office/drawing/2014/main" id="{48AD13EF-54EC-E640-3CDE-1316AB0B7DEB}"/>
                </a:ext>
              </a:extLst>
            </p:cNvPr>
            <p:cNvSpPr txBox="1"/>
            <p:nvPr/>
          </p:nvSpPr>
          <p:spPr>
            <a:xfrm>
              <a:off x="575320" y="1676193"/>
              <a:ext cx="503034" cy="383420"/>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31</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334" name="TextBox 333">
              <a:extLst>
                <a:ext uri="{FF2B5EF4-FFF2-40B4-BE49-F238E27FC236}">
                  <a16:creationId xmlns:a16="http://schemas.microsoft.com/office/drawing/2014/main" id="{8989E162-6C66-2DA7-36D7-82AEBAE2BDAA}"/>
                </a:ext>
              </a:extLst>
            </p:cNvPr>
            <p:cNvSpPr txBox="1"/>
            <p:nvPr/>
          </p:nvSpPr>
          <p:spPr>
            <a:xfrm>
              <a:off x="1072945" y="1677385"/>
              <a:ext cx="564600" cy="375262"/>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0070C0"/>
                  </a:solidFill>
                  <a:effectLst/>
                  <a:uLnTx/>
                  <a:uFillTx/>
                  <a:latin typeface="Aptos" panose="020B0004020202020204" pitchFamily="34" charset="0"/>
                </a:rPr>
                <a:t>2</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335" name="Rectangle: Rounded Corners 334">
              <a:extLst>
                <a:ext uri="{FF2B5EF4-FFF2-40B4-BE49-F238E27FC236}">
                  <a16:creationId xmlns:a16="http://schemas.microsoft.com/office/drawing/2014/main" id="{AFBD4B7C-A26F-744A-5B59-3EEE8A417E36}"/>
                </a:ext>
              </a:extLst>
            </p:cNvPr>
            <p:cNvSpPr/>
            <p:nvPr/>
          </p:nvSpPr>
          <p:spPr>
            <a:xfrm>
              <a:off x="199275" y="1695912"/>
              <a:ext cx="842859" cy="306875"/>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336" name="Rectangle 335">
              <a:extLst>
                <a:ext uri="{FF2B5EF4-FFF2-40B4-BE49-F238E27FC236}">
                  <a16:creationId xmlns:a16="http://schemas.microsoft.com/office/drawing/2014/main" id="{BA8F60A6-F0BA-6701-D951-4BA172FA2F1F}"/>
                </a:ext>
              </a:extLst>
            </p:cNvPr>
            <p:cNvSpPr/>
            <p:nvPr/>
          </p:nvSpPr>
          <p:spPr>
            <a:xfrm rot="16200000">
              <a:off x="-60135" y="1737326"/>
              <a:ext cx="416875" cy="224615"/>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JUL</a:t>
              </a:r>
              <a:endParaRPr lang="en-US" sz="800" b="1">
                <a:latin typeface="Aptos" panose="020B0004020202020204" pitchFamily="34" charset="0"/>
              </a:endParaRPr>
            </a:p>
          </p:txBody>
        </p:sp>
        <p:sp>
          <p:nvSpPr>
            <p:cNvPr id="337" name="Rectangle: Rounded Corners 336">
              <a:extLst>
                <a:ext uri="{FF2B5EF4-FFF2-40B4-BE49-F238E27FC236}">
                  <a16:creationId xmlns:a16="http://schemas.microsoft.com/office/drawing/2014/main" id="{33FF10FC-85E3-878A-AE0A-31999E26A1D3}"/>
                </a:ext>
              </a:extLst>
            </p:cNvPr>
            <p:cNvSpPr/>
            <p:nvPr/>
          </p:nvSpPr>
          <p:spPr>
            <a:xfrm>
              <a:off x="1082381" y="1695912"/>
              <a:ext cx="527333" cy="306875"/>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59" name="Group 258">
            <a:extLst>
              <a:ext uri="{FF2B5EF4-FFF2-40B4-BE49-F238E27FC236}">
                <a16:creationId xmlns:a16="http://schemas.microsoft.com/office/drawing/2014/main" id="{0353FD9C-8847-5B0B-7BB5-FA6EB4858E70}"/>
              </a:ext>
            </a:extLst>
          </p:cNvPr>
          <p:cNvGrpSpPr/>
          <p:nvPr/>
        </p:nvGrpSpPr>
        <p:grpSpPr>
          <a:xfrm>
            <a:off x="197232" y="5431219"/>
            <a:ext cx="1536163" cy="440870"/>
            <a:chOff x="35995" y="1641196"/>
            <a:chExt cx="1601550" cy="419609"/>
          </a:xfrm>
        </p:grpSpPr>
        <p:sp>
          <p:nvSpPr>
            <p:cNvPr id="320" name="TextBox 319">
              <a:extLst>
                <a:ext uri="{FF2B5EF4-FFF2-40B4-BE49-F238E27FC236}">
                  <a16:creationId xmlns:a16="http://schemas.microsoft.com/office/drawing/2014/main" id="{F1B9ED06-7150-4BB3-58FE-95475FB18EAA}"/>
                </a:ext>
              </a:extLst>
            </p:cNvPr>
            <p:cNvSpPr txBox="1"/>
            <p:nvPr/>
          </p:nvSpPr>
          <p:spPr>
            <a:xfrm>
              <a:off x="223910" y="1677288"/>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28</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327" name="TextBox 326">
              <a:extLst>
                <a:ext uri="{FF2B5EF4-FFF2-40B4-BE49-F238E27FC236}">
                  <a16:creationId xmlns:a16="http://schemas.microsoft.com/office/drawing/2014/main" id="{4D026B12-118F-1242-C763-C61DCF9E078B}"/>
                </a:ext>
              </a:extLst>
            </p:cNvPr>
            <p:cNvSpPr txBox="1"/>
            <p:nvPr/>
          </p:nvSpPr>
          <p:spPr>
            <a:xfrm>
              <a:off x="575320" y="1676193"/>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13</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328" name="TextBox 327">
              <a:extLst>
                <a:ext uri="{FF2B5EF4-FFF2-40B4-BE49-F238E27FC236}">
                  <a16:creationId xmlns:a16="http://schemas.microsoft.com/office/drawing/2014/main" id="{03AB9F1F-7AAD-6B99-C8F2-86D232861597}"/>
                </a:ext>
              </a:extLst>
            </p:cNvPr>
            <p:cNvSpPr txBox="1"/>
            <p:nvPr/>
          </p:nvSpPr>
          <p:spPr>
            <a:xfrm>
              <a:off x="1072945" y="1677385"/>
              <a:ext cx="564600" cy="383420"/>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lang="en-CA" sz="1000">
                  <a:solidFill>
                    <a:srgbClr val="0070C0"/>
                  </a:solidFill>
                  <a:latin typeface="Aptos" panose="020B0004020202020204" pitchFamily="34" charset="0"/>
                </a:rPr>
                <a:t>6</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329" name="Rectangle: Rounded Corners 328">
              <a:extLst>
                <a:ext uri="{FF2B5EF4-FFF2-40B4-BE49-F238E27FC236}">
                  <a16:creationId xmlns:a16="http://schemas.microsoft.com/office/drawing/2014/main" id="{51136AE8-40F4-9BF3-FCB1-58F3D59528F3}"/>
                </a:ext>
              </a:extLst>
            </p:cNvPr>
            <p:cNvSpPr/>
            <p:nvPr/>
          </p:nvSpPr>
          <p:spPr>
            <a:xfrm>
              <a:off x="199275" y="1695913"/>
              <a:ext cx="842859"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330" name="Rectangle 329">
              <a:extLst>
                <a:ext uri="{FF2B5EF4-FFF2-40B4-BE49-F238E27FC236}">
                  <a16:creationId xmlns:a16="http://schemas.microsoft.com/office/drawing/2014/main" id="{4147C4DB-C289-2ABF-DDEF-CA0B14FB0963}"/>
                </a:ext>
              </a:extLst>
            </p:cNvPr>
            <p:cNvSpPr/>
            <p:nvPr/>
          </p:nvSpPr>
          <p:spPr>
            <a:xfrm rot="16200000">
              <a:off x="-60135" y="1737326"/>
              <a:ext cx="416875" cy="224615"/>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SEP</a:t>
              </a:r>
              <a:endParaRPr lang="en-US" sz="800" b="1">
                <a:latin typeface="Aptos" panose="020B0004020202020204" pitchFamily="34" charset="0"/>
              </a:endParaRPr>
            </a:p>
          </p:txBody>
        </p:sp>
        <p:sp>
          <p:nvSpPr>
            <p:cNvPr id="331" name="Rectangle: Rounded Corners 330">
              <a:extLst>
                <a:ext uri="{FF2B5EF4-FFF2-40B4-BE49-F238E27FC236}">
                  <a16:creationId xmlns:a16="http://schemas.microsoft.com/office/drawing/2014/main" id="{2A0AC572-B7ED-A5DD-DABD-4D21DEE0027F}"/>
                </a:ext>
              </a:extLst>
            </p:cNvPr>
            <p:cNvSpPr/>
            <p:nvPr/>
          </p:nvSpPr>
          <p:spPr>
            <a:xfrm>
              <a:off x="1082381" y="1695913"/>
              <a:ext cx="527333"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60" name="Group 259">
            <a:extLst>
              <a:ext uri="{FF2B5EF4-FFF2-40B4-BE49-F238E27FC236}">
                <a16:creationId xmlns:a16="http://schemas.microsoft.com/office/drawing/2014/main" id="{BCB87B49-BF2B-6015-94FE-63037E9505AC}"/>
              </a:ext>
            </a:extLst>
          </p:cNvPr>
          <p:cNvGrpSpPr/>
          <p:nvPr/>
        </p:nvGrpSpPr>
        <p:grpSpPr>
          <a:xfrm>
            <a:off x="187704" y="2188582"/>
            <a:ext cx="1536163" cy="437998"/>
            <a:chOff x="35995" y="1641196"/>
            <a:chExt cx="1601550" cy="416875"/>
          </a:xfrm>
        </p:grpSpPr>
        <p:sp>
          <p:nvSpPr>
            <p:cNvPr id="312" name="TextBox 311">
              <a:extLst>
                <a:ext uri="{FF2B5EF4-FFF2-40B4-BE49-F238E27FC236}">
                  <a16:creationId xmlns:a16="http://schemas.microsoft.com/office/drawing/2014/main" id="{23E6021A-F5D8-D307-3805-967E06E63F92}"/>
                </a:ext>
              </a:extLst>
            </p:cNvPr>
            <p:cNvSpPr txBox="1"/>
            <p:nvPr/>
          </p:nvSpPr>
          <p:spPr>
            <a:xfrm>
              <a:off x="223910" y="1677288"/>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16</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313" name="TextBox 312">
              <a:extLst>
                <a:ext uri="{FF2B5EF4-FFF2-40B4-BE49-F238E27FC236}">
                  <a16:creationId xmlns:a16="http://schemas.microsoft.com/office/drawing/2014/main" id="{E0B12F04-4D50-03FD-1523-41F2F2A39ECB}"/>
                </a:ext>
              </a:extLst>
            </p:cNvPr>
            <p:cNvSpPr txBox="1"/>
            <p:nvPr/>
          </p:nvSpPr>
          <p:spPr>
            <a:xfrm>
              <a:off x="575320" y="1676193"/>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17</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314" name="TextBox 313">
              <a:extLst>
                <a:ext uri="{FF2B5EF4-FFF2-40B4-BE49-F238E27FC236}">
                  <a16:creationId xmlns:a16="http://schemas.microsoft.com/office/drawing/2014/main" id="{63071867-513A-A8D7-F940-023237D6A4A8}"/>
                </a:ext>
              </a:extLst>
            </p:cNvPr>
            <p:cNvSpPr txBox="1"/>
            <p:nvPr/>
          </p:nvSpPr>
          <p:spPr>
            <a:xfrm>
              <a:off x="1072945" y="1677385"/>
              <a:ext cx="564600" cy="336873"/>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0070C0"/>
                  </a:solidFill>
                  <a:effectLst/>
                  <a:uLnTx/>
                  <a:uFillTx/>
                  <a:latin typeface="Aptos" panose="020B0004020202020204" pitchFamily="34" charset="0"/>
                </a:rPr>
                <a:t>17</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315" name="Rectangle: Rounded Corners 314">
              <a:extLst>
                <a:ext uri="{FF2B5EF4-FFF2-40B4-BE49-F238E27FC236}">
                  <a16:creationId xmlns:a16="http://schemas.microsoft.com/office/drawing/2014/main" id="{ADE2CD92-1FB0-8DFE-7B0B-963EDFDEFB57}"/>
                </a:ext>
              </a:extLst>
            </p:cNvPr>
            <p:cNvSpPr/>
            <p:nvPr/>
          </p:nvSpPr>
          <p:spPr>
            <a:xfrm>
              <a:off x="199275" y="1695913"/>
              <a:ext cx="842859"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316" name="Rectangle 315">
              <a:extLst>
                <a:ext uri="{FF2B5EF4-FFF2-40B4-BE49-F238E27FC236}">
                  <a16:creationId xmlns:a16="http://schemas.microsoft.com/office/drawing/2014/main" id="{1F88C01B-2D59-1A35-6C07-E0A95441CD33}"/>
                </a:ext>
              </a:extLst>
            </p:cNvPr>
            <p:cNvSpPr/>
            <p:nvPr/>
          </p:nvSpPr>
          <p:spPr>
            <a:xfrm rot="16200000">
              <a:off x="-60135" y="1737326"/>
              <a:ext cx="416875" cy="224615"/>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NOV</a:t>
              </a:r>
              <a:endParaRPr lang="en-US" sz="800" b="1">
                <a:latin typeface="Aptos" panose="020B0004020202020204" pitchFamily="34" charset="0"/>
              </a:endParaRPr>
            </a:p>
          </p:txBody>
        </p:sp>
        <p:sp>
          <p:nvSpPr>
            <p:cNvPr id="317" name="Rectangle: Rounded Corners 316">
              <a:extLst>
                <a:ext uri="{FF2B5EF4-FFF2-40B4-BE49-F238E27FC236}">
                  <a16:creationId xmlns:a16="http://schemas.microsoft.com/office/drawing/2014/main" id="{E5AD3CAC-6374-F35E-5D1D-CB309E2D20DE}"/>
                </a:ext>
              </a:extLst>
            </p:cNvPr>
            <p:cNvSpPr/>
            <p:nvPr/>
          </p:nvSpPr>
          <p:spPr>
            <a:xfrm>
              <a:off x="1082381" y="1695913"/>
              <a:ext cx="527333"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61" name="Group 260">
            <a:extLst>
              <a:ext uri="{FF2B5EF4-FFF2-40B4-BE49-F238E27FC236}">
                <a16:creationId xmlns:a16="http://schemas.microsoft.com/office/drawing/2014/main" id="{6E6B19DB-28D1-CC8F-6F89-62AEDAA42679}"/>
              </a:ext>
            </a:extLst>
          </p:cNvPr>
          <p:cNvGrpSpPr/>
          <p:nvPr/>
        </p:nvGrpSpPr>
        <p:grpSpPr>
          <a:xfrm>
            <a:off x="1916738" y="2006562"/>
            <a:ext cx="1124712" cy="230832"/>
            <a:chOff x="1968499" y="1961815"/>
            <a:chExt cx="2748026" cy="230832"/>
          </a:xfrm>
        </p:grpSpPr>
        <p:cxnSp>
          <p:nvCxnSpPr>
            <p:cNvPr id="307" name="Straight Arrow Connector 306">
              <a:extLst>
                <a:ext uri="{FF2B5EF4-FFF2-40B4-BE49-F238E27FC236}">
                  <a16:creationId xmlns:a16="http://schemas.microsoft.com/office/drawing/2014/main" id="{C75775A4-1088-13F0-1F4C-AA515339274E}"/>
                </a:ext>
              </a:extLst>
            </p:cNvPr>
            <p:cNvCxnSpPr>
              <a:cxnSpLocks/>
            </p:cNvCxnSpPr>
            <p:nvPr/>
          </p:nvCxnSpPr>
          <p:spPr>
            <a:xfrm>
              <a:off x="1968499" y="2148840"/>
              <a:ext cx="2748026" cy="0"/>
            </a:xfrm>
            <a:prstGeom prst="straightConnector1">
              <a:avLst/>
            </a:prstGeom>
            <a:ln>
              <a:solidFill>
                <a:srgbClr val="F78591"/>
              </a:solidFill>
              <a:headEnd type="triangle"/>
              <a:tailEnd type="triangle"/>
            </a:ln>
          </p:spPr>
          <p:style>
            <a:lnRef idx="1">
              <a:schemeClr val="dk1"/>
            </a:lnRef>
            <a:fillRef idx="0">
              <a:schemeClr val="dk1"/>
            </a:fillRef>
            <a:effectRef idx="0">
              <a:schemeClr val="dk1"/>
            </a:effectRef>
            <a:fontRef idx="minor">
              <a:schemeClr val="tx1"/>
            </a:fontRef>
          </p:style>
        </p:cxnSp>
        <p:sp>
          <p:nvSpPr>
            <p:cNvPr id="311" name="TextBox 310">
              <a:extLst>
                <a:ext uri="{FF2B5EF4-FFF2-40B4-BE49-F238E27FC236}">
                  <a16:creationId xmlns:a16="http://schemas.microsoft.com/office/drawing/2014/main" id="{2E71C3A2-0B87-348E-A4BB-3B3FD1AF71AB}"/>
                </a:ext>
              </a:extLst>
            </p:cNvPr>
            <p:cNvSpPr txBox="1"/>
            <p:nvPr/>
          </p:nvSpPr>
          <p:spPr>
            <a:xfrm>
              <a:off x="2864199" y="1961815"/>
              <a:ext cx="928130" cy="230832"/>
            </a:xfrm>
            <a:prstGeom prst="rect">
              <a:avLst/>
            </a:prstGeom>
            <a:noFill/>
          </p:spPr>
          <p:txBody>
            <a:bodyPr wrap="square" rtlCol="0">
              <a:spAutoFit/>
            </a:bodyPr>
            <a:lstStyle/>
            <a:p>
              <a:pPr algn="ctr"/>
              <a:r>
                <a:rPr lang="en-CA" sz="900" b="1">
                  <a:latin typeface="Aptos" panose="020B0004020202020204" pitchFamily="34" charset="0"/>
                </a:rPr>
                <a:t>13</a:t>
              </a:r>
              <a:endParaRPr lang="en-US" sz="900" b="1">
                <a:latin typeface="Aptos" panose="020B0004020202020204" pitchFamily="34" charset="0"/>
              </a:endParaRPr>
            </a:p>
          </p:txBody>
        </p:sp>
      </p:grpSp>
      <p:graphicFrame>
        <p:nvGraphicFramePr>
          <p:cNvPr id="265" name="Chart 264">
            <a:extLst>
              <a:ext uri="{FF2B5EF4-FFF2-40B4-BE49-F238E27FC236}">
                <a16:creationId xmlns:a16="http://schemas.microsoft.com/office/drawing/2014/main" id="{045283E2-0B78-12A2-193B-A3AF24AFED89}"/>
              </a:ext>
            </a:extLst>
          </p:cNvPr>
          <p:cNvGraphicFramePr/>
          <p:nvPr>
            <p:extLst>
              <p:ext uri="{D42A27DB-BD31-4B8C-83A1-F6EECF244321}">
                <p14:modId xmlns:p14="http://schemas.microsoft.com/office/powerpoint/2010/main" val="1491122417"/>
              </p:ext>
            </p:extLst>
          </p:nvPr>
        </p:nvGraphicFramePr>
        <p:xfrm>
          <a:off x="1669507" y="949479"/>
          <a:ext cx="4114800" cy="884670"/>
        </p:xfrm>
        <a:graphic>
          <a:graphicData uri="http://schemas.openxmlformats.org/drawingml/2006/chart">
            <c:chart xmlns:c="http://schemas.openxmlformats.org/drawingml/2006/chart" xmlns:r="http://schemas.openxmlformats.org/officeDocument/2006/relationships" r:id="rId5"/>
          </a:graphicData>
        </a:graphic>
      </p:graphicFrame>
      <p:grpSp>
        <p:nvGrpSpPr>
          <p:cNvPr id="266" name="Group 265">
            <a:extLst>
              <a:ext uri="{FF2B5EF4-FFF2-40B4-BE49-F238E27FC236}">
                <a16:creationId xmlns:a16="http://schemas.microsoft.com/office/drawing/2014/main" id="{104C07AF-7B1B-50CD-27E2-476163DD7467}"/>
              </a:ext>
            </a:extLst>
          </p:cNvPr>
          <p:cNvGrpSpPr/>
          <p:nvPr/>
        </p:nvGrpSpPr>
        <p:grpSpPr>
          <a:xfrm>
            <a:off x="177352" y="1134959"/>
            <a:ext cx="1535273" cy="509301"/>
            <a:chOff x="36921" y="1554483"/>
            <a:chExt cx="1600624" cy="484740"/>
          </a:xfrm>
        </p:grpSpPr>
        <p:sp>
          <p:nvSpPr>
            <p:cNvPr id="301" name="TextBox 300">
              <a:extLst>
                <a:ext uri="{FF2B5EF4-FFF2-40B4-BE49-F238E27FC236}">
                  <a16:creationId xmlns:a16="http://schemas.microsoft.com/office/drawing/2014/main" id="{6FA83825-804C-CA06-1C86-E71A0D8AC1E6}"/>
                </a:ext>
              </a:extLst>
            </p:cNvPr>
            <p:cNvSpPr txBox="1"/>
            <p:nvPr/>
          </p:nvSpPr>
          <p:spPr>
            <a:xfrm>
              <a:off x="223910" y="1615287"/>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89</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302" name="TextBox 301">
              <a:extLst>
                <a:ext uri="{FF2B5EF4-FFF2-40B4-BE49-F238E27FC236}">
                  <a16:creationId xmlns:a16="http://schemas.microsoft.com/office/drawing/2014/main" id="{10244BB5-7159-6760-AD30-56732EF7F94A}"/>
                </a:ext>
              </a:extLst>
            </p:cNvPr>
            <p:cNvSpPr txBox="1"/>
            <p:nvPr/>
          </p:nvSpPr>
          <p:spPr>
            <a:xfrm>
              <a:off x="575319" y="1614196"/>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113</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303" name="TextBox 302">
              <a:extLst>
                <a:ext uri="{FF2B5EF4-FFF2-40B4-BE49-F238E27FC236}">
                  <a16:creationId xmlns:a16="http://schemas.microsoft.com/office/drawing/2014/main" id="{11FC299B-3D45-9FDE-B2E6-5C3CE3395EAD}"/>
                </a:ext>
              </a:extLst>
            </p:cNvPr>
            <p:cNvSpPr txBox="1"/>
            <p:nvPr/>
          </p:nvSpPr>
          <p:spPr>
            <a:xfrm>
              <a:off x="1072945" y="1615386"/>
              <a:ext cx="564600" cy="383421"/>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lang="en-CA" sz="1000">
                  <a:solidFill>
                    <a:srgbClr val="0070C0"/>
                  </a:solidFill>
                  <a:latin typeface="Aptos" panose="020B0004020202020204" pitchFamily="34" charset="0"/>
                </a:rPr>
                <a:t>34</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304" name="Rectangle: Rounded Corners 303">
              <a:extLst>
                <a:ext uri="{FF2B5EF4-FFF2-40B4-BE49-F238E27FC236}">
                  <a16:creationId xmlns:a16="http://schemas.microsoft.com/office/drawing/2014/main" id="{FD5D2E19-8DF8-DC28-C1C0-EF5ACEF9417B}"/>
                </a:ext>
              </a:extLst>
            </p:cNvPr>
            <p:cNvSpPr/>
            <p:nvPr/>
          </p:nvSpPr>
          <p:spPr>
            <a:xfrm>
              <a:off x="199275" y="1642078"/>
              <a:ext cx="842859"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305" name="Rectangle 304">
              <a:extLst>
                <a:ext uri="{FF2B5EF4-FFF2-40B4-BE49-F238E27FC236}">
                  <a16:creationId xmlns:a16="http://schemas.microsoft.com/office/drawing/2014/main" id="{FEDB33B9-0582-3906-B103-7591912E3B45}"/>
                </a:ext>
              </a:extLst>
            </p:cNvPr>
            <p:cNvSpPr/>
            <p:nvPr/>
          </p:nvSpPr>
          <p:spPr>
            <a:xfrm rot="16200000">
              <a:off x="-91051" y="1682455"/>
              <a:ext cx="484740" cy="228796"/>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FY 24</a:t>
              </a:r>
              <a:endParaRPr lang="en-US" sz="800" b="1">
                <a:latin typeface="Aptos" panose="020B0004020202020204" pitchFamily="34" charset="0"/>
              </a:endParaRPr>
            </a:p>
          </p:txBody>
        </p:sp>
        <p:sp>
          <p:nvSpPr>
            <p:cNvPr id="306" name="Rectangle: Rounded Corners 305">
              <a:extLst>
                <a:ext uri="{FF2B5EF4-FFF2-40B4-BE49-F238E27FC236}">
                  <a16:creationId xmlns:a16="http://schemas.microsoft.com/office/drawing/2014/main" id="{87BCD5AA-8BF8-87C9-EB02-1958A8ACC61C}"/>
                </a:ext>
              </a:extLst>
            </p:cNvPr>
            <p:cNvSpPr/>
            <p:nvPr/>
          </p:nvSpPr>
          <p:spPr>
            <a:xfrm>
              <a:off x="1082380" y="1642078"/>
              <a:ext cx="527333"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67" name="Group 266">
            <a:extLst>
              <a:ext uri="{FF2B5EF4-FFF2-40B4-BE49-F238E27FC236}">
                <a16:creationId xmlns:a16="http://schemas.microsoft.com/office/drawing/2014/main" id="{FC15953F-07C0-F1E7-5712-8F637D703470}"/>
              </a:ext>
            </a:extLst>
          </p:cNvPr>
          <p:cNvGrpSpPr/>
          <p:nvPr/>
        </p:nvGrpSpPr>
        <p:grpSpPr>
          <a:xfrm>
            <a:off x="2321155" y="928291"/>
            <a:ext cx="3017520" cy="230832"/>
            <a:chOff x="1968499" y="1888845"/>
            <a:chExt cx="2748026" cy="230832"/>
          </a:xfrm>
        </p:grpSpPr>
        <p:cxnSp>
          <p:nvCxnSpPr>
            <p:cNvPr id="299" name="Straight Arrow Connector 298">
              <a:extLst>
                <a:ext uri="{FF2B5EF4-FFF2-40B4-BE49-F238E27FC236}">
                  <a16:creationId xmlns:a16="http://schemas.microsoft.com/office/drawing/2014/main" id="{6AF3D7AD-D1B7-D7ED-2E9B-87115D7B5885}"/>
                </a:ext>
              </a:extLst>
            </p:cNvPr>
            <p:cNvCxnSpPr>
              <a:cxnSpLocks/>
            </p:cNvCxnSpPr>
            <p:nvPr/>
          </p:nvCxnSpPr>
          <p:spPr>
            <a:xfrm>
              <a:off x="1968499" y="2114989"/>
              <a:ext cx="2748026" cy="0"/>
            </a:xfrm>
            <a:prstGeom prst="straightConnector1">
              <a:avLst/>
            </a:prstGeom>
            <a:ln>
              <a:solidFill>
                <a:srgbClr val="F78591"/>
              </a:solidFill>
              <a:headEnd type="triangle"/>
              <a:tailEnd type="triangle"/>
            </a:ln>
          </p:spPr>
          <p:style>
            <a:lnRef idx="1">
              <a:schemeClr val="dk1"/>
            </a:lnRef>
            <a:fillRef idx="0">
              <a:schemeClr val="dk1"/>
            </a:fillRef>
            <a:effectRef idx="0">
              <a:schemeClr val="dk1"/>
            </a:effectRef>
            <a:fontRef idx="minor">
              <a:schemeClr val="tx1"/>
            </a:fontRef>
          </p:style>
        </p:cxnSp>
        <p:sp>
          <p:nvSpPr>
            <p:cNvPr id="300" name="TextBox 299">
              <a:extLst>
                <a:ext uri="{FF2B5EF4-FFF2-40B4-BE49-F238E27FC236}">
                  <a16:creationId xmlns:a16="http://schemas.microsoft.com/office/drawing/2014/main" id="{3875CB4A-1BA3-A285-CC10-BCA06A475B16}"/>
                </a:ext>
              </a:extLst>
            </p:cNvPr>
            <p:cNvSpPr txBox="1"/>
            <p:nvPr/>
          </p:nvSpPr>
          <p:spPr>
            <a:xfrm>
              <a:off x="2695772" y="1888845"/>
              <a:ext cx="1290428" cy="230832"/>
            </a:xfrm>
            <a:prstGeom prst="rect">
              <a:avLst/>
            </a:prstGeom>
            <a:noFill/>
          </p:spPr>
          <p:txBody>
            <a:bodyPr wrap="square" rtlCol="0">
              <a:spAutoFit/>
            </a:bodyPr>
            <a:lstStyle/>
            <a:p>
              <a:pPr algn="ctr"/>
              <a:r>
                <a:rPr lang="en-CA" sz="900" b="1">
                  <a:latin typeface="Aptos" panose="020B0004020202020204" pitchFamily="34" charset="0"/>
                </a:rPr>
                <a:t>25</a:t>
              </a:r>
              <a:endParaRPr lang="en-US" sz="900" b="1">
                <a:latin typeface="Aptos" panose="020B0004020202020204" pitchFamily="34" charset="0"/>
              </a:endParaRPr>
            </a:p>
          </p:txBody>
        </p:sp>
      </p:grpSp>
      <p:grpSp>
        <p:nvGrpSpPr>
          <p:cNvPr id="268" name="Group 267">
            <a:extLst>
              <a:ext uri="{FF2B5EF4-FFF2-40B4-BE49-F238E27FC236}">
                <a16:creationId xmlns:a16="http://schemas.microsoft.com/office/drawing/2014/main" id="{4BA1CA57-FF9E-9D28-5467-B79462ECE699}"/>
              </a:ext>
            </a:extLst>
          </p:cNvPr>
          <p:cNvGrpSpPr/>
          <p:nvPr/>
        </p:nvGrpSpPr>
        <p:grpSpPr>
          <a:xfrm>
            <a:off x="6238190" y="3038779"/>
            <a:ext cx="1536163" cy="437998"/>
            <a:chOff x="35995" y="1650890"/>
            <a:chExt cx="1601550" cy="416875"/>
          </a:xfrm>
        </p:grpSpPr>
        <p:sp>
          <p:nvSpPr>
            <p:cNvPr id="291" name="TextBox 290">
              <a:extLst>
                <a:ext uri="{FF2B5EF4-FFF2-40B4-BE49-F238E27FC236}">
                  <a16:creationId xmlns:a16="http://schemas.microsoft.com/office/drawing/2014/main" id="{C1280307-58B1-D5F3-CB77-B55403FB5B71}"/>
                </a:ext>
              </a:extLst>
            </p:cNvPr>
            <p:cNvSpPr txBox="1"/>
            <p:nvPr/>
          </p:nvSpPr>
          <p:spPr>
            <a:xfrm>
              <a:off x="223910" y="1677288"/>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22</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292" name="TextBox 291">
              <a:extLst>
                <a:ext uri="{FF2B5EF4-FFF2-40B4-BE49-F238E27FC236}">
                  <a16:creationId xmlns:a16="http://schemas.microsoft.com/office/drawing/2014/main" id="{F22B2874-41B3-119A-7839-2AB6263C5253}"/>
                </a:ext>
              </a:extLst>
            </p:cNvPr>
            <p:cNvSpPr txBox="1"/>
            <p:nvPr/>
          </p:nvSpPr>
          <p:spPr>
            <a:xfrm>
              <a:off x="575320" y="1676193"/>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38</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295" name="TextBox 294">
              <a:extLst>
                <a:ext uri="{FF2B5EF4-FFF2-40B4-BE49-F238E27FC236}">
                  <a16:creationId xmlns:a16="http://schemas.microsoft.com/office/drawing/2014/main" id="{E3811587-95B0-D4EB-CA82-C17AF77E6822}"/>
                </a:ext>
              </a:extLst>
            </p:cNvPr>
            <p:cNvSpPr txBox="1"/>
            <p:nvPr/>
          </p:nvSpPr>
          <p:spPr>
            <a:xfrm>
              <a:off x="1072945" y="1677385"/>
              <a:ext cx="564600" cy="336873"/>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0070C0"/>
                  </a:solidFill>
                  <a:effectLst/>
                  <a:uLnTx/>
                  <a:uFillTx/>
                  <a:latin typeface="Aptos" panose="020B0004020202020204" pitchFamily="34" charset="0"/>
                </a:rPr>
                <a:t>31</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296" name="Rectangle: Rounded Corners 295">
              <a:extLst>
                <a:ext uri="{FF2B5EF4-FFF2-40B4-BE49-F238E27FC236}">
                  <a16:creationId xmlns:a16="http://schemas.microsoft.com/office/drawing/2014/main" id="{B32419FA-48AE-EC43-35DA-8AFC52EC1517}"/>
                </a:ext>
              </a:extLst>
            </p:cNvPr>
            <p:cNvSpPr/>
            <p:nvPr/>
          </p:nvSpPr>
          <p:spPr>
            <a:xfrm>
              <a:off x="199275" y="1695913"/>
              <a:ext cx="842859"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297" name="Rectangle 296">
              <a:extLst>
                <a:ext uri="{FF2B5EF4-FFF2-40B4-BE49-F238E27FC236}">
                  <a16:creationId xmlns:a16="http://schemas.microsoft.com/office/drawing/2014/main" id="{459D7D5D-CBA1-A264-1717-E63ED96F6298}"/>
                </a:ext>
              </a:extLst>
            </p:cNvPr>
            <p:cNvSpPr/>
            <p:nvPr/>
          </p:nvSpPr>
          <p:spPr>
            <a:xfrm rot="16200000">
              <a:off x="-60135" y="1747020"/>
              <a:ext cx="416875" cy="224615"/>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FEB</a:t>
              </a:r>
              <a:endParaRPr lang="en-US" sz="800" b="1">
                <a:latin typeface="Aptos" panose="020B0004020202020204" pitchFamily="34" charset="0"/>
              </a:endParaRPr>
            </a:p>
          </p:txBody>
        </p:sp>
        <p:sp>
          <p:nvSpPr>
            <p:cNvPr id="298" name="Rectangle: Rounded Corners 297">
              <a:extLst>
                <a:ext uri="{FF2B5EF4-FFF2-40B4-BE49-F238E27FC236}">
                  <a16:creationId xmlns:a16="http://schemas.microsoft.com/office/drawing/2014/main" id="{9796184E-7D65-2F0E-55E2-06EAA7715511}"/>
                </a:ext>
              </a:extLst>
            </p:cNvPr>
            <p:cNvSpPr/>
            <p:nvPr/>
          </p:nvSpPr>
          <p:spPr>
            <a:xfrm>
              <a:off x="1082381" y="1695913"/>
              <a:ext cx="527333"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69" name="Group 268">
            <a:extLst>
              <a:ext uri="{FF2B5EF4-FFF2-40B4-BE49-F238E27FC236}">
                <a16:creationId xmlns:a16="http://schemas.microsoft.com/office/drawing/2014/main" id="{18978ED7-B78E-82AE-FF3B-59550B8D5CB4}"/>
              </a:ext>
            </a:extLst>
          </p:cNvPr>
          <p:cNvGrpSpPr/>
          <p:nvPr/>
        </p:nvGrpSpPr>
        <p:grpSpPr>
          <a:xfrm>
            <a:off x="6224012" y="3832541"/>
            <a:ext cx="1536163" cy="437998"/>
            <a:chOff x="35995" y="1650890"/>
            <a:chExt cx="1601550" cy="416875"/>
          </a:xfrm>
        </p:grpSpPr>
        <p:sp>
          <p:nvSpPr>
            <p:cNvPr id="93" name="TextBox 92">
              <a:extLst>
                <a:ext uri="{FF2B5EF4-FFF2-40B4-BE49-F238E27FC236}">
                  <a16:creationId xmlns:a16="http://schemas.microsoft.com/office/drawing/2014/main" id="{E29898FB-83D9-EEA0-6A0A-FFDA085115F3}"/>
                </a:ext>
              </a:extLst>
            </p:cNvPr>
            <p:cNvSpPr txBox="1"/>
            <p:nvPr/>
          </p:nvSpPr>
          <p:spPr>
            <a:xfrm>
              <a:off x="223910" y="1677288"/>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22</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94" name="TextBox 93">
              <a:extLst>
                <a:ext uri="{FF2B5EF4-FFF2-40B4-BE49-F238E27FC236}">
                  <a16:creationId xmlns:a16="http://schemas.microsoft.com/office/drawing/2014/main" id="{413AC72A-5C4A-F1FC-841E-8011DC07CD7A}"/>
                </a:ext>
              </a:extLst>
            </p:cNvPr>
            <p:cNvSpPr txBox="1"/>
            <p:nvPr/>
          </p:nvSpPr>
          <p:spPr>
            <a:xfrm>
              <a:off x="575320" y="1676193"/>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25</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95" name="TextBox 94">
              <a:extLst>
                <a:ext uri="{FF2B5EF4-FFF2-40B4-BE49-F238E27FC236}">
                  <a16:creationId xmlns:a16="http://schemas.microsoft.com/office/drawing/2014/main" id="{645B783E-14EC-2921-8721-BCBF3B8E81B8}"/>
                </a:ext>
              </a:extLst>
            </p:cNvPr>
            <p:cNvSpPr txBox="1"/>
            <p:nvPr/>
          </p:nvSpPr>
          <p:spPr>
            <a:xfrm>
              <a:off x="1072945" y="1677385"/>
              <a:ext cx="564600" cy="336873"/>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0070C0"/>
                  </a:solidFill>
                  <a:effectLst/>
                  <a:uLnTx/>
                  <a:uFillTx/>
                  <a:latin typeface="Aptos" panose="020B0004020202020204" pitchFamily="34" charset="0"/>
                </a:rPr>
                <a:t>31</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288" name="Rectangle: Rounded Corners 287">
              <a:extLst>
                <a:ext uri="{FF2B5EF4-FFF2-40B4-BE49-F238E27FC236}">
                  <a16:creationId xmlns:a16="http://schemas.microsoft.com/office/drawing/2014/main" id="{8C7BE44D-4BFE-536A-FCFC-216AE4663862}"/>
                </a:ext>
              </a:extLst>
            </p:cNvPr>
            <p:cNvSpPr/>
            <p:nvPr/>
          </p:nvSpPr>
          <p:spPr>
            <a:xfrm>
              <a:off x="199275" y="1695913"/>
              <a:ext cx="842859"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289" name="Rectangle 288">
              <a:extLst>
                <a:ext uri="{FF2B5EF4-FFF2-40B4-BE49-F238E27FC236}">
                  <a16:creationId xmlns:a16="http://schemas.microsoft.com/office/drawing/2014/main" id="{E62C06AC-4DA1-57CD-4169-0506239331B0}"/>
                </a:ext>
              </a:extLst>
            </p:cNvPr>
            <p:cNvSpPr/>
            <p:nvPr/>
          </p:nvSpPr>
          <p:spPr>
            <a:xfrm rot="16200000">
              <a:off x="-60135" y="1747020"/>
              <a:ext cx="416875" cy="224615"/>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APR</a:t>
              </a:r>
              <a:endParaRPr lang="en-US" sz="800" b="1">
                <a:latin typeface="Aptos" panose="020B0004020202020204" pitchFamily="34" charset="0"/>
              </a:endParaRPr>
            </a:p>
          </p:txBody>
        </p:sp>
        <p:sp>
          <p:nvSpPr>
            <p:cNvPr id="290" name="Rectangle: Rounded Corners 289">
              <a:extLst>
                <a:ext uri="{FF2B5EF4-FFF2-40B4-BE49-F238E27FC236}">
                  <a16:creationId xmlns:a16="http://schemas.microsoft.com/office/drawing/2014/main" id="{B0A6BF0A-C9BA-457D-1AC4-14E23ED151CD}"/>
                </a:ext>
              </a:extLst>
            </p:cNvPr>
            <p:cNvSpPr/>
            <p:nvPr/>
          </p:nvSpPr>
          <p:spPr>
            <a:xfrm>
              <a:off x="1082381" y="1695913"/>
              <a:ext cx="527333"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70" name="Group 269">
            <a:extLst>
              <a:ext uri="{FF2B5EF4-FFF2-40B4-BE49-F238E27FC236}">
                <a16:creationId xmlns:a16="http://schemas.microsoft.com/office/drawing/2014/main" id="{6A1269DF-30CC-928D-5EE8-64D4207E3769}"/>
              </a:ext>
            </a:extLst>
          </p:cNvPr>
          <p:cNvGrpSpPr/>
          <p:nvPr/>
        </p:nvGrpSpPr>
        <p:grpSpPr>
          <a:xfrm>
            <a:off x="6224012" y="4635649"/>
            <a:ext cx="1536163" cy="437998"/>
            <a:chOff x="35995" y="1650890"/>
            <a:chExt cx="1601550" cy="416875"/>
          </a:xfrm>
        </p:grpSpPr>
        <p:sp>
          <p:nvSpPr>
            <p:cNvPr id="84" name="TextBox 83">
              <a:extLst>
                <a:ext uri="{FF2B5EF4-FFF2-40B4-BE49-F238E27FC236}">
                  <a16:creationId xmlns:a16="http://schemas.microsoft.com/office/drawing/2014/main" id="{2DBEE8B9-363E-9FB7-05F0-EEFA03C151BF}"/>
                </a:ext>
              </a:extLst>
            </p:cNvPr>
            <p:cNvSpPr txBox="1"/>
            <p:nvPr/>
          </p:nvSpPr>
          <p:spPr>
            <a:xfrm>
              <a:off x="223910" y="1677287"/>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23</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85" name="TextBox 84">
              <a:extLst>
                <a:ext uri="{FF2B5EF4-FFF2-40B4-BE49-F238E27FC236}">
                  <a16:creationId xmlns:a16="http://schemas.microsoft.com/office/drawing/2014/main" id="{D0686F26-1C9D-802B-F0AD-4B8D178DEFF6}"/>
                </a:ext>
              </a:extLst>
            </p:cNvPr>
            <p:cNvSpPr txBox="1"/>
            <p:nvPr/>
          </p:nvSpPr>
          <p:spPr>
            <a:xfrm>
              <a:off x="575320" y="1676193"/>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28</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86" name="TextBox 85">
              <a:extLst>
                <a:ext uri="{FF2B5EF4-FFF2-40B4-BE49-F238E27FC236}">
                  <a16:creationId xmlns:a16="http://schemas.microsoft.com/office/drawing/2014/main" id="{24284DC2-D0E1-D27F-7C6D-29AB516A20C9}"/>
                </a:ext>
              </a:extLst>
            </p:cNvPr>
            <p:cNvSpPr txBox="1"/>
            <p:nvPr/>
          </p:nvSpPr>
          <p:spPr>
            <a:xfrm>
              <a:off x="1072945" y="1677385"/>
              <a:ext cx="564600" cy="336873"/>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0070C0"/>
                  </a:solidFill>
                  <a:effectLst/>
                  <a:uLnTx/>
                  <a:uFillTx/>
                  <a:latin typeface="Aptos" panose="020B0004020202020204" pitchFamily="34" charset="0"/>
                </a:rPr>
                <a:t>27</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87" name="Rectangle: Rounded Corners 86">
              <a:extLst>
                <a:ext uri="{FF2B5EF4-FFF2-40B4-BE49-F238E27FC236}">
                  <a16:creationId xmlns:a16="http://schemas.microsoft.com/office/drawing/2014/main" id="{C169CD9E-5509-213A-0AD0-D1E9AF863B9A}"/>
                </a:ext>
              </a:extLst>
            </p:cNvPr>
            <p:cNvSpPr/>
            <p:nvPr/>
          </p:nvSpPr>
          <p:spPr>
            <a:xfrm>
              <a:off x="199275" y="1695913"/>
              <a:ext cx="842859"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88" name="Rectangle 87">
              <a:extLst>
                <a:ext uri="{FF2B5EF4-FFF2-40B4-BE49-F238E27FC236}">
                  <a16:creationId xmlns:a16="http://schemas.microsoft.com/office/drawing/2014/main" id="{45F67266-FFA8-6720-DD0F-C925DB7214B5}"/>
                </a:ext>
              </a:extLst>
            </p:cNvPr>
            <p:cNvSpPr/>
            <p:nvPr/>
          </p:nvSpPr>
          <p:spPr>
            <a:xfrm rot="16200000">
              <a:off x="-60135" y="1747020"/>
              <a:ext cx="416875" cy="224615"/>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JUL</a:t>
              </a:r>
              <a:endParaRPr lang="en-US" sz="800" b="1">
                <a:latin typeface="Aptos" panose="020B0004020202020204" pitchFamily="34" charset="0"/>
              </a:endParaRPr>
            </a:p>
          </p:txBody>
        </p:sp>
        <p:sp>
          <p:nvSpPr>
            <p:cNvPr id="92" name="Rectangle: Rounded Corners 91">
              <a:extLst>
                <a:ext uri="{FF2B5EF4-FFF2-40B4-BE49-F238E27FC236}">
                  <a16:creationId xmlns:a16="http://schemas.microsoft.com/office/drawing/2014/main" id="{85EAD0B7-3119-6837-67D0-A9C76F4CB93E}"/>
                </a:ext>
              </a:extLst>
            </p:cNvPr>
            <p:cNvSpPr/>
            <p:nvPr/>
          </p:nvSpPr>
          <p:spPr>
            <a:xfrm>
              <a:off x="1082381" y="1695913"/>
              <a:ext cx="527333"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71" name="Group 270">
            <a:extLst>
              <a:ext uri="{FF2B5EF4-FFF2-40B4-BE49-F238E27FC236}">
                <a16:creationId xmlns:a16="http://schemas.microsoft.com/office/drawing/2014/main" id="{C6F9D2C4-513C-B89C-DA37-3283896D31C0}"/>
              </a:ext>
            </a:extLst>
          </p:cNvPr>
          <p:cNvGrpSpPr/>
          <p:nvPr/>
        </p:nvGrpSpPr>
        <p:grpSpPr>
          <a:xfrm>
            <a:off x="6233000" y="5438758"/>
            <a:ext cx="1536163" cy="438001"/>
            <a:chOff x="35995" y="1650890"/>
            <a:chExt cx="1601550" cy="416875"/>
          </a:xfrm>
        </p:grpSpPr>
        <p:sp>
          <p:nvSpPr>
            <p:cNvPr id="78" name="TextBox 77">
              <a:extLst>
                <a:ext uri="{FF2B5EF4-FFF2-40B4-BE49-F238E27FC236}">
                  <a16:creationId xmlns:a16="http://schemas.microsoft.com/office/drawing/2014/main" id="{AD5D20B5-98A0-952F-6489-0E39832B8CBF}"/>
                </a:ext>
              </a:extLst>
            </p:cNvPr>
            <p:cNvSpPr txBox="1"/>
            <p:nvPr/>
          </p:nvSpPr>
          <p:spPr>
            <a:xfrm>
              <a:off x="223910" y="1677288"/>
              <a:ext cx="503034" cy="33687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37</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79" name="TextBox 78">
              <a:extLst>
                <a:ext uri="{FF2B5EF4-FFF2-40B4-BE49-F238E27FC236}">
                  <a16:creationId xmlns:a16="http://schemas.microsoft.com/office/drawing/2014/main" id="{5E137ECB-B02F-22C6-A734-D52DDDA9F6AE}"/>
                </a:ext>
              </a:extLst>
            </p:cNvPr>
            <p:cNvSpPr txBox="1"/>
            <p:nvPr/>
          </p:nvSpPr>
          <p:spPr>
            <a:xfrm>
              <a:off x="575320" y="1676193"/>
              <a:ext cx="503034" cy="33687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34</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80" name="TextBox 79">
              <a:extLst>
                <a:ext uri="{FF2B5EF4-FFF2-40B4-BE49-F238E27FC236}">
                  <a16:creationId xmlns:a16="http://schemas.microsoft.com/office/drawing/2014/main" id="{AAB8BE82-820F-ADFD-38FC-A4057271414A}"/>
                </a:ext>
              </a:extLst>
            </p:cNvPr>
            <p:cNvSpPr txBox="1"/>
            <p:nvPr/>
          </p:nvSpPr>
          <p:spPr>
            <a:xfrm>
              <a:off x="1072945" y="1677384"/>
              <a:ext cx="564600" cy="344194"/>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lang="en-CA" sz="1000">
                  <a:solidFill>
                    <a:srgbClr val="0070C0"/>
                  </a:solidFill>
                  <a:latin typeface="Aptos" panose="020B0004020202020204" pitchFamily="34" charset="0"/>
                </a:rPr>
                <a:t>36</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81" name="Rectangle: Rounded Corners 80">
              <a:extLst>
                <a:ext uri="{FF2B5EF4-FFF2-40B4-BE49-F238E27FC236}">
                  <a16:creationId xmlns:a16="http://schemas.microsoft.com/office/drawing/2014/main" id="{F73AB1C9-FAC7-3521-9673-F237FA18CB6B}"/>
                </a:ext>
              </a:extLst>
            </p:cNvPr>
            <p:cNvSpPr/>
            <p:nvPr/>
          </p:nvSpPr>
          <p:spPr>
            <a:xfrm>
              <a:off x="199275" y="1695913"/>
              <a:ext cx="842859"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82" name="Rectangle 81">
              <a:extLst>
                <a:ext uri="{FF2B5EF4-FFF2-40B4-BE49-F238E27FC236}">
                  <a16:creationId xmlns:a16="http://schemas.microsoft.com/office/drawing/2014/main" id="{17CD6F97-613F-45E5-386A-DC33316729E1}"/>
                </a:ext>
              </a:extLst>
            </p:cNvPr>
            <p:cNvSpPr/>
            <p:nvPr/>
          </p:nvSpPr>
          <p:spPr>
            <a:xfrm rot="16200000">
              <a:off x="-60135" y="1747020"/>
              <a:ext cx="416875" cy="224615"/>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SEP</a:t>
              </a:r>
              <a:endParaRPr lang="en-US" sz="800" b="1">
                <a:latin typeface="Aptos" panose="020B0004020202020204" pitchFamily="34" charset="0"/>
              </a:endParaRPr>
            </a:p>
          </p:txBody>
        </p:sp>
        <p:sp>
          <p:nvSpPr>
            <p:cNvPr id="83" name="Rectangle: Rounded Corners 82">
              <a:extLst>
                <a:ext uri="{FF2B5EF4-FFF2-40B4-BE49-F238E27FC236}">
                  <a16:creationId xmlns:a16="http://schemas.microsoft.com/office/drawing/2014/main" id="{09E5C333-C22F-0BC7-C143-48C91D1D5803}"/>
                </a:ext>
              </a:extLst>
            </p:cNvPr>
            <p:cNvSpPr/>
            <p:nvPr/>
          </p:nvSpPr>
          <p:spPr>
            <a:xfrm>
              <a:off x="1082381" y="1695913"/>
              <a:ext cx="527333"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72" name="Group 271">
            <a:extLst>
              <a:ext uri="{FF2B5EF4-FFF2-40B4-BE49-F238E27FC236}">
                <a16:creationId xmlns:a16="http://schemas.microsoft.com/office/drawing/2014/main" id="{AE4F9C78-0080-E76E-C90A-5686A2715106}"/>
              </a:ext>
            </a:extLst>
          </p:cNvPr>
          <p:cNvGrpSpPr/>
          <p:nvPr/>
        </p:nvGrpSpPr>
        <p:grpSpPr>
          <a:xfrm>
            <a:off x="6223472" y="2185925"/>
            <a:ext cx="1536163" cy="437998"/>
            <a:chOff x="35995" y="1641196"/>
            <a:chExt cx="1601550" cy="416875"/>
          </a:xfrm>
        </p:grpSpPr>
        <p:sp>
          <p:nvSpPr>
            <p:cNvPr id="72" name="TextBox 71">
              <a:extLst>
                <a:ext uri="{FF2B5EF4-FFF2-40B4-BE49-F238E27FC236}">
                  <a16:creationId xmlns:a16="http://schemas.microsoft.com/office/drawing/2014/main" id="{E930BA8A-C0DE-5E9E-5A12-37875D3F6363}"/>
                </a:ext>
              </a:extLst>
            </p:cNvPr>
            <p:cNvSpPr txBox="1"/>
            <p:nvPr/>
          </p:nvSpPr>
          <p:spPr>
            <a:xfrm>
              <a:off x="223910" y="1677288"/>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44</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73" name="TextBox 72">
              <a:extLst>
                <a:ext uri="{FF2B5EF4-FFF2-40B4-BE49-F238E27FC236}">
                  <a16:creationId xmlns:a16="http://schemas.microsoft.com/office/drawing/2014/main" id="{9A606D4D-3F94-ED33-0806-4EB0107140C6}"/>
                </a:ext>
              </a:extLst>
            </p:cNvPr>
            <p:cNvSpPr txBox="1"/>
            <p:nvPr/>
          </p:nvSpPr>
          <p:spPr>
            <a:xfrm>
              <a:off x="575320" y="1676193"/>
              <a:ext cx="503034" cy="37526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24</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74" name="TextBox 73">
              <a:extLst>
                <a:ext uri="{FF2B5EF4-FFF2-40B4-BE49-F238E27FC236}">
                  <a16:creationId xmlns:a16="http://schemas.microsoft.com/office/drawing/2014/main" id="{60C04676-969E-92A4-B0EE-0EB4D33B8D77}"/>
                </a:ext>
              </a:extLst>
            </p:cNvPr>
            <p:cNvSpPr txBox="1"/>
            <p:nvPr/>
          </p:nvSpPr>
          <p:spPr>
            <a:xfrm>
              <a:off x="1072945" y="1677385"/>
              <a:ext cx="564600" cy="336873"/>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0070C0"/>
                  </a:solidFill>
                  <a:effectLst/>
                  <a:uLnTx/>
                  <a:uFillTx/>
                  <a:latin typeface="Aptos" panose="020B0004020202020204" pitchFamily="34" charset="0"/>
                </a:rPr>
                <a:t>9</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prstClr val="black"/>
                  </a:solidFill>
                  <a:effectLst/>
                  <a:uLnTx/>
                  <a:uFillTx/>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75" name="Rectangle: Rounded Corners 74">
              <a:extLst>
                <a:ext uri="{FF2B5EF4-FFF2-40B4-BE49-F238E27FC236}">
                  <a16:creationId xmlns:a16="http://schemas.microsoft.com/office/drawing/2014/main" id="{06E58374-A1D2-FDE9-B119-B917C3E4A8B4}"/>
                </a:ext>
              </a:extLst>
            </p:cNvPr>
            <p:cNvSpPr/>
            <p:nvPr/>
          </p:nvSpPr>
          <p:spPr>
            <a:xfrm>
              <a:off x="199275" y="1695913"/>
              <a:ext cx="842859"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76" name="Rectangle 75">
              <a:extLst>
                <a:ext uri="{FF2B5EF4-FFF2-40B4-BE49-F238E27FC236}">
                  <a16:creationId xmlns:a16="http://schemas.microsoft.com/office/drawing/2014/main" id="{86C3B9E8-816E-F30B-79FD-63E603A3A38C}"/>
                </a:ext>
              </a:extLst>
            </p:cNvPr>
            <p:cNvSpPr/>
            <p:nvPr/>
          </p:nvSpPr>
          <p:spPr>
            <a:xfrm rot="16200000">
              <a:off x="-60135" y="1737326"/>
              <a:ext cx="416875" cy="224615"/>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NOV</a:t>
              </a:r>
              <a:endParaRPr lang="en-US" sz="800" b="1">
                <a:latin typeface="Aptos" panose="020B0004020202020204" pitchFamily="34" charset="0"/>
              </a:endParaRPr>
            </a:p>
          </p:txBody>
        </p:sp>
        <p:sp>
          <p:nvSpPr>
            <p:cNvPr id="77" name="Rectangle: Rounded Corners 76">
              <a:extLst>
                <a:ext uri="{FF2B5EF4-FFF2-40B4-BE49-F238E27FC236}">
                  <a16:creationId xmlns:a16="http://schemas.microsoft.com/office/drawing/2014/main" id="{139D6107-9F46-3904-3B6E-196B1DFC3C4B}"/>
                </a:ext>
              </a:extLst>
            </p:cNvPr>
            <p:cNvSpPr/>
            <p:nvPr/>
          </p:nvSpPr>
          <p:spPr>
            <a:xfrm>
              <a:off x="1082381" y="1695913"/>
              <a:ext cx="527333"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73" name="Group 272">
            <a:extLst>
              <a:ext uri="{FF2B5EF4-FFF2-40B4-BE49-F238E27FC236}">
                <a16:creationId xmlns:a16="http://schemas.microsoft.com/office/drawing/2014/main" id="{A0D2291B-867C-C2CE-353C-C2D6CBFC6B50}"/>
              </a:ext>
            </a:extLst>
          </p:cNvPr>
          <p:cNvGrpSpPr/>
          <p:nvPr/>
        </p:nvGrpSpPr>
        <p:grpSpPr>
          <a:xfrm>
            <a:off x="7912750" y="2012982"/>
            <a:ext cx="768096" cy="230832"/>
            <a:chOff x="1968499" y="1970868"/>
            <a:chExt cx="2748026" cy="230832"/>
          </a:xfrm>
        </p:grpSpPr>
        <p:cxnSp>
          <p:nvCxnSpPr>
            <p:cNvPr id="70" name="Straight Arrow Connector 69">
              <a:extLst>
                <a:ext uri="{FF2B5EF4-FFF2-40B4-BE49-F238E27FC236}">
                  <a16:creationId xmlns:a16="http://schemas.microsoft.com/office/drawing/2014/main" id="{1C3FCD83-5A25-BA19-B002-65A48F060C2E}"/>
                </a:ext>
              </a:extLst>
            </p:cNvPr>
            <p:cNvCxnSpPr>
              <a:cxnSpLocks/>
            </p:cNvCxnSpPr>
            <p:nvPr/>
          </p:nvCxnSpPr>
          <p:spPr>
            <a:xfrm>
              <a:off x="1968499" y="2148840"/>
              <a:ext cx="2748026" cy="0"/>
            </a:xfrm>
            <a:prstGeom prst="straightConnector1">
              <a:avLst/>
            </a:prstGeom>
            <a:ln>
              <a:solidFill>
                <a:srgbClr val="F78591"/>
              </a:solidFill>
              <a:headEnd type="triangle"/>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2051DD59-0145-63C2-5289-E9C9E86A825A}"/>
                </a:ext>
              </a:extLst>
            </p:cNvPr>
            <p:cNvSpPr txBox="1"/>
            <p:nvPr/>
          </p:nvSpPr>
          <p:spPr>
            <a:xfrm>
              <a:off x="3157416" y="1970868"/>
              <a:ext cx="373345" cy="230832"/>
            </a:xfrm>
            <a:prstGeom prst="rect">
              <a:avLst/>
            </a:prstGeom>
            <a:noFill/>
          </p:spPr>
          <p:txBody>
            <a:bodyPr wrap="square" rtlCol="0">
              <a:spAutoFit/>
            </a:bodyPr>
            <a:lstStyle/>
            <a:p>
              <a:pPr algn="ctr"/>
              <a:r>
                <a:rPr lang="en-CA" sz="900" b="1">
                  <a:latin typeface="Aptos" panose="020B0004020202020204" pitchFamily="34" charset="0"/>
                </a:rPr>
                <a:t>8</a:t>
              </a:r>
              <a:endParaRPr lang="en-US" sz="900" b="1">
                <a:latin typeface="Aptos" panose="020B0004020202020204" pitchFamily="34" charset="0"/>
              </a:endParaRPr>
            </a:p>
          </p:txBody>
        </p:sp>
      </p:grpSp>
      <p:grpSp>
        <p:nvGrpSpPr>
          <p:cNvPr id="274" name="Group 273">
            <a:extLst>
              <a:ext uri="{FF2B5EF4-FFF2-40B4-BE49-F238E27FC236}">
                <a16:creationId xmlns:a16="http://schemas.microsoft.com/office/drawing/2014/main" id="{4BE43719-C039-8134-2C8E-C7D0A18F2DA0}"/>
              </a:ext>
            </a:extLst>
          </p:cNvPr>
          <p:cNvGrpSpPr/>
          <p:nvPr/>
        </p:nvGrpSpPr>
        <p:grpSpPr>
          <a:xfrm>
            <a:off x="8400770" y="2818732"/>
            <a:ext cx="2103120" cy="207218"/>
            <a:chOff x="1968499" y="1961815"/>
            <a:chExt cx="2498205" cy="207218"/>
          </a:xfrm>
        </p:grpSpPr>
        <p:cxnSp>
          <p:nvCxnSpPr>
            <p:cNvPr id="68" name="Straight Arrow Connector 67">
              <a:extLst>
                <a:ext uri="{FF2B5EF4-FFF2-40B4-BE49-F238E27FC236}">
                  <a16:creationId xmlns:a16="http://schemas.microsoft.com/office/drawing/2014/main" id="{FB60900C-8A11-7AD8-15AD-E52C7C4BA74B}"/>
                </a:ext>
              </a:extLst>
            </p:cNvPr>
            <p:cNvCxnSpPr>
              <a:cxnSpLocks/>
            </p:cNvCxnSpPr>
            <p:nvPr/>
          </p:nvCxnSpPr>
          <p:spPr>
            <a:xfrm>
              <a:off x="1968499" y="2148840"/>
              <a:ext cx="2498205" cy="0"/>
            </a:xfrm>
            <a:prstGeom prst="straightConnector1">
              <a:avLst/>
            </a:prstGeom>
            <a:ln>
              <a:solidFill>
                <a:srgbClr val="F78591"/>
              </a:solidFill>
              <a:headEnd type="triangle"/>
              <a:tailEnd type="triangle"/>
            </a:ln>
          </p:spPr>
          <p:style>
            <a:lnRef idx="1">
              <a:schemeClr val="dk1"/>
            </a:lnRef>
            <a:fillRef idx="0">
              <a:schemeClr val="dk1"/>
            </a:fillRef>
            <a:effectRef idx="0">
              <a:schemeClr val="dk1"/>
            </a:effectRef>
            <a:fontRef idx="minor">
              <a:schemeClr val="tx1"/>
            </a:fontRef>
          </p:style>
        </p:cxnSp>
        <p:sp>
          <p:nvSpPr>
            <p:cNvPr id="69" name="TextBox 68">
              <a:extLst>
                <a:ext uri="{FF2B5EF4-FFF2-40B4-BE49-F238E27FC236}">
                  <a16:creationId xmlns:a16="http://schemas.microsoft.com/office/drawing/2014/main" id="{1C18F9BA-9024-890B-4552-4E110486A9D2}"/>
                </a:ext>
              </a:extLst>
            </p:cNvPr>
            <p:cNvSpPr txBox="1"/>
            <p:nvPr/>
          </p:nvSpPr>
          <p:spPr>
            <a:xfrm>
              <a:off x="2935268" y="1961815"/>
              <a:ext cx="569865" cy="207218"/>
            </a:xfrm>
            <a:prstGeom prst="rect">
              <a:avLst/>
            </a:prstGeom>
            <a:noFill/>
          </p:spPr>
          <p:txBody>
            <a:bodyPr wrap="square" rtlCol="0">
              <a:spAutoFit/>
            </a:bodyPr>
            <a:lstStyle/>
            <a:p>
              <a:pPr algn="ctr"/>
              <a:r>
                <a:rPr lang="en-CA" sz="900" b="1">
                  <a:latin typeface="Aptos" panose="020B0004020202020204" pitchFamily="34" charset="0"/>
                </a:rPr>
                <a:t>22</a:t>
              </a:r>
              <a:endParaRPr lang="en-US" sz="900" b="1">
                <a:latin typeface="Aptos" panose="020B0004020202020204" pitchFamily="34" charset="0"/>
              </a:endParaRPr>
            </a:p>
          </p:txBody>
        </p:sp>
      </p:grpSp>
      <p:grpSp>
        <p:nvGrpSpPr>
          <p:cNvPr id="275" name="Group 274">
            <a:extLst>
              <a:ext uri="{FF2B5EF4-FFF2-40B4-BE49-F238E27FC236}">
                <a16:creationId xmlns:a16="http://schemas.microsoft.com/office/drawing/2014/main" id="{202D2F93-18CC-BFA7-4534-4721872BF463}"/>
              </a:ext>
            </a:extLst>
          </p:cNvPr>
          <p:cNvGrpSpPr/>
          <p:nvPr/>
        </p:nvGrpSpPr>
        <p:grpSpPr>
          <a:xfrm>
            <a:off x="8025937" y="3610965"/>
            <a:ext cx="2286000" cy="207218"/>
            <a:chOff x="1968499" y="1943709"/>
            <a:chExt cx="2592477" cy="207218"/>
          </a:xfrm>
        </p:grpSpPr>
        <p:cxnSp>
          <p:nvCxnSpPr>
            <p:cNvPr id="66" name="Straight Arrow Connector 65">
              <a:extLst>
                <a:ext uri="{FF2B5EF4-FFF2-40B4-BE49-F238E27FC236}">
                  <a16:creationId xmlns:a16="http://schemas.microsoft.com/office/drawing/2014/main" id="{FCEE1B8A-A5C6-C5F4-0DF8-2D69504612FA}"/>
                </a:ext>
              </a:extLst>
            </p:cNvPr>
            <p:cNvCxnSpPr>
              <a:cxnSpLocks/>
            </p:cNvCxnSpPr>
            <p:nvPr/>
          </p:nvCxnSpPr>
          <p:spPr>
            <a:xfrm>
              <a:off x="1968499" y="2148840"/>
              <a:ext cx="2592477" cy="0"/>
            </a:xfrm>
            <a:prstGeom prst="straightConnector1">
              <a:avLst/>
            </a:prstGeom>
            <a:ln>
              <a:solidFill>
                <a:schemeClr val="accent1">
                  <a:lumMod val="40000"/>
                  <a:lumOff val="60000"/>
                </a:schemeClr>
              </a:solidFill>
              <a:headEnd type="triangle"/>
              <a:tailEnd type="triangle"/>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53A58732-11E0-DB6C-FFB9-6101068581BC}"/>
                </a:ext>
              </a:extLst>
            </p:cNvPr>
            <p:cNvSpPr txBox="1"/>
            <p:nvPr/>
          </p:nvSpPr>
          <p:spPr>
            <a:xfrm>
              <a:off x="2911819" y="1943709"/>
              <a:ext cx="694814" cy="207218"/>
            </a:xfrm>
            <a:prstGeom prst="rect">
              <a:avLst/>
            </a:prstGeom>
            <a:noFill/>
          </p:spPr>
          <p:txBody>
            <a:bodyPr wrap="square" rtlCol="0">
              <a:spAutoFit/>
            </a:bodyPr>
            <a:lstStyle/>
            <a:p>
              <a:pPr algn="ctr"/>
              <a:r>
                <a:rPr lang="en-CA" sz="900" b="1">
                  <a:latin typeface="Aptos" panose="020B0004020202020204" pitchFamily="34" charset="0"/>
                </a:rPr>
                <a:t>24</a:t>
              </a:r>
              <a:endParaRPr lang="en-US" sz="900" b="1">
                <a:latin typeface="Aptos" panose="020B0004020202020204" pitchFamily="34" charset="0"/>
              </a:endParaRPr>
            </a:p>
          </p:txBody>
        </p:sp>
      </p:grpSp>
      <p:grpSp>
        <p:nvGrpSpPr>
          <p:cNvPr id="276" name="Group 275">
            <a:extLst>
              <a:ext uri="{FF2B5EF4-FFF2-40B4-BE49-F238E27FC236}">
                <a16:creationId xmlns:a16="http://schemas.microsoft.com/office/drawing/2014/main" id="{88D90F06-3C40-8BBD-45B0-3243F4F690DB}"/>
              </a:ext>
            </a:extLst>
          </p:cNvPr>
          <p:cNvGrpSpPr/>
          <p:nvPr/>
        </p:nvGrpSpPr>
        <p:grpSpPr>
          <a:xfrm>
            <a:off x="8392259" y="4430068"/>
            <a:ext cx="1645920" cy="207218"/>
            <a:chOff x="1805726" y="1952762"/>
            <a:chExt cx="2926892" cy="207218"/>
          </a:xfrm>
        </p:grpSpPr>
        <p:cxnSp>
          <p:nvCxnSpPr>
            <p:cNvPr id="64" name="Straight Arrow Connector 63">
              <a:extLst>
                <a:ext uri="{FF2B5EF4-FFF2-40B4-BE49-F238E27FC236}">
                  <a16:creationId xmlns:a16="http://schemas.microsoft.com/office/drawing/2014/main" id="{802BFE36-CE1B-685B-2D72-FFD5E9E115AE}"/>
                </a:ext>
              </a:extLst>
            </p:cNvPr>
            <p:cNvCxnSpPr>
              <a:cxnSpLocks/>
            </p:cNvCxnSpPr>
            <p:nvPr/>
          </p:nvCxnSpPr>
          <p:spPr>
            <a:xfrm>
              <a:off x="1805726" y="2148840"/>
              <a:ext cx="2926892" cy="0"/>
            </a:xfrm>
            <a:prstGeom prst="straightConnector1">
              <a:avLst/>
            </a:prstGeom>
            <a:ln>
              <a:solidFill>
                <a:srgbClr val="F78591"/>
              </a:solidFill>
              <a:headEnd type="triangle"/>
              <a:tailEnd type="triangle"/>
            </a:ln>
          </p:spPr>
          <p:style>
            <a:lnRef idx="1">
              <a:schemeClr val="dk1"/>
            </a:lnRef>
            <a:fillRef idx="0">
              <a:schemeClr val="dk1"/>
            </a:fillRef>
            <a:effectRef idx="0">
              <a:schemeClr val="dk1"/>
            </a:effectRef>
            <a:fontRef idx="minor">
              <a:schemeClr val="tx1"/>
            </a:fontRef>
          </p:style>
        </p:cxnSp>
        <p:sp>
          <p:nvSpPr>
            <p:cNvPr id="65" name="TextBox 64">
              <a:extLst>
                <a:ext uri="{FF2B5EF4-FFF2-40B4-BE49-F238E27FC236}">
                  <a16:creationId xmlns:a16="http://schemas.microsoft.com/office/drawing/2014/main" id="{11088C01-3B06-B6D0-58C8-20DD74BD2398}"/>
                </a:ext>
              </a:extLst>
            </p:cNvPr>
            <p:cNvSpPr txBox="1"/>
            <p:nvPr/>
          </p:nvSpPr>
          <p:spPr>
            <a:xfrm>
              <a:off x="2830414" y="1952762"/>
              <a:ext cx="747761" cy="207218"/>
            </a:xfrm>
            <a:prstGeom prst="rect">
              <a:avLst/>
            </a:prstGeom>
            <a:noFill/>
          </p:spPr>
          <p:txBody>
            <a:bodyPr wrap="square" rtlCol="0">
              <a:spAutoFit/>
            </a:bodyPr>
            <a:lstStyle/>
            <a:p>
              <a:pPr algn="ctr"/>
              <a:r>
                <a:rPr lang="en-CA" sz="900" b="1">
                  <a:latin typeface="Aptos" panose="020B0004020202020204" pitchFamily="34" charset="0"/>
                </a:rPr>
                <a:t>17</a:t>
              </a:r>
              <a:endParaRPr lang="en-US" sz="900" b="1">
                <a:latin typeface="Aptos" panose="020B0004020202020204" pitchFamily="34" charset="0"/>
              </a:endParaRPr>
            </a:p>
          </p:txBody>
        </p:sp>
      </p:grpSp>
      <p:graphicFrame>
        <p:nvGraphicFramePr>
          <p:cNvPr id="277" name="Chart 276">
            <a:extLst>
              <a:ext uri="{FF2B5EF4-FFF2-40B4-BE49-F238E27FC236}">
                <a16:creationId xmlns:a16="http://schemas.microsoft.com/office/drawing/2014/main" id="{BCB13B62-BD04-BF96-481D-D6204BFB29BF}"/>
              </a:ext>
            </a:extLst>
          </p:cNvPr>
          <p:cNvGraphicFramePr/>
          <p:nvPr>
            <p:extLst>
              <p:ext uri="{D42A27DB-BD31-4B8C-83A1-F6EECF244321}">
                <p14:modId xmlns:p14="http://schemas.microsoft.com/office/powerpoint/2010/main" val="1652117299"/>
              </p:ext>
            </p:extLst>
          </p:nvPr>
        </p:nvGraphicFramePr>
        <p:xfrm>
          <a:off x="7610589" y="940290"/>
          <a:ext cx="4114800" cy="884670"/>
        </p:xfrm>
        <a:graphic>
          <a:graphicData uri="http://schemas.openxmlformats.org/drawingml/2006/chart">
            <c:chart xmlns:c="http://schemas.openxmlformats.org/drawingml/2006/chart" xmlns:r="http://schemas.openxmlformats.org/officeDocument/2006/relationships" r:id="rId6"/>
          </a:graphicData>
        </a:graphic>
      </p:graphicFrame>
      <p:grpSp>
        <p:nvGrpSpPr>
          <p:cNvPr id="278" name="Group 277">
            <a:extLst>
              <a:ext uri="{FF2B5EF4-FFF2-40B4-BE49-F238E27FC236}">
                <a16:creationId xmlns:a16="http://schemas.microsoft.com/office/drawing/2014/main" id="{922A597E-436B-57B5-A758-353055C8AE36}"/>
              </a:ext>
            </a:extLst>
          </p:cNvPr>
          <p:cNvGrpSpPr/>
          <p:nvPr/>
        </p:nvGrpSpPr>
        <p:grpSpPr>
          <a:xfrm>
            <a:off x="6201911" y="1122454"/>
            <a:ext cx="1533270" cy="509301"/>
            <a:chOff x="39010" y="1595919"/>
            <a:chExt cx="1598535" cy="484739"/>
          </a:xfrm>
        </p:grpSpPr>
        <p:sp>
          <p:nvSpPr>
            <p:cNvPr id="282" name="TextBox 281">
              <a:extLst>
                <a:ext uri="{FF2B5EF4-FFF2-40B4-BE49-F238E27FC236}">
                  <a16:creationId xmlns:a16="http://schemas.microsoft.com/office/drawing/2014/main" id="{943A9270-DFF6-5514-DF06-8B4307D016B5}"/>
                </a:ext>
              </a:extLst>
            </p:cNvPr>
            <p:cNvSpPr txBox="1"/>
            <p:nvPr/>
          </p:nvSpPr>
          <p:spPr>
            <a:xfrm>
              <a:off x="223910" y="1651179"/>
              <a:ext cx="503034" cy="336872"/>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148</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PRJ</a:t>
              </a:r>
              <a:endParaRPr lang="en-US" sz="800">
                <a:latin typeface="Aptos" panose="020B0004020202020204" pitchFamily="34" charset="0"/>
              </a:endParaRPr>
            </a:p>
          </p:txBody>
        </p:sp>
        <p:sp>
          <p:nvSpPr>
            <p:cNvPr id="283" name="TextBox 282">
              <a:extLst>
                <a:ext uri="{FF2B5EF4-FFF2-40B4-BE49-F238E27FC236}">
                  <a16:creationId xmlns:a16="http://schemas.microsoft.com/office/drawing/2014/main" id="{0D372680-26D0-AD6D-FF94-9F9746E749A0}"/>
                </a:ext>
              </a:extLst>
            </p:cNvPr>
            <p:cNvSpPr txBox="1"/>
            <p:nvPr/>
          </p:nvSpPr>
          <p:spPr>
            <a:xfrm>
              <a:off x="575319" y="1650084"/>
              <a:ext cx="503034" cy="336873"/>
            </a:xfrm>
            <a:prstGeom prst="rect">
              <a:avLst/>
            </a:prstGeom>
            <a:noFill/>
          </p:spPr>
          <p:txBody>
            <a:bodyPr wrap="square" rtlCol="0">
              <a:spAutoFit/>
            </a:bodyPr>
            <a:lstStyle/>
            <a:p>
              <a:pPr algn="ctr"/>
              <a:r>
                <a:rPr lang="en-CA" sz="1000">
                  <a:solidFill>
                    <a:srgbClr val="0070C0"/>
                  </a:solidFill>
                  <a:latin typeface="Aptos" panose="020B0004020202020204" pitchFamily="34" charset="0"/>
                </a:rPr>
                <a:t>149</a:t>
              </a:r>
              <a:endParaRPr lang="en-CA" sz="1050">
                <a:solidFill>
                  <a:srgbClr val="0070C0"/>
                </a:solidFill>
                <a:latin typeface="Aptos" panose="020B0004020202020204" pitchFamily="34" charset="0"/>
              </a:endParaRPr>
            </a:p>
            <a:p>
              <a:pPr algn="ctr"/>
              <a:r>
                <a:rPr lang="en-CA" sz="700">
                  <a:latin typeface="Aptos" panose="020B0004020202020204" pitchFamily="34" charset="0"/>
                </a:rPr>
                <a:t>PRB. </a:t>
              </a:r>
              <a:endParaRPr lang="en-US" sz="800">
                <a:latin typeface="Aptos" panose="020B0004020202020204" pitchFamily="34" charset="0"/>
              </a:endParaRPr>
            </a:p>
          </p:txBody>
        </p:sp>
        <p:sp>
          <p:nvSpPr>
            <p:cNvPr id="284" name="TextBox 283">
              <a:extLst>
                <a:ext uri="{FF2B5EF4-FFF2-40B4-BE49-F238E27FC236}">
                  <a16:creationId xmlns:a16="http://schemas.microsoft.com/office/drawing/2014/main" id="{204E10BB-AC66-A46A-B0C0-A0B65764C8BF}"/>
                </a:ext>
              </a:extLst>
            </p:cNvPr>
            <p:cNvSpPr txBox="1"/>
            <p:nvPr/>
          </p:nvSpPr>
          <p:spPr>
            <a:xfrm>
              <a:off x="1072944" y="1651276"/>
              <a:ext cx="564601" cy="344195"/>
            </a:xfrm>
            <a:prstGeom prst="rect">
              <a:avLst/>
            </a:prstGeom>
            <a:noFill/>
          </p:spPr>
          <p:txBody>
            <a:bodyPr wrap="square" rtlCol="0">
              <a:spAutoFit/>
            </a:bodyPr>
            <a:lstStyle/>
            <a:p>
              <a:pPr marL="0" marR="0" lvl="0" indent="0" algn="ctr" defTabSz="1199693"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0070C0"/>
                  </a:solidFill>
                  <a:effectLst/>
                  <a:uLnTx/>
                  <a:uFillTx/>
                  <a:latin typeface="Aptos" panose="020B0004020202020204" pitchFamily="34" charset="0"/>
                </a:rPr>
                <a:t>134</a:t>
              </a:r>
              <a:endParaRPr kumimoji="0" lang="en-CA" sz="1050" b="0" i="0" u="none" strike="noStrike" kern="1200" cap="none" spc="0" normalizeH="0" baseline="0" noProof="0">
                <a:ln>
                  <a:noFill/>
                </a:ln>
                <a:solidFill>
                  <a:srgbClr val="0070C0"/>
                </a:solidFill>
                <a:effectLst/>
                <a:uLnTx/>
                <a:uFillTx/>
                <a:latin typeface="Aptos" panose="020B0004020202020204" pitchFamily="34" charset="0"/>
              </a:endParaRPr>
            </a:p>
            <a:p>
              <a:pPr marL="0" marR="0" lvl="0" indent="0" algn="ctr" defTabSz="1199693" rtl="0" eaLnBrk="1" fontAlgn="auto" latinLnBrk="0" hangingPunct="1">
                <a:lnSpc>
                  <a:spcPct val="100000"/>
                </a:lnSpc>
                <a:spcBef>
                  <a:spcPts val="0"/>
                </a:spcBef>
                <a:spcAft>
                  <a:spcPts val="0"/>
                </a:spcAft>
                <a:buClrTx/>
                <a:buSzTx/>
                <a:buFontTx/>
                <a:buNone/>
                <a:tabLst/>
                <a:defRPr/>
              </a:pPr>
              <a:r>
                <a:rPr lang="en-CA" sz="700">
                  <a:solidFill>
                    <a:prstClr val="black"/>
                  </a:solidFill>
                  <a:latin typeface="Aptos" panose="020B0004020202020204" pitchFamily="34" charset="0"/>
                </a:rPr>
                <a:t>ERRORS</a:t>
              </a:r>
              <a:endParaRPr kumimoji="0" lang="en-US" sz="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285" name="Rectangle: Rounded Corners 284">
              <a:extLst>
                <a:ext uri="{FF2B5EF4-FFF2-40B4-BE49-F238E27FC236}">
                  <a16:creationId xmlns:a16="http://schemas.microsoft.com/office/drawing/2014/main" id="{255D9AE2-3153-E112-2E9F-E6D593BA3A4D}"/>
                </a:ext>
              </a:extLst>
            </p:cNvPr>
            <p:cNvSpPr/>
            <p:nvPr/>
          </p:nvSpPr>
          <p:spPr>
            <a:xfrm>
              <a:off x="199275" y="1677968"/>
              <a:ext cx="842859"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sp>
          <p:nvSpPr>
            <p:cNvPr id="286" name="Rectangle 285">
              <a:extLst>
                <a:ext uri="{FF2B5EF4-FFF2-40B4-BE49-F238E27FC236}">
                  <a16:creationId xmlns:a16="http://schemas.microsoft.com/office/drawing/2014/main" id="{00BB15EE-21B8-590D-1C04-FBBEC687E2B0}"/>
                </a:ext>
              </a:extLst>
            </p:cNvPr>
            <p:cNvSpPr/>
            <p:nvPr/>
          </p:nvSpPr>
          <p:spPr>
            <a:xfrm rot="16200000">
              <a:off x="-91052" y="1725981"/>
              <a:ext cx="484739" cy="224615"/>
            </a:xfrm>
            <a:prstGeom prst="rect">
              <a:avLst/>
            </a:prstGeom>
            <a:solidFill>
              <a:schemeClr val="bg1">
                <a:lumMod val="75000"/>
              </a:schemeClr>
            </a:solidFill>
          </p:spPr>
          <p:txBody>
            <a:bodyPr wrap="square" rtlCol="0" anchor="ctr">
              <a:spAutoFit/>
            </a:bodyPr>
            <a:lstStyle/>
            <a:p>
              <a:pPr algn="ctr"/>
              <a:r>
                <a:rPr lang="en-CA" sz="800" b="1">
                  <a:latin typeface="Aptos" panose="020B0004020202020204" pitchFamily="34" charset="0"/>
                </a:rPr>
                <a:t>FY 25</a:t>
              </a:r>
              <a:endParaRPr lang="en-US" sz="800" b="1">
                <a:latin typeface="Aptos" panose="020B0004020202020204" pitchFamily="34" charset="0"/>
              </a:endParaRPr>
            </a:p>
          </p:txBody>
        </p:sp>
        <p:sp>
          <p:nvSpPr>
            <p:cNvPr id="287" name="Rectangle: Rounded Corners 286">
              <a:extLst>
                <a:ext uri="{FF2B5EF4-FFF2-40B4-BE49-F238E27FC236}">
                  <a16:creationId xmlns:a16="http://schemas.microsoft.com/office/drawing/2014/main" id="{F4231314-FFF2-9680-D7FC-0CEC1218DF3F}"/>
                </a:ext>
              </a:extLst>
            </p:cNvPr>
            <p:cNvSpPr/>
            <p:nvPr/>
          </p:nvSpPr>
          <p:spPr>
            <a:xfrm>
              <a:off x="1082380" y="1677968"/>
              <a:ext cx="527333" cy="306876"/>
            </a:xfrm>
            <a:prstGeom prst="roundRect">
              <a:avLst/>
            </a:prstGeom>
            <a:noFill/>
            <a:ln>
              <a:solidFill>
                <a:schemeClr val="bg1">
                  <a:lumMod val="75000"/>
                </a:schemeClr>
              </a:solidFill>
            </a:ln>
          </p:spPr>
          <p:txBody>
            <a:bodyPr wrap="square" rtlCol="0" anchor="ctr">
              <a:spAutoFit/>
            </a:bodyPr>
            <a:lstStyle/>
            <a:p>
              <a:pPr algn="ctr"/>
              <a:endParaRPr lang="en-US" sz="1100">
                <a:latin typeface="Aptos" panose="020B0004020202020204" pitchFamily="34" charset="0"/>
              </a:endParaRPr>
            </a:p>
          </p:txBody>
        </p:sp>
      </p:grpSp>
      <p:grpSp>
        <p:nvGrpSpPr>
          <p:cNvPr id="279" name="Group 278">
            <a:extLst>
              <a:ext uri="{FF2B5EF4-FFF2-40B4-BE49-F238E27FC236}">
                <a16:creationId xmlns:a16="http://schemas.microsoft.com/office/drawing/2014/main" id="{6B04F521-9E44-72FE-F00F-19F787465F3A}"/>
              </a:ext>
            </a:extLst>
          </p:cNvPr>
          <p:cNvGrpSpPr/>
          <p:nvPr/>
        </p:nvGrpSpPr>
        <p:grpSpPr>
          <a:xfrm>
            <a:off x="8465041" y="936257"/>
            <a:ext cx="2743200" cy="230832"/>
            <a:chOff x="2139179" y="1943709"/>
            <a:chExt cx="2645615" cy="230832"/>
          </a:xfrm>
        </p:grpSpPr>
        <p:cxnSp>
          <p:nvCxnSpPr>
            <p:cNvPr id="280" name="Straight Arrow Connector 279">
              <a:extLst>
                <a:ext uri="{FF2B5EF4-FFF2-40B4-BE49-F238E27FC236}">
                  <a16:creationId xmlns:a16="http://schemas.microsoft.com/office/drawing/2014/main" id="{D103CCDE-238F-DB85-42B8-682E929543C4}"/>
                </a:ext>
              </a:extLst>
            </p:cNvPr>
            <p:cNvCxnSpPr>
              <a:cxnSpLocks/>
            </p:cNvCxnSpPr>
            <p:nvPr/>
          </p:nvCxnSpPr>
          <p:spPr>
            <a:xfrm>
              <a:off x="2139179" y="2148840"/>
              <a:ext cx="2645615" cy="0"/>
            </a:xfrm>
            <a:prstGeom prst="straightConnector1">
              <a:avLst/>
            </a:prstGeom>
            <a:ln>
              <a:solidFill>
                <a:srgbClr val="F78591"/>
              </a:solidFill>
              <a:headEnd type="triangle"/>
              <a:tailEnd type="triangle"/>
            </a:ln>
          </p:spPr>
          <p:style>
            <a:lnRef idx="1">
              <a:schemeClr val="dk1"/>
            </a:lnRef>
            <a:fillRef idx="0">
              <a:schemeClr val="dk1"/>
            </a:fillRef>
            <a:effectRef idx="0">
              <a:schemeClr val="dk1"/>
            </a:effectRef>
            <a:fontRef idx="minor">
              <a:schemeClr val="tx1"/>
            </a:fontRef>
          </p:style>
        </p:cxnSp>
        <p:sp>
          <p:nvSpPr>
            <p:cNvPr id="281" name="TextBox 280">
              <a:extLst>
                <a:ext uri="{FF2B5EF4-FFF2-40B4-BE49-F238E27FC236}">
                  <a16:creationId xmlns:a16="http://schemas.microsoft.com/office/drawing/2014/main" id="{69EF1135-09B0-0361-1C81-B1D49B688EB8}"/>
                </a:ext>
              </a:extLst>
            </p:cNvPr>
            <p:cNvSpPr txBox="1"/>
            <p:nvPr/>
          </p:nvSpPr>
          <p:spPr>
            <a:xfrm>
              <a:off x="3251768" y="1943709"/>
              <a:ext cx="433635" cy="230832"/>
            </a:xfrm>
            <a:prstGeom prst="rect">
              <a:avLst/>
            </a:prstGeom>
            <a:noFill/>
          </p:spPr>
          <p:txBody>
            <a:bodyPr wrap="square" rtlCol="0">
              <a:spAutoFit/>
            </a:bodyPr>
            <a:lstStyle/>
            <a:p>
              <a:pPr algn="ctr"/>
              <a:r>
                <a:rPr lang="en-CA" sz="900" b="1">
                  <a:latin typeface="Aptos" panose="020B0004020202020204" pitchFamily="34" charset="0"/>
                </a:rPr>
                <a:t>97</a:t>
              </a:r>
              <a:endParaRPr lang="en-US" sz="900" b="1">
                <a:latin typeface="Aptos" panose="020B0004020202020204" pitchFamily="34" charset="0"/>
              </a:endParaRPr>
            </a:p>
          </p:txBody>
        </p:sp>
      </p:grpSp>
      <p:cxnSp>
        <p:nvCxnSpPr>
          <p:cNvPr id="114" name="Straight Connector 113">
            <a:extLst>
              <a:ext uri="{FF2B5EF4-FFF2-40B4-BE49-F238E27FC236}">
                <a16:creationId xmlns:a16="http://schemas.microsoft.com/office/drawing/2014/main" id="{2F34DAE5-256D-AE6B-FA65-5723CDA20509}"/>
              </a:ext>
            </a:extLst>
          </p:cNvPr>
          <p:cNvCxnSpPr>
            <a:cxnSpLocks/>
          </p:cNvCxnSpPr>
          <p:nvPr/>
        </p:nvCxnSpPr>
        <p:spPr>
          <a:xfrm>
            <a:off x="5943420" y="1138834"/>
            <a:ext cx="0" cy="5029200"/>
          </a:xfrm>
          <a:prstGeom prst="line">
            <a:avLst/>
          </a:prstGeom>
          <a:ln w="19050">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grpSp>
        <p:nvGrpSpPr>
          <p:cNvPr id="2" name="Group 1">
            <a:extLst>
              <a:ext uri="{FF2B5EF4-FFF2-40B4-BE49-F238E27FC236}">
                <a16:creationId xmlns:a16="http://schemas.microsoft.com/office/drawing/2014/main" id="{EB1184F1-624A-94CD-9908-8ED932DFD243}"/>
              </a:ext>
            </a:extLst>
          </p:cNvPr>
          <p:cNvGrpSpPr/>
          <p:nvPr/>
        </p:nvGrpSpPr>
        <p:grpSpPr>
          <a:xfrm>
            <a:off x="8609925" y="5258935"/>
            <a:ext cx="2468880" cy="230832"/>
            <a:chOff x="8480651" y="5066911"/>
            <a:chExt cx="2926080" cy="230832"/>
          </a:xfrm>
        </p:grpSpPr>
        <p:cxnSp>
          <p:nvCxnSpPr>
            <p:cNvPr id="400" name="Straight Arrow Connector 399">
              <a:extLst>
                <a:ext uri="{FF2B5EF4-FFF2-40B4-BE49-F238E27FC236}">
                  <a16:creationId xmlns:a16="http://schemas.microsoft.com/office/drawing/2014/main" id="{2738E102-F3AE-9C07-7A0E-1548398B57B4}"/>
                </a:ext>
              </a:extLst>
            </p:cNvPr>
            <p:cNvCxnSpPr>
              <a:cxnSpLocks/>
            </p:cNvCxnSpPr>
            <p:nvPr/>
          </p:nvCxnSpPr>
          <p:spPr>
            <a:xfrm>
              <a:off x="8480651" y="5252023"/>
              <a:ext cx="2926080" cy="0"/>
            </a:xfrm>
            <a:prstGeom prst="straightConnector1">
              <a:avLst/>
            </a:prstGeom>
            <a:ln>
              <a:solidFill>
                <a:srgbClr val="F78591"/>
              </a:solidFill>
              <a:headEnd type="triangle"/>
              <a:tailEnd type="triangle"/>
            </a:ln>
          </p:spPr>
          <p:style>
            <a:lnRef idx="1">
              <a:schemeClr val="dk1"/>
            </a:lnRef>
            <a:fillRef idx="0">
              <a:schemeClr val="dk1"/>
            </a:fillRef>
            <a:effectRef idx="0">
              <a:schemeClr val="dk1"/>
            </a:effectRef>
            <a:fontRef idx="minor">
              <a:schemeClr val="tx1"/>
            </a:fontRef>
          </p:style>
        </p:cxnSp>
        <p:sp>
          <p:nvSpPr>
            <p:cNvPr id="401" name="TextBox 400">
              <a:extLst>
                <a:ext uri="{FF2B5EF4-FFF2-40B4-BE49-F238E27FC236}">
                  <a16:creationId xmlns:a16="http://schemas.microsoft.com/office/drawing/2014/main" id="{D1E2DD9E-F1D0-4D9A-1015-A136C871C84A}"/>
                </a:ext>
              </a:extLst>
            </p:cNvPr>
            <p:cNvSpPr txBox="1"/>
            <p:nvPr/>
          </p:nvSpPr>
          <p:spPr>
            <a:xfrm>
              <a:off x="9733442" y="5066911"/>
              <a:ext cx="420499" cy="230832"/>
            </a:xfrm>
            <a:prstGeom prst="rect">
              <a:avLst/>
            </a:prstGeom>
            <a:noFill/>
          </p:spPr>
          <p:txBody>
            <a:bodyPr wrap="square" rtlCol="0">
              <a:spAutoFit/>
            </a:bodyPr>
            <a:lstStyle/>
            <a:p>
              <a:pPr algn="ctr"/>
              <a:r>
                <a:rPr lang="en-CA" sz="900" b="1">
                  <a:latin typeface="Aptos" panose="020B0004020202020204" pitchFamily="34" charset="0"/>
                </a:rPr>
                <a:t>26</a:t>
              </a:r>
              <a:endParaRPr lang="en-US" sz="900" b="1">
                <a:latin typeface="Aptos" panose="020B0004020202020204" pitchFamily="34" charset="0"/>
              </a:endParaRPr>
            </a:p>
          </p:txBody>
        </p:sp>
      </p:grpSp>
    </p:spTree>
    <p:extLst>
      <p:ext uri="{BB962C8B-B14F-4D97-AF65-F5344CB8AC3E}">
        <p14:creationId xmlns:p14="http://schemas.microsoft.com/office/powerpoint/2010/main" val="234401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34285-0FF7-4735-A30C-542A2AAE9452}"/>
              </a:ext>
            </a:extLst>
          </p:cNvPr>
          <p:cNvSpPr>
            <a:spLocks noGrp="1"/>
          </p:cNvSpPr>
          <p:nvPr>
            <p:ph type="title"/>
          </p:nvPr>
        </p:nvSpPr>
        <p:spPr>
          <a:xfrm>
            <a:off x="353830" y="260322"/>
            <a:ext cx="10660404" cy="554846"/>
          </a:xfrm>
        </p:spPr>
        <p:txBody>
          <a:bodyPr/>
          <a:lstStyle/>
          <a:p>
            <a:r>
              <a:rPr lang="en-CA" sz="2800"/>
              <a:t>Production Issues FY ‘24 vs FY ‘25 (based on issue open month)</a:t>
            </a:r>
            <a:endParaRPr lang="en-US" sz="2800"/>
          </a:p>
        </p:txBody>
      </p:sp>
      <p:graphicFrame>
        <p:nvGraphicFramePr>
          <p:cNvPr id="6" name="Chart 5">
            <a:extLst>
              <a:ext uri="{FF2B5EF4-FFF2-40B4-BE49-F238E27FC236}">
                <a16:creationId xmlns:a16="http://schemas.microsoft.com/office/drawing/2014/main" id="{0BC2F2CE-5FE6-144C-4209-4F688884D9B7}"/>
              </a:ext>
            </a:extLst>
          </p:cNvPr>
          <p:cNvGraphicFramePr/>
          <p:nvPr/>
        </p:nvGraphicFramePr>
        <p:xfrm>
          <a:off x="353830" y="815168"/>
          <a:ext cx="11179540" cy="479714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C0E31DA8-42CB-C6D8-4DE1-00995D1BC664}"/>
              </a:ext>
            </a:extLst>
          </p:cNvPr>
          <p:cNvSpPr txBox="1"/>
          <p:nvPr/>
        </p:nvSpPr>
        <p:spPr>
          <a:xfrm>
            <a:off x="353830" y="5838564"/>
            <a:ext cx="11179540" cy="707143"/>
          </a:xfrm>
          <a:prstGeom prst="rect">
            <a:avLst/>
          </a:prstGeom>
          <a:noFill/>
        </p:spPr>
        <p:txBody>
          <a:bodyPr wrap="square" lIns="90703" tIns="45352" rIns="90703" bIns="45352">
            <a:spAutoFit/>
          </a:bodyPr>
          <a:lstStyle>
            <a:defPPr>
              <a:defRPr lang="en-US"/>
            </a:defPPr>
            <a:lvl1pPr algn="ctr" rtl="0" eaLnBrk="0" fontAlgn="base" hangingPunct="0">
              <a:spcBef>
                <a:spcPct val="0"/>
              </a:spcBef>
              <a:spcAft>
                <a:spcPct val="0"/>
              </a:spcAft>
              <a:defRPr sz="4800" kern="1200">
                <a:solidFill>
                  <a:schemeClr val="tx1"/>
                </a:solidFill>
                <a:effectLst>
                  <a:outerShdw blurRad="38100" dist="38100" dir="2700000" algn="tl">
                    <a:srgbClr val="000000">
                      <a:alpha val="43137"/>
                    </a:srgbClr>
                  </a:outerShdw>
                </a:effectLst>
                <a:latin typeface="Verdana" pitchFamily="34" charset="0"/>
                <a:ea typeface="MS PGothic" pitchFamily="34" charset="-128"/>
                <a:cs typeface="+mn-cs"/>
              </a:defRPr>
            </a:lvl1pPr>
            <a:lvl2pPr marL="609585" algn="ctr" rtl="0" eaLnBrk="0" fontAlgn="base" hangingPunct="0">
              <a:spcBef>
                <a:spcPct val="0"/>
              </a:spcBef>
              <a:spcAft>
                <a:spcPct val="0"/>
              </a:spcAft>
              <a:defRPr sz="4800" kern="1200">
                <a:solidFill>
                  <a:schemeClr val="tx1"/>
                </a:solidFill>
                <a:effectLst>
                  <a:outerShdw blurRad="38100" dist="38100" dir="2700000" algn="tl">
                    <a:srgbClr val="000000">
                      <a:alpha val="43137"/>
                    </a:srgbClr>
                  </a:outerShdw>
                </a:effectLst>
                <a:latin typeface="Verdana" pitchFamily="34" charset="0"/>
                <a:ea typeface="MS PGothic" pitchFamily="34" charset="-128"/>
                <a:cs typeface="+mn-cs"/>
              </a:defRPr>
            </a:lvl2pPr>
            <a:lvl3pPr marL="1219170" algn="ctr" rtl="0" eaLnBrk="0" fontAlgn="base" hangingPunct="0">
              <a:spcBef>
                <a:spcPct val="0"/>
              </a:spcBef>
              <a:spcAft>
                <a:spcPct val="0"/>
              </a:spcAft>
              <a:defRPr sz="4800" kern="1200">
                <a:solidFill>
                  <a:schemeClr val="tx1"/>
                </a:solidFill>
                <a:effectLst>
                  <a:outerShdw blurRad="38100" dist="38100" dir="2700000" algn="tl">
                    <a:srgbClr val="000000">
                      <a:alpha val="43137"/>
                    </a:srgbClr>
                  </a:outerShdw>
                </a:effectLst>
                <a:latin typeface="Verdana" pitchFamily="34" charset="0"/>
                <a:ea typeface="MS PGothic" pitchFamily="34" charset="-128"/>
                <a:cs typeface="+mn-cs"/>
              </a:defRPr>
            </a:lvl3pPr>
            <a:lvl4pPr marL="1828754" algn="ctr" rtl="0" eaLnBrk="0" fontAlgn="base" hangingPunct="0">
              <a:spcBef>
                <a:spcPct val="0"/>
              </a:spcBef>
              <a:spcAft>
                <a:spcPct val="0"/>
              </a:spcAft>
              <a:defRPr sz="4800" kern="1200">
                <a:solidFill>
                  <a:schemeClr val="tx1"/>
                </a:solidFill>
                <a:effectLst>
                  <a:outerShdw blurRad="38100" dist="38100" dir="2700000" algn="tl">
                    <a:srgbClr val="000000">
                      <a:alpha val="43137"/>
                    </a:srgbClr>
                  </a:outerShdw>
                </a:effectLst>
                <a:latin typeface="Verdana" pitchFamily="34" charset="0"/>
                <a:ea typeface="MS PGothic" pitchFamily="34" charset="-128"/>
                <a:cs typeface="+mn-cs"/>
              </a:defRPr>
            </a:lvl4pPr>
            <a:lvl5pPr marL="2438339" algn="ctr" rtl="0" eaLnBrk="0" fontAlgn="base" hangingPunct="0">
              <a:spcBef>
                <a:spcPct val="0"/>
              </a:spcBef>
              <a:spcAft>
                <a:spcPct val="0"/>
              </a:spcAft>
              <a:defRPr sz="4800" kern="1200">
                <a:solidFill>
                  <a:schemeClr val="tx1"/>
                </a:solidFill>
                <a:effectLst>
                  <a:outerShdw blurRad="38100" dist="38100" dir="2700000" algn="tl">
                    <a:srgbClr val="000000">
                      <a:alpha val="43137"/>
                    </a:srgbClr>
                  </a:outerShdw>
                </a:effectLst>
                <a:latin typeface="Verdana" pitchFamily="34" charset="0"/>
                <a:ea typeface="MS PGothic" pitchFamily="34" charset="-128"/>
                <a:cs typeface="+mn-cs"/>
              </a:defRPr>
            </a:lvl5pPr>
            <a:lvl6pPr marL="3047924" algn="l" defTabSz="1219170" rtl="0" eaLnBrk="1" latinLnBrk="0" hangingPunct="1">
              <a:defRPr sz="4800" kern="1200">
                <a:solidFill>
                  <a:schemeClr val="tx1"/>
                </a:solidFill>
                <a:effectLst>
                  <a:outerShdw blurRad="38100" dist="38100" dir="2700000" algn="tl">
                    <a:srgbClr val="000000">
                      <a:alpha val="43137"/>
                    </a:srgbClr>
                  </a:outerShdw>
                </a:effectLst>
                <a:latin typeface="Verdana" pitchFamily="34" charset="0"/>
                <a:ea typeface="MS PGothic" pitchFamily="34" charset="-128"/>
                <a:cs typeface="+mn-cs"/>
              </a:defRPr>
            </a:lvl6pPr>
            <a:lvl7pPr marL="3657509" algn="l" defTabSz="1219170" rtl="0" eaLnBrk="1" latinLnBrk="0" hangingPunct="1">
              <a:defRPr sz="4800" kern="1200">
                <a:solidFill>
                  <a:schemeClr val="tx1"/>
                </a:solidFill>
                <a:effectLst>
                  <a:outerShdw blurRad="38100" dist="38100" dir="2700000" algn="tl">
                    <a:srgbClr val="000000">
                      <a:alpha val="43137"/>
                    </a:srgbClr>
                  </a:outerShdw>
                </a:effectLst>
                <a:latin typeface="Verdana" pitchFamily="34" charset="0"/>
                <a:ea typeface="MS PGothic" pitchFamily="34" charset="-128"/>
                <a:cs typeface="+mn-cs"/>
              </a:defRPr>
            </a:lvl7pPr>
            <a:lvl8pPr marL="4267093" algn="l" defTabSz="1219170" rtl="0" eaLnBrk="1" latinLnBrk="0" hangingPunct="1">
              <a:defRPr sz="4800" kern="1200">
                <a:solidFill>
                  <a:schemeClr val="tx1"/>
                </a:solidFill>
                <a:effectLst>
                  <a:outerShdw blurRad="38100" dist="38100" dir="2700000" algn="tl">
                    <a:srgbClr val="000000">
                      <a:alpha val="43137"/>
                    </a:srgbClr>
                  </a:outerShdw>
                </a:effectLst>
                <a:latin typeface="Verdana" pitchFamily="34" charset="0"/>
                <a:ea typeface="MS PGothic" pitchFamily="34" charset="-128"/>
                <a:cs typeface="+mn-cs"/>
              </a:defRPr>
            </a:lvl8pPr>
            <a:lvl9pPr marL="4876678" algn="l" defTabSz="1219170" rtl="0" eaLnBrk="1" latinLnBrk="0" hangingPunct="1">
              <a:defRPr sz="4800" kern="1200">
                <a:solidFill>
                  <a:schemeClr val="tx1"/>
                </a:solidFill>
                <a:effectLst>
                  <a:outerShdw blurRad="38100" dist="38100" dir="2700000" algn="tl">
                    <a:srgbClr val="000000">
                      <a:alpha val="43137"/>
                    </a:srgbClr>
                  </a:outerShdw>
                </a:effectLst>
                <a:latin typeface="Verdana" pitchFamily="34" charset="0"/>
                <a:ea typeface="MS PGothic" pitchFamily="34" charset="-128"/>
                <a:cs typeface="+mn-cs"/>
              </a:defRPr>
            </a:lvl9pPr>
          </a:lstStyle>
          <a:p>
            <a:pPr algn="l">
              <a:defRPr/>
            </a:pPr>
            <a:r>
              <a:rPr lang="en-CA" sz="1000" b="1">
                <a:solidFill>
                  <a:prstClr val="black"/>
                </a:solidFill>
                <a:effectLst/>
                <a:latin typeface="+mn-lt"/>
                <a:cs typeface="Segoe UI" panose="020B0502040204020203" pitchFamily="34" charset="0"/>
              </a:rPr>
              <a:t>Note:</a:t>
            </a:r>
          </a:p>
          <a:p>
            <a:pPr marL="170064" indent="-170064" algn="l">
              <a:buFont typeface="Wingdings" panose="05000000000000000000" pitchFamily="2" charset="2"/>
              <a:buChar char="v"/>
              <a:defRPr/>
            </a:pPr>
            <a:r>
              <a:rPr lang="en-CA" sz="1000" i="1">
                <a:solidFill>
                  <a:prstClr val="black"/>
                </a:solidFill>
                <a:effectLst/>
                <a:latin typeface="+mn-lt"/>
                <a:cs typeface="Segoe UI" panose="020B0502040204020203" pitchFamily="34" charset="0"/>
              </a:rPr>
              <a:t>Prod Issues are issues contributed by CBPT Technology. Existing prod issues / New requirements / Third Party Issues do not attribute to this count.</a:t>
            </a:r>
          </a:p>
          <a:p>
            <a:pPr marL="170064" indent="-170064" algn="l">
              <a:buFont typeface="Wingdings" panose="05000000000000000000" pitchFamily="2" charset="2"/>
              <a:buChar char="v"/>
              <a:defRPr/>
            </a:pPr>
            <a:r>
              <a:rPr lang="en-CA" sz="1000" i="1">
                <a:solidFill>
                  <a:prstClr val="black"/>
                </a:solidFill>
                <a:effectLst/>
                <a:latin typeface="+mn-lt"/>
                <a:cs typeface="Segoe UI" panose="020B0502040204020203" pitchFamily="34" charset="0"/>
              </a:rPr>
              <a:t>There are be a few issues for which the investigation is still in progress. They have been classified as Tech Issues temporarily. Once the analysis is complete, the counts may go down.</a:t>
            </a:r>
          </a:p>
          <a:p>
            <a:pPr marL="170064" indent="-170064" algn="l">
              <a:buFont typeface="Wingdings" panose="05000000000000000000" pitchFamily="2" charset="2"/>
              <a:buChar char="v"/>
              <a:defRPr/>
            </a:pPr>
            <a:endParaRPr lang="en-CA" sz="1000" i="1">
              <a:solidFill>
                <a:prstClr val="black"/>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90918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34285-0FF7-4735-A30C-542A2AAE9452}"/>
              </a:ext>
            </a:extLst>
          </p:cNvPr>
          <p:cNvSpPr>
            <a:spLocks noGrp="1"/>
          </p:cNvSpPr>
          <p:nvPr>
            <p:ph type="title"/>
          </p:nvPr>
        </p:nvSpPr>
        <p:spPr>
          <a:xfrm>
            <a:off x="353830" y="260322"/>
            <a:ext cx="10660404" cy="554846"/>
          </a:xfrm>
        </p:spPr>
        <p:txBody>
          <a:bodyPr/>
          <a:lstStyle/>
          <a:p>
            <a:r>
              <a:rPr lang="en-CA" sz="2800"/>
              <a:t>Prod Issue Weight Calculation Matrix</a:t>
            </a:r>
            <a:endParaRPr lang="en-US" sz="2800"/>
          </a:p>
        </p:txBody>
      </p:sp>
      <p:graphicFrame>
        <p:nvGraphicFramePr>
          <p:cNvPr id="13" name="Table 12">
            <a:extLst>
              <a:ext uri="{FF2B5EF4-FFF2-40B4-BE49-F238E27FC236}">
                <a16:creationId xmlns:a16="http://schemas.microsoft.com/office/drawing/2014/main" id="{A70474F9-BB06-7FA4-BFB4-9FFC82C60809}"/>
              </a:ext>
            </a:extLst>
          </p:cNvPr>
          <p:cNvGraphicFramePr>
            <a:graphicFrameLocks noGrp="1"/>
          </p:cNvGraphicFramePr>
          <p:nvPr>
            <p:extLst>
              <p:ext uri="{D42A27DB-BD31-4B8C-83A1-F6EECF244321}">
                <p14:modId xmlns:p14="http://schemas.microsoft.com/office/powerpoint/2010/main" val="740721601"/>
              </p:ext>
            </p:extLst>
          </p:nvPr>
        </p:nvGraphicFramePr>
        <p:xfrm>
          <a:off x="165290" y="786887"/>
          <a:ext cx="5443658" cy="5621527"/>
        </p:xfrm>
        <a:graphic>
          <a:graphicData uri="http://schemas.openxmlformats.org/drawingml/2006/table">
            <a:tbl>
              <a:tblPr/>
              <a:tblGrid>
                <a:gridCol w="409745">
                  <a:extLst>
                    <a:ext uri="{9D8B030D-6E8A-4147-A177-3AD203B41FA5}">
                      <a16:colId xmlns:a16="http://schemas.microsoft.com/office/drawing/2014/main" val="4036537118"/>
                    </a:ext>
                  </a:extLst>
                </a:gridCol>
                <a:gridCol w="1121790">
                  <a:extLst>
                    <a:ext uri="{9D8B030D-6E8A-4147-A177-3AD203B41FA5}">
                      <a16:colId xmlns:a16="http://schemas.microsoft.com/office/drawing/2014/main" val="1602065942"/>
                    </a:ext>
                  </a:extLst>
                </a:gridCol>
                <a:gridCol w="2997723">
                  <a:extLst>
                    <a:ext uri="{9D8B030D-6E8A-4147-A177-3AD203B41FA5}">
                      <a16:colId xmlns:a16="http://schemas.microsoft.com/office/drawing/2014/main" val="2749857315"/>
                    </a:ext>
                  </a:extLst>
                </a:gridCol>
                <a:gridCol w="914400">
                  <a:extLst>
                    <a:ext uri="{9D8B030D-6E8A-4147-A177-3AD203B41FA5}">
                      <a16:colId xmlns:a16="http://schemas.microsoft.com/office/drawing/2014/main" val="3206361010"/>
                    </a:ext>
                  </a:extLst>
                </a:gridCol>
              </a:tblGrid>
              <a:tr h="0">
                <a:tc>
                  <a:txBody>
                    <a:bodyPr/>
                    <a:lstStyle/>
                    <a:p>
                      <a:pPr algn="l" fontAlgn="ctr"/>
                      <a:r>
                        <a:rPr lang="en-US" sz="1200" b="1" i="0" u="none" strike="noStrike">
                          <a:solidFill>
                            <a:srgbClr val="FFFFFF"/>
                          </a:solidFill>
                          <a:effectLst/>
                          <a:latin typeface="+mn-lt"/>
                        </a:rPr>
                        <a:t>S. No</a:t>
                      </a:r>
                    </a:p>
                  </a:txBody>
                  <a:tcPr marT="91440" marB="9144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F012B"/>
                    </a:solidFill>
                  </a:tcPr>
                </a:tc>
                <a:tc>
                  <a:txBody>
                    <a:bodyPr/>
                    <a:lstStyle/>
                    <a:p>
                      <a:pPr algn="l" fontAlgn="ctr"/>
                      <a:r>
                        <a:rPr lang="en-US" sz="1200" b="1" i="0" u="none" strike="noStrike">
                          <a:solidFill>
                            <a:srgbClr val="FFFFFF"/>
                          </a:solidFill>
                          <a:effectLst/>
                          <a:latin typeface="+mn-lt"/>
                        </a:rPr>
                        <a:t>Category of Impact</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F012B"/>
                    </a:solidFill>
                  </a:tcPr>
                </a:tc>
                <a:tc>
                  <a:txBody>
                    <a:bodyPr/>
                    <a:lstStyle/>
                    <a:p>
                      <a:pPr algn="l" fontAlgn="ctr"/>
                      <a:r>
                        <a:rPr lang="en-US" sz="1200" b="1" i="0" u="none" strike="noStrike">
                          <a:solidFill>
                            <a:srgbClr val="FFFFFF"/>
                          </a:solidFill>
                          <a:effectLst/>
                          <a:latin typeface="+mn-lt"/>
                        </a:rPr>
                        <a:t>Impact</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F012B"/>
                    </a:solidFill>
                  </a:tcPr>
                </a:tc>
                <a:tc>
                  <a:txBody>
                    <a:bodyPr/>
                    <a:lstStyle/>
                    <a:p>
                      <a:pPr algn="ctr" fontAlgn="ctr"/>
                      <a:r>
                        <a:rPr lang="en-US" sz="1200" b="1" i="0" u="none" strike="noStrike">
                          <a:solidFill>
                            <a:srgbClr val="FFFFFF"/>
                          </a:solidFill>
                          <a:effectLst/>
                          <a:latin typeface="+mn-lt"/>
                        </a:rPr>
                        <a:t>Answer</a:t>
                      </a:r>
                    </a:p>
                  </a:txBody>
                  <a:tcPr marT="91440" marB="9144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F012B"/>
                    </a:solidFill>
                  </a:tcPr>
                </a:tc>
                <a:extLst>
                  <a:ext uri="{0D108BD9-81ED-4DB2-BD59-A6C34878D82A}">
                    <a16:rowId xmlns:a16="http://schemas.microsoft.com/office/drawing/2014/main" val="1443051784"/>
                  </a:ext>
                </a:extLst>
              </a:tr>
              <a:tr h="213809">
                <a:tc rowSpan="5">
                  <a:txBody>
                    <a:bodyPr/>
                    <a:lstStyle/>
                    <a:p>
                      <a:pPr algn="ctr" fontAlgn="ctr"/>
                      <a:r>
                        <a:rPr lang="en-US" sz="1000" b="1" i="0" u="none" strike="noStrike">
                          <a:solidFill>
                            <a:srgbClr val="000000"/>
                          </a:solidFill>
                          <a:effectLst/>
                          <a:latin typeface="+mn-lt"/>
                        </a:rPr>
                        <a:t>1</a:t>
                      </a:r>
                    </a:p>
                  </a:txBody>
                  <a:tcPr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algn="l" fontAlgn="ctr"/>
                      <a:r>
                        <a:rPr lang="en-US" sz="1000" b="1" i="0" u="none" strike="noStrike">
                          <a:solidFill>
                            <a:srgbClr val="000000"/>
                          </a:solidFill>
                          <a:effectLst/>
                          <a:latin typeface="+mn-lt"/>
                        </a:rPr>
                        <a:t>Customer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CA" sz="1000" b="0" i="0" u="none" strike="noStrike">
                          <a:solidFill>
                            <a:srgbClr val="000000"/>
                          </a:solidFill>
                          <a:effectLst/>
                          <a:latin typeface="+mn-lt"/>
                        </a:rPr>
                        <a:t>Is there an impact to customer facing document?</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3707619"/>
                  </a:ext>
                </a:extLst>
              </a:tr>
              <a:tr h="239423">
                <a:tc vMerge="1">
                  <a:txBody>
                    <a:bodyPr/>
                    <a:lstStyle/>
                    <a:p>
                      <a:endParaRPr lang="en-US"/>
                    </a:p>
                  </a:txBody>
                  <a:tcPr/>
                </a:tc>
                <a:tc vMerge="1">
                  <a:txBody>
                    <a:bodyPr/>
                    <a:lstStyle/>
                    <a:p>
                      <a:endParaRPr lang="en-US"/>
                    </a:p>
                  </a:txBody>
                  <a:tcPr/>
                </a:tc>
                <a:tc>
                  <a:txBody>
                    <a:bodyPr/>
                    <a:lstStyle/>
                    <a:p>
                      <a:pPr algn="l" fontAlgn="ctr"/>
                      <a:r>
                        <a:rPr lang="en-CA" sz="1000" b="0" i="0" u="none" strike="noStrike">
                          <a:solidFill>
                            <a:srgbClr val="000000"/>
                          </a:solidFill>
                          <a:effectLst/>
                          <a:latin typeface="+mn-lt"/>
                        </a:rPr>
                        <a:t>Is the issue impacting a time sensitive activity?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8003246"/>
                  </a:ext>
                </a:extLst>
              </a:tr>
              <a:tr h="239423">
                <a:tc vMerge="1">
                  <a:txBody>
                    <a:bodyPr/>
                    <a:lstStyle/>
                    <a:p>
                      <a:endParaRPr lang="en-US"/>
                    </a:p>
                  </a:txBody>
                  <a:tcPr/>
                </a:tc>
                <a:tc vMerge="1">
                  <a:txBody>
                    <a:bodyPr/>
                    <a:lstStyle/>
                    <a:p>
                      <a:endParaRPr lang="en-US"/>
                    </a:p>
                  </a:txBody>
                  <a:tcPr/>
                </a:tc>
                <a:tc>
                  <a:txBody>
                    <a:bodyPr/>
                    <a:lstStyle/>
                    <a:p>
                      <a:pPr algn="l" fontAlgn="ctr"/>
                      <a:r>
                        <a:rPr lang="en-US" sz="1000" b="0" i="0" u="none" strike="noStrike">
                          <a:solidFill>
                            <a:srgbClr val="000000"/>
                          </a:solidFill>
                          <a:effectLst/>
                          <a:latin typeface="+mn-lt"/>
                        </a:rPr>
                        <a:t>Customer Escalation?</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7291434"/>
                  </a:ext>
                </a:extLst>
              </a:tr>
              <a:tr h="239423">
                <a:tc vMerge="1">
                  <a:txBody>
                    <a:bodyPr/>
                    <a:lstStyle/>
                    <a:p>
                      <a:endParaRPr lang="en-US"/>
                    </a:p>
                  </a:txBody>
                  <a:tcPr/>
                </a:tc>
                <a:tc vMerge="1">
                  <a:txBody>
                    <a:bodyPr/>
                    <a:lstStyle/>
                    <a:p>
                      <a:endParaRPr lang="en-US"/>
                    </a:p>
                  </a:txBody>
                  <a:tcPr/>
                </a:tc>
                <a:tc>
                  <a:txBody>
                    <a:bodyPr/>
                    <a:lstStyle/>
                    <a:p>
                      <a:pPr algn="l" fontAlgn="ctr"/>
                      <a:r>
                        <a:rPr lang="en-CA" sz="1000" b="0" i="0" u="none" strike="noStrike">
                          <a:solidFill>
                            <a:srgbClr val="000000"/>
                          </a:solidFill>
                          <a:effectLst/>
                          <a:latin typeface="+mn-lt"/>
                        </a:rPr>
                        <a:t>High value customer(s) impacted?</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3931375"/>
                  </a:ext>
                </a:extLst>
              </a:tr>
              <a:tr h="116927">
                <a:tc vMerge="1">
                  <a:txBody>
                    <a:bodyPr/>
                    <a:lstStyle/>
                    <a:p>
                      <a:endParaRPr lang="en-US"/>
                    </a:p>
                  </a:txBody>
                  <a:tcPr/>
                </a:tc>
                <a:tc vMerge="1">
                  <a:txBody>
                    <a:bodyPr/>
                    <a:lstStyle/>
                    <a:p>
                      <a:endParaRPr lang="en-US"/>
                    </a:p>
                  </a:txBody>
                  <a:tcPr/>
                </a:tc>
                <a:tc>
                  <a:txBody>
                    <a:bodyPr/>
                    <a:lstStyle/>
                    <a:p>
                      <a:pPr algn="l" fontAlgn="ctr"/>
                      <a:r>
                        <a:rPr lang="en-US" sz="1000" b="0" i="0" u="none" strike="noStrike">
                          <a:solidFill>
                            <a:srgbClr val="000000"/>
                          </a:solidFill>
                          <a:effectLst/>
                          <a:latin typeface="+mn-lt"/>
                        </a:rPr>
                        <a:t>No. of Impacted accounts?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CA" sz="1000" b="0" i="0" u="none" strike="noStrike">
                          <a:solidFill>
                            <a:srgbClr val="000000"/>
                          </a:solidFill>
                          <a:effectLst/>
                          <a:latin typeface="+mn-lt"/>
                        </a:rPr>
                        <a:t>&lt;</a:t>
                      </a:r>
                      <a:r>
                        <a:rPr lang="en-US" sz="1000" b="0" i="0" u="none" strike="noStrike">
                          <a:solidFill>
                            <a:srgbClr val="000000"/>
                          </a:solidFill>
                          <a:effectLst/>
                          <a:latin typeface="+mn-lt"/>
                        </a:rPr>
                        <a:t>Count&gt;</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701174"/>
                  </a:ext>
                </a:extLst>
              </a:tr>
              <a:tr h="213809">
                <a:tc rowSpan="4">
                  <a:txBody>
                    <a:bodyPr/>
                    <a:lstStyle/>
                    <a:p>
                      <a:pPr algn="ctr" fontAlgn="ctr"/>
                      <a:r>
                        <a:rPr lang="en-US" sz="1000" b="1" i="0" u="none" strike="noStrike">
                          <a:solidFill>
                            <a:srgbClr val="000000"/>
                          </a:solidFill>
                          <a:effectLst/>
                          <a:latin typeface="+mn-lt"/>
                        </a:rPr>
                        <a:t>2</a:t>
                      </a:r>
                    </a:p>
                  </a:txBody>
                  <a:tcPr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a:txBody>
                    <a:bodyPr/>
                    <a:lstStyle/>
                    <a:p>
                      <a:pPr algn="l" fontAlgn="ctr"/>
                      <a:r>
                        <a:rPr lang="en-US" sz="1000" b="1" i="0" u="none" strike="noStrike">
                          <a:solidFill>
                            <a:srgbClr val="000000"/>
                          </a:solidFill>
                          <a:effectLst/>
                          <a:latin typeface="+mn-lt"/>
                        </a:rPr>
                        <a:t>Financial and reporting </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CA" sz="1000" b="0" i="0" u="none" strike="noStrike">
                          <a:solidFill>
                            <a:srgbClr val="000000"/>
                          </a:solidFill>
                          <a:effectLst/>
                          <a:latin typeface="+mn-lt"/>
                        </a:rPr>
                        <a:t>Is there any financial implication?</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4517283"/>
                  </a:ext>
                </a:extLst>
              </a:tr>
              <a:tr h="211582">
                <a:tc vMerge="1">
                  <a:txBody>
                    <a:bodyPr/>
                    <a:lstStyle/>
                    <a:p>
                      <a:endParaRPr lang="en-US"/>
                    </a:p>
                  </a:txBody>
                  <a:tcPr/>
                </a:tc>
                <a:tc vMerge="1">
                  <a:txBody>
                    <a:bodyPr/>
                    <a:lstStyle/>
                    <a:p>
                      <a:endParaRPr lang="en-US"/>
                    </a:p>
                  </a:txBody>
                  <a:tcPr/>
                </a:tc>
                <a:tc>
                  <a:txBody>
                    <a:bodyPr/>
                    <a:lstStyle/>
                    <a:p>
                      <a:pPr algn="l" fontAlgn="ctr"/>
                      <a:r>
                        <a:rPr lang="en-US" sz="1000" b="0" i="0" u="none" strike="noStrike">
                          <a:solidFill>
                            <a:srgbClr val="000000"/>
                          </a:solidFill>
                          <a:effectLst/>
                          <a:latin typeface="+mn-lt"/>
                        </a:rPr>
                        <a:t>Risk reporting Impact?</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0762800"/>
                  </a:ext>
                </a:extLst>
              </a:tr>
              <a:tr h="256128">
                <a:tc vMerge="1">
                  <a:txBody>
                    <a:bodyPr/>
                    <a:lstStyle/>
                    <a:p>
                      <a:endParaRPr lang="en-US"/>
                    </a:p>
                  </a:txBody>
                  <a:tcPr/>
                </a:tc>
                <a:tc vMerge="1">
                  <a:txBody>
                    <a:bodyPr/>
                    <a:lstStyle/>
                    <a:p>
                      <a:endParaRPr lang="en-US"/>
                    </a:p>
                  </a:txBody>
                  <a:tcPr/>
                </a:tc>
                <a:tc>
                  <a:txBody>
                    <a:bodyPr/>
                    <a:lstStyle/>
                    <a:p>
                      <a:pPr algn="l" fontAlgn="ctr"/>
                      <a:r>
                        <a:rPr lang="en-CA" sz="1000" b="0" i="0" u="none" strike="noStrike">
                          <a:solidFill>
                            <a:srgbClr val="000000"/>
                          </a:solidFill>
                          <a:effectLst/>
                          <a:latin typeface="+mn-lt"/>
                        </a:rPr>
                        <a:t>Is there a GL impact?</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1351378"/>
                  </a:ext>
                </a:extLst>
              </a:tr>
              <a:tr h="256128">
                <a:tc vMerge="1">
                  <a:txBody>
                    <a:bodyPr/>
                    <a:lstStyle/>
                    <a:p>
                      <a:endParaRPr lang="en-US"/>
                    </a:p>
                  </a:txBody>
                  <a:tcPr/>
                </a:tc>
                <a:tc vMerge="1">
                  <a:txBody>
                    <a:bodyPr/>
                    <a:lstStyle/>
                    <a:p>
                      <a:endParaRPr lang="en-US"/>
                    </a:p>
                  </a:txBody>
                  <a:tcPr/>
                </a:tc>
                <a:tc>
                  <a:txBody>
                    <a:bodyPr/>
                    <a:lstStyle/>
                    <a:p>
                      <a:pPr algn="l" fontAlgn="ctr"/>
                      <a:r>
                        <a:rPr lang="en-US" sz="1000" b="0" i="0" u="none" strike="noStrike">
                          <a:solidFill>
                            <a:srgbClr val="000000"/>
                          </a:solidFill>
                          <a:effectLst/>
                          <a:latin typeface="+mn-lt"/>
                        </a:rPr>
                        <a:t>Impacted $ amount?</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&lt;Amount&gt;</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2657702"/>
                  </a:ext>
                </a:extLst>
              </a:tr>
              <a:tr h="213809">
                <a:tc rowSpan="3">
                  <a:txBody>
                    <a:bodyPr/>
                    <a:lstStyle/>
                    <a:p>
                      <a:pPr algn="ctr" fontAlgn="ctr"/>
                      <a:r>
                        <a:rPr lang="en-US" sz="1000" b="1" i="0" u="none" strike="noStrike">
                          <a:solidFill>
                            <a:srgbClr val="000000"/>
                          </a:solidFill>
                          <a:effectLst/>
                          <a:latin typeface="+mn-lt"/>
                        </a:rPr>
                        <a:t>3</a:t>
                      </a:r>
                    </a:p>
                  </a:txBody>
                  <a:tcPr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l" fontAlgn="ctr"/>
                      <a:r>
                        <a:rPr lang="en-US" sz="1000" b="1" i="0" u="none" strike="noStrike">
                          <a:solidFill>
                            <a:srgbClr val="000000"/>
                          </a:solidFill>
                          <a:effectLst/>
                          <a:latin typeface="+mn-lt"/>
                        </a:rPr>
                        <a:t>Regulatory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CA" sz="1000" b="0" i="0" u="none" strike="noStrike">
                          <a:solidFill>
                            <a:srgbClr val="000000"/>
                          </a:solidFill>
                          <a:effectLst/>
                          <a:latin typeface="+mn-lt"/>
                        </a:rPr>
                        <a:t>Is regulatory document not generated/sent?</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6361667"/>
                  </a:ext>
                </a:extLst>
              </a:tr>
              <a:tr h="244991">
                <a:tc vMerge="1">
                  <a:txBody>
                    <a:bodyPr/>
                    <a:lstStyle/>
                    <a:p>
                      <a:endParaRPr lang="en-US"/>
                    </a:p>
                  </a:txBody>
                  <a:tcPr/>
                </a:tc>
                <a:tc vMerge="1">
                  <a:txBody>
                    <a:bodyPr/>
                    <a:lstStyle/>
                    <a:p>
                      <a:endParaRPr lang="en-US"/>
                    </a:p>
                  </a:txBody>
                  <a:tcPr/>
                </a:tc>
                <a:tc>
                  <a:txBody>
                    <a:bodyPr/>
                    <a:lstStyle/>
                    <a:p>
                      <a:pPr algn="l" fontAlgn="ctr"/>
                      <a:r>
                        <a:rPr lang="en-CA" sz="1000" b="0" i="0" u="none" strike="noStrike">
                          <a:solidFill>
                            <a:srgbClr val="000000"/>
                          </a:solidFill>
                          <a:effectLst/>
                          <a:latin typeface="+mn-lt"/>
                        </a:rPr>
                        <a:t>Is regulatory report not generated?</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9121643"/>
                  </a:ext>
                </a:extLst>
              </a:tr>
              <a:tr h="244991">
                <a:tc vMerge="1">
                  <a:txBody>
                    <a:bodyPr/>
                    <a:lstStyle/>
                    <a:p>
                      <a:endParaRPr lang="en-US"/>
                    </a:p>
                  </a:txBody>
                  <a:tcPr/>
                </a:tc>
                <a:tc vMerge="1">
                  <a:txBody>
                    <a:bodyPr/>
                    <a:lstStyle/>
                    <a:p>
                      <a:endParaRPr lang="en-US"/>
                    </a:p>
                  </a:txBody>
                  <a:tcPr/>
                </a:tc>
                <a:tc>
                  <a:txBody>
                    <a:bodyPr/>
                    <a:lstStyle/>
                    <a:p>
                      <a:pPr algn="l" fontAlgn="ctr"/>
                      <a:r>
                        <a:rPr lang="en-CA" sz="1000" b="0" i="0" u="none" strike="noStrike">
                          <a:solidFill>
                            <a:srgbClr val="000000"/>
                          </a:solidFill>
                          <a:effectLst/>
                          <a:latin typeface="+mn-lt"/>
                        </a:rPr>
                        <a:t>Is there a non-conformance to risk appetite?</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318452"/>
                  </a:ext>
                </a:extLst>
              </a:tr>
              <a:tr h="250560">
                <a:tc>
                  <a:txBody>
                    <a:bodyPr/>
                    <a:lstStyle/>
                    <a:p>
                      <a:pPr algn="ctr" fontAlgn="ctr"/>
                      <a:r>
                        <a:rPr lang="en-US" sz="1000" b="1" i="0" u="none" strike="noStrike">
                          <a:solidFill>
                            <a:srgbClr val="000000"/>
                          </a:solidFill>
                          <a:effectLst/>
                          <a:latin typeface="+mn-lt"/>
                        </a:rPr>
                        <a:t>4</a:t>
                      </a:r>
                    </a:p>
                  </a:txBody>
                  <a:tcPr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1" i="0" u="none" strike="noStrike">
                          <a:solidFill>
                            <a:srgbClr val="000000"/>
                          </a:solidFill>
                          <a:effectLst/>
                          <a:latin typeface="+mn-lt"/>
                        </a:rPr>
                        <a:t>Privacy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CA" sz="1000" b="0" i="0" u="none" strike="noStrike">
                          <a:solidFill>
                            <a:srgbClr val="000000"/>
                          </a:solidFill>
                          <a:effectLst/>
                          <a:latin typeface="+mn-lt"/>
                        </a:rPr>
                        <a:t>Is this a Privacy issue ?</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5449372"/>
                  </a:ext>
                </a:extLst>
              </a:tr>
              <a:tr h="427620">
                <a:tc rowSpan="6">
                  <a:txBody>
                    <a:bodyPr/>
                    <a:lstStyle/>
                    <a:p>
                      <a:pPr algn="ctr" fontAlgn="ctr"/>
                      <a:r>
                        <a:rPr lang="en-US" sz="1000" b="1" i="0" u="none" strike="noStrike">
                          <a:solidFill>
                            <a:srgbClr val="000000"/>
                          </a:solidFill>
                          <a:effectLst/>
                          <a:latin typeface="+mn-lt"/>
                        </a:rPr>
                        <a:t>5</a:t>
                      </a:r>
                    </a:p>
                  </a:txBody>
                  <a:tcPr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6">
                  <a:txBody>
                    <a:bodyPr/>
                    <a:lstStyle/>
                    <a:p>
                      <a:pPr algn="l" fontAlgn="ctr"/>
                      <a:r>
                        <a:rPr lang="en-US" sz="1000" b="1" i="0" u="none" strike="noStrike">
                          <a:solidFill>
                            <a:srgbClr val="000000"/>
                          </a:solidFill>
                          <a:effectLst/>
                          <a:latin typeface="+mn-lt"/>
                        </a:rPr>
                        <a:t>Technology &amp; Business operations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CA" sz="1000" b="0" i="0" u="none" strike="noStrike">
                          <a:solidFill>
                            <a:srgbClr val="000000"/>
                          </a:solidFill>
                          <a:effectLst/>
                          <a:latin typeface="+mn-lt"/>
                        </a:rPr>
                        <a:t>Likely to delay a downstream system (feed dependency) coming up on time for business usage?</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3275702"/>
                  </a:ext>
                </a:extLst>
              </a:tr>
              <a:tr h="427620">
                <a:tc vMerge="1">
                  <a:txBody>
                    <a:bodyPr/>
                    <a:lstStyle/>
                    <a:p>
                      <a:endParaRPr lang="en-US"/>
                    </a:p>
                  </a:txBody>
                  <a:tcPr/>
                </a:tc>
                <a:tc vMerge="1">
                  <a:txBody>
                    <a:bodyPr/>
                    <a:lstStyle/>
                    <a:p>
                      <a:endParaRPr lang="en-US"/>
                    </a:p>
                  </a:txBody>
                  <a:tcPr/>
                </a:tc>
                <a:tc>
                  <a:txBody>
                    <a:bodyPr/>
                    <a:lstStyle/>
                    <a:p>
                      <a:pPr algn="l" fontAlgn="ctr"/>
                      <a:r>
                        <a:rPr lang="en-CA" sz="1000" b="0" i="0" u="none" strike="noStrike">
                          <a:solidFill>
                            <a:srgbClr val="000000"/>
                          </a:solidFill>
                          <a:effectLst/>
                          <a:latin typeface="+mn-lt"/>
                        </a:rPr>
                        <a:t>Does the issue prevent a batch process from starting or continuing in case already started?</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0477920"/>
                  </a:ext>
                </a:extLst>
              </a:tr>
              <a:tr h="350783">
                <a:tc vMerge="1">
                  <a:txBody>
                    <a:bodyPr/>
                    <a:lstStyle/>
                    <a:p>
                      <a:endParaRPr lang="en-US"/>
                    </a:p>
                  </a:txBody>
                  <a:tcPr/>
                </a:tc>
                <a:tc vMerge="1">
                  <a:txBody>
                    <a:bodyPr/>
                    <a:lstStyle/>
                    <a:p>
                      <a:endParaRPr lang="en-US"/>
                    </a:p>
                  </a:txBody>
                  <a:tcPr/>
                </a:tc>
                <a:tc>
                  <a:txBody>
                    <a:bodyPr/>
                    <a:lstStyle/>
                    <a:p>
                      <a:pPr algn="l" fontAlgn="ctr"/>
                      <a:r>
                        <a:rPr lang="en-CA" sz="1000" b="0" i="0" u="none" strike="noStrike">
                          <a:solidFill>
                            <a:srgbClr val="000000"/>
                          </a:solidFill>
                          <a:effectLst/>
                          <a:latin typeface="+mn-lt"/>
                        </a:rPr>
                        <a:t>Can the issue trigger or cause a potential system/application outage?</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795349"/>
                  </a:ext>
                </a:extLst>
              </a:tr>
              <a:tr h="320715">
                <a:tc vMerge="1">
                  <a:txBody>
                    <a:bodyPr/>
                    <a:lstStyle/>
                    <a:p>
                      <a:endParaRPr lang="en-US"/>
                    </a:p>
                  </a:txBody>
                  <a:tcPr/>
                </a:tc>
                <a:tc vMerge="1">
                  <a:txBody>
                    <a:bodyPr/>
                    <a:lstStyle/>
                    <a:p>
                      <a:endParaRPr lang="en-US"/>
                    </a:p>
                  </a:txBody>
                  <a:tcPr/>
                </a:tc>
                <a:tc>
                  <a:txBody>
                    <a:bodyPr/>
                    <a:lstStyle/>
                    <a:p>
                      <a:pPr algn="l" fontAlgn="ctr"/>
                      <a:r>
                        <a:rPr lang="en-CA" sz="1000" b="0" i="0" u="none" strike="noStrike">
                          <a:solidFill>
                            <a:srgbClr val="000000"/>
                          </a:solidFill>
                          <a:effectLst/>
                          <a:latin typeface="+mn-lt"/>
                        </a:rPr>
                        <a:t>Is there an impact to the business operations process?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Trebuchet MS"/>
                          <a:ea typeface="+mn-ea"/>
                          <a:cs typeface="+mn-cs"/>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186868"/>
                  </a:ext>
                </a:extLst>
              </a:tr>
              <a:tr h="300670">
                <a:tc vMerge="1">
                  <a:txBody>
                    <a:bodyPr/>
                    <a:lstStyle/>
                    <a:p>
                      <a:endParaRPr lang="en-US"/>
                    </a:p>
                  </a:txBody>
                  <a:tcPr/>
                </a:tc>
                <a:tc vMerge="1">
                  <a:txBody>
                    <a:bodyPr/>
                    <a:lstStyle/>
                    <a:p>
                      <a:endParaRPr lang="en-US"/>
                    </a:p>
                  </a:txBody>
                  <a:tcPr/>
                </a:tc>
                <a:tc>
                  <a:txBody>
                    <a:bodyPr/>
                    <a:lstStyle/>
                    <a:p>
                      <a:pPr algn="l" fontAlgn="ctr"/>
                      <a:r>
                        <a:rPr lang="en-CA" sz="1000" b="0" i="0" u="none" strike="noStrike">
                          <a:solidFill>
                            <a:srgbClr val="000000"/>
                          </a:solidFill>
                          <a:effectLst/>
                          <a:latin typeface="+mn-lt"/>
                        </a:rPr>
                        <a:t>No. of Business Users Impacted?</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CA" sz="1000" b="0" i="0" u="none" strike="noStrike">
                          <a:solidFill>
                            <a:srgbClr val="000000"/>
                          </a:solidFill>
                          <a:effectLst/>
                          <a:latin typeface="+mn-lt"/>
                        </a:rPr>
                        <a:t>&lt;</a:t>
                      </a:r>
                      <a:r>
                        <a:rPr lang="en-US" sz="1000" b="0" i="0" u="none" strike="noStrike">
                          <a:solidFill>
                            <a:srgbClr val="000000"/>
                          </a:solidFill>
                          <a:effectLst/>
                          <a:latin typeface="+mn-lt"/>
                        </a:rPr>
                        <a:t>Count&gt;</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1053831"/>
                  </a:ext>
                </a:extLst>
              </a:tr>
              <a:tr h="239423">
                <a:tc vMerge="1">
                  <a:txBody>
                    <a:bodyPr/>
                    <a:lstStyle/>
                    <a:p>
                      <a:endParaRPr lang="en-US"/>
                    </a:p>
                  </a:txBody>
                  <a:tcPr/>
                </a:tc>
                <a:tc vMerge="1">
                  <a:txBody>
                    <a:bodyPr/>
                    <a:lstStyle/>
                    <a:p>
                      <a:endParaRPr lang="en-US"/>
                    </a:p>
                  </a:txBody>
                  <a:tcPr/>
                </a:tc>
                <a:tc>
                  <a:txBody>
                    <a:bodyPr/>
                    <a:lstStyle/>
                    <a:p>
                      <a:pPr algn="l" fontAlgn="ctr"/>
                      <a:r>
                        <a:rPr lang="en-US" sz="1000" b="0" i="0" u="none" strike="noStrike">
                          <a:solidFill>
                            <a:srgbClr val="000000"/>
                          </a:solidFill>
                          <a:effectLst/>
                          <a:latin typeface="+mn-lt"/>
                        </a:rPr>
                        <a:t>Is there a workaround?</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Yes / 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7313662"/>
                  </a:ext>
                </a:extLst>
              </a:tr>
            </a:tbl>
          </a:graphicData>
        </a:graphic>
      </p:graphicFrame>
      <p:graphicFrame>
        <p:nvGraphicFramePr>
          <p:cNvPr id="24" name="Table 24">
            <a:extLst>
              <a:ext uri="{FF2B5EF4-FFF2-40B4-BE49-F238E27FC236}">
                <a16:creationId xmlns:a16="http://schemas.microsoft.com/office/drawing/2014/main" id="{62E4902C-A12E-594B-C301-AAE3C5F19585}"/>
              </a:ext>
            </a:extLst>
          </p:cNvPr>
          <p:cNvGraphicFramePr>
            <a:graphicFrameLocks noGrp="1"/>
          </p:cNvGraphicFramePr>
          <p:nvPr>
            <p:extLst>
              <p:ext uri="{D42A27DB-BD31-4B8C-83A1-F6EECF244321}">
                <p14:modId xmlns:p14="http://schemas.microsoft.com/office/powerpoint/2010/main" val="77871295"/>
              </p:ext>
            </p:extLst>
          </p:nvPr>
        </p:nvGraphicFramePr>
        <p:xfrm>
          <a:off x="5797488" y="774700"/>
          <a:ext cx="5852160" cy="5621525"/>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1761105256"/>
                    </a:ext>
                  </a:extLst>
                </a:gridCol>
                <a:gridCol w="4846320">
                  <a:extLst>
                    <a:ext uri="{9D8B030D-6E8A-4147-A177-3AD203B41FA5}">
                      <a16:colId xmlns:a16="http://schemas.microsoft.com/office/drawing/2014/main" val="1532378569"/>
                    </a:ext>
                  </a:extLst>
                </a:gridCol>
              </a:tblGrid>
              <a:tr h="669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a:t>Issue Weight</a:t>
                      </a:r>
                      <a:endParaRPr lang="en-US"/>
                    </a:p>
                  </a:txBody>
                  <a:tcPr anchor="ctr" anchorCtr="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9F012B"/>
                    </a:solidFill>
                  </a:tcPr>
                </a:tc>
                <a:tc>
                  <a:txBody>
                    <a:bodyPr/>
                    <a:lstStyle/>
                    <a:p>
                      <a:pPr algn="ctr"/>
                      <a:r>
                        <a:rPr lang="en-CA"/>
                        <a:t>Criteria</a:t>
                      </a:r>
                      <a:endParaRPr lang="en-US"/>
                    </a:p>
                  </a:txBody>
                  <a:tcPr anchor="ctr" anchorCtr="1">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9F012B"/>
                    </a:solidFill>
                  </a:tcPr>
                </a:tc>
                <a:extLst>
                  <a:ext uri="{0D108BD9-81ED-4DB2-BD59-A6C34878D82A}">
                    <a16:rowId xmlns:a16="http://schemas.microsoft.com/office/drawing/2014/main" val="752792566"/>
                  </a:ext>
                </a:extLst>
              </a:tr>
              <a:tr h="843907">
                <a:tc>
                  <a:txBody>
                    <a:bodyPr/>
                    <a:lstStyle/>
                    <a:p>
                      <a:pPr algn="ctr"/>
                      <a:r>
                        <a:rPr lang="en-CA" sz="1800"/>
                        <a:t>10</a:t>
                      </a:r>
                      <a:endParaRPr lang="en-US" sz="1800"/>
                    </a:p>
                  </a:txBody>
                  <a:tcPr anchor="ctr">
                    <a:lnL w="12700" cap="flat" cmpd="sng" algn="ctr">
                      <a:solidFill>
                        <a:schemeClr val="tx1"/>
                      </a:solidFill>
                      <a:prstDash val="solid"/>
                      <a:round/>
                      <a:headEnd type="none" w="med" len="med"/>
                      <a:tailEnd type="none" w="med" len="med"/>
                    </a:lnL>
                    <a:solidFill>
                      <a:srgbClr val="E3CCCC"/>
                    </a:solidFill>
                  </a:tcPr>
                </a:tc>
                <a:tc>
                  <a:txBody>
                    <a:bodyPr/>
                    <a:lstStyle/>
                    <a:p>
                      <a:pPr algn="l"/>
                      <a:r>
                        <a:rPr lang="en-CA" sz="1100"/>
                        <a:t>If any impact category is Yes and the number of accounts impacted is &gt;= 100.</a:t>
                      </a:r>
                    </a:p>
                    <a:p>
                      <a:pPr algn="l"/>
                      <a:r>
                        <a:rPr lang="en-CA" sz="1100"/>
                        <a:t>OR</a:t>
                      </a:r>
                    </a:p>
                    <a:p>
                      <a:pPr algn="l"/>
                      <a:r>
                        <a:rPr lang="en-CA" sz="1100"/>
                        <a:t>If any  impact category is Yes and the $ impact is &gt;= 50K.</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35594580"/>
                  </a:ext>
                </a:extLst>
              </a:tr>
              <a:tr h="1129030">
                <a:tc>
                  <a:txBody>
                    <a:bodyPr/>
                    <a:lstStyle/>
                    <a:p>
                      <a:pPr algn="ctr"/>
                      <a:r>
                        <a:rPr lang="en-CA" sz="1800"/>
                        <a:t>4</a:t>
                      </a:r>
                      <a:endParaRPr lang="en-US" sz="1800"/>
                    </a:p>
                  </a:txBody>
                  <a:tcPr anchor="ctr">
                    <a:lnL w="12700" cap="flat" cmpd="sng" algn="ctr">
                      <a:solidFill>
                        <a:schemeClr val="tx1"/>
                      </a:solidFill>
                      <a:prstDash val="solid"/>
                      <a:round/>
                      <a:headEnd type="none" w="med" len="med"/>
                      <a:tailEnd type="none" w="med" len="med"/>
                    </a:lnL>
                    <a:solidFill>
                      <a:srgbClr val="F2E7E7"/>
                    </a:solidFill>
                  </a:tcPr>
                </a:tc>
                <a:tc>
                  <a:txBody>
                    <a:bodyPr/>
                    <a:lstStyle/>
                    <a:p>
                      <a:pPr algn="l"/>
                      <a:r>
                        <a:rPr lang="en-CA" sz="1100"/>
                        <a:t>If any impact category is Yes and the number of accounts impacted is &gt;= 20 but &lt; 100.</a:t>
                      </a:r>
                    </a:p>
                    <a:p>
                      <a:pPr algn="l"/>
                      <a:r>
                        <a:rPr lang="en-CA" sz="1100"/>
                        <a:t>OR</a:t>
                      </a:r>
                    </a:p>
                    <a:p>
                      <a:pPr algn="l"/>
                      <a:r>
                        <a:rPr lang="en-CA" sz="1100"/>
                        <a:t>If any  impact category is Yes and the $ impact is &gt;= 15K but &lt; 50K.</a:t>
                      </a:r>
                    </a:p>
                    <a:p>
                      <a:pPr algn="l"/>
                      <a:r>
                        <a:rPr lang="en-CA" sz="1100"/>
                        <a:t>OR</a:t>
                      </a:r>
                    </a:p>
                    <a:p>
                      <a:pPr algn="l"/>
                      <a:r>
                        <a:rPr lang="en-CA" sz="1100"/>
                        <a:t>If the impacted customer is a High value customer.</a:t>
                      </a:r>
                      <a:endParaRPr lang="en-US" sz="1100"/>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12568159"/>
                  </a:ext>
                </a:extLst>
              </a:tr>
              <a:tr h="1474012">
                <a:tc>
                  <a:txBody>
                    <a:bodyPr/>
                    <a:lstStyle/>
                    <a:p>
                      <a:pPr algn="ctr"/>
                      <a:r>
                        <a:rPr lang="en-CA" sz="1800"/>
                        <a:t>3</a:t>
                      </a:r>
                      <a:endParaRPr lang="en-US" sz="1800"/>
                    </a:p>
                  </a:txBody>
                  <a:tcPr anchor="ctr">
                    <a:lnL w="12700" cap="flat" cmpd="sng" algn="ctr">
                      <a:solidFill>
                        <a:schemeClr val="tx1"/>
                      </a:solidFill>
                      <a:prstDash val="solid"/>
                      <a:round/>
                      <a:headEnd type="none" w="med" len="med"/>
                      <a:tailEnd type="none" w="med" len="med"/>
                    </a:lnL>
                  </a:tcPr>
                </a:tc>
                <a:tc>
                  <a:txBody>
                    <a:bodyPr/>
                    <a:lstStyle/>
                    <a:p>
                      <a:pPr algn="l"/>
                      <a:r>
                        <a:rPr lang="en-CA" sz="1100"/>
                        <a:t>If any impact category is Yes and the number of accounts impacted is &gt;1.</a:t>
                      </a:r>
                    </a:p>
                    <a:p>
                      <a:pPr algn="l"/>
                      <a:r>
                        <a:rPr lang="en-CA" sz="1100"/>
                        <a:t>OR</a:t>
                      </a:r>
                    </a:p>
                    <a:p>
                      <a:pPr algn="l"/>
                      <a:r>
                        <a:rPr lang="en-CA" sz="1100"/>
                        <a:t>If any impact category is Yes and the $ impact is &lt; 15k.</a:t>
                      </a:r>
                    </a:p>
                    <a:p>
                      <a:pPr algn="l"/>
                      <a:r>
                        <a:rPr lang="en-CA" sz="1100"/>
                        <a:t>OR</a:t>
                      </a:r>
                    </a:p>
                    <a:p>
                      <a:pPr algn="l"/>
                      <a:r>
                        <a:rPr lang="en-CA" sz="1100"/>
                        <a:t>If any impact category is Yes and it is time sensitive.</a:t>
                      </a:r>
                    </a:p>
                    <a:p>
                      <a:pPr algn="l"/>
                      <a:r>
                        <a:rPr lang="en-CA" sz="1100"/>
                        <a:t>OR</a:t>
                      </a:r>
                    </a:p>
                    <a:p>
                      <a:pPr algn="l"/>
                      <a:r>
                        <a:rPr lang="en-CA" sz="1100"/>
                        <a:t>There is an impact to the Business Operations process and number of business users impacted is &gt; 2.</a:t>
                      </a:r>
                      <a:endParaRPr lang="en-US" sz="1100"/>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1161135"/>
                  </a:ext>
                </a:extLst>
              </a:tr>
              <a:tr h="1129030">
                <a:tc>
                  <a:txBody>
                    <a:bodyPr/>
                    <a:lstStyle/>
                    <a:p>
                      <a:pPr algn="ctr"/>
                      <a:r>
                        <a:rPr lang="en-CA" sz="1800"/>
                        <a:t>2</a:t>
                      </a:r>
                      <a:endParaRPr lang="en-US" sz="1800"/>
                    </a:p>
                  </a:txBody>
                  <a:tcPr anchor="ctr">
                    <a:lnL w="12700" cap="flat" cmpd="sng" algn="ctr">
                      <a:solidFill>
                        <a:schemeClr val="tx1"/>
                      </a:solidFill>
                      <a:prstDash val="solid"/>
                      <a:round/>
                      <a:headEnd type="none" w="med" len="med"/>
                      <a:tailEnd type="none" w="med" len="med"/>
                    </a:lnL>
                  </a:tcPr>
                </a:tc>
                <a:tc>
                  <a:txBody>
                    <a:bodyPr/>
                    <a:lstStyle/>
                    <a:p>
                      <a:pPr algn="l"/>
                      <a:r>
                        <a:rPr lang="en-CA" sz="1100"/>
                        <a:t>If any impact category is Yes, irrespective of whether a workaround is available.</a:t>
                      </a:r>
                    </a:p>
                    <a:p>
                      <a:pPr algn="l"/>
                      <a:r>
                        <a:rPr lang="en-CA" sz="1100"/>
                        <a:t>OR</a:t>
                      </a:r>
                    </a:p>
                    <a:p>
                      <a:pPr algn="l"/>
                      <a:r>
                        <a:rPr lang="en-CA" sz="1100"/>
                        <a:t>If at least 1 customer is impacted and a workaround is not available.</a:t>
                      </a:r>
                    </a:p>
                    <a:p>
                      <a:pPr algn="l"/>
                      <a:r>
                        <a:rPr lang="en-CA" sz="1100"/>
                        <a:t>OR</a:t>
                      </a:r>
                    </a:p>
                    <a:p>
                      <a:pPr algn="l"/>
                      <a:r>
                        <a:rPr lang="en-CA" sz="1100"/>
                        <a:t>If there is a Risk reporting impact and a workaround is not available.</a:t>
                      </a:r>
                      <a:endParaRPr lang="en-US" sz="1100"/>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54151538"/>
                  </a:ext>
                </a:extLst>
              </a:tr>
              <a:tr h="376343">
                <a:tc>
                  <a:txBody>
                    <a:bodyPr/>
                    <a:lstStyle/>
                    <a:p>
                      <a:pPr algn="ctr"/>
                      <a:r>
                        <a:rPr lang="en-CA" sz="1800"/>
                        <a:t>1</a:t>
                      </a:r>
                      <a:endParaRPr lang="en-US" sz="180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l"/>
                      <a:r>
                        <a:rPr lang="en-CA" sz="1100"/>
                        <a:t>A workaround available and none of the other impact categories are yes.</a:t>
                      </a:r>
                      <a:endParaRPr lang="en-US" sz="1100"/>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0069613"/>
                  </a:ext>
                </a:extLst>
              </a:tr>
            </a:tbl>
          </a:graphicData>
        </a:graphic>
      </p:graphicFrame>
    </p:spTree>
    <p:extLst>
      <p:ext uri="{BB962C8B-B14F-4D97-AF65-F5344CB8AC3E}">
        <p14:creationId xmlns:p14="http://schemas.microsoft.com/office/powerpoint/2010/main" val="1755874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34285-0FF7-4735-A30C-542A2AAE9452}"/>
              </a:ext>
            </a:extLst>
          </p:cNvPr>
          <p:cNvSpPr>
            <a:spLocks noGrp="1"/>
          </p:cNvSpPr>
          <p:nvPr>
            <p:ph type="title"/>
          </p:nvPr>
        </p:nvSpPr>
        <p:spPr>
          <a:xfrm>
            <a:off x="353830" y="260322"/>
            <a:ext cx="10660404" cy="554846"/>
          </a:xfrm>
        </p:spPr>
        <p:txBody>
          <a:bodyPr/>
          <a:lstStyle/>
          <a:p>
            <a:r>
              <a:rPr lang="en-CA" sz="2800"/>
              <a:t>Prod Issue Weight Calculation Matrix – July Release</a:t>
            </a:r>
            <a:endParaRPr lang="en-US" sz="2800"/>
          </a:p>
        </p:txBody>
      </p:sp>
      <p:graphicFrame>
        <p:nvGraphicFramePr>
          <p:cNvPr id="13" name="Table 12">
            <a:extLst>
              <a:ext uri="{FF2B5EF4-FFF2-40B4-BE49-F238E27FC236}">
                <a16:creationId xmlns:a16="http://schemas.microsoft.com/office/drawing/2014/main" id="{A70474F9-BB06-7FA4-BFB4-9FFC82C60809}"/>
              </a:ext>
            </a:extLst>
          </p:cNvPr>
          <p:cNvGraphicFramePr>
            <a:graphicFrameLocks noGrp="1"/>
          </p:cNvGraphicFramePr>
          <p:nvPr/>
        </p:nvGraphicFramePr>
        <p:xfrm>
          <a:off x="165289" y="786887"/>
          <a:ext cx="11457959" cy="5250335"/>
        </p:xfrm>
        <a:graphic>
          <a:graphicData uri="http://schemas.openxmlformats.org/drawingml/2006/table">
            <a:tbl>
              <a:tblPr/>
              <a:tblGrid>
                <a:gridCol w="862442">
                  <a:extLst>
                    <a:ext uri="{9D8B030D-6E8A-4147-A177-3AD203B41FA5}">
                      <a16:colId xmlns:a16="http://schemas.microsoft.com/office/drawing/2014/main" val="4036537118"/>
                    </a:ext>
                  </a:extLst>
                </a:gridCol>
                <a:gridCol w="2361174">
                  <a:extLst>
                    <a:ext uri="{9D8B030D-6E8A-4147-A177-3AD203B41FA5}">
                      <a16:colId xmlns:a16="http://schemas.microsoft.com/office/drawing/2014/main" val="1602065942"/>
                    </a:ext>
                  </a:extLst>
                </a:gridCol>
                <a:gridCol w="6309689">
                  <a:extLst>
                    <a:ext uri="{9D8B030D-6E8A-4147-A177-3AD203B41FA5}">
                      <a16:colId xmlns:a16="http://schemas.microsoft.com/office/drawing/2014/main" val="2749857315"/>
                    </a:ext>
                  </a:extLst>
                </a:gridCol>
                <a:gridCol w="1924654">
                  <a:extLst>
                    <a:ext uri="{9D8B030D-6E8A-4147-A177-3AD203B41FA5}">
                      <a16:colId xmlns:a16="http://schemas.microsoft.com/office/drawing/2014/main" val="3206361010"/>
                    </a:ext>
                  </a:extLst>
                </a:gridCol>
              </a:tblGrid>
              <a:tr h="0">
                <a:tc>
                  <a:txBody>
                    <a:bodyPr/>
                    <a:lstStyle/>
                    <a:p>
                      <a:pPr algn="l" fontAlgn="ctr"/>
                      <a:r>
                        <a:rPr lang="en-US" sz="1200" b="1" i="0" u="none" strike="noStrike">
                          <a:solidFill>
                            <a:srgbClr val="FFFFFF"/>
                          </a:solidFill>
                          <a:effectLst/>
                          <a:latin typeface="+mn-lt"/>
                        </a:rPr>
                        <a:t>S. No</a:t>
                      </a:r>
                    </a:p>
                  </a:txBody>
                  <a:tcPr marT="91440" marB="9144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F012B"/>
                    </a:solidFill>
                  </a:tcPr>
                </a:tc>
                <a:tc>
                  <a:txBody>
                    <a:bodyPr/>
                    <a:lstStyle/>
                    <a:p>
                      <a:pPr algn="l" fontAlgn="ctr"/>
                      <a:r>
                        <a:rPr lang="en-US" sz="1200" b="1" i="0" u="none" strike="noStrike">
                          <a:solidFill>
                            <a:srgbClr val="FFFFFF"/>
                          </a:solidFill>
                          <a:effectLst/>
                          <a:latin typeface="+mn-lt"/>
                        </a:rPr>
                        <a:t>Category of Impact</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F012B"/>
                    </a:solidFill>
                  </a:tcPr>
                </a:tc>
                <a:tc>
                  <a:txBody>
                    <a:bodyPr/>
                    <a:lstStyle/>
                    <a:p>
                      <a:pPr algn="l" fontAlgn="ctr"/>
                      <a:r>
                        <a:rPr lang="en-US" sz="1200" b="1" i="0" u="none" strike="noStrike">
                          <a:solidFill>
                            <a:srgbClr val="FFFFFF"/>
                          </a:solidFill>
                          <a:effectLst/>
                          <a:latin typeface="+mn-lt"/>
                        </a:rPr>
                        <a:t>Impact</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F012B"/>
                    </a:solidFill>
                  </a:tcPr>
                </a:tc>
                <a:tc>
                  <a:txBody>
                    <a:bodyPr/>
                    <a:lstStyle/>
                    <a:p>
                      <a:pPr algn="ctr" fontAlgn="ctr"/>
                      <a:r>
                        <a:rPr lang="en-US" sz="1200" b="1" i="0" u="none" strike="noStrike">
                          <a:solidFill>
                            <a:srgbClr val="FFFFFF"/>
                          </a:solidFill>
                          <a:effectLst/>
                          <a:latin typeface="+mn-lt"/>
                        </a:rPr>
                        <a:t>Answer</a:t>
                      </a:r>
                    </a:p>
                  </a:txBody>
                  <a:tcPr marT="91440" marB="9144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F012B"/>
                    </a:solidFill>
                  </a:tcPr>
                </a:tc>
                <a:extLst>
                  <a:ext uri="{0D108BD9-81ED-4DB2-BD59-A6C34878D82A}">
                    <a16:rowId xmlns:a16="http://schemas.microsoft.com/office/drawing/2014/main" val="1443051784"/>
                  </a:ext>
                </a:extLst>
              </a:tr>
              <a:tr h="0">
                <a:tc rowSpan="5">
                  <a:txBody>
                    <a:bodyPr/>
                    <a:lstStyle/>
                    <a:p>
                      <a:pPr algn="ctr" fontAlgn="ctr"/>
                      <a:r>
                        <a:rPr lang="en-US" sz="1200" b="1" i="0" u="none" strike="noStrike">
                          <a:solidFill>
                            <a:srgbClr val="000000"/>
                          </a:solidFill>
                          <a:effectLst/>
                          <a:latin typeface="+mn-lt"/>
                        </a:rPr>
                        <a:t>1</a:t>
                      </a:r>
                    </a:p>
                  </a:txBody>
                  <a:tcPr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algn="l" fontAlgn="ctr"/>
                      <a:r>
                        <a:rPr lang="en-US" sz="1200" b="1" i="0" u="none" strike="noStrike">
                          <a:solidFill>
                            <a:srgbClr val="000000"/>
                          </a:solidFill>
                          <a:effectLst/>
                          <a:latin typeface="+mn-lt"/>
                        </a:rPr>
                        <a:t>Customer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CA" sz="1200" b="0" i="0" u="none" strike="noStrike">
                          <a:solidFill>
                            <a:srgbClr val="000000"/>
                          </a:solidFill>
                          <a:effectLst/>
                          <a:latin typeface="+mn-lt"/>
                        </a:rPr>
                        <a:t>Is there an impact to customer facing document?</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n-lt"/>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3707619"/>
                  </a:ext>
                </a:extLst>
              </a:tr>
              <a:tr h="0">
                <a:tc vMerge="1">
                  <a:txBody>
                    <a:bodyPr/>
                    <a:lstStyle/>
                    <a:p>
                      <a:endParaRPr lang="en-US"/>
                    </a:p>
                  </a:txBody>
                  <a:tcPr/>
                </a:tc>
                <a:tc vMerge="1">
                  <a:txBody>
                    <a:bodyPr/>
                    <a:lstStyle/>
                    <a:p>
                      <a:endParaRPr lang="en-US"/>
                    </a:p>
                  </a:txBody>
                  <a:tcPr/>
                </a:tc>
                <a:tc>
                  <a:txBody>
                    <a:bodyPr/>
                    <a:lstStyle/>
                    <a:p>
                      <a:pPr algn="l" fontAlgn="ctr"/>
                      <a:r>
                        <a:rPr lang="en-CA" sz="1200" b="0" i="0" u="none" strike="noStrike">
                          <a:solidFill>
                            <a:srgbClr val="000000"/>
                          </a:solidFill>
                          <a:effectLst/>
                          <a:latin typeface="+mn-lt"/>
                        </a:rPr>
                        <a:t>Is the issue impacting a time sensitive activity?</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8003246"/>
                  </a:ext>
                </a:extLst>
              </a:tr>
              <a:tr h="0">
                <a:tc vMerge="1">
                  <a:txBody>
                    <a:bodyPr/>
                    <a:lstStyle/>
                    <a:p>
                      <a:endParaRPr lang="en-US"/>
                    </a:p>
                  </a:txBody>
                  <a:tcPr/>
                </a:tc>
                <a:tc vMerge="1">
                  <a:txBody>
                    <a:bodyPr/>
                    <a:lstStyle/>
                    <a:p>
                      <a:endParaRPr lang="en-US"/>
                    </a:p>
                  </a:txBody>
                  <a:tcPr/>
                </a:tc>
                <a:tc>
                  <a:txBody>
                    <a:bodyPr/>
                    <a:lstStyle/>
                    <a:p>
                      <a:pPr algn="l" fontAlgn="ctr"/>
                      <a:r>
                        <a:rPr lang="en-US" sz="1200" b="0" i="0" u="none" strike="noStrike">
                          <a:solidFill>
                            <a:srgbClr val="000000"/>
                          </a:solidFill>
                          <a:effectLst/>
                          <a:latin typeface="+mn-lt"/>
                        </a:rPr>
                        <a:t>Customer Escalation?</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7291434"/>
                  </a:ext>
                </a:extLst>
              </a:tr>
              <a:tr h="0">
                <a:tc vMerge="1">
                  <a:txBody>
                    <a:bodyPr/>
                    <a:lstStyle/>
                    <a:p>
                      <a:endParaRPr lang="en-US"/>
                    </a:p>
                  </a:txBody>
                  <a:tcPr/>
                </a:tc>
                <a:tc vMerge="1">
                  <a:txBody>
                    <a:bodyPr/>
                    <a:lstStyle/>
                    <a:p>
                      <a:endParaRPr lang="en-US"/>
                    </a:p>
                  </a:txBody>
                  <a:tcPr/>
                </a:tc>
                <a:tc>
                  <a:txBody>
                    <a:bodyPr/>
                    <a:lstStyle/>
                    <a:p>
                      <a:pPr algn="l" fontAlgn="ctr"/>
                      <a:r>
                        <a:rPr lang="en-CA" sz="1200" b="0" i="0" u="none" strike="noStrike">
                          <a:solidFill>
                            <a:srgbClr val="000000"/>
                          </a:solidFill>
                          <a:effectLst/>
                          <a:latin typeface="+mn-lt"/>
                        </a:rPr>
                        <a:t>High value customer(s) impacted?</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3931375"/>
                  </a:ext>
                </a:extLst>
              </a:tr>
              <a:tr h="0">
                <a:tc vMerge="1">
                  <a:txBody>
                    <a:bodyPr/>
                    <a:lstStyle/>
                    <a:p>
                      <a:endParaRPr lang="en-US"/>
                    </a:p>
                  </a:txBody>
                  <a:tcPr/>
                </a:tc>
                <a:tc vMerge="1">
                  <a:txBody>
                    <a:bodyPr/>
                    <a:lstStyle/>
                    <a:p>
                      <a:endParaRPr lang="en-US"/>
                    </a:p>
                  </a:txBody>
                  <a:tcPr/>
                </a:tc>
                <a:tc>
                  <a:txBody>
                    <a:bodyPr/>
                    <a:lstStyle/>
                    <a:p>
                      <a:pPr algn="l" fontAlgn="ctr"/>
                      <a:r>
                        <a:rPr lang="en-US" sz="1200" b="0" i="0" u="none" strike="noStrike">
                          <a:solidFill>
                            <a:srgbClr val="000000"/>
                          </a:solidFill>
                          <a:effectLst/>
                          <a:latin typeface="+mn-lt"/>
                        </a:rPr>
                        <a:t>No. of Impacted accounts?</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CA" sz="1200" b="0" i="0" u="none" strike="noStrike">
                          <a:solidFill>
                            <a:srgbClr val="000000"/>
                          </a:solidFill>
                          <a:effectLst/>
                          <a:latin typeface="+mn-lt"/>
                        </a:rPr>
                        <a:t>N/A</a:t>
                      </a:r>
                      <a:endParaRPr lang="en-US" sz="1200" b="0" i="0" u="none" strike="noStrike">
                        <a:solidFill>
                          <a:srgbClr val="000000"/>
                        </a:solidFill>
                        <a:effectLst/>
                        <a:latin typeface="+mn-lt"/>
                      </a:endParaRP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701174"/>
                  </a:ext>
                </a:extLst>
              </a:tr>
              <a:tr h="0">
                <a:tc rowSpan="4">
                  <a:txBody>
                    <a:bodyPr/>
                    <a:lstStyle/>
                    <a:p>
                      <a:pPr algn="ctr" fontAlgn="ctr"/>
                      <a:r>
                        <a:rPr lang="en-US" sz="1200" b="1" i="0" u="none" strike="noStrike">
                          <a:solidFill>
                            <a:srgbClr val="000000"/>
                          </a:solidFill>
                          <a:effectLst/>
                          <a:latin typeface="+mn-lt"/>
                        </a:rPr>
                        <a:t>2</a:t>
                      </a:r>
                    </a:p>
                  </a:txBody>
                  <a:tcPr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a:txBody>
                    <a:bodyPr/>
                    <a:lstStyle/>
                    <a:p>
                      <a:pPr algn="l" fontAlgn="ctr"/>
                      <a:r>
                        <a:rPr lang="en-US" sz="1200" b="1" i="0" u="none" strike="noStrike">
                          <a:solidFill>
                            <a:srgbClr val="000000"/>
                          </a:solidFill>
                          <a:effectLst/>
                          <a:latin typeface="+mn-lt"/>
                        </a:rPr>
                        <a:t>Financial and reporting </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CA" sz="1200" b="0" i="0" u="none" strike="noStrike">
                          <a:solidFill>
                            <a:srgbClr val="000000"/>
                          </a:solidFill>
                          <a:effectLst/>
                          <a:latin typeface="+mn-lt"/>
                        </a:rPr>
                        <a:t>Is there any financial implication?</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4517283"/>
                  </a:ext>
                </a:extLst>
              </a:tr>
              <a:tr h="0">
                <a:tc vMerge="1">
                  <a:txBody>
                    <a:bodyPr/>
                    <a:lstStyle/>
                    <a:p>
                      <a:endParaRPr lang="en-US"/>
                    </a:p>
                  </a:txBody>
                  <a:tcPr/>
                </a:tc>
                <a:tc vMerge="1">
                  <a:txBody>
                    <a:bodyPr/>
                    <a:lstStyle/>
                    <a:p>
                      <a:endParaRPr lang="en-US"/>
                    </a:p>
                  </a:txBody>
                  <a:tcPr/>
                </a:tc>
                <a:tc>
                  <a:txBody>
                    <a:bodyPr/>
                    <a:lstStyle/>
                    <a:p>
                      <a:pPr algn="l" fontAlgn="ctr"/>
                      <a:r>
                        <a:rPr lang="en-US" sz="1200" b="0" i="0" u="none" strike="noStrike">
                          <a:solidFill>
                            <a:srgbClr val="000000"/>
                          </a:solidFill>
                          <a:effectLst/>
                          <a:latin typeface="+mn-lt"/>
                        </a:rPr>
                        <a:t>Risk reporting Impact?</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0762800"/>
                  </a:ext>
                </a:extLst>
              </a:tr>
              <a:tr h="0">
                <a:tc vMerge="1">
                  <a:txBody>
                    <a:bodyPr/>
                    <a:lstStyle/>
                    <a:p>
                      <a:endParaRPr lang="en-US"/>
                    </a:p>
                  </a:txBody>
                  <a:tcPr/>
                </a:tc>
                <a:tc vMerge="1">
                  <a:txBody>
                    <a:bodyPr/>
                    <a:lstStyle/>
                    <a:p>
                      <a:endParaRPr lang="en-US"/>
                    </a:p>
                  </a:txBody>
                  <a:tcPr/>
                </a:tc>
                <a:tc>
                  <a:txBody>
                    <a:bodyPr/>
                    <a:lstStyle/>
                    <a:p>
                      <a:pPr algn="l" fontAlgn="ctr"/>
                      <a:r>
                        <a:rPr lang="en-CA" sz="1200" b="0" i="0" u="none" strike="noStrike">
                          <a:solidFill>
                            <a:srgbClr val="000000"/>
                          </a:solidFill>
                          <a:effectLst/>
                          <a:latin typeface="+mn-lt"/>
                        </a:rPr>
                        <a:t>Is there a GL impact?</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1351378"/>
                  </a:ext>
                </a:extLst>
              </a:tr>
              <a:tr h="0">
                <a:tc vMerge="1">
                  <a:txBody>
                    <a:bodyPr/>
                    <a:lstStyle/>
                    <a:p>
                      <a:endParaRPr lang="en-US"/>
                    </a:p>
                  </a:txBody>
                  <a:tcPr/>
                </a:tc>
                <a:tc vMerge="1">
                  <a:txBody>
                    <a:bodyPr/>
                    <a:lstStyle/>
                    <a:p>
                      <a:endParaRPr lang="en-US"/>
                    </a:p>
                  </a:txBody>
                  <a:tcPr/>
                </a:tc>
                <a:tc>
                  <a:txBody>
                    <a:bodyPr/>
                    <a:lstStyle/>
                    <a:p>
                      <a:pPr algn="l" fontAlgn="ctr"/>
                      <a:r>
                        <a:rPr lang="en-US" sz="1200" b="0" i="0" u="none" strike="noStrike">
                          <a:solidFill>
                            <a:srgbClr val="000000"/>
                          </a:solidFill>
                          <a:effectLst/>
                          <a:latin typeface="+mn-lt"/>
                        </a:rPr>
                        <a:t>Impacted $ amount?</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CA" sz="1200" b="0" i="0" u="none" strike="noStrike">
                          <a:solidFill>
                            <a:srgbClr val="000000"/>
                          </a:solidFill>
                          <a:effectLst/>
                          <a:latin typeface="+mn-lt"/>
                        </a:rPr>
                        <a:t>N</a:t>
                      </a:r>
                      <a:r>
                        <a:rPr lang="en-US" sz="1200" b="0" i="0" u="none" strike="noStrike">
                          <a:solidFill>
                            <a:srgbClr val="000000"/>
                          </a:solidFill>
                          <a:effectLst/>
                          <a:latin typeface="+mn-lt"/>
                        </a:rPr>
                        <a:t>/A</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2657702"/>
                  </a:ext>
                </a:extLst>
              </a:tr>
              <a:tr h="0">
                <a:tc rowSpan="3">
                  <a:txBody>
                    <a:bodyPr/>
                    <a:lstStyle/>
                    <a:p>
                      <a:pPr algn="ctr" fontAlgn="ctr"/>
                      <a:r>
                        <a:rPr lang="en-US" sz="1200" b="1" i="0" u="none" strike="noStrike">
                          <a:solidFill>
                            <a:srgbClr val="000000"/>
                          </a:solidFill>
                          <a:effectLst/>
                          <a:latin typeface="+mn-lt"/>
                        </a:rPr>
                        <a:t>3</a:t>
                      </a:r>
                    </a:p>
                  </a:txBody>
                  <a:tcPr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l" fontAlgn="ctr"/>
                      <a:r>
                        <a:rPr lang="en-US" sz="1200" b="1" i="0" u="none" strike="noStrike">
                          <a:solidFill>
                            <a:srgbClr val="000000"/>
                          </a:solidFill>
                          <a:effectLst/>
                          <a:latin typeface="+mn-lt"/>
                        </a:rPr>
                        <a:t>Regulatory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CA" sz="1200" b="0" i="0" u="none" strike="noStrike">
                          <a:solidFill>
                            <a:srgbClr val="000000"/>
                          </a:solidFill>
                          <a:effectLst/>
                          <a:latin typeface="+mn-lt"/>
                        </a:rPr>
                        <a:t>Is regulatory document not generated/sent?</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6361667"/>
                  </a:ext>
                </a:extLst>
              </a:tr>
              <a:tr h="0">
                <a:tc vMerge="1">
                  <a:txBody>
                    <a:bodyPr/>
                    <a:lstStyle/>
                    <a:p>
                      <a:endParaRPr lang="en-US"/>
                    </a:p>
                  </a:txBody>
                  <a:tcPr/>
                </a:tc>
                <a:tc vMerge="1">
                  <a:txBody>
                    <a:bodyPr/>
                    <a:lstStyle/>
                    <a:p>
                      <a:endParaRPr lang="en-US"/>
                    </a:p>
                  </a:txBody>
                  <a:tcPr/>
                </a:tc>
                <a:tc>
                  <a:txBody>
                    <a:bodyPr/>
                    <a:lstStyle/>
                    <a:p>
                      <a:pPr algn="l" fontAlgn="ctr"/>
                      <a:r>
                        <a:rPr lang="en-CA" sz="1200" b="0" i="0" u="none" strike="noStrike">
                          <a:solidFill>
                            <a:srgbClr val="000000"/>
                          </a:solidFill>
                          <a:effectLst/>
                          <a:latin typeface="+mn-lt"/>
                        </a:rPr>
                        <a:t>Is regulatory report not generated?</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9121643"/>
                  </a:ext>
                </a:extLst>
              </a:tr>
              <a:tr h="118862">
                <a:tc vMerge="1">
                  <a:txBody>
                    <a:bodyPr/>
                    <a:lstStyle/>
                    <a:p>
                      <a:endParaRPr lang="en-US"/>
                    </a:p>
                  </a:txBody>
                  <a:tcPr/>
                </a:tc>
                <a:tc vMerge="1">
                  <a:txBody>
                    <a:bodyPr/>
                    <a:lstStyle/>
                    <a:p>
                      <a:endParaRPr lang="en-US"/>
                    </a:p>
                  </a:txBody>
                  <a:tcPr/>
                </a:tc>
                <a:tc>
                  <a:txBody>
                    <a:bodyPr/>
                    <a:lstStyle/>
                    <a:p>
                      <a:pPr algn="l" fontAlgn="ctr"/>
                      <a:r>
                        <a:rPr lang="en-CA" sz="1200" b="0" i="0" u="none" strike="noStrike">
                          <a:solidFill>
                            <a:srgbClr val="000000"/>
                          </a:solidFill>
                          <a:effectLst/>
                          <a:latin typeface="+mn-lt"/>
                        </a:rPr>
                        <a:t>Is there a non-conformance to risk appetite?</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318452"/>
                  </a:ext>
                </a:extLst>
              </a:tr>
              <a:tr h="0">
                <a:tc>
                  <a:txBody>
                    <a:bodyPr/>
                    <a:lstStyle/>
                    <a:p>
                      <a:pPr algn="ctr" fontAlgn="ctr"/>
                      <a:r>
                        <a:rPr lang="en-US" sz="1200" b="1" i="0" u="none" strike="noStrike">
                          <a:solidFill>
                            <a:srgbClr val="000000"/>
                          </a:solidFill>
                          <a:effectLst/>
                          <a:latin typeface="+mn-lt"/>
                        </a:rPr>
                        <a:t>4</a:t>
                      </a:r>
                    </a:p>
                  </a:txBody>
                  <a:tcPr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1" i="0" u="none" strike="noStrike">
                          <a:solidFill>
                            <a:srgbClr val="000000"/>
                          </a:solidFill>
                          <a:effectLst/>
                          <a:latin typeface="+mn-lt"/>
                        </a:rPr>
                        <a:t>Privacy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CA" sz="1200" b="0" i="0" u="none" strike="noStrike">
                          <a:solidFill>
                            <a:srgbClr val="000000"/>
                          </a:solidFill>
                          <a:effectLst/>
                          <a:latin typeface="+mn-lt"/>
                        </a:rPr>
                        <a:t>Is this a Privacy issue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5449372"/>
                  </a:ext>
                </a:extLst>
              </a:tr>
              <a:tr h="0">
                <a:tc rowSpan="6">
                  <a:txBody>
                    <a:bodyPr/>
                    <a:lstStyle/>
                    <a:p>
                      <a:pPr algn="ctr" fontAlgn="ctr"/>
                      <a:r>
                        <a:rPr lang="en-US" sz="1200" b="1" i="0" u="none" strike="noStrike">
                          <a:solidFill>
                            <a:srgbClr val="000000"/>
                          </a:solidFill>
                          <a:effectLst/>
                          <a:latin typeface="+mn-lt"/>
                        </a:rPr>
                        <a:t>5</a:t>
                      </a:r>
                    </a:p>
                  </a:txBody>
                  <a:tcPr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6">
                  <a:txBody>
                    <a:bodyPr/>
                    <a:lstStyle/>
                    <a:p>
                      <a:pPr algn="l" fontAlgn="ctr"/>
                      <a:r>
                        <a:rPr lang="en-US" sz="1200" b="1" i="0" u="none" strike="noStrike">
                          <a:solidFill>
                            <a:srgbClr val="000000"/>
                          </a:solidFill>
                          <a:effectLst/>
                          <a:latin typeface="+mn-lt"/>
                        </a:rPr>
                        <a:t>Technology &amp; Business operations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CA" sz="1200" b="0" i="0" u="none" strike="noStrike">
                          <a:solidFill>
                            <a:srgbClr val="000000"/>
                          </a:solidFill>
                          <a:effectLst/>
                          <a:latin typeface="+mn-lt"/>
                        </a:rPr>
                        <a:t>Likely to delay a downstream system (feed dependency) coming up on time for business usage?</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N/A</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3275702"/>
                  </a:ext>
                </a:extLst>
              </a:tr>
              <a:tr h="0">
                <a:tc vMerge="1">
                  <a:txBody>
                    <a:bodyPr/>
                    <a:lstStyle/>
                    <a:p>
                      <a:endParaRPr lang="en-US"/>
                    </a:p>
                  </a:txBody>
                  <a:tcPr/>
                </a:tc>
                <a:tc vMerge="1">
                  <a:txBody>
                    <a:bodyPr/>
                    <a:lstStyle/>
                    <a:p>
                      <a:endParaRPr lang="en-US"/>
                    </a:p>
                  </a:txBody>
                  <a:tcPr/>
                </a:tc>
                <a:tc>
                  <a:txBody>
                    <a:bodyPr/>
                    <a:lstStyle/>
                    <a:p>
                      <a:pPr algn="l" fontAlgn="ctr"/>
                      <a:r>
                        <a:rPr lang="en-CA" sz="1200" b="0" i="0" u="none" strike="noStrike">
                          <a:solidFill>
                            <a:srgbClr val="000000"/>
                          </a:solidFill>
                          <a:effectLst/>
                          <a:latin typeface="+mn-lt"/>
                        </a:rPr>
                        <a:t>Does the issue prevent a batch process from starting or continuing in case already started?</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0477920"/>
                  </a:ext>
                </a:extLst>
              </a:tr>
              <a:tr h="0">
                <a:tc vMerge="1">
                  <a:txBody>
                    <a:bodyPr/>
                    <a:lstStyle/>
                    <a:p>
                      <a:endParaRPr lang="en-US"/>
                    </a:p>
                  </a:txBody>
                  <a:tcPr/>
                </a:tc>
                <a:tc vMerge="1">
                  <a:txBody>
                    <a:bodyPr/>
                    <a:lstStyle/>
                    <a:p>
                      <a:endParaRPr lang="en-US"/>
                    </a:p>
                  </a:txBody>
                  <a:tcPr/>
                </a:tc>
                <a:tc>
                  <a:txBody>
                    <a:bodyPr/>
                    <a:lstStyle/>
                    <a:p>
                      <a:pPr algn="l" fontAlgn="ctr"/>
                      <a:r>
                        <a:rPr lang="en-CA" sz="1200" b="0" i="0" u="none" strike="noStrike">
                          <a:solidFill>
                            <a:srgbClr val="000000"/>
                          </a:solidFill>
                          <a:effectLst/>
                          <a:latin typeface="+mn-lt"/>
                        </a:rPr>
                        <a:t>Can the issue trigger or cause a potential system/application outage?</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795349"/>
                  </a:ext>
                </a:extLst>
              </a:tr>
              <a:tr h="0">
                <a:tc vMerge="1">
                  <a:txBody>
                    <a:bodyPr/>
                    <a:lstStyle/>
                    <a:p>
                      <a:endParaRPr lang="en-US"/>
                    </a:p>
                  </a:txBody>
                  <a:tcPr/>
                </a:tc>
                <a:tc vMerge="1">
                  <a:txBody>
                    <a:bodyPr/>
                    <a:lstStyle/>
                    <a:p>
                      <a:endParaRPr lang="en-US"/>
                    </a:p>
                  </a:txBody>
                  <a:tcPr/>
                </a:tc>
                <a:tc>
                  <a:txBody>
                    <a:bodyPr/>
                    <a:lstStyle/>
                    <a:p>
                      <a:pPr algn="l" fontAlgn="ctr"/>
                      <a:r>
                        <a:rPr lang="en-CA" sz="1200" b="0" i="0" u="none" strike="noStrike">
                          <a:solidFill>
                            <a:srgbClr val="000000"/>
                          </a:solidFill>
                          <a:effectLst/>
                          <a:latin typeface="+mn-lt"/>
                        </a:rPr>
                        <a:t>Is there an impact to the business operations process?</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No</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186868"/>
                  </a:ext>
                </a:extLst>
              </a:tr>
              <a:tr h="0">
                <a:tc vMerge="1">
                  <a:txBody>
                    <a:bodyPr/>
                    <a:lstStyle/>
                    <a:p>
                      <a:endParaRPr lang="en-US"/>
                    </a:p>
                  </a:txBody>
                  <a:tcPr/>
                </a:tc>
                <a:tc vMerge="1">
                  <a:txBody>
                    <a:bodyPr/>
                    <a:lstStyle/>
                    <a:p>
                      <a:endParaRPr lang="en-US"/>
                    </a:p>
                  </a:txBody>
                  <a:tcPr/>
                </a:tc>
                <a:tc>
                  <a:txBody>
                    <a:bodyPr/>
                    <a:lstStyle/>
                    <a:p>
                      <a:pPr algn="l" fontAlgn="ctr"/>
                      <a:r>
                        <a:rPr lang="en-CA" sz="1200" b="0" i="0" u="none" strike="noStrike">
                          <a:solidFill>
                            <a:srgbClr val="000000"/>
                          </a:solidFill>
                          <a:effectLst/>
                          <a:latin typeface="+mn-lt"/>
                        </a:rPr>
                        <a:t>No. of Business Users Impacted?</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CA" sz="1200" b="0" i="0" u="none" strike="noStrike">
                          <a:solidFill>
                            <a:srgbClr val="000000"/>
                          </a:solidFill>
                          <a:effectLst/>
                          <a:latin typeface="+mn-lt"/>
                        </a:rPr>
                        <a:t>&gt;2</a:t>
                      </a:r>
                      <a:endParaRPr lang="en-US" sz="1200" b="0" i="0" u="none" strike="noStrike">
                        <a:solidFill>
                          <a:srgbClr val="000000"/>
                        </a:solidFill>
                        <a:effectLst/>
                        <a:latin typeface="+mn-lt"/>
                      </a:endParaRP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1053831"/>
                  </a:ext>
                </a:extLst>
              </a:tr>
              <a:tr h="239423">
                <a:tc vMerge="1">
                  <a:txBody>
                    <a:bodyPr/>
                    <a:lstStyle/>
                    <a:p>
                      <a:endParaRPr lang="en-US"/>
                    </a:p>
                  </a:txBody>
                  <a:tcPr/>
                </a:tc>
                <a:tc vMerge="1">
                  <a:txBody>
                    <a:bodyPr/>
                    <a:lstStyle/>
                    <a:p>
                      <a:endParaRPr lang="en-US"/>
                    </a:p>
                  </a:txBody>
                  <a:tcPr/>
                </a:tc>
                <a:tc>
                  <a:txBody>
                    <a:bodyPr/>
                    <a:lstStyle/>
                    <a:p>
                      <a:pPr algn="l" fontAlgn="ctr"/>
                      <a:r>
                        <a:rPr lang="en-US" sz="1200" b="0" i="0" u="none" strike="noStrike">
                          <a:solidFill>
                            <a:srgbClr val="000000"/>
                          </a:solidFill>
                          <a:effectLst/>
                          <a:latin typeface="+mn-lt"/>
                        </a:rPr>
                        <a:t>Is there a workaround?</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n-lt"/>
                        </a:rPr>
                        <a:t>Yes</a:t>
                      </a:r>
                    </a:p>
                  </a:txBody>
                  <a:tcPr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7313662"/>
                  </a:ext>
                </a:extLst>
              </a:tr>
            </a:tbl>
          </a:graphicData>
        </a:graphic>
      </p:graphicFrame>
      <p:graphicFrame>
        <p:nvGraphicFramePr>
          <p:cNvPr id="3" name="Table 2">
            <a:extLst>
              <a:ext uri="{FF2B5EF4-FFF2-40B4-BE49-F238E27FC236}">
                <a16:creationId xmlns:a16="http://schemas.microsoft.com/office/drawing/2014/main" id="{75011F44-9C62-4958-07A7-C7A71EF8A512}"/>
              </a:ext>
            </a:extLst>
          </p:cNvPr>
          <p:cNvGraphicFramePr>
            <a:graphicFrameLocks noGrp="1"/>
          </p:cNvGraphicFramePr>
          <p:nvPr/>
        </p:nvGraphicFramePr>
        <p:xfrm>
          <a:off x="7362333" y="6363612"/>
          <a:ext cx="3194032" cy="295484"/>
        </p:xfrm>
        <a:graphic>
          <a:graphicData uri="http://schemas.openxmlformats.org/drawingml/2006/table">
            <a:tbl>
              <a:tblPr/>
              <a:tblGrid>
                <a:gridCol w="2354370">
                  <a:extLst>
                    <a:ext uri="{9D8B030D-6E8A-4147-A177-3AD203B41FA5}">
                      <a16:colId xmlns:a16="http://schemas.microsoft.com/office/drawing/2014/main" val="20000"/>
                    </a:ext>
                  </a:extLst>
                </a:gridCol>
                <a:gridCol w="839662">
                  <a:extLst>
                    <a:ext uri="{9D8B030D-6E8A-4147-A177-3AD203B41FA5}">
                      <a16:colId xmlns:a16="http://schemas.microsoft.com/office/drawing/2014/main" val="20001"/>
                    </a:ext>
                  </a:extLst>
                </a:gridCol>
              </a:tblGrid>
              <a:tr h="295484">
                <a:tc>
                  <a:txBody>
                    <a:bodyPr/>
                    <a:lstStyle>
                      <a:lvl1pPr marL="0" eaLnBrk="1" hangingPunct="1">
                        <a:defRPr>
                          <a:solidFill>
                            <a:schemeClr val="dk1"/>
                          </a:solidFill>
                          <a:latin typeface="Trebuchet MS"/>
                        </a:defRPr>
                      </a:lvl1pPr>
                      <a:lvl2pPr marL="277222" eaLnBrk="1" hangingPunct="1">
                        <a:defRPr>
                          <a:solidFill>
                            <a:schemeClr val="dk1"/>
                          </a:solidFill>
                          <a:latin typeface="Trebuchet MS"/>
                        </a:defRPr>
                      </a:lvl2pPr>
                      <a:lvl3pPr marL="554445" eaLnBrk="1" hangingPunct="1">
                        <a:defRPr>
                          <a:solidFill>
                            <a:schemeClr val="dk1"/>
                          </a:solidFill>
                          <a:latin typeface="Trebuchet MS"/>
                        </a:defRPr>
                      </a:lvl3pPr>
                      <a:lvl4pPr marL="831667" eaLnBrk="1" hangingPunct="1">
                        <a:defRPr>
                          <a:solidFill>
                            <a:schemeClr val="dk1"/>
                          </a:solidFill>
                          <a:latin typeface="Trebuchet MS"/>
                        </a:defRPr>
                      </a:lvl4pPr>
                      <a:lvl5pPr marL="1108890" eaLnBrk="1" hangingPunct="1">
                        <a:defRPr>
                          <a:solidFill>
                            <a:schemeClr val="dk1"/>
                          </a:solidFill>
                          <a:latin typeface="Trebuchet MS"/>
                        </a:defRPr>
                      </a:lvl5pPr>
                      <a:lvl6pPr marL="1386113" eaLnBrk="1" hangingPunct="1">
                        <a:defRPr>
                          <a:solidFill>
                            <a:schemeClr val="dk1"/>
                          </a:solidFill>
                          <a:latin typeface="Trebuchet MS"/>
                        </a:defRPr>
                      </a:lvl6pPr>
                      <a:lvl7pPr marL="1663336" eaLnBrk="1" hangingPunct="1">
                        <a:defRPr>
                          <a:solidFill>
                            <a:schemeClr val="dk1"/>
                          </a:solidFill>
                          <a:latin typeface="Trebuchet MS"/>
                        </a:defRPr>
                      </a:lvl7pPr>
                      <a:lvl8pPr marL="1940557" eaLnBrk="1" hangingPunct="1">
                        <a:defRPr>
                          <a:solidFill>
                            <a:schemeClr val="dk1"/>
                          </a:solidFill>
                          <a:latin typeface="Trebuchet MS"/>
                        </a:defRPr>
                      </a:lvl8pPr>
                      <a:lvl9pPr marL="2217781" eaLnBrk="1" hangingPunct="1">
                        <a:defRPr>
                          <a:solidFill>
                            <a:schemeClr val="dk1"/>
                          </a:solidFill>
                          <a:latin typeface="Trebuchet MS"/>
                        </a:defRPr>
                      </a:lvl9pPr>
                    </a:lstStyle>
                    <a:p>
                      <a:pPr algn="ctr" fontAlgn="b"/>
                      <a:r>
                        <a:rPr lang="en-US" sz="1200" b="1" u="none" strike="noStrike">
                          <a:solidFill>
                            <a:schemeClr val="bg1"/>
                          </a:solidFill>
                          <a:effectLst/>
                          <a:latin typeface="+mn-lt"/>
                          <a:cs typeface="Segoe UI" panose="020B0502040204020203" pitchFamily="34" charset="0"/>
                        </a:rPr>
                        <a:t>Defect Weight</a:t>
                      </a:r>
                      <a:endParaRPr lang="en-US" sz="1000" b="1" i="0" u="none" strike="noStrike">
                        <a:solidFill>
                          <a:schemeClr val="bg1"/>
                        </a:solidFill>
                        <a:effectLst/>
                        <a:latin typeface="+mn-lt"/>
                        <a:cs typeface="Segoe UI" panose="020B0502040204020203" pitchFamily="34" charset="0"/>
                      </a:endParaRPr>
                    </a:p>
                  </a:txBody>
                  <a:tcPr anchor="ctr">
                    <a:lnL w="19050" cap="flat" cmpd="sng" algn="ctr">
                      <a:solidFill>
                        <a:schemeClr val="tx1"/>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lvl1pPr marL="0" eaLnBrk="1" hangingPunct="1">
                        <a:defRPr>
                          <a:solidFill>
                            <a:schemeClr val="dk1"/>
                          </a:solidFill>
                          <a:latin typeface="Trebuchet MS"/>
                        </a:defRPr>
                      </a:lvl1pPr>
                      <a:lvl2pPr marL="277222" eaLnBrk="1" hangingPunct="1">
                        <a:defRPr>
                          <a:solidFill>
                            <a:schemeClr val="dk1"/>
                          </a:solidFill>
                          <a:latin typeface="Trebuchet MS"/>
                        </a:defRPr>
                      </a:lvl2pPr>
                      <a:lvl3pPr marL="554445" eaLnBrk="1" hangingPunct="1">
                        <a:defRPr>
                          <a:solidFill>
                            <a:schemeClr val="dk1"/>
                          </a:solidFill>
                          <a:latin typeface="Trebuchet MS"/>
                        </a:defRPr>
                      </a:lvl3pPr>
                      <a:lvl4pPr marL="831667" eaLnBrk="1" hangingPunct="1">
                        <a:defRPr>
                          <a:solidFill>
                            <a:schemeClr val="dk1"/>
                          </a:solidFill>
                          <a:latin typeface="Trebuchet MS"/>
                        </a:defRPr>
                      </a:lvl4pPr>
                      <a:lvl5pPr marL="1108890" eaLnBrk="1" hangingPunct="1">
                        <a:defRPr>
                          <a:solidFill>
                            <a:schemeClr val="dk1"/>
                          </a:solidFill>
                          <a:latin typeface="Trebuchet MS"/>
                        </a:defRPr>
                      </a:lvl5pPr>
                      <a:lvl6pPr marL="1386113" eaLnBrk="1" hangingPunct="1">
                        <a:defRPr>
                          <a:solidFill>
                            <a:schemeClr val="dk1"/>
                          </a:solidFill>
                          <a:latin typeface="Trebuchet MS"/>
                        </a:defRPr>
                      </a:lvl6pPr>
                      <a:lvl7pPr marL="1663336" eaLnBrk="1" hangingPunct="1">
                        <a:defRPr>
                          <a:solidFill>
                            <a:schemeClr val="dk1"/>
                          </a:solidFill>
                          <a:latin typeface="Trebuchet MS"/>
                        </a:defRPr>
                      </a:lvl7pPr>
                      <a:lvl8pPr marL="1940557" eaLnBrk="1" hangingPunct="1">
                        <a:defRPr>
                          <a:solidFill>
                            <a:schemeClr val="dk1"/>
                          </a:solidFill>
                          <a:latin typeface="Trebuchet MS"/>
                        </a:defRPr>
                      </a:lvl8pPr>
                      <a:lvl9pPr marL="2217781" eaLnBrk="1" hangingPunct="1">
                        <a:defRPr>
                          <a:solidFill>
                            <a:schemeClr val="dk1"/>
                          </a:solidFill>
                          <a:latin typeface="Trebuchet MS"/>
                        </a:defRPr>
                      </a:lvl9pPr>
                    </a:lstStyle>
                    <a:p>
                      <a:pPr algn="ctr" fontAlgn="b"/>
                      <a:r>
                        <a:rPr lang="en-CA" sz="1200" u="none" strike="noStrike" kern="1200">
                          <a:solidFill>
                            <a:schemeClr val="dk1"/>
                          </a:solidFill>
                          <a:effectLst/>
                          <a:latin typeface="+mn-lt"/>
                          <a:ea typeface="+mn-ea"/>
                          <a:cs typeface="Segoe UI" panose="020B0502040204020203" pitchFamily="34" charset="0"/>
                        </a:rPr>
                        <a:t>1</a:t>
                      </a:r>
                      <a:endParaRPr lang="en-US" sz="1200" u="none" strike="noStrike" kern="1200">
                        <a:solidFill>
                          <a:schemeClr val="dk1"/>
                        </a:solidFill>
                        <a:effectLst/>
                        <a:latin typeface="+mn-lt"/>
                        <a:ea typeface="+mn-ea"/>
                        <a:cs typeface="Segoe UI" panose="020B0502040204020203" pitchFamily="34" charset="0"/>
                      </a:endParaRPr>
                    </a:p>
                  </a:txBody>
                  <a:tcPr anchor="ctr">
                    <a:lnL w="12700" cap="flat" cmpd="sng" algn="ctr">
                      <a:solidFill>
                        <a:sysClr val="window" lastClr="FFFFFF"/>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056898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68C949F-DA88-4775-AB00-1382A67FAE72}"/>
              </a:ext>
            </a:extLst>
          </p:cNvPr>
          <p:cNvSpPr txBox="1">
            <a:spLocks/>
          </p:cNvSpPr>
          <p:nvPr/>
        </p:nvSpPr>
        <p:spPr>
          <a:xfrm>
            <a:off x="147717" y="112213"/>
            <a:ext cx="11292840"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CA" sz="2800"/>
              <a:t> CB&amp;PT Out of Release - 6 Months View </a:t>
            </a:r>
          </a:p>
        </p:txBody>
      </p:sp>
      <p:graphicFrame>
        <p:nvGraphicFramePr>
          <p:cNvPr id="4" name="Table 3">
            <a:extLst>
              <a:ext uri="{FF2B5EF4-FFF2-40B4-BE49-F238E27FC236}">
                <a16:creationId xmlns:a16="http://schemas.microsoft.com/office/drawing/2014/main" id="{D2346CA4-0EA4-0FE1-FB00-2C27DDA7AFB9}"/>
              </a:ext>
            </a:extLst>
          </p:cNvPr>
          <p:cNvGraphicFramePr>
            <a:graphicFrameLocks noGrp="1"/>
          </p:cNvGraphicFramePr>
          <p:nvPr>
            <p:extLst>
              <p:ext uri="{D42A27DB-BD31-4B8C-83A1-F6EECF244321}">
                <p14:modId xmlns:p14="http://schemas.microsoft.com/office/powerpoint/2010/main" val="2745343826"/>
              </p:ext>
            </p:extLst>
          </p:nvPr>
        </p:nvGraphicFramePr>
        <p:xfrm>
          <a:off x="686097" y="710451"/>
          <a:ext cx="10515006" cy="5010236"/>
        </p:xfrm>
        <a:graphic>
          <a:graphicData uri="http://schemas.openxmlformats.org/drawingml/2006/table">
            <a:tbl>
              <a:tblPr/>
              <a:tblGrid>
                <a:gridCol w="1169810">
                  <a:extLst>
                    <a:ext uri="{9D8B030D-6E8A-4147-A177-3AD203B41FA5}">
                      <a16:colId xmlns:a16="http://schemas.microsoft.com/office/drawing/2014/main" val="3921974916"/>
                    </a:ext>
                  </a:extLst>
                </a:gridCol>
                <a:gridCol w="3509435">
                  <a:extLst>
                    <a:ext uri="{9D8B030D-6E8A-4147-A177-3AD203B41FA5}">
                      <a16:colId xmlns:a16="http://schemas.microsoft.com/office/drawing/2014/main" val="305218226"/>
                    </a:ext>
                  </a:extLst>
                </a:gridCol>
                <a:gridCol w="1289451">
                  <a:extLst>
                    <a:ext uri="{9D8B030D-6E8A-4147-A177-3AD203B41FA5}">
                      <a16:colId xmlns:a16="http://schemas.microsoft.com/office/drawing/2014/main" val="1462335415"/>
                    </a:ext>
                  </a:extLst>
                </a:gridCol>
                <a:gridCol w="744425">
                  <a:extLst>
                    <a:ext uri="{9D8B030D-6E8A-4147-A177-3AD203B41FA5}">
                      <a16:colId xmlns:a16="http://schemas.microsoft.com/office/drawing/2014/main" val="1051291714"/>
                    </a:ext>
                  </a:extLst>
                </a:gridCol>
                <a:gridCol w="1156517">
                  <a:extLst>
                    <a:ext uri="{9D8B030D-6E8A-4147-A177-3AD203B41FA5}">
                      <a16:colId xmlns:a16="http://schemas.microsoft.com/office/drawing/2014/main" val="4069904621"/>
                    </a:ext>
                  </a:extLst>
                </a:gridCol>
                <a:gridCol w="2645368">
                  <a:extLst>
                    <a:ext uri="{9D8B030D-6E8A-4147-A177-3AD203B41FA5}">
                      <a16:colId xmlns:a16="http://schemas.microsoft.com/office/drawing/2014/main" val="2503122668"/>
                    </a:ext>
                  </a:extLst>
                </a:gridCol>
              </a:tblGrid>
              <a:tr h="156570">
                <a:tc>
                  <a:txBody>
                    <a:bodyPr/>
                    <a:lstStyle/>
                    <a:p>
                      <a:pPr algn="ctr" fontAlgn="b">
                        <a:buNone/>
                      </a:pPr>
                      <a:r>
                        <a:rPr lang="en-US" sz="850" b="1" i="0" u="none" strike="noStrike">
                          <a:solidFill>
                            <a:srgbClr val="FFFFFF"/>
                          </a:solidFill>
                          <a:effectLst/>
                          <a:latin typeface="Arial" panose="020B0604020202020204" pitchFamily="34" charset="0"/>
                        </a:rPr>
                        <a:t>Intake #</a:t>
                      </a:r>
                    </a:p>
                  </a:txBody>
                  <a:tcPr marL="1688" marR="1688" marT="1688" marB="0" anchor="ctr">
                    <a:lnL>
                      <a:noFill/>
                    </a:lnL>
                    <a:lnR>
                      <a:noFill/>
                    </a:lnR>
                    <a:lnT w="6350" cap="flat" cmpd="sng" algn="ctr">
                      <a:solidFill>
                        <a:srgbClr val="44B3E1"/>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0F9ED5"/>
                    </a:solidFill>
                  </a:tcPr>
                </a:tc>
                <a:tc>
                  <a:txBody>
                    <a:bodyPr/>
                    <a:lstStyle/>
                    <a:p>
                      <a:pPr algn="ctr" fontAlgn="b">
                        <a:buNone/>
                      </a:pPr>
                      <a:r>
                        <a:rPr lang="en-US" sz="850" b="1" i="0" u="none" strike="noStrike">
                          <a:solidFill>
                            <a:srgbClr val="FFFFFF"/>
                          </a:solidFill>
                          <a:effectLst/>
                          <a:latin typeface="Arial" panose="020B0604020202020204" pitchFamily="34" charset="0"/>
                        </a:rPr>
                        <a:t>Initiative Name</a:t>
                      </a:r>
                    </a:p>
                  </a:txBody>
                  <a:tcPr marL="1688" marR="1688" marT="1688" marB="0" anchor="ctr">
                    <a:lnL>
                      <a:noFill/>
                    </a:lnL>
                    <a:lnR>
                      <a:noFill/>
                    </a:lnR>
                    <a:lnT w="6350" cap="flat" cmpd="sng" algn="ctr">
                      <a:solidFill>
                        <a:srgbClr val="44B3E1"/>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0F9ED5"/>
                    </a:solidFill>
                  </a:tcPr>
                </a:tc>
                <a:tc>
                  <a:txBody>
                    <a:bodyPr/>
                    <a:lstStyle/>
                    <a:p>
                      <a:pPr algn="ctr" fontAlgn="b">
                        <a:buNone/>
                      </a:pPr>
                      <a:r>
                        <a:rPr lang="en-US" sz="850" b="1" i="0" u="none" strike="noStrike">
                          <a:solidFill>
                            <a:srgbClr val="FFFFFF"/>
                          </a:solidFill>
                          <a:effectLst/>
                          <a:latin typeface="Arial" panose="020B0604020202020204" pitchFamily="34" charset="0"/>
                        </a:rPr>
                        <a:t>Implementation</a:t>
                      </a:r>
                    </a:p>
                  </a:txBody>
                  <a:tcPr marL="1688" marR="1688" marT="1688" marB="0" anchor="ctr">
                    <a:lnL>
                      <a:noFill/>
                    </a:lnL>
                    <a:lnR>
                      <a:noFill/>
                    </a:lnR>
                    <a:lnT w="6350" cap="flat" cmpd="sng" algn="ctr">
                      <a:solidFill>
                        <a:srgbClr val="44B3E1"/>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0F9ED5"/>
                    </a:solidFill>
                  </a:tcPr>
                </a:tc>
                <a:tc>
                  <a:txBody>
                    <a:bodyPr/>
                    <a:lstStyle/>
                    <a:p>
                      <a:pPr algn="ctr" fontAlgn="b">
                        <a:buNone/>
                      </a:pPr>
                      <a:r>
                        <a:rPr lang="en-US" sz="850" b="1" i="0" u="none" strike="noStrike">
                          <a:solidFill>
                            <a:srgbClr val="FFFFFF"/>
                          </a:solidFill>
                          <a:effectLst/>
                          <a:latin typeface="Arial" panose="020B0604020202020204" pitchFamily="34" charset="0"/>
                        </a:rPr>
                        <a:t>PM</a:t>
                      </a:r>
                    </a:p>
                  </a:txBody>
                  <a:tcPr marL="1688" marR="1688" marT="1688" marB="0" anchor="ctr">
                    <a:lnL>
                      <a:noFill/>
                    </a:lnL>
                    <a:lnR>
                      <a:noFill/>
                    </a:lnR>
                    <a:lnT w="6350" cap="flat" cmpd="sng" algn="ctr">
                      <a:solidFill>
                        <a:srgbClr val="44B3E1"/>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0F9ED5"/>
                    </a:solidFill>
                  </a:tcPr>
                </a:tc>
                <a:tc>
                  <a:txBody>
                    <a:bodyPr/>
                    <a:lstStyle/>
                    <a:p>
                      <a:pPr algn="ctr" fontAlgn="b">
                        <a:buNone/>
                      </a:pPr>
                      <a:r>
                        <a:rPr lang="en-US" sz="850" b="1" i="0" u="none" strike="noStrike">
                          <a:solidFill>
                            <a:srgbClr val="FFFFFF"/>
                          </a:solidFill>
                          <a:effectLst/>
                          <a:latin typeface="Arial" panose="020B0604020202020204" pitchFamily="34" charset="0"/>
                        </a:rPr>
                        <a:t>Change Type</a:t>
                      </a:r>
                    </a:p>
                  </a:txBody>
                  <a:tcPr marL="1688" marR="1688" marT="1688" marB="0" anchor="ctr">
                    <a:lnL>
                      <a:noFill/>
                    </a:lnL>
                    <a:lnR>
                      <a:noFill/>
                    </a:lnR>
                    <a:lnT w="6350" cap="flat" cmpd="sng" algn="ctr">
                      <a:solidFill>
                        <a:srgbClr val="44B3E1"/>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0F9ED5"/>
                    </a:solidFill>
                  </a:tcPr>
                </a:tc>
                <a:tc>
                  <a:txBody>
                    <a:bodyPr/>
                    <a:lstStyle/>
                    <a:p>
                      <a:pPr algn="ctr" fontAlgn="b">
                        <a:buNone/>
                      </a:pPr>
                      <a:r>
                        <a:rPr lang="en-US" sz="850" b="1" i="0" u="none" strike="noStrike">
                          <a:solidFill>
                            <a:srgbClr val="FFFFFF"/>
                          </a:solidFill>
                          <a:effectLst/>
                          <a:latin typeface="Arial" panose="020B0604020202020204" pitchFamily="34" charset="0"/>
                        </a:rPr>
                        <a:t>Apps (Changed)</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0F9ED5"/>
                    </a:solidFill>
                  </a:tcPr>
                </a:tc>
                <a:extLst>
                  <a:ext uri="{0D108BD9-81ED-4DB2-BD59-A6C34878D82A}">
                    <a16:rowId xmlns:a16="http://schemas.microsoft.com/office/drawing/2014/main" val="3223622806"/>
                  </a:ext>
                </a:extLst>
              </a:tr>
              <a:tr h="156570">
                <a:tc>
                  <a:txBody>
                    <a:bodyPr/>
                    <a:lstStyle/>
                    <a:p>
                      <a:pPr algn="ctr" fontAlgn="b">
                        <a:buNone/>
                      </a:pPr>
                      <a:r>
                        <a:rPr lang="en-US" sz="850" b="0" i="0" u="none" strike="noStrike">
                          <a:solidFill>
                            <a:srgbClr val="000000"/>
                          </a:solidFill>
                          <a:effectLst/>
                          <a:latin typeface="Arial" panose="020B0604020202020204" pitchFamily="34" charset="0"/>
                        </a:rPr>
                        <a:t>PRB0032950</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PRB0032950</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10/10/2025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Majinder</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Problem Record</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PCA/SAV</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2549196843"/>
                  </a:ext>
                </a:extLst>
              </a:tr>
              <a:tr h="156570">
                <a:tc>
                  <a:txBody>
                    <a:bodyPr/>
                    <a:lstStyle/>
                    <a:p>
                      <a:pPr algn="ctr" fontAlgn="b">
                        <a:buNone/>
                      </a:pPr>
                      <a:r>
                        <a:rPr lang="en-US" sz="850" b="0" i="0" u="none" strike="noStrike">
                          <a:solidFill>
                            <a:srgbClr val="000000"/>
                          </a:solidFill>
                          <a:effectLst/>
                          <a:latin typeface="Arial" panose="020B0604020202020204" pitchFamily="34" charset="0"/>
                        </a:rPr>
                        <a:t>16298</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CA" sz="850" b="0" i="0" u="none" strike="noStrike">
                          <a:solidFill>
                            <a:srgbClr val="000000"/>
                          </a:solidFill>
                          <a:effectLst/>
                          <a:latin typeface="Arial" panose="020B0604020202020204" pitchFamily="34" charset="0"/>
                        </a:rPr>
                        <a:t>Migrate historical document from FileNet to ECM</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10/11/2025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Sumit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Project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ECM</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1726008921"/>
                  </a:ext>
                </a:extLst>
              </a:tr>
              <a:tr h="156570">
                <a:tc>
                  <a:txBody>
                    <a:bodyPr/>
                    <a:lstStyle/>
                    <a:p>
                      <a:pPr algn="ctr" fontAlgn="b">
                        <a:buNone/>
                      </a:pPr>
                      <a:r>
                        <a:rPr lang="en-US" sz="850" b="0" i="0" u="none" strike="noStrike">
                          <a:solidFill>
                            <a:srgbClr val="000000"/>
                          </a:solidFill>
                          <a:effectLst/>
                          <a:latin typeface="Arial" panose="020B0604020202020204" pitchFamily="34" charset="0"/>
                        </a:rPr>
                        <a:t>3060</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Project Light Year - CR120</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10/11/2025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Ananth</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Project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ENVOY</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1626232446"/>
                  </a:ext>
                </a:extLst>
              </a:tr>
              <a:tr h="156570">
                <a:tc>
                  <a:txBody>
                    <a:bodyPr/>
                    <a:lstStyle/>
                    <a:p>
                      <a:pPr algn="ctr" fontAlgn="b">
                        <a:buNone/>
                      </a:pPr>
                      <a:r>
                        <a:rPr lang="en-US" sz="850" b="0" i="0" u="none" strike="noStrike">
                          <a:solidFill>
                            <a:srgbClr val="000000"/>
                          </a:solidFill>
                          <a:effectLst/>
                          <a:latin typeface="Arial" panose="020B0604020202020204" pitchFamily="34" charset="0"/>
                        </a:rPr>
                        <a:t>16298</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CA" sz="850" b="0" i="0" u="none" strike="noStrike">
                          <a:solidFill>
                            <a:srgbClr val="000000"/>
                          </a:solidFill>
                          <a:effectLst/>
                          <a:latin typeface="Arial" panose="020B0604020202020204" pitchFamily="34" charset="0"/>
                        </a:rPr>
                        <a:t>Migrate historical document from FileNet to ECM</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10/18/2025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Sumit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Project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Target</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664260915"/>
                  </a:ext>
                </a:extLst>
              </a:tr>
              <a:tr h="156570">
                <a:tc>
                  <a:txBody>
                    <a:bodyPr/>
                    <a:lstStyle/>
                    <a:p>
                      <a:pPr algn="ctr" fontAlgn="b">
                        <a:buNone/>
                      </a:pPr>
                      <a:r>
                        <a:rPr lang="en-US" sz="850" b="0" i="0" u="none" strike="noStrike">
                          <a:solidFill>
                            <a:srgbClr val="000000"/>
                          </a:solidFill>
                          <a:effectLst/>
                          <a:latin typeface="Arial" panose="020B0604020202020204" pitchFamily="34" charset="0"/>
                        </a:rPr>
                        <a:t>22502</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CA" sz="850" b="0" i="0" u="none" strike="noStrike">
                          <a:solidFill>
                            <a:srgbClr val="000000"/>
                          </a:solidFill>
                          <a:effectLst/>
                          <a:latin typeface="Arial" panose="020B0604020202020204" pitchFamily="34" charset="0"/>
                        </a:rPr>
                        <a:t>CRDS Archive on-boarding to ECM Shared Services</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10/18/2025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Monika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MOPs</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ECM</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931333389"/>
                  </a:ext>
                </a:extLst>
              </a:tr>
              <a:tr h="156570">
                <a:tc>
                  <a:txBody>
                    <a:bodyPr/>
                    <a:lstStyle/>
                    <a:p>
                      <a:pPr algn="ctr" fontAlgn="b">
                        <a:buNone/>
                      </a:pPr>
                      <a:r>
                        <a:rPr lang="en-US" sz="850" b="0" i="0" u="none" strike="noStrike">
                          <a:solidFill>
                            <a:srgbClr val="000000"/>
                          </a:solidFill>
                          <a:effectLst/>
                          <a:latin typeface="Arial" panose="020B0604020202020204" pitchFamily="34" charset="0"/>
                        </a:rPr>
                        <a:t>3745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JEDI - Apollo Letters Decomm</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10/18/2025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Sidhartha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endParaRPr lang="en-US" sz="850" b="0" i="0" u="none" strike="noStrike">
                        <a:solidFill>
                          <a:srgbClr val="000000"/>
                        </a:solidFill>
                        <a:effectLst/>
                        <a:latin typeface="Arial" panose="020B0604020202020204" pitchFamily="34" charset="0"/>
                      </a:endParaRP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RPE, DDGS</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234092003"/>
                  </a:ext>
                </a:extLst>
              </a:tr>
              <a:tr h="156570">
                <a:tc>
                  <a:txBody>
                    <a:bodyPr/>
                    <a:lstStyle/>
                    <a:p>
                      <a:pPr algn="ctr" fontAlgn="b">
                        <a:buNone/>
                      </a:pPr>
                      <a:r>
                        <a:rPr lang="en-US" sz="850" b="0" i="0" u="none" strike="noStrike">
                          <a:solidFill>
                            <a:srgbClr val="000000"/>
                          </a:solidFill>
                          <a:effectLst/>
                          <a:latin typeface="Arial" panose="020B0604020202020204" pitchFamily="34" charset="0"/>
                        </a:rPr>
                        <a:t>24683</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CA" sz="850" b="0" i="0" u="none" strike="noStrike">
                          <a:solidFill>
                            <a:srgbClr val="000000"/>
                          </a:solidFill>
                          <a:effectLst/>
                          <a:latin typeface="Arial" panose="020B0604020202020204" pitchFamily="34" charset="0"/>
                        </a:rPr>
                        <a:t>CAMLR Testing in Pilot 2 - DigiCore CR </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10/18/2025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Sudarshi</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endParaRPr lang="en-US" sz="850" b="0" i="0" u="none" strike="noStrike">
                        <a:solidFill>
                          <a:srgbClr val="000000"/>
                        </a:solidFill>
                        <a:effectLst/>
                        <a:latin typeface="Arial" panose="020B0604020202020204" pitchFamily="34" charset="0"/>
                      </a:endParaRP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DDGS</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58575664"/>
                  </a:ext>
                </a:extLst>
              </a:tr>
              <a:tr h="156570">
                <a:tc>
                  <a:txBody>
                    <a:bodyPr/>
                    <a:lstStyle/>
                    <a:p>
                      <a:pPr algn="ctr" fontAlgn="b">
                        <a:buNone/>
                      </a:pPr>
                      <a:r>
                        <a:rPr lang="en-US" sz="850" b="0" i="0" u="none" strike="noStrike">
                          <a:solidFill>
                            <a:srgbClr val="000000"/>
                          </a:solidFill>
                          <a:effectLst/>
                          <a:latin typeface="Arial" panose="020B0604020202020204" pitchFamily="34" charset="0"/>
                        </a:rPr>
                        <a:t>24628</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mMortgage Approval Letter</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10/18/2025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Sudarshi</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endParaRPr lang="en-US" sz="850" b="0" i="0" u="none" strike="noStrike">
                        <a:solidFill>
                          <a:srgbClr val="000000"/>
                        </a:solidFill>
                        <a:effectLst/>
                        <a:latin typeface="Arial" panose="020B0604020202020204" pitchFamily="34" charset="0"/>
                      </a:endParaRP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DDGS</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754395909"/>
                  </a:ext>
                </a:extLst>
              </a:tr>
              <a:tr h="195712">
                <a:tc>
                  <a:txBody>
                    <a:bodyPr/>
                    <a:lstStyle/>
                    <a:p>
                      <a:pPr algn="ctr" fontAlgn="b">
                        <a:buNone/>
                      </a:pPr>
                      <a:r>
                        <a:rPr lang="en-US" sz="850" b="0" i="0" u="none" strike="noStrike">
                          <a:solidFill>
                            <a:srgbClr val="000000"/>
                          </a:solidFill>
                          <a:effectLst/>
                          <a:latin typeface="Arial" panose="020B0604020202020204" pitchFamily="34" charset="0"/>
                        </a:rPr>
                        <a:t>23884</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Project Atticus</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10/18/2025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Vini Virendra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Project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DDGS</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866504202"/>
                  </a:ext>
                </a:extLst>
              </a:tr>
              <a:tr h="156570">
                <a:tc>
                  <a:txBody>
                    <a:bodyPr/>
                    <a:lstStyle/>
                    <a:p>
                      <a:pPr algn="ctr" fontAlgn="b">
                        <a:buNone/>
                      </a:pPr>
                      <a:r>
                        <a:rPr lang="en-US" sz="850" b="0" i="0" u="none" strike="noStrike">
                          <a:solidFill>
                            <a:srgbClr val="000000"/>
                          </a:solidFill>
                          <a:effectLst/>
                          <a:latin typeface="Arial" panose="020B0604020202020204" pitchFamily="34" charset="0"/>
                        </a:rPr>
                        <a:t>16417</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CAAP SCM</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10/19/2025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Sumit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SCM</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CAAP</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008507882"/>
                  </a:ext>
                </a:extLst>
              </a:tr>
              <a:tr h="195712">
                <a:tc>
                  <a:txBody>
                    <a:bodyPr/>
                    <a:lstStyle/>
                    <a:p>
                      <a:pPr algn="ctr" fontAlgn="b">
                        <a:buNone/>
                      </a:pPr>
                      <a:r>
                        <a:rPr lang="en-US" sz="850" b="0" i="0" u="none" strike="noStrike">
                          <a:solidFill>
                            <a:srgbClr val="000000"/>
                          </a:solidFill>
                          <a:effectLst/>
                          <a:latin typeface="Arial" panose="020B0604020202020204" pitchFamily="34" charset="0"/>
                        </a:rPr>
                        <a:t>22632</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New Debit Card Issuance Request Signature Capture</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10/19/2025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Monika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Project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DDGS, Channel Integrator , ECM, EDTS, CSP, RPE</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410959173"/>
                  </a:ext>
                </a:extLst>
              </a:tr>
              <a:tr h="195712">
                <a:tc>
                  <a:txBody>
                    <a:bodyPr/>
                    <a:lstStyle/>
                    <a:p>
                      <a:pPr algn="ctr" fontAlgn="b">
                        <a:buNone/>
                      </a:pPr>
                      <a:r>
                        <a:rPr lang="en-US" sz="850" b="0" i="0" u="none" strike="noStrike">
                          <a:solidFill>
                            <a:srgbClr val="000000"/>
                          </a:solidFill>
                          <a:effectLst/>
                          <a:latin typeface="Arial" panose="020B0604020202020204" pitchFamily="34" charset="0"/>
                        </a:rPr>
                        <a:t>22623</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CA" sz="850" b="0" i="0" u="none" strike="noStrike">
                          <a:solidFill>
                            <a:srgbClr val="000000"/>
                          </a:solidFill>
                          <a:effectLst/>
                          <a:latin typeface="Arial" panose="020B0604020202020204" pitchFamily="34" charset="0"/>
                        </a:rPr>
                        <a:t>Eliminate IMDS (Infoprint) dependency for DDGS letters</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10/19/2025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Paramita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MOPs</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DDGS</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2398506566"/>
                  </a:ext>
                </a:extLst>
              </a:tr>
              <a:tr h="156570">
                <a:tc>
                  <a:txBody>
                    <a:bodyPr/>
                    <a:lstStyle/>
                    <a:p>
                      <a:pPr algn="ctr" fontAlgn="b">
                        <a:buNone/>
                      </a:pPr>
                      <a:r>
                        <a:rPr lang="en-US" sz="850" b="0" i="0" u="none" strike="noStrike">
                          <a:solidFill>
                            <a:srgbClr val="000000"/>
                          </a:solidFill>
                          <a:effectLst/>
                          <a:latin typeface="Arial" panose="020B0604020202020204" pitchFamily="34" charset="0"/>
                        </a:rPr>
                        <a:t>22958</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PBBT-22958 Update Form 13057 </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10/19/2025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Naveen</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endParaRPr lang="en-US" sz="850" b="0" i="0" u="none" strike="noStrike">
                        <a:solidFill>
                          <a:srgbClr val="000000"/>
                        </a:solidFill>
                        <a:effectLst/>
                        <a:latin typeface="Arial" panose="020B0604020202020204" pitchFamily="34" charset="0"/>
                      </a:endParaRP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DDGS</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4122938503"/>
                  </a:ext>
                </a:extLst>
              </a:tr>
              <a:tr h="195712">
                <a:tc>
                  <a:txBody>
                    <a:bodyPr/>
                    <a:lstStyle/>
                    <a:p>
                      <a:pPr algn="ctr" fontAlgn="b">
                        <a:buNone/>
                      </a:pPr>
                      <a:r>
                        <a:rPr lang="en-US" sz="850" b="0" i="0" u="none" strike="noStrike">
                          <a:solidFill>
                            <a:srgbClr val="000000"/>
                          </a:solidFill>
                          <a:effectLst/>
                          <a:latin typeface="Arial" panose="020B0604020202020204" pitchFamily="34" charset="0"/>
                        </a:rPr>
                        <a:t>2800</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IDP - CR70 Tactical</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10/19/2025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Aleksandra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CCR</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mMortgage</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086519727"/>
                  </a:ext>
                </a:extLst>
              </a:tr>
              <a:tr h="156570">
                <a:tc>
                  <a:txBody>
                    <a:bodyPr/>
                    <a:lstStyle/>
                    <a:p>
                      <a:pPr algn="ctr" fontAlgn="b">
                        <a:buNone/>
                      </a:pPr>
                      <a:r>
                        <a:rPr lang="en-US" sz="850" b="0" i="0" u="none" strike="noStrike">
                          <a:solidFill>
                            <a:srgbClr val="000000"/>
                          </a:solidFill>
                          <a:effectLst/>
                          <a:latin typeface="Arial" panose="020B0604020202020204" pitchFamily="34" charset="0"/>
                        </a:rPr>
                        <a:t>23384</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Project Atticus</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10/19/2025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endParaRPr lang="en-US" sz="850" b="0" i="0" u="none" strike="noStrike">
                        <a:solidFill>
                          <a:srgbClr val="000000"/>
                        </a:solidFill>
                        <a:effectLst/>
                        <a:latin typeface="Arial" panose="020B0604020202020204" pitchFamily="34" charset="0"/>
                      </a:endParaRP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MOPs</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DDGS</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4151593912"/>
                  </a:ext>
                </a:extLst>
              </a:tr>
              <a:tr h="313140">
                <a:tc>
                  <a:txBody>
                    <a:bodyPr/>
                    <a:lstStyle/>
                    <a:p>
                      <a:pPr algn="ctr" fontAlgn="b">
                        <a:buNone/>
                      </a:pPr>
                      <a:r>
                        <a:rPr lang="en-US" sz="850" b="0" i="0" u="none" strike="noStrike">
                          <a:solidFill>
                            <a:srgbClr val="000000"/>
                          </a:solidFill>
                          <a:effectLst/>
                          <a:latin typeface="Arial" panose="020B0604020202020204" pitchFamily="34" charset="0"/>
                        </a:rPr>
                        <a:t>24122</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CA" sz="850" b="0" i="0" u="none" strike="noStrike">
                          <a:solidFill>
                            <a:srgbClr val="000000"/>
                          </a:solidFill>
                          <a:effectLst/>
                          <a:latin typeface="Arial" panose="020B0604020202020204" pitchFamily="34" charset="0"/>
                        </a:rPr>
                        <a:t>F25-FLP-10573 Employee Purpose Loan Payment Amount and Term Mismatch</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10/19/2025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Paramita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MOPs</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DDGS</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1195170672"/>
                  </a:ext>
                </a:extLst>
              </a:tr>
              <a:tr h="195712">
                <a:tc>
                  <a:txBody>
                    <a:bodyPr/>
                    <a:lstStyle/>
                    <a:p>
                      <a:pPr algn="ctr" fontAlgn="b">
                        <a:buNone/>
                      </a:pPr>
                      <a:r>
                        <a:rPr lang="en-US" sz="850" b="0" i="0" u="none" strike="noStrike">
                          <a:solidFill>
                            <a:srgbClr val="000000"/>
                          </a:solidFill>
                          <a:effectLst/>
                          <a:latin typeface="Arial" panose="020B0604020202020204" pitchFamily="34" charset="0"/>
                        </a:rPr>
                        <a:t>PRB0032917</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CA" sz="850" b="0" i="0" u="none" strike="noStrike">
                          <a:solidFill>
                            <a:srgbClr val="000000"/>
                          </a:solidFill>
                          <a:effectLst/>
                          <a:latin typeface="Arial" panose="020B0604020202020204" pitchFamily="34" charset="0"/>
                        </a:rPr>
                        <a:t>Renewal Document generated with incorrect Prime rate</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10/19/2025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Subaleka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Problem Record</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Excalibur</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529126859"/>
                  </a:ext>
                </a:extLst>
              </a:tr>
              <a:tr h="156570">
                <a:tc>
                  <a:txBody>
                    <a:bodyPr/>
                    <a:lstStyle/>
                    <a:p>
                      <a:pPr algn="ctr" fontAlgn="b">
                        <a:buNone/>
                      </a:pPr>
                      <a:r>
                        <a:rPr lang="en-US" sz="850" b="0" i="0" u="none" strike="noStrike">
                          <a:solidFill>
                            <a:srgbClr val="000000"/>
                          </a:solidFill>
                          <a:effectLst/>
                          <a:latin typeface="Arial" panose="020B0604020202020204" pitchFamily="34" charset="0"/>
                        </a:rPr>
                        <a:t>13117</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Low Cost Mandate</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11/4/2025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Princy</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Project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PCA/SAV</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1844078982"/>
                  </a:ext>
                </a:extLst>
              </a:tr>
              <a:tr h="156570">
                <a:tc>
                  <a:txBody>
                    <a:bodyPr/>
                    <a:lstStyle/>
                    <a:p>
                      <a:pPr algn="ctr" fontAlgn="b">
                        <a:buNone/>
                      </a:pPr>
                      <a:r>
                        <a:rPr lang="en-US" sz="850" b="0" i="0" u="none" strike="noStrike">
                          <a:solidFill>
                            <a:srgbClr val="000000"/>
                          </a:solidFill>
                          <a:effectLst/>
                          <a:latin typeface="Arial" panose="020B0604020202020204" pitchFamily="34" charset="0"/>
                        </a:rPr>
                        <a:t>3745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Project JEDI</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11/4/2025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Sidhartha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Project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PCA/SAV</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1097929767"/>
                  </a:ext>
                </a:extLst>
              </a:tr>
              <a:tr h="195712">
                <a:tc>
                  <a:txBody>
                    <a:bodyPr/>
                    <a:lstStyle/>
                    <a:p>
                      <a:pPr algn="ctr" fontAlgn="b">
                        <a:buNone/>
                      </a:pPr>
                      <a:r>
                        <a:rPr lang="en-US" sz="850" b="0" i="0" u="none" strike="noStrike">
                          <a:solidFill>
                            <a:srgbClr val="000000"/>
                          </a:solidFill>
                          <a:effectLst/>
                          <a:latin typeface="Arial" panose="020B0604020202020204" pitchFamily="34" charset="0"/>
                        </a:rPr>
                        <a:t>PRB0032876</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CA" sz="850" b="0" i="0" u="none" strike="noStrike">
                          <a:solidFill>
                            <a:srgbClr val="000000"/>
                          </a:solidFill>
                          <a:effectLst/>
                          <a:latin typeface="Arial" panose="020B0604020202020204" pitchFamily="34" charset="0"/>
                        </a:rPr>
                        <a:t>DDGS Autosys holiday calendar update for year 2026 and 2027</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11/23/2025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Subaleka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Problem Record</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DDGS</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499749132"/>
                  </a:ext>
                </a:extLst>
              </a:tr>
              <a:tr h="195712">
                <a:tc>
                  <a:txBody>
                    <a:bodyPr/>
                    <a:lstStyle/>
                    <a:p>
                      <a:pPr algn="ctr" fontAlgn="b">
                        <a:buNone/>
                      </a:pPr>
                      <a:r>
                        <a:rPr lang="en-US" sz="850" b="0" i="0" u="none" strike="noStrike">
                          <a:solidFill>
                            <a:srgbClr val="000000"/>
                          </a:solidFill>
                          <a:effectLst/>
                          <a:latin typeface="Arial" panose="020B0604020202020204" pitchFamily="34" charset="0"/>
                        </a:rPr>
                        <a:t>PRB0032463</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JDBC driver version update to improve database performance</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12/6/2025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Subaleka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Problem Record</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DDGS</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835104231"/>
                  </a:ext>
                </a:extLst>
              </a:tr>
              <a:tr h="313140">
                <a:tc>
                  <a:txBody>
                    <a:bodyPr/>
                    <a:lstStyle/>
                    <a:p>
                      <a:pPr algn="ctr" fontAlgn="b">
                        <a:buNone/>
                      </a:pPr>
                      <a:r>
                        <a:rPr lang="en-US" sz="850" b="0" i="0" u="none" strike="noStrike">
                          <a:solidFill>
                            <a:srgbClr val="000000"/>
                          </a:solidFill>
                          <a:effectLst/>
                          <a:latin typeface="Arial" panose="020B0604020202020204" pitchFamily="34" charset="0"/>
                        </a:rPr>
                        <a:t>INTK-13868 &amp; 23088 Ph1</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SDB-Annual Discounts &amp; Abandonment Process</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12/6/2025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Rohit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endParaRPr lang="en-US" sz="850" b="0" i="0" u="none" strike="noStrike">
                        <a:solidFill>
                          <a:srgbClr val="000000"/>
                        </a:solidFill>
                        <a:effectLst/>
                        <a:latin typeface="Arial" panose="020B0604020202020204" pitchFamily="34" charset="0"/>
                      </a:endParaRP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SDB</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34084724"/>
                  </a:ext>
                </a:extLst>
              </a:tr>
              <a:tr h="195712">
                <a:tc>
                  <a:txBody>
                    <a:bodyPr/>
                    <a:lstStyle/>
                    <a:p>
                      <a:pPr algn="ctr" fontAlgn="b">
                        <a:buNone/>
                      </a:pPr>
                      <a:r>
                        <a:rPr lang="en-US" sz="850" b="0" i="0" u="none" strike="noStrike">
                          <a:solidFill>
                            <a:srgbClr val="000000"/>
                          </a:solidFill>
                          <a:effectLst/>
                          <a:latin typeface="Arial" panose="020B0604020202020204" pitchFamily="34" charset="0"/>
                        </a:rPr>
                        <a:t>24263</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CA" sz="850" b="0" i="0" u="none" strike="noStrike">
                          <a:solidFill>
                            <a:srgbClr val="000000"/>
                          </a:solidFill>
                          <a:effectLst/>
                          <a:latin typeface="Arial" panose="020B0604020202020204" pitchFamily="34" charset="0"/>
                        </a:rPr>
                        <a:t>PBBT-24263 HPP Intro Rate offer - Wave 25 - Phase 2 LFA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12/7/2025</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Deepali</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MOPs</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endParaRPr lang="en-US" sz="850" b="0" i="0" u="none" strike="noStrike">
                        <a:solidFill>
                          <a:srgbClr val="000000"/>
                        </a:solidFill>
                        <a:effectLst/>
                        <a:latin typeface="Arial" panose="020B0604020202020204" pitchFamily="34" charset="0"/>
                      </a:endParaRP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69427043"/>
                  </a:ext>
                </a:extLst>
              </a:tr>
              <a:tr h="156570">
                <a:tc>
                  <a:txBody>
                    <a:bodyPr/>
                    <a:lstStyle/>
                    <a:p>
                      <a:pPr algn="ctr" fontAlgn="b">
                        <a:buNone/>
                      </a:pPr>
                      <a:r>
                        <a:rPr lang="en-US" sz="850" b="0" i="0" u="none" strike="noStrike">
                          <a:solidFill>
                            <a:srgbClr val="000000"/>
                          </a:solidFill>
                          <a:effectLst/>
                          <a:latin typeface="Arial" panose="020B0604020202020204" pitchFamily="34" charset="0"/>
                        </a:rPr>
                        <a:t>4196</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mMTG SCM</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1/17/2026</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Sumit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SCM</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mMortgage</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1126554010"/>
                  </a:ext>
                </a:extLst>
              </a:tr>
              <a:tr h="156570">
                <a:tc>
                  <a:txBody>
                    <a:bodyPr/>
                    <a:lstStyle/>
                    <a:p>
                      <a:pPr algn="ctr" fontAlgn="b">
                        <a:buNone/>
                      </a:pPr>
                      <a:r>
                        <a:rPr lang="en-US" sz="850" b="0" i="0" u="none" strike="noStrike">
                          <a:solidFill>
                            <a:srgbClr val="000000"/>
                          </a:solidFill>
                          <a:effectLst/>
                          <a:latin typeface="Arial" panose="020B0604020202020204" pitchFamily="34" charset="0"/>
                        </a:rPr>
                        <a:t>3249</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CA" sz="850" b="0" i="0" u="none" strike="noStrike">
                          <a:solidFill>
                            <a:srgbClr val="000000"/>
                          </a:solidFill>
                          <a:effectLst/>
                          <a:latin typeface="Arial" panose="020B0604020202020204" pitchFamily="34" charset="0"/>
                        </a:rPr>
                        <a:t>EDH to EDGE Phase 2D - QCPA</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2/14/2026</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FALGUNI</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endParaRPr lang="en-US" sz="850" b="0" i="0" u="none" strike="noStrike">
                        <a:solidFill>
                          <a:srgbClr val="000000"/>
                        </a:solidFill>
                        <a:effectLst/>
                        <a:latin typeface="Arial" panose="020B0604020202020204" pitchFamily="34" charset="0"/>
                      </a:endParaRP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RPE, PCA/SAV</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1041440197"/>
                  </a:ext>
                </a:extLst>
              </a:tr>
              <a:tr h="156570">
                <a:tc>
                  <a:txBody>
                    <a:bodyPr/>
                    <a:lstStyle/>
                    <a:p>
                      <a:pPr algn="ctr" fontAlgn="b">
                        <a:buNone/>
                      </a:pPr>
                      <a:r>
                        <a:rPr lang="en-US" sz="850" b="0" i="0" u="none" strike="noStrike">
                          <a:solidFill>
                            <a:srgbClr val="000000"/>
                          </a:solidFill>
                          <a:effectLst/>
                          <a:latin typeface="Arial" panose="020B0604020202020204" pitchFamily="34" charset="0"/>
                        </a:rPr>
                        <a:t>PBPTINTK-3924</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buNone/>
                      </a:pPr>
                      <a:r>
                        <a:rPr lang="en-CA" sz="850" b="0" i="0" u="none" strike="noStrike">
                          <a:solidFill>
                            <a:srgbClr val="000000"/>
                          </a:solidFill>
                          <a:effectLst/>
                          <a:latin typeface="Arial" panose="020B0604020202020204" pitchFamily="34" charset="0"/>
                        </a:rPr>
                        <a:t>EDH to EDGE Stream 2E </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3/2/2026</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FALGUNI</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endParaRPr lang="en-US" sz="850" b="0" i="0" u="none" strike="noStrike">
                        <a:solidFill>
                          <a:srgbClr val="000000"/>
                        </a:solidFill>
                        <a:effectLst/>
                        <a:latin typeface="Arial" panose="020B0604020202020204" pitchFamily="34" charset="0"/>
                      </a:endParaRP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b">
                        <a:buNone/>
                      </a:pPr>
                      <a:endParaRPr lang="en-US" sz="850" b="0" i="0" u="none" strike="noStrike">
                        <a:solidFill>
                          <a:srgbClr val="000000"/>
                        </a:solidFill>
                        <a:effectLst/>
                        <a:latin typeface="Arial" panose="020B0604020202020204" pitchFamily="34" charset="0"/>
                      </a:endParaRP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1676773344"/>
                  </a:ext>
                </a:extLst>
              </a:tr>
              <a:tr h="156570">
                <a:tc>
                  <a:txBody>
                    <a:bodyPr/>
                    <a:lstStyle/>
                    <a:p>
                      <a:pPr algn="ctr" fontAlgn="b">
                        <a:buNone/>
                      </a:pPr>
                      <a:r>
                        <a:rPr lang="en-US" sz="850" b="0" i="0" u="none" strike="noStrike">
                          <a:solidFill>
                            <a:srgbClr val="000000"/>
                          </a:solidFill>
                          <a:effectLst/>
                          <a:latin typeface="Arial" panose="020B0604020202020204" pitchFamily="34" charset="0"/>
                        </a:rPr>
                        <a:t>13583 </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Arial" panose="020B0604020202020204" pitchFamily="34" charset="0"/>
                        </a:rPr>
                        <a:t>CRI</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3/27/2026</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Sudarshi</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Project</a:t>
                      </a:r>
                    </a:p>
                  </a:txBody>
                  <a:tcPr marL="1688" marR="1688" marT="1688" marB="0" anchor="ctr">
                    <a:lnL>
                      <a:noFill/>
                    </a:lnL>
                    <a:lnR>
                      <a:noFill/>
                    </a:lnR>
                    <a:lnT w="6350" cap="flat" cmpd="sng" algn="ctr">
                      <a:solidFill>
                        <a:srgbClr val="0F9ED5"/>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fontAlgn="b">
                        <a:buNone/>
                      </a:pPr>
                      <a:r>
                        <a:rPr lang="en-US" sz="850" b="0" i="0" u="none" strike="noStrike">
                          <a:solidFill>
                            <a:srgbClr val="000000"/>
                          </a:solidFill>
                          <a:effectLst/>
                          <a:latin typeface="Arial" panose="020B0604020202020204" pitchFamily="34" charset="0"/>
                        </a:rPr>
                        <a:t>PCA/SAV</a:t>
                      </a:r>
                    </a:p>
                  </a:txBody>
                  <a:tcPr marL="1688" marR="1688" marT="1688" marB="0" anchor="ctr">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2412817687"/>
                  </a:ext>
                </a:extLst>
              </a:tr>
            </a:tbl>
          </a:graphicData>
        </a:graphic>
      </p:graphicFrame>
    </p:spTree>
    <p:extLst>
      <p:ext uri="{BB962C8B-B14F-4D97-AF65-F5344CB8AC3E}">
        <p14:creationId xmlns:p14="http://schemas.microsoft.com/office/powerpoint/2010/main" val="3124245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B73AB-DC5B-D048-3663-44CBAFFB946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A267C1A-FC74-0D77-D072-896DA8D5895B}"/>
              </a:ext>
            </a:extLst>
          </p:cNvPr>
          <p:cNvSpPr txBox="1">
            <a:spLocks/>
          </p:cNvSpPr>
          <p:nvPr/>
        </p:nvSpPr>
        <p:spPr>
          <a:xfrm>
            <a:off x="150736" y="275515"/>
            <a:ext cx="4598318" cy="603833"/>
          </a:xfrm>
          <a:prstGeom prst="rect">
            <a:avLst/>
          </a:prstGeom>
        </p:spPr>
        <p:txBody>
          <a:bodyPr vert="horz" lIns="0" tIns="0" rIns="0" bIns="109728" rtlCol="0" anchor="b" anchorCtr="0">
            <a:norm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a:spcAft>
                <a:spcPts val="600"/>
              </a:spcAft>
            </a:pPr>
            <a:r>
              <a:rPr lang="en-CA"/>
              <a:t> </a:t>
            </a:r>
            <a:r>
              <a:rPr lang="en-CA" sz="2800"/>
              <a:t>CB&amp;PT Environment View</a:t>
            </a:r>
          </a:p>
        </p:txBody>
      </p:sp>
      <p:sp>
        <p:nvSpPr>
          <p:cNvPr id="19" name="Footer Placeholder 3">
            <a:extLst>
              <a:ext uri="{FF2B5EF4-FFF2-40B4-BE49-F238E27FC236}">
                <a16:creationId xmlns:a16="http://schemas.microsoft.com/office/drawing/2014/main" id="{04174894-8FA0-6036-FC90-2906214B206D}"/>
              </a:ext>
            </a:extLst>
          </p:cNvPr>
          <p:cNvSpPr>
            <a:spLocks noGrp="1"/>
          </p:cNvSpPr>
          <p:nvPr>
            <p:ph type="ftr" sz="quarter" idx="3"/>
          </p:nvPr>
        </p:nvSpPr>
        <p:spPr>
          <a:xfrm>
            <a:off x="1204032" y="6545883"/>
            <a:ext cx="990959" cy="167033"/>
          </a:xfrm>
        </p:spPr>
        <p:txBody>
          <a:bodyPr/>
          <a:lstStyle/>
          <a:p>
            <a:pPr algn="ctr">
              <a:spcAft>
                <a:spcPts val="600"/>
              </a:spcAft>
            </a:pPr>
            <a:r>
              <a:rPr lang="en-US"/>
              <a:t>INTERNAL</a:t>
            </a:r>
          </a:p>
        </p:txBody>
      </p:sp>
      <p:graphicFrame>
        <p:nvGraphicFramePr>
          <p:cNvPr id="7" name="Table 6">
            <a:extLst>
              <a:ext uri="{FF2B5EF4-FFF2-40B4-BE49-F238E27FC236}">
                <a16:creationId xmlns:a16="http://schemas.microsoft.com/office/drawing/2014/main" id="{1DB947A5-C747-9DE8-9646-6AC17AFFFF52}"/>
              </a:ext>
            </a:extLst>
          </p:cNvPr>
          <p:cNvGraphicFramePr>
            <a:graphicFrameLocks noGrp="1"/>
          </p:cNvGraphicFramePr>
          <p:nvPr>
            <p:extLst>
              <p:ext uri="{D42A27DB-BD31-4B8C-83A1-F6EECF244321}">
                <p14:modId xmlns:p14="http://schemas.microsoft.com/office/powerpoint/2010/main" val="2970104500"/>
              </p:ext>
            </p:extLst>
          </p:nvPr>
        </p:nvGraphicFramePr>
        <p:xfrm>
          <a:off x="145667" y="711601"/>
          <a:ext cx="11626684" cy="869925"/>
        </p:xfrm>
        <a:graphic>
          <a:graphicData uri="http://schemas.openxmlformats.org/drawingml/2006/table">
            <a:tbl>
              <a:tblPr/>
              <a:tblGrid>
                <a:gridCol w="1009665">
                  <a:extLst>
                    <a:ext uri="{9D8B030D-6E8A-4147-A177-3AD203B41FA5}">
                      <a16:colId xmlns:a16="http://schemas.microsoft.com/office/drawing/2014/main" val="542770605"/>
                    </a:ext>
                  </a:extLst>
                </a:gridCol>
                <a:gridCol w="10617019">
                  <a:extLst>
                    <a:ext uri="{9D8B030D-6E8A-4147-A177-3AD203B41FA5}">
                      <a16:colId xmlns:a16="http://schemas.microsoft.com/office/drawing/2014/main" val="721424745"/>
                    </a:ext>
                  </a:extLst>
                </a:gridCol>
              </a:tblGrid>
              <a:tr h="248671">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1200" b="1" i="0" u="none" strike="noStrike">
                          <a:solidFill>
                            <a:schemeClr val="bg1"/>
                          </a:solidFill>
                          <a:effectLst/>
                          <a:latin typeface="Trebuchet MS"/>
                        </a:rPr>
                        <a:t>G</a:t>
                      </a:r>
                    </a:p>
                  </a:txBody>
                  <a:tcPr marL="9525" marR="9525" marT="8659"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l" rtl="0" eaLnBrk="1" fontAlgn="ctr" latinLnBrk="0" hangingPunct="1"/>
                      <a:r>
                        <a:rPr lang="en-CA" sz="1200" b="1" i="0" u="none" strike="noStrike" kern="1200">
                          <a:solidFill>
                            <a:srgbClr val="C00000"/>
                          </a:solidFill>
                          <a:effectLst/>
                          <a:latin typeface="+mn-lt"/>
                          <a:ea typeface="+mn-ea"/>
                          <a:cs typeface="+mn-cs"/>
                        </a:rPr>
                        <a:t>Environment view </a:t>
                      </a:r>
                    </a:p>
                  </a:txBody>
                  <a:tcPr marL="114300" marR="9525" marT="41564" marB="41564"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7013967"/>
                  </a:ext>
                </a:extLst>
              </a:tr>
              <a:tr h="603917">
                <a:tc>
                  <a:txBody>
                    <a:bodyPr/>
                    <a:lstStyle/>
                    <a:p>
                      <a:pPr algn="r" fontAlgn="ctr"/>
                      <a:r>
                        <a:rPr lang="en-CA" sz="1000" b="1" i="0" u="none" strike="noStrike">
                          <a:solidFill>
                            <a:srgbClr val="000000"/>
                          </a:solidFill>
                          <a:effectLst/>
                          <a:latin typeface="Trebuchet MS"/>
                        </a:rPr>
                        <a:t>Comments: </a:t>
                      </a:r>
                      <a:endParaRPr lang="en-US" sz="1000" b="1" i="0" u="none" strike="noStrike">
                        <a:solidFill>
                          <a:srgbClr val="000000"/>
                        </a:solidFill>
                        <a:effectLst/>
                        <a:latin typeface="Trebuchet MS"/>
                      </a:endParaRPr>
                    </a:p>
                  </a:txBody>
                  <a:tcPr marL="9525" marR="9525" marT="27432" marB="27432"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a:lnSpc>
                          <a:spcPct val="100000"/>
                        </a:lnSpc>
                        <a:spcBef>
                          <a:spcPts val="0"/>
                        </a:spcBef>
                        <a:spcAft>
                          <a:spcPts val="0"/>
                        </a:spcAft>
                        <a:buFont typeface="Arial"/>
                        <a:buChar char="•"/>
                      </a:pPr>
                      <a:r>
                        <a:rPr lang="en-US" sz="900" b="0" i="0" u="none" strike="noStrike" noProof="0">
                          <a:solidFill>
                            <a:srgbClr val="000000"/>
                          </a:solidFill>
                          <a:latin typeface="Trebuchet MS"/>
                        </a:rPr>
                        <a:t>''PA' Nov major release environment</a:t>
                      </a:r>
                    </a:p>
                    <a:p>
                      <a:pPr marL="171450" marR="0" lvl="0" indent="-171450" algn="l">
                        <a:lnSpc>
                          <a:spcPct val="100000"/>
                        </a:lnSpc>
                        <a:spcBef>
                          <a:spcPts val="0"/>
                        </a:spcBef>
                        <a:spcAft>
                          <a:spcPts val="0"/>
                        </a:spcAft>
                        <a:buFont typeface="Arial"/>
                        <a:buChar char="•"/>
                      </a:pPr>
                      <a:r>
                        <a:rPr lang="en-US" sz="900" b="0" i="0" u="none" strike="noStrike" noProof="0">
                          <a:solidFill>
                            <a:srgbClr val="000000"/>
                          </a:solidFill>
                          <a:latin typeface="Trebuchet MS"/>
                        </a:rPr>
                        <a:t>'P1' Oct release IDP + RESL projects testing env</a:t>
                      </a:r>
                    </a:p>
                    <a:p>
                      <a:pPr marL="171450" marR="0" lvl="0" indent="-171450" algn="l">
                        <a:lnSpc>
                          <a:spcPct val="100000"/>
                        </a:lnSpc>
                        <a:spcBef>
                          <a:spcPts val="0"/>
                        </a:spcBef>
                        <a:spcAft>
                          <a:spcPts val="0"/>
                        </a:spcAft>
                        <a:buFont typeface="Arial"/>
                        <a:buChar char="•"/>
                      </a:pPr>
                      <a:r>
                        <a:rPr lang="en-US" sz="900" b="0" i="0" u="none" strike="noStrike" noProof="0">
                          <a:solidFill>
                            <a:srgbClr val="000000"/>
                          </a:solidFill>
                          <a:latin typeface="Trebuchet MS"/>
                        </a:rPr>
                        <a:t>'HF' env: Oct DDGS and Feb release testing env</a:t>
                      </a:r>
                      <a:endParaRPr lang="en-US"/>
                    </a:p>
                    <a:p>
                      <a:pPr marL="171450" marR="0" lvl="0" indent="-171450" algn="l">
                        <a:lnSpc>
                          <a:spcPct val="100000"/>
                        </a:lnSpc>
                        <a:spcBef>
                          <a:spcPts val="0"/>
                        </a:spcBef>
                        <a:spcAft>
                          <a:spcPts val="0"/>
                        </a:spcAft>
                        <a:buFont typeface="Arial"/>
                        <a:buChar char="•"/>
                      </a:pPr>
                      <a:r>
                        <a:rPr lang="en-US" sz="900" b="0" i="0" u="none" strike="noStrike" noProof="0">
                          <a:solidFill>
                            <a:srgbClr val="000000"/>
                          </a:solidFill>
                          <a:latin typeface="Trebuchet MS"/>
                        </a:rPr>
                        <a:t>'T4' env: Nov release UAT testing env</a:t>
                      </a:r>
                    </a:p>
                  </a:txBody>
                  <a:tcPr marL="9128" marR="9128" marT="27432" marB="27432">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rgbClr val="E7E6E6">
                          <a:lumMod val="75000"/>
                        </a:srgbClr>
                      </a:solidFill>
                      <a:prstDash val="solid"/>
                      <a:round/>
                      <a:headEnd type="none" w="med" len="med"/>
                      <a:tailEnd type="none" w="med" len="med"/>
                    </a:lnT>
                    <a:lnB w="12700" cap="flat" cmpd="sng" algn="ctr">
                      <a:solidFill>
                        <a:srgbClr val="E7E6E6">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1958486"/>
                  </a:ext>
                </a:extLst>
              </a:tr>
            </a:tbl>
          </a:graphicData>
        </a:graphic>
      </p:graphicFrame>
      <p:graphicFrame>
        <p:nvGraphicFramePr>
          <p:cNvPr id="9" name="Table 2">
            <a:extLst>
              <a:ext uri="{FF2B5EF4-FFF2-40B4-BE49-F238E27FC236}">
                <a16:creationId xmlns:a16="http://schemas.microsoft.com/office/drawing/2014/main" id="{FB179154-7D37-A31C-9402-C8B83A9634B3}"/>
              </a:ext>
            </a:extLst>
          </p:cNvPr>
          <p:cNvGraphicFramePr>
            <a:graphicFrameLocks noGrp="1"/>
          </p:cNvGraphicFramePr>
          <p:nvPr/>
        </p:nvGraphicFramePr>
        <p:xfrm>
          <a:off x="6664007" y="442969"/>
          <a:ext cx="5100328" cy="274320"/>
        </p:xfrm>
        <a:graphic>
          <a:graphicData uri="http://schemas.openxmlformats.org/drawingml/2006/table">
            <a:tbl>
              <a:tblPr firstRow="1" bandRow="1">
                <a:tableStyleId>{5940675A-B579-460E-94D1-54222C63F5DA}</a:tableStyleId>
              </a:tblPr>
              <a:tblGrid>
                <a:gridCol w="235223">
                  <a:extLst>
                    <a:ext uri="{9D8B030D-6E8A-4147-A177-3AD203B41FA5}">
                      <a16:colId xmlns:a16="http://schemas.microsoft.com/office/drawing/2014/main" val="2552748061"/>
                    </a:ext>
                  </a:extLst>
                </a:gridCol>
                <a:gridCol w="619612">
                  <a:extLst>
                    <a:ext uri="{9D8B030D-6E8A-4147-A177-3AD203B41FA5}">
                      <a16:colId xmlns:a16="http://schemas.microsoft.com/office/drawing/2014/main" val="2949818358"/>
                    </a:ext>
                  </a:extLst>
                </a:gridCol>
                <a:gridCol w="235223">
                  <a:extLst>
                    <a:ext uri="{9D8B030D-6E8A-4147-A177-3AD203B41FA5}">
                      <a16:colId xmlns:a16="http://schemas.microsoft.com/office/drawing/2014/main" val="3768384043"/>
                    </a:ext>
                  </a:extLst>
                </a:gridCol>
                <a:gridCol w="929419">
                  <a:extLst>
                    <a:ext uri="{9D8B030D-6E8A-4147-A177-3AD203B41FA5}">
                      <a16:colId xmlns:a16="http://schemas.microsoft.com/office/drawing/2014/main" val="3673821677"/>
                    </a:ext>
                  </a:extLst>
                </a:gridCol>
                <a:gridCol w="235223">
                  <a:extLst>
                    <a:ext uri="{9D8B030D-6E8A-4147-A177-3AD203B41FA5}">
                      <a16:colId xmlns:a16="http://schemas.microsoft.com/office/drawing/2014/main" val="1380191459"/>
                    </a:ext>
                  </a:extLst>
                </a:gridCol>
                <a:gridCol w="929419">
                  <a:extLst>
                    <a:ext uri="{9D8B030D-6E8A-4147-A177-3AD203B41FA5}">
                      <a16:colId xmlns:a16="http://schemas.microsoft.com/office/drawing/2014/main" val="2784429797"/>
                    </a:ext>
                  </a:extLst>
                </a:gridCol>
                <a:gridCol w="235223">
                  <a:extLst>
                    <a:ext uri="{9D8B030D-6E8A-4147-A177-3AD203B41FA5}">
                      <a16:colId xmlns:a16="http://schemas.microsoft.com/office/drawing/2014/main" val="906539283"/>
                    </a:ext>
                  </a:extLst>
                </a:gridCol>
                <a:gridCol w="929419">
                  <a:extLst>
                    <a:ext uri="{9D8B030D-6E8A-4147-A177-3AD203B41FA5}">
                      <a16:colId xmlns:a16="http://schemas.microsoft.com/office/drawing/2014/main" val="2265317318"/>
                    </a:ext>
                  </a:extLst>
                </a:gridCol>
                <a:gridCol w="235223">
                  <a:extLst>
                    <a:ext uri="{9D8B030D-6E8A-4147-A177-3AD203B41FA5}">
                      <a16:colId xmlns:a16="http://schemas.microsoft.com/office/drawing/2014/main" val="4095293917"/>
                    </a:ext>
                  </a:extLst>
                </a:gridCol>
                <a:gridCol w="516344">
                  <a:extLst>
                    <a:ext uri="{9D8B030D-6E8A-4147-A177-3AD203B41FA5}">
                      <a16:colId xmlns:a16="http://schemas.microsoft.com/office/drawing/2014/main" val="2870471116"/>
                    </a:ext>
                  </a:extLst>
                </a:gridCol>
              </a:tblGrid>
              <a:tr h="182880">
                <a:tc>
                  <a:txBody>
                    <a:bodyPr/>
                    <a:lstStyle/>
                    <a:p>
                      <a:pPr algn="ctr"/>
                      <a:r>
                        <a:rPr lang="en-CA" sz="600" b="1">
                          <a:solidFill>
                            <a:schemeClr val="bg1"/>
                          </a:solidFill>
                        </a:rPr>
                        <a:t>N</a:t>
                      </a:r>
                      <a:endParaRPr lang="en-US" sz="6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l"/>
                      <a:r>
                        <a:rPr lang="en-CA" sz="600">
                          <a:solidFill>
                            <a:schemeClr val="tx1"/>
                          </a:solidFill>
                        </a:rPr>
                        <a:t>Not Started</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solidFill>
                            <a:schemeClr val="bg1"/>
                          </a:solidFill>
                        </a:rPr>
                        <a:t>G</a:t>
                      </a:r>
                      <a:endParaRPr lang="en-US" sz="6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l"/>
                      <a:r>
                        <a:rPr lang="en-CA" sz="600">
                          <a:solidFill>
                            <a:schemeClr val="tx1"/>
                          </a:solidFill>
                        </a:rPr>
                        <a:t>In Progress/</a:t>
                      </a:r>
                    </a:p>
                    <a:p>
                      <a:pPr algn="l"/>
                      <a:r>
                        <a:rPr lang="en-CA" sz="600">
                          <a:solidFill>
                            <a:schemeClr val="tx1"/>
                          </a:solidFill>
                        </a:rPr>
                        <a:t>On Track</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t>Y</a:t>
                      </a:r>
                      <a:endParaRPr lang="en-US" sz="6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l"/>
                      <a:r>
                        <a:rPr lang="en-CA" sz="600">
                          <a:solidFill>
                            <a:schemeClr val="tx1"/>
                          </a:solidFill>
                        </a:rPr>
                        <a:t>May Miss Target Date</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solidFill>
                            <a:schemeClr val="bg1"/>
                          </a:solidFill>
                        </a:rPr>
                        <a:t>R</a:t>
                      </a:r>
                      <a:endParaRPr lang="en-US" sz="6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l"/>
                      <a:r>
                        <a:rPr lang="en-CA" sz="600">
                          <a:solidFill>
                            <a:schemeClr val="tx1"/>
                          </a:solidFill>
                        </a:rPr>
                        <a:t>Will Miss Target End</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t>C</a:t>
                      </a:r>
                      <a:endParaRPr lang="en-US" sz="6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600">
                          <a:solidFill>
                            <a:schemeClr val="tx1"/>
                          </a:solidFill>
                        </a:rPr>
                        <a:t>Complete</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pic>
        <p:nvPicPr>
          <p:cNvPr id="2" name="Picture 1" descr="A screenshot of a computer&#10;&#10;AI-generated content may be incorrect.">
            <a:extLst>
              <a:ext uri="{FF2B5EF4-FFF2-40B4-BE49-F238E27FC236}">
                <a16:creationId xmlns:a16="http://schemas.microsoft.com/office/drawing/2014/main" id="{75788EC8-EA9E-EEB7-AB7A-5AD459F1D739}"/>
              </a:ext>
            </a:extLst>
          </p:cNvPr>
          <p:cNvPicPr>
            <a:picLocks noChangeAspect="1"/>
          </p:cNvPicPr>
          <p:nvPr/>
        </p:nvPicPr>
        <p:blipFill>
          <a:blip r:embed="rId2"/>
          <a:stretch>
            <a:fillRect/>
          </a:stretch>
        </p:blipFill>
        <p:spPr>
          <a:xfrm>
            <a:off x="149682" y="1866090"/>
            <a:ext cx="11641888" cy="4036063"/>
          </a:xfrm>
          <a:prstGeom prst="rect">
            <a:avLst/>
          </a:prstGeom>
        </p:spPr>
      </p:pic>
    </p:spTree>
    <p:extLst>
      <p:ext uri="{BB962C8B-B14F-4D97-AF65-F5344CB8AC3E}">
        <p14:creationId xmlns:p14="http://schemas.microsoft.com/office/powerpoint/2010/main" val="807806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3D249BA-4CAB-C473-82E6-F1D1263E8F11}"/>
              </a:ext>
            </a:extLst>
          </p:cNvPr>
          <p:cNvSpPr/>
          <p:nvPr/>
        </p:nvSpPr>
        <p:spPr>
          <a:xfrm>
            <a:off x="0" y="5500255"/>
            <a:ext cx="4405746" cy="1357745"/>
          </a:xfrm>
          <a:prstGeom prst="rect">
            <a:avLst/>
          </a:prstGeom>
          <a:solidFill>
            <a:schemeClr val="bg1"/>
          </a:solidFill>
        </p:spPr>
        <p:txBody>
          <a:bodyPr wrap="none" rtlCol="0" anchor="ctr">
            <a:spAutoFit/>
          </a:bodyPr>
          <a:lstStyle/>
          <a:p>
            <a:pPr algn="ctr"/>
            <a:endParaRPr lang="en-US" sz="1100"/>
          </a:p>
        </p:txBody>
      </p:sp>
      <p:sp>
        <p:nvSpPr>
          <p:cNvPr id="8" name="Title 1">
            <a:extLst>
              <a:ext uri="{FF2B5EF4-FFF2-40B4-BE49-F238E27FC236}">
                <a16:creationId xmlns:a16="http://schemas.microsoft.com/office/drawing/2014/main" id="{D68C949F-DA88-4775-AB00-1382A67FAE72}"/>
              </a:ext>
            </a:extLst>
          </p:cNvPr>
          <p:cNvSpPr txBox="1">
            <a:spLocks/>
          </p:cNvSpPr>
          <p:nvPr/>
        </p:nvSpPr>
        <p:spPr>
          <a:xfrm>
            <a:off x="117633" y="150313"/>
            <a:ext cx="11292840"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CA" sz="2800"/>
              <a:t> Additional Agenda – April Release SIT Deliveries</a:t>
            </a:r>
          </a:p>
        </p:txBody>
      </p:sp>
      <p:graphicFrame>
        <p:nvGraphicFramePr>
          <p:cNvPr id="2" name="Table 1">
            <a:extLst>
              <a:ext uri="{FF2B5EF4-FFF2-40B4-BE49-F238E27FC236}">
                <a16:creationId xmlns:a16="http://schemas.microsoft.com/office/drawing/2014/main" id="{FF381D73-7C6D-8D86-F48A-7E5291566E2F}"/>
              </a:ext>
            </a:extLst>
          </p:cNvPr>
          <p:cNvGraphicFramePr>
            <a:graphicFrameLocks noGrp="1"/>
          </p:cNvGraphicFramePr>
          <p:nvPr>
            <p:extLst>
              <p:ext uri="{D42A27DB-BD31-4B8C-83A1-F6EECF244321}">
                <p14:modId xmlns:p14="http://schemas.microsoft.com/office/powerpoint/2010/main" val="671567055"/>
              </p:ext>
            </p:extLst>
          </p:nvPr>
        </p:nvGraphicFramePr>
        <p:xfrm>
          <a:off x="199173" y="2147423"/>
          <a:ext cx="11434527" cy="3048000"/>
        </p:xfrm>
        <a:graphic>
          <a:graphicData uri="http://schemas.openxmlformats.org/drawingml/2006/table">
            <a:tbl>
              <a:tblPr/>
              <a:tblGrid>
                <a:gridCol w="407407">
                  <a:extLst>
                    <a:ext uri="{9D8B030D-6E8A-4147-A177-3AD203B41FA5}">
                      <a16:colId xmlns:a16="http://schemas.microsoft.com/office/drawing/2014/main" val="2984248438"/>
                    </a:ext>
                  </a:extLst>
                </a:gridCol>
                <a:gridCol w="3259248">
                  <a:extLst>
                    <a:ext uri="{9D8B030D-6E8A-4147-A177-3AD203B41FA5}">
                      <a16:colId xmlns:a16="http://schemas.microsoft.com/office/drawing/2014/main" val="3833963210"/>
                    </a:ext>
                  </a:extLst>
                </a:gridCol>
                <a:gridCol w="3630439">
                  <a:extLst>
                    <a:ext uri="{9D8B030D-6E8A-4147-A177-3AD203B41FA5}">
                      <a16:colId xmlns:a16="http://schemas.microsoft.com/office/drawing/2014/main" val="2728554808"/>
                    </a:ext>
                  </a:extLst>
                </a:gridCol>
                <a:gridCol w="2317687">
                  <a:extLst>
                    <a:ext uri="{9D8B030D-6E8A-4147-A177-3AD203B41FA5}">
                      <a16:colId xmlns:a16="http://schemas.microsoft.com/office/drawing/2014/main" val="3446819298"/>
                    </a:ext>
                  </a:extLst>
                </a:gridCol>
                <a:gridCol w="1819746">
                  <a:extLst>
                    <a:ext uri="{9D8B030D-6E8A-4147-A177-3AD203B41FA5}">
                      <a16:colId xmlns:a16="http://schemas.microsoft.com/office/drawing/2014/main" val="1078404669"/>
                    </a:ext>
                  </a:extLst>
                </a:gridCol>
              </a:tblGrid>
              <a:tr h="0">
                <a:tc>
                  <a:txBody>
                    <a:bodyPr/>
                    <a:lstStyle/>
                    <a:p>
                      <a:pPr marL="0" marR="0">
                        <a:spcBef>
                          <a:spcPts val="0"/>
                        </a:spcBef>
                        <a:spcAft>
                          <a:spcPts val="0"/>
                        </a:spcAft>
                      </a:pPr>
                      <a:r>
                        <a:rPr lang="en-CA" sz="1200" b="1" i="0" u="none" strike="noStrike" kern="1200">
                          <a:solidFill>
                            <a:schemeClr val="tx1"/>
                          </a:solidFill>
                          <a:effectLst/>
                          <a:latin typeface="+mn-lt"/>
                          <a:ea typeface="+mn-ea"/>
                          <a:cs typeface="+mn-cs"/>
                        </a:rPr>
                        <a:t>Sr #</a:t>
                      </a:r>
                      <a:endParaRPr lang="en-US" sz="1200" b="1" i="0" u="none" strike="noStrike" kern="1200">
                        <a:solidFill>
                          <a:schemeClr val="tx1"/>
                        </a:solidFill>
                        <a:effectLst/>
                        <a:latin typeface="+mn-lt"/>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spcBef>
                          <a:spcPts val="0"/>
                        </a:spcBef>
                        <a:spcAft>
                          <a:spcPts val="0"/>
                        </a:spcAft>
                      </a:pPr>
                      <a:r>
                        <a:rPr lang="en-US" sz="1200" b="1" i="0" u="none" strike="noStrike" kern="1200">
                          <a:solidFill>
                            <a:schemeClr val="tx1"/>
                          </a:solidFill>
                          <a:effectLst/>
                          <a:latin typeface="+mn-lt"/>
                          <a:ea typeface="+mn-ea"/>
                          <a:cs typeface="+mn-cs"/>
                        </a:rPr>
                        <a:t>Recommendations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spcBef>
                          <a:spcPts val="0"/>
                        </a:spcBef>
                        <a:spcAft>
                          <a:spcPts val="0"/>
                        </a:spcAft>
                      </a:pPr>
                      <a:r>
                        <a:rPr lang="en-US" sz="1200" b="1" i="0" u="none" strike="noStrike" kern="1200">
                          <a:solidFill>
                            <a:schemeClr val="tx1"/>
                          </a:solidFill>
                          <a:effectLst/>
                          <a:latin typeface="+mn-lt"/>
                          <a:ea typeface="+mn-ea"/>
                          <a:cs typeface="+mn-cs"/>
                        </a:rPr>
                        <a:t>Plan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spcBef>
                          <a:spcPts val="0"/>
                        </a:spcBef>
                        <a:spcAft>
                          <a:spcPts val="0"/>
                        </a:spcAft>
                      </a:pPr>
                      <a:r>
                        <a:rPr lang="en-US" sz="1200" b="1" i="0" u="none" strike="noStrike" kern="1200">
                          <a:solidFill>
                            <a:schemeClr val="tx1"/>
                          </a:solidFill>
                          <a:effectLst/>
                          <a:latin typeface="+mn-lt"/>
                          <a:ea typeface="+mn-ea"/>
                          <a:cs typeface="+mn-cs"/>
                        </a:rPr>
                        <a:t>Pros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spcBef>
                          <a:spcPts val="0"/>
                        </a:spcBef>
                        <a:spcAft>
                          <a:spcPts val="0"/>
                        </a:spcAft>
                      </a:pPr>
                      <a:r>
                        <a:rPr lang="en-US" sz="1200" b="1" i="0" u="none" strike="noStrike" kern="1200">
                          <a:solidFill>
                            <a:schemeClr val="tx1"/>
                          </a:solidFill>
                          <a:effectLst/>
                          <a:latin typeface="+mn-lt"/>
                          <a:ea typeface="+mn-ea"/>
                          <a:cs typeface="+mn-cs"/>
                        </a:rPr>
                        <a:t>Cons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36471249"/>
                  </a:ext>
                </a:extLst>
              </a:tr>
              <a:tr h="1331721">
                <a:tc>
                  <a:txBody>
                    <a:bodyPr/>
                    <a:lstStyle/>
                    <a:p>
                      <a:pPr marL="0" marR="0" algn="ctr">
                        <a:spcBef>
                          <a:spcPts val="0"/>
                        </a:spcBef>
                        <a:spcAft>
                          <a:spcPts val="0"/>
                        </a:spcAft>
                      </a:pPr>
                      <a:r>
                        <a:rPr lang="en-US" sz="1000">
                          <a:solidFill>
                            <a:schemeClr val="tx1"/>
                          </a:solidFill>
                          <a:effectLst/>
                          <a:latin typeface="+mn-lt"/>
                        </a:rPr>
                        <a:t>1</a:t>
                      </a:r>
                      <a:endParaRPr lang="en-US" sz="1050">
                        <a:solidFill>
                          <a:schemeClr val="tx1"/>
                        </a:solidFill>
                        <a:effectLst/>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spcBef>
                          <a:spcPts val="0"/>
                        </a:spcBef>
                        <a:spcAft>
                          <a:spcPts val="0"/>
                        </a:spcAft>
                      </a:pPr>
                      <a:r>
                        <a:rPr lang="en-CA" sz="1000"/>
                        <a:t>Code delivery on 22</a:t>
                      </a:r>
                      <a:r>
                        <a:rPr lang="en-CA" sz="1000" baseline="30000"/>
                        <a:t>nd</a:t>
                      </a:r>
                      <a:r>
                        <a:rPr lang="en-CA" sz="1000"/>
                        <a:t> Nov, provided there is no showstopper and interface/env is working fine. As of now, interface is not working in DIT for April release.</a:t>
                      </a:r>
                      <a:br>
                        <a:rPr lang="en-CA" sz="1000"/>
                      </a:br>
                      <a:r>
                        <a:rPr lang="en-CA" sz="1000"/>
                        <a:t>Our functional testing status is good.</a:t>
                      </a:r>
                      <a:endParaRPr lang="en-CA" sz="1050">
                        <a:solidFill>
                          <a:schemeClr val="tx1"/>
                        </a:solidFill>
                        <a:effectLst/>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spcBef>
                          <a:spcPts val="0"/>
                        </a:spcBef>
                        <a:spcAft>
                          <a:spcPts val="0"/>
                        </a:spcAft>
                      </a:pPr>
                      <a:r>
                        <a:rPr lang="en-CA" sz="1000">
                          <a:solidFill>
                            <a:schemeClr val="tx1"/>
                          </a:solidFill>
                          <a:effectLst/>
                          <a:latin typeface="+mn-lt"/>
                        </a:rPr>
                        <a:t>1. DEV to perform DIT up to 22</a:t>
                      </a:r>
                      <a:r>
                        <a:rPr lang="en-CA" sz="1000" baseline="30000">
                          <a:solidFill>
                            <a:schemeClr val="tx1"/>
                          </a:solidFill>
                          <a:effectLst/>
                          <a:latin typeface="+mn-lt"/>
                        </a:rPr>
                        <a:t>nd</a:t>
                      </a:r>
                      <a:r>
                        <a:rPr lang="en-CA" sz="1000">
                          <a:solidFill>
                            <a:schemeClr val="tx1"/>
                          </a:solidFill>
                          <a:effectLst/>
                          <a:latin typeface="+mn-lt"/>
                        </a:rPr>
                        <a:t> Nov and deploy code in SIT on 22</a:t>
                      </a:r>
                      <a:r>
                        <a:rPr lang="en-CA" sz="1000" baseline="30000">
                          <a:solidFill>
                            <a:schemeClr val="tx1"/>
                          </a:solidFill>
                          <a:effectLst/>
                          <a:latin typeface="+mn-lt"/>
                        </a:rPr>
                        <a:t>nd</a:t>
                      </a:r>
                      <a:r>
                        <a:rPr lang="en-CA" sz="1000">
                          <a:solidFill>
                            <a:schemeClr val="tx1"/>
                          </a:solidFill>
                          <a:effectLst/>
                          <a:latin typeface="+mn-lt"/>
                        </a:rPr>
                        <a:t> Nov, end of day.</a:t>
                      </a:r>
                      <a:br>
                        <a:rPr lang="en-CA" sz="1000">
                          <a:solidFill>
                            <a:schemeClr val="tx1"/>
                          </a:solidFill>
                          <a:effectLst/>
                          <a:latin typeface="+mn-lt"/>
                        </a:rPr>
                      </a:br>
                      <a:r>
                        <a:rPr lang="en-CA" sz="1000">
                          <a:solidFill>
                            <a:schemeClr val="tx1"/>
                          </a:solidFill>
                          <a:effectLst/>
                          <a:latin typeface="+mn-lt"/>
                        </a:rPr>
                        <a:t>2. Sev 1's that introduce complete outage for all QA teams will be fixed between 22</a:t>
                      </a:r>
                      <a:r>
                        <a:rPr lang="en-CA" sz="1000" baseline="30000">
                          <a:solidFill>
                            <a:schemeClr val="tx1"/>
                          </a:solidFill>
                          <a:effectLst/>
                          <a:latin typeface="+mn-lt"/>
                        </a:rPr>
                        <a:t>nd</a:t>
                      </a:r>
                      <a:r>
                        <a:rPr lang="en-CA" sz="1000">
                          <a:solidFill>
                            <a:schemeClr val="tx1"/>
                          </a:solidFill>
                          <a:effectLst/>
                          <a:latin typeface="+mn-lt"/>
                        </a:rPr>
                        <a:t> Nov and 6</a:t>
                      </a:r>
                      <a:r>
                        <a:rPr lang="en-CA" sz="1000" baseline="30000">
                          <a:solidFill>
                            <a:schemeClr val="tx1"/>
                          </a:solidFill>
                          <a:effectLst/>
                          <a:latin typeface="+mn-lt"/>
                        </a:rPr>
                        <a:t>th</a:t>
                      </a:r>
                      <a:r>
                        <a:rPr lang="en-CA" sz="1000">
                          <a:solidFill>
                            <a:schemeClr val="tx1"/>
                          </a:solidFill>
                          <a:effectLst/>
                          <a:latin typeface="+mn-lt"/>
                        </a:rPr>
                        <a:t> Dec.</a:t>
                      </a:r>
                      <a:br>
                        <a:rPr lang="en-CA" sz="1000">
                          <a:solidFill>
                            <a:schemeClr val="tx1"/>
                          </a:solidFill>
                          <a:effectLst/>
                          <a:latin typeface="+mn-lt"/>
                        </a:rPr>
                      </a:br>
                      <a:r>
                        <a:rPr lang="en-CA" sz="1000">
                          <a:solidFill>
                            <a:schemeClr val="tx1"/>
                          </a:solidFill>
                          <a:effectLst/>
                          <a:latin typeface="+mn-lt"/>
                        </a:rPr>
                        <a:t>3. All Sev 1’s (with limited outage), Sev 2's and lower Sev’s will be triaged after 6</a:t>
                      </a:r>
                      <a:r>
                        <a:rPr lang="en-CA" sz="1000" baseline="30000">
                          <a:solidFill>
                            <a:schemeClr val="tx1"/>
                          </a:solidFill>
                          <a:effectLst/>
                          <a:latin typeface="+mn-lt"/>
                        </a:rPr>
                        <a:t>th</a:t>
                      </a:r>
                      <a:r>
                        <a:rPr lang="en-CA" sz="1000">
                          <a:solidFill>
                            <a:schemeClr val="tx1"/>
                          </a:solidFill>
                          <a:effectLst/>
                          <a:latin typeface="+mn-lt"/>
                        </a:rPr>
                        <a:t> Dec.</a:t>
                      </a:r>
                      <a:br>
                        <a:rPr lang="en-CA" sz="1000">
                          <a:solidFill>
                            <a:schemeClr val="tx1"/>
                          </a:solidFill>
                          <a:effectLst/>
                          <a:latin typeface="+mn-lt"/>
                        </a:rPr>
                      </a:br>
                      <a:r>
                        <a:rPr lang="en-CA" sz="1000">
                          <a:solidFill>
                            <a:schemeClr val="tx1"/>
                          </a:solidFill>
                          <a:effectLst/>
                          <a:latin typeface="+mn-lt"/>
                        </a:rPr>
                        <a:t>4. Time permitting, AD will participate in Internal Variance meetings.</a:t>
                      </a:r>
                      <a:br>
                        <a:rPr lang="en-CA" sz="1000">
                          <a:solidFill>
                            <a:schemeClr val="tx1"/>
                          </a:solidFill>
                          <a:effectLst/>
                          <a:latin typeface="+mn-lt"/>
                        </a:rPr>
                      </a:br>
                      <a:r>
                        <a:rPr lang="en-CA" sz="1000">
                          <a:solidFill>
                            <a:schemeClr val="tx1"/>
                          </a:solidFill>
                          <a:effectLst/>
                          <a:latin typeface="+mn-lt"/>
                        </a:rPr>
                        <a:t>5. On 25</a:t>
                      </a:r>
                      <a:r>
                        <a:rPr lang="en-CA" sz="1000" baseline="30000">
                          <a:solidFill>
                            <a:schemeClr val="tx1"/>
                          </a:solidFill>
                          <a:effectLst/>
                          <a:latin typeface="+mn-lt"/>
                        </a:rPr>
                        <a:t>th</a:t>
                      </a:r>
                      <a:r>
                        <a:rPr lang="en-CA" sz="1000">
                          <a:solidFill>
                            <a:schemeClr val="tx1"/>
                          </a:solidFill>
                          <a:effectLst/>
                          <a:latin typeface="+mn-lt"/>
                        </a:rPr>
                        <a:t> Nov, as Ph2 code will be merged with Ph1, any defect for Ph1 will not be promoted until Ph2 code moves on 6</a:t>
                      </a:r>
                      <a:r>
                        <a:rPr lang="en-CA" sz="1000" baseline="30000">
                          <a:solidFill>
                            <a:schemeClr val="tx1"/>
                          </a:solidFill>
                          <a:effectLst/>
                          <a:latin typeface="+mn-lt"/>
                        </a:rPr>
                        <a:t>th</a:t>
                      </a:r>
                      <a:r>
                        <a:rPr lang="en-CA" sz="1000">
                          <a:solidFill>
                            <a:schemeClr val="tx1"/>
                          </a:solidFill>
                          <a:effectLst/>
                          <a:latin typeface="+mn-lt"/>
                        </a:rPr>
                        <a:t> Dec</a:t>
                      </a:r>
                      <a:endParaRPr lang="en-CA" sz="1050">
                        <a:solidFill>
                          <a:schemeClr val="tx1"/>
                        </a:solidFill>
                        <a:effectLst/>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spcBef>
                          <a:spcPts val="0"/>
                        </a:spcBef>
                        <a:spcAft>
                          <a:spcPts val="0"/>
                        </a:spcAft>
                      </a:pPr>
                      <a:r>
                        <a:rPr lang="en-CA" sz="1000">
                          <a:solidFill>
                            <a:schemeClr val="tx1"/>
                          </a:solidFill>
                          <a:effectLst/>
                          <a:latin typeface="+mn-lt"/>
                        </a:rPr>
                        <a:t>1. QA will be able to start testing as planned.</a:t>
                      </a:r>
                      <a:br>
                        <a:rPr lang="en-CA" sz="1000">
                          <a:solidFill>
                            <a:schemeClr val="tx1"/>
                          </a:solidFill>
                          <a:effectLst/>
                          <a:latin typeface="+mn-lt"/>
                        </a:rPr>
                      </a:br>
                      <a:r>
                        <a:rPr lang="en-CA" sz="1000">
                          <a:solidFill>
                            <a:schemeClr val="tx1"/>
                          </a:solidFill>
                          <a:effectLst/>
                          <a:latin typeface="+mn-lt"/>
                        </a:rPr>
                        <a:t>2. QA can test DDGS Flows first, while AD works on the end-to-end interface testing.</a:t>
                      </a:r>
                      <a:br>
                        <a:rPr lang="en-CA" sz="1000">
                          <a:solidFill>
                            <a:schemeClr val="tx1"/>
                          </a:solidFill>
                          <a:effectLst/>
                          <a:latin typeface="+mn-lt"/>
                        </a:rPr>
                      </a:br>
                      <a:r>
                        <a:rPr lang="en-CA" sz="1000">
                          <a:solidFill>
                            <a:schemeClr val="tx1"/>
                          </a:solidFill>
                          <a:effectLst/>
                          <a:latin typeface="+mn-lt"/>
                        </a:rPr>
                        <a:t>3. QA can test DM BRUL through stubs. This way functional testing can be performed</a:t>
                      </a:r>
                      <a:br>
                        <a:rPr lang="en-CA" sz="1000">
                          <a:solidFill>
                            <a:schemeClr val="tx1"/>
                          </a:solidFill>
                          <a:effectLst/>
                          <a:latin typeface="+mn-lt"/>
                        </a:rPr>
                      </a:br>
                      <a:r>
                        <a:rPr lang="en-CA" sz="1000">
                          <a:solidFill>
                            <a:schemeClr val="tx1"/>
                          </a:solidFill>
                          <a:effectLst/>
                          <a:latin typeface="+mn-lt"/>
                        </a:rPr>
                        <a:t>4. AD team will have opportunity to focus on DIT until 6</a:t>
                      </a:r>
                      <a:r>
                        <a:rPr lang="en-CA" sz="1000" baseline="30000">
                          <a:solidFill>
                            <a:schemeClr val="tx1"/>
                          </a:solidFill>
                          <a:effectLst/>
                          <a:latin typeface="+mn-lt"/>
                        </a:rPr>
                        <a:t>th</a:t>
                      </a:r>
                      <a:r>
                        <a:rPr lang="en-CA" sz="1000">
                          <a:solidFill>
                            <a:schemeClr val="tx1"/>
                          </a:solidFill>
                          <a:effectLst/>
                          <a:latin typeface="+mn-lt"/>
                        </a:rPr>
                        <a:t> Dec.</a:t>
                      </a:r>
                      <a:endParaRPr lang="en-CA" sz="1050">
                        <a:solidFill>
                          <a:schemeClr val="tx1"/>
                        </a:solidFill>
                        <a:effectLst/>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spcBef>
                          <a:spcPts val="0"/>
                        </a:spcBef>
                        <a:spcAft>
                          <a:spcPts val="0"/>
                        </a:spcAft>
                      </a:pPr>
                      <a:r>
                        <a:rPr lang="en-CA" sz="1000">
                          <a:solidFill>
                            <a:schemeClr val="tx1"/>
                          </a:solidFill>
                          <a:effectLst/>
                          <a:latin typeface="+mn-lt"/>
                        </a:rPr>
                        <a:t>1. Sev 1's may impact MIA testing, as applicable.</a:t>
                      </a:r>
                      <a:br>
                        <a:rPr lang="en-CA" sz="1000">
                          <a:solidFill>
                            <a:schemeClr val="tx1"/>
                          </a:solidFill>
                          <a:effectLst/>
                          <a:latin typeface="+mn-lt"/>
                        </a:rPr>
                      </a:br>
                      <a:r>
                        <a:rPr lang="en-CA" sz="1000">
                          <a:solidFill>
                            <a:schemeClr val="tx1"/>
                          </a:solidFill>
                          <a:effectLst/>
                          <a:latin typeface="+mn-lt"/>
                        </a:rPr>
                        <a:t>2. QA will not have fully DIT tested code to start test.</a:t>
                      </a:r>
                      <a:endParaRPr lang="en-CA" sz="1050">
                        <a:solidFill>
                          <a:schemeClr val="tx1"/>
                        </a:solidFill>
                        <a:effectLst/>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792156629"/>
                  </a:ext>
                </a:extLst>
              </a:tr>
              <a:tr h="782558">
                <a:tc>
                  <a:txBody>
                    <a:bodyPr/>
                    <a:lstStyle/>
                    <a:p>
                      <a:pPr marL="0" marR="0" algn="ctr">
                        <a:spcBef>
                          <a:spcPts val="0"/>
                        </a:spcBef>
                        <a:spcAft>
                          <a:spcPts val="0"/>
                        </a:spcAft>
                      </a:pPr>
                      <a:r>
                        <a:rPr lang="en-US" sz="1000">
                          <a:solidFill>
                            <a:schemeClr val="tx1"/>
                          </a:solidFill>
                          <a:effectLst/>
                          <a:latin typeface="+mn-lt"/>
                        </a:rPr>
                        <a:t>2</a:t>
                      </a:r>
                      <a:endParaRPr lang="en-US" sz="1050">
                        <a:solidFill>
                          <a:schemeClr val="tx1"/>
                        </a:solidFill>
                        <a:effectLst/>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spcBef>
                          <a:spcPts val="0"/>
                        </a:spcBef>
                        <a:spcAft>
                          <a:spcPts val="0"/>
                        </a:spcAft>
                      </a:pPr>
                      <a:r>
                        <a:rPr lang="en-CA" sz="1000">
                          <a:solidFill>
                            <a:schemeClr val="tx1"/>
                          </a:solidFill>
                          <a:effectLst/>
                          <a:latin typeface="+mn-lt"/>
                        </a:rPr>
                        <a:t>Shift the code delivery to 4</a:t>
                      </a:r>
                      <a:r>
                        <a:rPr lang="en-CA" sz="1000" baseline="30000">
                          <a:solidFill>
                            <a:schemeClr val="tx1"/>
                          </a:solidFill>
                          <a:effectLst/>
                          <a:latin typeface="+mn-lt"/>
                        </a:rPr>
                        <a:t>th</a:t>
                      </a:r>
                      <a:r>
                        <a:rPr lang="en-CA" sz="1000">
                          <a:solidFill>
                            <a:schemeClr val="tx1"/>
                          </a:solidFill>
                          <a:effectLst/>
                          <a:latin typeface="+mn-lt"/>
                        </a:rPr>
                        <a:t> Dec (instead of 22</a:t>
                      </a:r>
                      <a:r>
                        <a:rPr lang="en-CA" sz="1000" baseline="30000">
                          <a:solidFill>
                            <a:schemeClr val="tx1"/>
                          </a:solidFill>
                          <a:effectLst/>
                          <a:latin typeface="+mn-lt"/>
                        </a:rPr>
                        <a:t>nd</a:t>
                      </a:r>
                      <a:r>
                        <a:rPr lang="en-CA" sz="1000">
                          <a:solidFill>
                            <a:schemeClr val="tx1"/>
                          </a:solidFill>
                          <a:effectLst/>
                          <a:latin typeface="+mn-lt"/>
                        </a:rPr>
                        <a:t> Nov and 6</a:t>
                      </a:r>
                      <a:r>
                        <a:rPr lang="en-CA" sz="1000" baseline="30000">
                          <a:solidFill>
                            <a:schemeClr val="tx1"/>
                          </a:solidFill>
                          <a:effectLst/>
                          <a:latin typeface="+mn-lt"/>
                        </a:rPr>
                        <a:t>th</a:t>
                      </a:r>
                      <a:r>
                        <a:rPr lang="en-CA" sz="1000">
                          <a:solidFill>
                            <a:schemeClr val="tx1"/>
                          </a:solidFill>
                          <a:effectLst/>
                          <a:latin typeface="+mn-lt"/>
                        </a:rPr>
                        <a:t> Dec) </a:t>
                      </a:r>
                      <a:r>
                        <a:rPr lang="en-CA" sz="1000" b="1">
                          <a:solidFill>
                            <a:schemeClr val="tx1"/>
                          </a:solidFill>
                          <a:effectLst/>
                          <a:latin typeface="+mn-lt"/>
                        </a:rPr>
                        <a:t>except </a:t>
                      </a:r>
                      <a:r>
                        <a:rPr lang="en-CA" sz="1000">
                          <a:solidFill>
                            <a:schemeClr val="tx1"/>
                          </a:solidFill>
                          <a:effectLst/>
                          <a:latin typeface="+mn-lt"/>
                        </a:rPr>
                        <a:t>funding functionality (Advancing section, EFT File, IBB Funding and Liability payout task). This piece will be delivered on 13</a:t>
                      </a:r>
                      <a:r>
                        <a:rPr lang="en-CA" sz="1000" baseline="30000">
                          <a:solidFill>
                            <a:schemeClr val="tx1"/>
                          </a:solidFill>
                          <a:effectLst/>
                          <a:latin typeface="+mn-lt"/>
                        </a:rPr>
                        <a:t>th</a:t>
                      </a:r>
                      <a:r>
                        <a:rPr lang="en-CA" sz="1000">
                          <a:solidFill>
                            <a:schemeClr val="tx1"/>
                          </a:solidFill>
                          <a:effectLst/>
                          <a:latin typeface="+mn-lt"/>
                        </a:rPr>
                        <a:t> Dec. The delay is due to ongoing SRD feedback, updates, and discussions.</a:t>
                      </a:r>
                      <a:endParaRPr lang="en-CA" sz="1050">
                        <a:solidFill>
                          <a:schemeClr val="tx1"/>
                        </a:solidFill>
                        <a:effectLst/>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spcBef>
                          <a:spcPts val="0"/>
                        </a:spcBef>
                        <a:spcAft>
                          <a:spcPts val="0"/>
                        </a:spcAft>
                      </a:pPr>
                      <a:r>
                        <a:rPr lang="en-CA" sz="1000">
                          <a:solidFill>
                            <a:schemeClr val="tx1"/>
                          </a:solidFill>
                          <a:effectLst/>
                          <a:latin typeface="+mn-lt"/>
                        </a:rPr>
                        <a:t>1. AD to merge all changes planed for 22</a:t>
                      </a:r>
                      <a:r>
                        <a:rPr lang="en-CA" sz="1000" baseline="30000">
                          <a:solidFill>
                            <a:schemeClr val="tx1"/>
                          </a:solidFill>
                          <a:effectLst/>
                          <a:latin typeface="+mn-lt"/>
                        </a:rPr>
                        <a:t>nd</a:t>
                      </a:r>
                      <a:r>
                        <a:rPr lang="en-CA" sz="1000">
                          <a:solidFill>
                            <a:schemeClr val="tx1"/>
                          </a:solidFill>
                          <a:effectLst/>
                          <a:latin typeface="+mn-lt"/>
                        </a:rPr>
                        <a:t> Nov and 6</a:t>
                      </a:r>
                      <a:r>
                        <a:rPr lang="en-CA" sz="1000" baseline="30000">
                          <a:solidFill>
                            <a:schemeClr val="tx1"/>
                          </a:solidFill>
                          <a:effectLst/>
                          <a:latin typeface="+mn-lt"/>
                        </a:rPr>
                        <a:t>th</a:t>
                      </a:r>
                      <a:r>
                        <a:rPr lang="en-CA" sz="1000">
                          <a:solidFill>
                            <a:schemeClr val="tx1"/>
                          </a:solidFill>
                          <a:effectLst/>
                          <a:latin typeface="+mn-lt"/>
                        </a:rPr>
                        <a:t> Dec and continue DIT on the merged code till 6</a:t>
                      </a:r>
                      <a:r>
                        <a:rPr lang="en-CA" sz="1000" baseline="30000">
                          <a:solidFill>
                            <a:schemeClr val="tx1"/>
                          </a:solidFill>
                          <a:effectLst/>
                          <a:latin typeface="+mn-lt"/>
                        </a:rPr>
                        <a:t>th</a:t>
                      </a:r>
                      <a:r>
                        <a:rPr lang="en-CA" sz="1000">
                          <a:solidFill>
                            <a:schemeClr val="tx1"/>
                          </a:solidFill>
                          <a:effectLst/>
                          <a:latin typeface="+mn-lt"/>
                        </a:rPr>
                        <a:t> Dec.</a:t>
                      </a:r>
                      <a:br>
                        <a:rPr lang="en-CA" sz="1000">
                          <a:solidFill>
                            <a:schemeClr val="tx1"/>
                          </a:solidFill>
                          <a:effectLst/>
                          <a:latin typeface="+mn-lt"/>
                        </a:rPr>
                      </a:br>
                      <a:r>
                        <a:rPr lang="en-CA" sz="1000">
                          <a:solidFill>
                            <a:schemeClr val="tx1"/>
                          </a:solidFill>
                          <a:effectLst/>
                          <a:latin typeface="+mn-lt"/>
                        </a:rPr>
                        <a:t>2. Instead of delivering code on 6</a:t>
                      </a:r>
                      <a:r>
                        <a:rPr lang="en-CA" sz="1000" baseline="30000">
                          <a:solidFill>
                            <a:schemeClr val="tx1"/>
                          </a:solidFill>
                          <a:effectLst/>
                          <a:latin typeface="+mn-lt"/>
                        </a:rPr>
                        <a:t>th</a:t>
                      </a:r>
                      <a:r>
                        <a:rPr lang="en-CA" sz="1000">
                          <a:solidFill>
                            <a:schemeClr val="tx1"/>
                          </a:solidFill>
                          <a:effectLst/>
                          <a:latin typeface="+mn-lt"/>
                        </a:rPr>
                        <a:t> Dec, AD will work extra hours to pull up the delivery to 4</a:t>
                      </a:r>
                      <a:r>
                        <a:rPr lang="en-CA" sz="1000" baseline="30000">
                          <a:solidFill>
                            <a:schemeClr val="tx1"/>
                          </a:solidFill>
                          <a:effectLst/>
                          <a:latin typeface="+mn-lt"/>
                        </a:rPr>
                        <a:t>th</a:t>
                      </a:r>
                      <a:r>
                        <a:rPr lang="en-CA" sz="1000">
                          <a:solidFill>
                            <a:schemeClr val="tx1"/>
                          </a:solidFill>
                          <a:effectLst/>
                          <a:latin typeface="+mn-lt"/>
                        </a:rPr>
                        <a:t> Dec.</a:t>
                      </a:r>
                      <a:endParaRPr lang="en-CA" sz="1050">
                        <a:solidFill>
                          <a:schemeClr val="tx1"/>
                        </a:solidFill>
                        <a:effectLst/>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spcBef>
                          <a:spcPts val="0"/>
                        </a:spcBef>
                        <a:spcAft>
                          <a:spcPts val="0"/>
                        </a:spcAft>
                      </a:pPr>
                      <a:r>
                        <a:rPr lang="en-CA" sz="1000">
                          <a:solidFill>
                            <a:schemeClr val="tx1"/>
                          </a:solidFill>
                          <a:effectLst/>
                          <a:latin typeface="+mn-lt"/>
                        </a:rPr>
                        <a:t>1. Simplified code versions in DIT and SIT ensuring focus on code quality and execution.</a:t>
                      </a:r>
                      <a:br>
                        <a:rPr lang="en-CA" sz="1000">
                          <a:solidFill>
                            <a:schemeClr val="tx1"/>
                          </a:solidFill>
                          <a:effectLst/>
                          <a:latin typeface="+mn-lt"/>
                        </a:rPr>
                      </a:br>
                      <a:r>
                        <a:rPr lang="en-CA" sz="1000">
                          <a:solidFill>
                            <a:schemeClr val="tx1"/>
                          </a:solidFill>
                          <a:effectLst/>
                          <a:latin typeface="+mn-lt"/>
                        </a:rPr>
                        <a:t>2. With no defect conversations, focus will be on delivery on 4th Dec.</a:t>
                      </a:r>
                      <a:endParaRPr lang="en-CA" sz="1050">
                        <a:solidFill>
                          <a:schemeClr val="tx1"/>
                        </a:solidFill>
                        <a:effectLst/>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spcBef>
                          <a:spcPts val="0"/>
                        </a:spcBef>
                        <a:spcAft>
                          <a:spcPts val="0"/>
                        </a:spcAft>
                      </a:pPr>
                      <a:r>
                        <a:rPr lang="en-CA" sz="1000">
                          <a:solidFill>
                            <a:schemeClr val="tx1"/>
                          </a:solidFill>
                          <a:effectLst/>
                          <a:latin typeface="+mn-lt"/>
                        </a:rPr>
                        <a:t>1. QA Testing cycle for MVP8.2 and Hopper 1 will be delayed by 8 days.</a:t>
                      </a:r>
                      <a:endParaRPr lang="en-CA" sz="1050">
                        <a:solidFill>
                          <a:schemeClr val="tx1"/>
                        </a:solidFill>
                        <a:effectLst/>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23883342"/>
                  </a:ext>
                </a:extLst>
              </a:tr>
            </a:tbl>
          </a:graphicData>
        </a:graphic>
      </p:graphicFrame>
      <p:sp>
        <p:nvSpPr>
          <p:cNvPr id="11" name="Rectangle 10">
            <a:extLst>
              <a:ext uri="{FF2B5EF4-FFF2-40B4-BE49-F238E27FC236}">
                <a16:creationId xmlns:a16="http://schemas.microsoft.com/office/drawing/2014/main" id="{BA721C25-7AD3-227D-1750-009011F126FA}"/>
              </a:ext>
            </a:extLst>
          </p:cNvPr>
          <p:cNvSpPr/>
          <p:nvPr/>
        </p:nvSpPr>
        <p:spPr>
          <a:xfrm>
            <a:off x="199174" y="729280"/>
            <a:ext cx="11434527" cy="1099527"/>
          </a:xfrm>
          <a:prstGeom prst="rect">
            <a:avLst/>
          </a:prstGeom>
          <a:solidFill>
            <a:srgbClr val="E7E7E7"/>
          </a:solidFill>
          <a:ln w="15875">
            <a:solidFill>
              <a:schemeClr val="tx1"/>
            </a:solidFill>
          </a:ln>
        </p:spPr>
        <p:txBody>
          <a:bodyPr wrap="none" rtlCol="0" anchor="ctr">
            <a:noAutofit/>
          </a:bodyPr>
          <a:lstStyle/>
          <a:p>
            <a:r>
              <a:rPr lang="en-CA" sz="1400" b="1" u="sng"/>
              <a:t>Problem Statement:</a:t>
            </a:r>
          </a:p>
          <a:p>
            <a:endParaRPr lang="en-CA" sz="1400" b="1" u="sng"/>
          </a:p>
          <a:p>
            <a:pPr marL="171450" indent="-171450">
              <a:buFont typeface="Arial" panose="020B0604020202020204" pitchFamily="34" charset="0"/>
              <a:buChar char="•"/>
            </a:pPr>
            <a:r>
              <a:rPr lang="en-CA" sz="1100"/>
              <a:t>For the April Release, DIT was supposed to end on 22nd Nov. However, due to the reasons below there is a delay.</a:t>
            </a:r>
          </a:p>
          <a:p>
            <a:pPr marL="171450" indent="-171450">
              <a:buFont typeface="Arial" panose="020B0604020202020204" pitchFamily="34" charset="0"/>
              <a:buChar char="•"/>
            </a:pPr>
            <a:r>
              <a:rPr lang="en-CA" sz="1100"/>
              <a:t>Overall release DIT is currently at 45% completion.</a:t>
            </a:r>
            <a:endParaRPr lang="en-US" sz="1100"/>
          </a:p>
        </p:txBody>
      </p:sp>
      <p:sp>
        <p:nvSpPr>
          <p:cNvPr id="12" name="Rectangle 11">
            <a:extLst>
              <a:ext uri="{FF2B5EF4-FFF2-40B4-BE49-F238E27FC236}">
                <a16:creationId xmlns:a16="http://schemas.microsoft.com/office/drawing/2014/main" id="{5953531C-760A-1DA6-D5F7-7E57F730B813}"/>
              </a:ext>
            </a:extLst>
          </p:cNvPr>
          <p:cNvSpPr/>
          <p:nvPr/>
        </p:nvSpPr>
        <p:spPr>
          <a:xfrm>
            <a:off x="199173" y="5514040"/>
            <a:ext cx="11434527" cy="1099527"/>
          </a:xfrm>
          <a:prstGeom prst="rect">
            <a:avLst/>
          </a:prstGeom>
          <a:solidFill>
            <a:srgbClr val="E7E7E7"/>
          </a:solidFill>
          <a:ln w="15875">
            <a:solidFill>
              <a:schemeClr val="tx1"/>
            </a:solidFill>
          </a:ln>
        </p:spPr>
        <p:txBody>
          <a:bodyPr wrap="none" rtlCol="0" anchor="ctr">
            <a:noAutofit/>
          </a:bodyPr>
          <a:lstStyle/>
          <a:p>
            <a:r>
              <a:rPr lang="en-CA" sz="1400" b="1" u="sng"/>
              <a:t>Reason for Delay:</a:t>
            </a:r>
          </a:p>
          <a:p>
            <a:endParaRPr lang="en-CA" sz="1400" b="1" u="sng"/>
          </a:p>
          <a:p>
            <a:pPr marL="171450" indent="-171450">
              <a:buFont typeface="Arial" panose="020B0604020202020204" pitchFamily="34" charset="0"/>
              <a:buChar char="•"/>
            </a:pPr>
            <a:r>
              <a:rPr lang="en-CA" sz="1100"/>
              <a:t>DIT timelines were squeezed from 3 weeks to 2 weeks as the Feb release testing was using the same Dev env.</a:t>
            </a:r>
          </a:p>
          <a:p>
            <a:pPr marL="171450" indent="-171450">
              <a:buFont typeface="Arial" panose="020B0604020202020204" pitchFamily="34" charset="0"/>
              <a:buChar char="•"/>
            </a:pPr>
            <a:r>
              <a:rPr lang="en-CA" sz="1100"/>
              <a:t>There was an ask to deploy code early in SIT for Hopper 2. As all code was required together, AD needed additional time.</a:t>
            </a:r>
          </a:p>
          <a:p>
            <a:pPr marL="171450" indent="-171450">
              <a:buFont typeface="Arial" panose="020B0604020202020204" pitchFamily="34" charset="0"/>
              <a:buChar char="•"/>
            </a:pPr>
            <a:r>
              <a:rPr lang="en-CA" sz="1100"/>
              <a:t>The code merge of the projects in April release is complex and time consuming as the changes are to the same flows/interfaces.</a:t>
            </a:r>
            <a:endParaRPr lang="en-US" sz="1100"/>
          </a:p>
        </p:txBody>
      </p:sp>
    </p:spTree>
    <p:extLst>
      <p:ext uri="{BB962C8B-B14F-4D97-AF65-F5344CB8AC3E}">
        <p14:creationId xmlns:p14="http://schemas.microsoft.com/office/powerpoint/2010/main" val="1458724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17C9E-8349-3AFF-1C70-28177A1D2C5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C766877A-2C4A-A47D-9E8E-98DBEFC91971}"/>
              </a:ext>
            </a:extLst>
          </p:cNvPr>
          <p:cNvSpPr txBox="1">
            <a:spLocks/>
          </p:cNvSpPr>
          <p:nvPr/>
        </p:nvSpPr>
        <p:spPr>
          <a:xfrm>
            <a:off x="117633" y="85661"/>
            <a:ext cx="5955555"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800" b="1" i="0" u="none" strike="noStrike" kern="1200" cap="none" spc="0" normalizeH="0" baseline="0" noProof="0">
                <a:ln>
                  <a:noFill/>
                </a:ln>
                <a:solidFill>
                  <a:srgbClr val="D40139"/>
                </a:solidFill>
                <a:effectLst/>
                <a:uLnTx/>
                <a:uFillTx/>
                <a:ea typeface="+mj-ea"/>
                <a:cs typeface="+mj-cs"/>
              </a:rPr>
              <a:t>Release Status</a:t>
            </a:r>
            <a:endParaRPr kumimoji="0" lang="en-CA" sz="2800" b="1" i="0" u="none" strike="noStrike" kern="1200" cap="none" spc="0" normalizeH="0" baseline="0" noProof="0">
              <a:ln>
                <a:noFill/>
              </a:ln>
              <a:solidFill>
                <a:srgbClr val="D40139"/>
              </a:solidFill>
              <a:effectLst/>
              <a:uLnTx/>
              <a:uFillTx/>
              <a:ea typeface="+mj-ea"/>
              <a:cs typeface="+mj-cs"/>
            </a:endParaRPr>
          </a:p>
        </p:txBody>
      </p:sp>
      <p:sp>
        <p:nvSpPr>
          <p:cNvPr id="13" name="Rectangle 12">
            <a:hlinkClick r:id="rId3" action="ppaction://hlinksldjump"/>
            <a:extLst>
              <a:ext uri="{FF2B5EF4-FFF2-40B4-BE49-F238E27FC236}">
                <a16:creationId xmlns:a16="http://schemas.microsoft.com/office/drawing/2014/main" id="{5DE65CDE-5C69-6590-A28B-96BAE87DBE22}"/>
              </a:ext>
            </a:extLst>
          </p:cNvPr>
          <p:cNvSpPr/>
          <p:nvPr/>
        </p:nvSpPr>
        <p:spPr>
          <a:xfrm>
            <a:off x="114731" y="2441406"/>
            <a:ext cx="6273800" cy="3577903"/>
          </a:xfrm>
          <a:prstGeom prst="rect">
            <a:avLst/>
          </a:prstGeom>
          <a:ln>
            <a:noFill/>
          </a:ln>
        </p:spPr>
        <p:txBody>
          <a:bodyPr wrap="square" lIns="91440" tIns="45720" rIns="91440" bIns="45720" anchor="t">
            <a:spAutoFit/>
          </a:bodyPr>
          <a:lstStyle/>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mj-lt"/>
                <a:ea typeface="+mn-ea"/>
                <a:cs typeface="+mn-cs"/>
              </a:rPr>
              <a:t>Summary:</a:t>
            </a:r>
          </a:p>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r>
              <a:rPr lang="en-US" sz="850">
                <a:solidFill>
                  <a:srgbClr val="000000"/>
                </a:solidFill>
              </a:rPr>
              <a:t>Warranty is complete. </a:t>
            </a:r>
            <a:r>
              <a:rPr lang="en-US" sz="850" b="0" i="0" u="none" strike="noStrike">
                <a:solidFill>
                  <a:srgbClr val="000000"/>
                </a:solidFill>
                <a:effectLst/>
              </a:rPr>
              <a:t>Summary of p</a:t>
            </a:r>
            <a:r>
              <a:rPr lang="en-US" sz="850">
                <a:solidFill>
                  <a:srgbClr val="000000"/>
                </a:solidFill>
              </a:rPr>
              <a:t>roduction issues are listed below:</a:t>
            </a:r>
          </a:p>
          <a:p>
            <a:pPr marL="771296" lvl="1" indent="-171450" defTabSz="914400">
              <a:buFont typeface="Arial" panose="020B0604020202020204" pitchFamily="34" charset="0"/>
              <a:buChar char="•"/>
              <a:defRPr/>
            </a:pPr>
            <a:r>
              <a:rPr lang="en-CA" sz="850">
                <a:solidFill>
                  <a:srgbClr val="000000"/>
                </a:solidFill>
              </a:rPr>
              <a:t>Production Issues: 41 </a:t>
            </a:r>
            <a:r>
              <a:rPr lang="en-US" sz="850">
                <a:solidFill>
                  <a:srgbClr val="000000"/>
                </a:solidFill>
              </a:rPr>
              <a:t>[07 Scheduled, 34 Closed]</a:t>
            </a:r>
          </a:p>
          <a:p>
            <a:pPr marL="771296" lvl="1" indent="-171450" defTabSz="914400">
              <a:buFont typeface="Arial" panose="020B0604020202020204" pitchFamily="34" charset="0"/>
              <a:buChar char="•"/>
              <a:defRPr/>
            </a:pPr>
            <a:r>
              <a:rPr lang="en-US" sz="850">
                <a:solidFill>
                  <a:srgbClr val="000000"/>
                </a:solidFill>
              </a:rPr>
              <a:t>Total Observations: 41</a:t>
            </a:r>
          </a:p>
          <a:p>
            <a:pPr marL="1428293" lvl="2" indent="-228600" defTabSz="914400">
              <a:buFont typeface="+mj-lt"/>
              <a:buAutoNum type="alphaLcPeriod"/>
              <a:defRPr/>
            </a:pPr>
            <a:r>
              <a:rPr lang="en-US" sz="850">
                <a:solidFill>
                  <a:srgbClr val="000000"/>
                </a:solidFill>
              </a:rPr>
              <a:t>Tech Issues (CBPT) : 29</a:t>
            </a:r>
          </a:p>
          <a:p>
            <a:pPr marL="2028139" lvl="3" indent="-228600" defTabSz="914400">
              <a:buFont typeface="+mj-lt"/>
              <a:buAutoNum type="romanLcPeriod"/>
              <a:defRPr/>
            </a:pPr>
            <a:r>
              <a:rPr lang="en-US" sz="850">
                <a:solidFill>
                  <a:srgbClr val="000000"/>
                </a:solidFill>
              </a:rPr>
              <a:t>Code Defect: 19</a:t>
            </a:r>
          </a:p>
          <a:p>
            <a:pPr marL="2028139" lvl="3" indent="-228600" defTabSz="914400">
              <a:buFont typeface="+mj-lt"/>
              <a:buAutoNum type="romanLcPeriod"/>
              <a:defRPr/>
            </a:pPr>
            <a:r>
              <a:rPr lang="en-US" sz="850">
                <a:solidFill>
                  <a:srgbClr val="000000"/>
                </a:solidFill>
              </a:rPr>
              <a:t>Solution Requirement Gap: 07</a:t>
            </a:r>
          </a:p>
          <a:p>
            <a:pPr marL="2028139" lvl="3" indent="-228600" defTabSz="914400">
              <a:buFont typeface="+mj-lt"/>
              <a:buAutoNum type="romanLcPeriod"/>
              <a:defRPr/>
            </a:pPr>
            <a:r>
              <a:rPr lang="en-CA" sz="850">
                <a:solidFill>
                  <a:srgbClr val="000000"/>
                </a:solidFill>
              </a:rPr>
              <a:t>Deferred Defect: 03</a:t>
            </a:r>
          </a:p>
          <a:p>
            <a:pPr marL="1428293" lvl="2" indent="-228600" defTabSz="914400">
              <a:buFont typeface="+mj-lt"/>
              <a:buAutoNum type="alphaLcPeriod"/>
              <a:defRPr/>
            </a:pPr>
            <a:r>
              <a:rPr lang="en-US" sz="850">
                <a:solidFill>
                  <a:srgbClr val="000000"/>
                </a:solidFill>
              </a:rPr>
              <a:t>Other Issues: 11</a:t>
            </a:r>
          </a:p>
          <a:p>
            <a:pPr marL="2028139" lvl="3" indent="-228600" defTabSz="914400">
              <a:buFont typeface="+mj-lt"/>
              <a:buAutoNum type="romanLcPeriod"/>
              <a:defRPr/>
            </a:pPr>
            <a:r>
              <a:rPr lang="en-US" sz="850">
                <a:solidFill>
                  <a:srgbClr val="000000"/>
                </a:solidFill>
              </a:rPr>
              <a:t>Non CBPT/Third Party Issue: 02</a:t>
            </a:r>
          </a:p>
          <a:p>
            <a:pPr marL="2028139" lvl="3" indent="-228600" defTabSz="914400">
              <a:buFont typeface="+mj-lt"/>
              <a:buAutoNum type="romanLcPeriod"/>
              <a:defRPr/>
            </a:pPr>
            <a:r>
              <a:rPr lang="en-US" sz="850">
                <a:solidFill>
                  <a:srgbClr val="000000"/>
                </a:solidFill>
              </a:rPr>
              <a:t>Business Requirement/Process Gap: 08</a:t>
            </a:r>
          </a:p>
          <a:p>
            <a:pPr marL="2028139" lvl="3" indent="-228600" defTabSz="914400">
              <a:buFont typeface="+mj-lt"/>
              <a:buAutoNum type="romanLcPeriod"/>
              <a:defRPr/>
            </a:pPr>
            <a:r>
              <a:rPr lang="en-US" sz="850">
                <a:solidFill>
                  <a:srgbClr val="000000"/>
                </a:solidFill>
              </a:rPr>
              <a:t>Non-Issue: 01</a:t>
            </a:r>
          </a:p>
          <a:p>
            <a:pPr marL="1428293" lvl="2" indent="-228600" defTabSz="914400">
              <a:buFont typeface="+mj-lt"/>
              <a:buAutoNum type="alphaLcPeriod"/>
              <a:defRPr/>
            </a:pPr>
            <a:r>
              <a:rPr lang="en-US" sz="850">
                <a:solidFill>
                  <a:srgbClr val="000000"/>
                </a:solidFill>
              </a:rPr>
              <a:t>Rootcause Analysis in progress: 01</a:t>
            </a:r>
          </a:p>
          <a:p>
            <a:pPr marL="828446" lvl="1" indent="-228600" defTabSz="914400">
              <a:buFont typeface="Arial" panose="020B0604020202020204" pitchFamily="34" charset="0"/>
              <a:buChar char="•"/>
              <a:defRPr/>
            </a:pPr>
            <a:endParaRPr lang="en-US" sz="850">
              <a:solidFill>
                <a:srgbClr val="000000"/>
              </a:solidFill>
            </a:endParaRPr>
          </a:p>
          <a:p>
            <a:pPr marL="828446" lvl="1" indent="-228600" defTabSz="914400">
              <a:buFont typeface="Arial" panose="020B0604020202020204" pitchFamily="34" charset="0"/>
              <a:buChar char="•"/>
              <a:defRPr/>
            </a:pPr>
            <a:r>
              <a:rPr lang="en-US" sz="850">
                <a:solidFill>
                  <a:srgbClr val="000000"/>
                </a:solidFill>
              </a:rPr>
              <a:t>Plan for Resolution/Closure: 41</a:t>
            </a:r>
          </a:p>
          <a:p>
            <a:pPr marL="1428293" lvl="2" indent="-228600" defTabSz="914400">
              <a:buFont typeface="+mj-lt"/>
              <a:buAutoNum type="alphaLcPeriod"/>
              <a:defRPr/>
            </a:pPr>
            <a:r>
              <a:rPr lang="en-US" sz="850">
                <a:solidFill>
                  <a:srgbClr val="000000"/>
                </a:solidFill>
              </a:rPr>
              <a:t>Upcoming fixes: 07</a:t>
            </a:r>
          </a:p>
          <a:p>
            <a:pPr marL="2085289" lvl="3" indent="-285750" defTabSz="914400">
              <a:buFont typeface="+mj-lt"/>
              <a:buAutoNum type="romanLcPeriod"/>
              <a:defRPr/>
            </a:pPr>
            <a:r>
              <a:rPr lang="en-US" sz="850">
                <a:solidFill>
                  <a:srgbClr val="000000"/>
                </a:solidFill>
              </a:rPr>
              <a:t>18-Oct: 02</a:t>
            </a:r>
          </a:p>
          <a:p>
            <a:pPr marL="2085289" lvl="3" indent="-285750" defTabSz="914400">
              <a:buFont typeface="+mj-lt"/>
              <a:buAutoNum type="romanLcPeriod"/>
              <a:defRPr/>
            </a:pPr>
            <a:r>
              <a:rPr lang="en-US" sz="850">
                <a:solidFill>
                  <a:srgbClr val="000000"/>
                </a:solidFill>
              </a:rPr>
              <a:t>19-Oct: 01</a:t>
            </a:r>
          </a:p>
          <a:p>
            <a:pPr marL="2085289" lvl="3" indent="-285750" defTabSz="914400">
              <a:buFont typeface="+mj-lt"/>
              <a:buAutoNum type="romanLcPeriod"/>
              <a:defRPr/>
            </a:pPr>
            <a:r>
              <a:rPr lang="en-US" sz="850">
                <a:solidFill>
                  <a:srgbClr val="000000"/>
                </a:solidFill>
              </a:rPr>
              <a:t>16-Nov: 04</a:t>
            </a:r>
          </a:p>
          <a:p>
            <a:pPr marL="1485443" lvl="2" indent="-285750" defTabSz="914400">
              <a:buFont typeface="+mj-lt"/>
              <a:buAutoNum type="alphaLcPeriod"/>
              <a:defRPr/>
            </a:pPr>
            <a:r>
              <a:rPr lang="en-CA" sz="850">
                <a:solidFill>
                  <a:srgbClr val="000000"/>
                </a:solidFill>
              </a:rPr>
              <a:t>Fixed: 27</a:t>
            </a:r>
          </a:p>
          <a:p>
            <a:pPr marL="1485443" lvl="2" indent="-285750" defTabSz="914400">
              <a:buFont typeface="+mj-lt"/>
              <a:buAutoNum type="alphaLcPeriod"/>
              <a:defRPr/>
            </a:pPr>
            <a:r>
              <a:rPr lang="en-CA" sz="850">
                <a:solidFill>
                  <a:srgbClr val="000000"/>
                </a:solidFill>
              </a:rPr>
              <a:t>No fix required: 03</a:t>
            </a:r>
          </a:p>
          <a:p>
            <a:pPr marL="1485443" lvl="2" indent="-285750" defTabSz="914400">
              <a:buFont typeface="+mj-lt"/>
              <a:buAutoNum type="alphaLcPeriod"/>
              <a:defRPr/>
            </a:pPr>
            <a:r>
              <a:rPr lang="en-CA" sz="850">
                <a:solidFill>
                  <a:srgbClr val="000000"/>
                </a:solidFill>
              </a:rPr>
              <a:t>Deferred with new CR/intake/Inc: 04</a:t>
            </a:r>
          </a:p>
          <a:p>
            <a:pPr marL="171450" lvl="0" indent="-171450">
              <a:buFont typeface="Arial" panose="020B0604020202020204" pitchFamily="34" charset="0"/>
              <a:buChar char="•"/>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171450" lvl="0" indent="-171450">
              <a:buFont typeface="Arial" panose="020B0604020202020204" pitchFamily="34" charset="0"/>
              <a:buChar char="•"/>
              <a:defRPr/>
            </a:pPr>
            <a:r>
              <a:rPr kumimoji="0" lang="en-US" sz="1200" b="1" i="0" u="none" strike="noStrike" kern="1200" cap="none" spc="0" normalizeH="0" baseline="0" noProof="0">
                <a:ln>
                  <a:noFill/>
                </a:ln>
                <a:solidFill>
                  <a:srgbClr val="D40139"/>
                </a:solidFill>
                <a:effectLst/>
                <a:uLnTx/>
                <a:uFillTx/>
                <a:latin typeface="+mj-lt"/>
                <a:ea typeface="+mn-ea"/>
                <a:cs typeface="+mn-cs"/>
              </a:rPr>
              <a:t>Open Risks / Issues: </a:t>
            </a:r>
            <a:r>
              <a:rPr lang="en-US" sz="800">
                <a:solidFill>
                  <a:srgbClr val="000000"/>
                </a:solidFill>
              </a:rPr>
              <a:t>None</a:t>
            </a:r>
          </a:p>
          <a:p>
            <a:pPr marL="171450" lvl="0" indent="-171450">
              <a:buFont typeface="Arial" panose="020B0604020202020204" pitchFamily="34" charset="0"/>
              <a:buChar char="•"/>
              <a:defRPr/>
            </a:pPr>
            <a:r>
              <a:rPr lang="en-US" sz="1200" b="1">
                <a:solidFill>
                  <a:srgbClr val="D40139"/>
                </a:solidFill>
                <a:latin typeface="+mj-lt"/>
              </a:rPr>
              <a:t>Awareness: </a:t>
            </a:r>
            <a:r>
              <a:rPr lang="en-US" sz="800">
                <a:solidFill>
                  <a:srgbClr val="000000"/>
                </a:solidFill>
              </a:rPr>
              <a:t>Lower Env Sync up are planned. </a:t>
            </a:r>
            <a:r>
              <a:rPr lang="en-US" sz="1000">
                <a:solidFill>
                  <a:srgbClr val="000000"/>
                </a:solidFill>
                <a:latin typeface="Trebuchet MS" panose="020B0603020202020204" pitchFamily="34" charset="0"/>
              </a:rPr>
              <a:t>			</a:t>
            </a:r>
            <a:endParaRPr lang="en-CA" sz="1000">
              <a:solidFill>
                <a:srgbClr val="000000"/>
              </a:solidFill>
              <a:latin typeface="+mj-lt"/>
            </a:endParaRPr>
          </a:p>
        </p:txBody>
      </p:sp>
      <p:graphicFrame>
        <p:nvGraphicFramePr>
          <p:cNvPr id="14" name="Table 15">
            <a:extLst>
              <a:ext uri="{FF2B5EF4-FFF2-40B4-BE49-F238E27FC236}">
                <a16:creationId xmlns:a16="http://schemas.microsoft.com/office/drawing/2014/main" id="{FBF92BE6-AECC-D124-FC76-AC4DD80656F4}"/>
              </a:ext>
            </a:extLst>
          </p:cNvPr>
          <p:cNvGraphicFramePr>
            <a:graphicFrameLocks noGrp="1"/>
          </p:cNvGraphicFramePr>
          <p:nvPr>
            <p:extLst>
              <p:ext uri="{D42A27DB-BD31-4B8C-83A1-F6EECF244321}">
                <p14:modId xmlns:p14="http://schemas.microsoft.com/office/powerpoint/2010/main" val="1047631300"/>
              </p:ext>
            </p:extLst>
          </p:nvPr>
        </p:nvGraphicFramePr>
        <p:xfrm>
          <a:off x="6499473" y="677464"/>
          <a:ext cx="5237149" cy="2308860"/>
        </p:xfrm>
        <a:graphic>
          <a:graphicData uri="http://schemas.openxmlformats.org/drawingml/2006/table">
            <a:tbl>
              <a:tblPr firstRow="1" bandRow="1">
                <a:tableStyleId>{5940675A-B579-460E-94D1-54222C63F5DA}</a:tableStyleId>
              </a:tblPr>
              <a:tblGrid>
                <a:gridCol w="1104543">
                  <a:extLst>
                    <a:ext uri="{9D8B030D-6E8A-4147-A177-3AD203B41FA5}">
                      <a16:colId xmlns:a16="http://schemas.microsoft.com/office/drawing/2014/main" val="590069212"/>
                    </a:ext>
                  </a:extLst>
                </a:gridCol>
                <a:gridCol w="459017">
                  <a:extLst>
                    <a:ext uri="{9D8B030D-6E8A-4147-A177-3AD203B41FA5}">
                      <a16:colId xmlns:a16="http://schemas.microsoft.com/office/drawing/2014/main" val="289142566"/>
                    </a:ext>
                  </a:extLst>
                </a:gridCol>
                <a:gridCol w="785377">
                  <a:extLst>
                    <a:ext uri="{9D8B030D-6E8A-4147-A177-3AD203B41FA5}">
                      <a16:colId xmlns:a16="http://schemas.microsoft.com/office/drawing/2014/main" val="3540510859"/>
                    </a:ext>
                  </a:extLst>
                </a:gridCol>
                <a:gridCol w="785091">
                  <a:extLst>
                    <a:ext uri="{9D8B030D-6E8A-4147-A177-3AD203B41FA5}">
                      <a16:colId xmlns:a16="http://schemas.microsoft.com/office/drawing/2014/main" val="577368358"/>
                    </a:ext>
                  </a:extLst>
                </a:gridCol>
                <a:gridCol w="2103121">
                  <a:extLst>
                    <a:ext uri="{9D8B030D-6E8A-4147-A177-3AD203B41FA5}">
                      <a16:colId xmlns:a16="http://schemas.microsoft.com/office/drawing/2014/main" val="808314054"/>
                    </a:ext>
                  </a:extLst>
                </a:gridCol>
              </a:tblGrid>
              <a:tr h="0">
                <a:tc>
                  <a:txBody>
                    <a:bodyPr/>
                    <a:lstStyle/>
                    <a:p>
                      <a:pPr algn="ctr"/>
                      <a:r>
                        <a:rPr lang="en-CA" sz="900" b="1">
                          <a:solidFill>
                            <a:schemeClr val="tx1"/>
                          </a:solidFill>
                        </a:rPr>
                        <a:t>Activity</a:t>
                      </a:r>
                      <a:endParaRPr lang="en-US" sz="900" b="1">
                        <a:solidFill>
                          <a:schemeClr val="tx1"/>
                        </a:solidFill>
                      </a:endParaRP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en-CA" sz="900" b="1"/>
                        <a:t>Status</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CA" sz="900" b="1"/>
                        <a:t>Start</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CA" sz="900" b="1"/>
                        <a:t>End</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CA" sz="900" b="1"/>
                        <a:t>Comments</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9743300"/>
                  </a:ext>
                </a:extLst>
              </a:tr>
              <a:tr h="0">
                <a:tc gridSpan="5">
                  <a:txBody>
                    <a:bodyPr/>
                    <a:lstStyle/>
                    <a:p>
                      <a:pPr algn="ctr"/>
                      <a:r>
                        <a:rPr lang="en-CA" sz="800" b="1">
                          <a:solidFill>
                            <a:schemeClr val="bg1"/>
                          </a:solidFill>
                        </a:rPr>
                        <a:t>BA</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endParaRPr lang="en-CA" sz="9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277812957"/>
                  </a:ext>
                </a:extLst>
              </a:tr>
              <a:tr h="0">
                <a:tc>
                  <a:txBody>
                    <a:bodyPr/>
                    <a:lstStyle/>
                    <a:p>
                      <a:r>
                        <a:rPr lang="en-CA" sz="800">
                          <a:solidFill>
                            <a:schemeClr val="tx1"/>
                          </a:solidFill>
                        </a:rPr>
                        <a:t>BRD / SRDs / CRs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schemeClr val="tx1"/>
                          </a:solidFill>
                          <a:effectLst/>
                          <a:uLnTx/>
                          <a:uFillTx/>
                          <a:latin typeface="+mn-lt"/>
                          <a:ea typeface="+mn-ea"/>
                          <a:cs typeface="+mn-cs"/>
                        </a:rPr>
                        <a:t>C</a:t>
                      </a:r>
                      <a:endParaRPr kumimoji="0" lang="en-US" sz="800" b="1" i="0" u="none" strike="noStrike" kern="1200" cap="none" spc="0" normalizeH="0" baseline="0" noProof="0">
                        <a:ln>
                          <a:noFill/>
                        </a:ln>
                        <a:solidFill>
                          <a:schemeClr val="tx1"/>
                        </a:solidFill>
                        <a:effectLst/>
                        <a:uLnTx/>
                        <a:uFillTx/>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CA"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CA"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algn="l"/>
                      <a:endParaRPr lang="en-CA"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1996147"/>
                  </a:ext>
                </a:extLst>
              </a:tr>
              <a:tr h="0">
                <a:tc gridSpan="5">
                  <a:txBody>
                    <a:bodyPr/>
                    <a:lstStyle/>
                    <a:p>
                      <a:pPr algn="ctr"/>
                      <a:r>
                        <a:rPr lang="en-CA" sz="800" b="1">
                          <a:solidFill>
                            <a:schemeClr val="bg1"/>
                          </a:solidFill>
                        </a:rPr>
                        <a:t>AD</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endParaRPr lang="en-US" sz="1000"/>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751212044"/>
                  </a:ext>
                </a:extLst>
              </a:tr>
              <a:tr h="0">
                <a:tc>
                  <a:txBody>
                    <a:bodyPr/>
                    <a:lstStyle/>
                    <a:p>
                      <a:r>
                        <a:rPr lang="en-CA" sz="750">
                          <a:solidFill>
                            <a:schemeClr val="tx1"/>
                          </a:solidFill>
                        </a:rPr>
                        <a:t>Infra Dependencies</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effectLst/>
                          <a:uLnTx/>
                          <a:uFillTx/>
                          <a:latin typeface="+mn-lt"/>
                          <a:ea typeface="+mn-ea"/>
                          <a:cs typeface="+mn-cs"/>
                        </a:rPr>
                        <a:t>-</a:t>
                      </a:r>
                      <a:endParaRPr kumimoji="0" lang="en-US" sz="750" b="0" i="0" u="none" strike="noStrike" kern="1200" cap="none" spc="0" normalizeH="0" baseline="0" noProof="0">
                        <a:ln>
                          <a:noFill/>
                        </a:ln>
                        <a:effectLst/>
                        <a:uLnTx/>
                        <a:uFillTx/>
                        <a:latin typeface="+mn-lt"/>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effectLst/>
                          <a:uLnTx/>
                          <a:uFillTx/>
                          <a:latin typeface="Trebuchet MS"/>
                          <a:ea typeface="+mn-ea"/>
                          <a:cs typeface="+mn-cs"/>
                        </a:rPr>
                        <a:t>-</a:t>
                      </a:r>
                      <a:endParaRPr kumimoji="0" lang="en-US" sz="750" b="0" i="0" u="none" strike="noStrike" kern="1200" cap="none" spc="0" normalizeH="0" baseline="0" noProof="0">
                        <a:ln>
                          <a:noFill/>
                        </a:ln>
                        <a:effectLst/>
                        <a:uLnTx/>
                        <a:uFillTx/>
                        <a:latin typeface="Trebuchet MS"/>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750" b="0" i="0" u="none" strike="noStrike">
                        <a:solidFill>
                          <a:schemeClr val="tx1"/>
                        </a:solidFill>
                        <a:effectLst/>
                        <a:latin typeface="+mn-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1421103"/>
                  </a:ext>
                </a:extLst>
              </a:tr>
              <a:tr h="0">
                <a:tc>
                  <a:txBody>
                    <a:bodyPr/>
                    <a:lstStyle/>
                    <a:p>
                      <a:r>
                        <a:rPr lang="en-CA" sz="750">
                          <a:solidFill>
                            <a:schemeClr val="tx1"/>
                          </a:solidFill>
                        </a:rPr>
                        <a:t>MIP</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Aug 22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Sep 18</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75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4036"/>
                  </a:ext>
                </a:extLst>
              </a:tr>
              <a:tr h="198578">
                <a:tc>
                  <a:txBody>
                    <a:bodyPr/>
                    <a:lstStyle/>
                    <a:p>
                      <a:r>
                        <a:rPr lang="en-CA" sz="750">
                          <a:solidFill>
                            <a:schemeClr val="tx1"/>
                          </a:solidFill>
                        </a:rPr>
                        <a:t>B/O Matrix</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Aug 18</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Sep 12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75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3156198"/>
                  </a:ext>
                </a:extLst>
              </a:tr>
              <a:tr h="0">
                <a:tc>
                  <a:txBody>
                    <a:bodyPr/>
                    <a:lstStyle/>
                    <a:p>
                      <a:pPr marL="0" algn="l" defTabSz="914400" rtl="0" eaLnBrk="1" latinLnBrk="0" hangingPunct="1"/>
                      <a:r>
                        <a:rPr lang="en-CA" sz="750" kern="1200">
                          <a:solidFill>
                            <a:schemeClr val="tx1"/>
                          </a:solidFill>
                          <a:latin typeface="+mn-lt"/>
                          <a:ea typeface="+mn-ea"/>
                          <a:cs typeface="+mn-cs"/>
                        </a:rPr>
                        <a:t>SCM Updates</a:t>
                      </a:r>
                      <a:endParaRPr lang="en-US" sz="750" kern="1200">
                        <a:solidFill>
                          <a:schemeClr val="tx1"/>
                        </a:solidFill>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Aug 18</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Sep 12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649755"/>
                  </a:ext>
                </a:extLst>
              </a:tr>
              <a:tr h="129404">
                <a:tc>
                  <a:txBody>
                    <a:bodyPr/>
                    <a:lstStyle/>
                    <a:p>
                      <a:r>
                        <a:rPr lang="en-CA" sz="750">
                          <a:solidFill>
                            <a:schemeClr val="tx1"/>
                          </a:solidFill>
                        </a:rPr>
                        <a:t>ACPs</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Aug 18</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Sep 12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987816"/>
                  </a:ext>
                </a:extLst>
              </a:tr>
              <a:tr h="0">
                <a:tc>
                  <a:txBody>
                    <a:bodyPr/>
                    <a:lstStyle/>
                    <a:p>
                      <a:r>
                        <a:rPr lang="en-CA" sz="750">
                          <a:solidFill>
                            <a:schemeClr val="tx1"/>
                          </a:solidFill>
                        </a:rPr>
                        <a:t>OSI / Run Books</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Aug 18</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Sep 12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2469613"/>
                  </a:ext>
                </a:extLst>
              </a:tr>
              <a:tr h="0">
                <a:tc>
                  <a:txBody>
                    <a:bodyPr/>
                    <a:lstStyle/>
                    <a:p>
                      <a:r>
                        <a:rPr lang="en-CA" sz="750">
                          <a:solidFill>
                            <a:schemeClr val="tx1"/>
                          </a:solidFill>
                        </a:rPr>
                        <a:t>ADM Readiness</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Aug 18</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Sep 12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1769880"/>
                  </a:ext>
                </a:extLst>
              </a:tr>
            </a:tbl>
          </a:graphicData>
        </a:graphic>
      </p:graphicFrame>
      <p:sp>
        <p:nvSpPr>
          <p:cNvPr id="16" name="Subtitle 2">
            <a:extLst>
              <a:ext uri="{FF2B5EF4-FFF2-40B4-BE49-F238E27FC236}">
                <a16:creationId xmlns:a16="http://schemas.microsoft.com/office/drawing/2014/main" id="{A5AC929C-6CAD-4F44-C223-F0BA971B206B}"/>
              </a:ext>
            </a:extLst>
          </p:cNvPr>
          <p:cNvSpPr txBox="1">
            <a:spLocks/>
          </p:cNvSpPr>
          <p:nvPr/>
        </p:nvSpPr>
        <p:spPr>
          <a:xfrm>
            <a:off x="8024304" y="358700"/>
            <a:ext cx="2201690" cy="250050"/>
          </a:xfrm>
          <a:prstGeom prst="rect">
            <a:avLst/>
          </a:prstGeom>
        </p:spPr>
        <p:txBody>
          <a:bodyPr vert="horz" wrap="square" lIns="0" tIns="0" rIns="0" bIns="0" rtlCol="0">
            <a:spAutoFit/>
          </a:bodyPr>
          <a:lstStyle>
            <a:lvl1pPr marL="0" indent="0" algn="l" defTabSz="914400" rtl="0" eaLnBrk="1" latinLnBrk="0" hangingPunct="1">
              <a:spcBef>
                <a:spcPts val="600"/>
              </a:spcBef>
              <a:spcAft>
                <a:spcPts val="600"/>
              </a:spcAft>
              <a:buFont typeface="Arial" panose="020B0604020202020204" pitchFamily="34" charset="0"/>
              <a:buNone/>
              <a:defRPr sz="2000" b="1" kern="1200">
                <a:solidFill>
                  <a:schemeClr val="accent6"/>
                </a:solidFill>
                <a:latin typeface="+mn-lt"/>
                <a:ea typeface="+mn-ea"/>
                <a:cs typeface="+mn-cs"/>
              </a:defRPr>
            </a:lvl1pPr>
            <a:lvl2pPr marL="228600" indent="-228600"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2pPr>
            <a:lvl3pPr marL="457200" indent="-22383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3pPr>
            <a:lvl4pPr marL="685800" indent="-231775"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4pPr>
            <a:lvl5pPr marL="915988" indent="-23018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CA" sz="1600" b="1" i="0" u="none" strike="noStrike" kern="1200" cap="none" spc="0" normalizeH="0" baseline="0" noProof="0">
                <a:ln>
                  <a:noFill/>
                </a:ln>
                <a:solidFill>
                  <a:srgbClr val="D40139"/>
                </a:solidFill>
                <a:effectLst/>
                <a:uLnTx/>
                <a:uFillTx/>
                <a:latin typeface="+mj-lt"/>
                <a:ea typeface="+mn-ea"/>
                <a:cs typeface="+mn-cs"/>
              </a:rPr>
              <a:t>Deliverable Status</a:t>
            </a:r>
          </a:p>
        </p:txBody>
      </p:sp>
      <p:graphicFrame>
        <p:nvGraphicFramePr>
          <p:cNvPr id="18" name="Table 11">
            <a:extLst>
              <a:ext uri="{FF2B5EF4-FFF2-40B4-BE49-F238E27FC236}">
                <a16:creationId xmlns:a16="http://schemas.microsoft.com/office/drawing/2014/main" id="{1532D88E-BAAC-CBB3-44AC-C31B5CDF356A}"/>
              </a:ext>
            </a:extLst>
          </p:cNvPr>
          <p:cNvGraphicFramePr>
            <a:graphicFrameLocks noGrp="1"/>
          </p:cNvGraphicFramePr>
          <p:nvPr>
            <p:ph idx="1"/>
            <p:extLst>
              <p:ext uri="{D42A27DB-BD31-4B8C-83A1-F6EECF244321}">
                <p14:modId xmlns:p14="http://schemas.microsoft.com/office/powerpoint/2010/main" val="2701096227"/>
              </p:ext>
            </p:extLst>
          </p:nvPr>
        </p:nvGraphicFramePr>
        <p:xfrm>
          <a:off x="1176956" y="6443716"/>
          <a:ext cx="5068476" cy="396240"/>
        </p:xfrm>
        <a:graphic>
          <a:graphicData uri="http://schemas.openxmlformats.org/drawingml/2006/table">
            <a:tbl>
              <a:tblPr firstRow="1" bandRow="1">
                <a:tableStyleId>{5940675A-B579-460E-94D1-54222C63F5DA}</a:tableStyleId>
              </a:tblPr>
              <a:tblGrid>
                <a:gridCol w="1319436">
                  <a:extLst>
                    <a:ext uri="{9D8B030D-6E8A-4147-A177-3AD203B41FA5}">
                      <a16:colId xmlns:a16="http://schemas.microsoft.com/office/drawing/2014/main" val="2592895187"/>
                    </a:ext>
                  </a:extLst>
                </a:gridCol>
                <a:gridCol w="1371600">
                  <a:extLst>
                    <a:ext uri="{9D8B030D-6E8A-4147-A177-3AD203B41FA5}">
                      <a16:colId xmlns:a16="http://schemas.microsoft.com/office/drawing/2014/main" val="2315325055"/>
                    </a:ext>
                  </a:extLst>
                </a:gridCol>
                <a:gridCol w="914400">
                  <a:extLst>
                    <a:ext uri="{9D8B030D-6E8A-4147-A177-3AD203B41FA5}">
                      <a16:colId xmlns:a16="http://schemas.microsoft.com/office/drawing/2014/main" val="468379215"/>
                    </a:ext>
                  </a:extLst>
                </a:gridCol>
                <a:gridCol w="1463040">
                  <a:extLst>
                    <a:ext uri="{9D8B030D-6E8A-4147-A177-3AD203B41FA5}">
                      <a16:colId xmlns:a16="http://schemas.microsoft.com/office/drawing/2014/main" val="3785417576"/>
                    </a:ext>
                  </a:extLst>
                </a:gridCol>
              </a:tblGrid>
              <a:tr h="150334">
                <a:tc>
                  <a:txBody>
                    <a:bodyPr/>
                    <a:lstStyle/>
                    <a:p>
                      <a:pPr algn="r"/>
                      <a:r>
                        <a:rPr lang="en-CA" sz="700" b="1">
                          <a:latin typeface="+mn-lt"/>
                        </a:rPr>
                        <a:t>Release Lead:</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700">
                          <a:latin typeface="+mn-lt"/>
                        </a:rPr>
                        <a:t>Divyanshu Gupta</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CA" sz="700" b="1">
                          <a:latin typeface="+mn-lt"/>
                        </a:rPr>
                        <a:t>Release AD Lead:</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700">
                          <a:latin typeface="+mn-lt"/>
                        </a:rPr>
                        <a:t>Sivin Victor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0915363"/>
                  </a:ext>
                </a:extLst>
              </a:tr>
              <a:tr h="0">
                <a:tc>
                  <a:txBody>
                    <a:bodyPr/>
                    <a:lstStyle/>
                    <a:p>
                      <a:pPr algn="r"/>
                      <a:r>
                        <a:rPr lang="en-CA" sz="700" b="1">
                          <a:latin typeface="+mn-lt"/>
                        </a:rPr>
                        <a:t>TO / DXC PM:</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700">
                          <a:latin typeface="+mn-lt"/>
                        </a:rPr>
                        <a:t>Devika Gandhi / Chad Irvine</a:t>
                      </a:r>
                      <a:endParaRPr lang="en-US" sz="70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CA" sz="700" b="1">
                          <a:latin typeface="+mn-lt"/>
                        </a:rPr>
                        <a:t>Release QA Lead:</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700">
                          <a:latin typeface="+mn-lt"/>
                        </a:rPr>
                        <a:t>Deborah Zhang</a:t>
                      </a:r>
                      <a:endParaRPr lang="en-US" sz="70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783638"/>
                  </a:ext>
                </a:extLst>
              </a:tr>
            </a:tbl>
          </a:graphicData>
        </a:graphic>
      </p:graphicFrame>
      <p:graphicFrame>
        <p:nvGraphicFramePr>
          <p:cNvPr id="19" name="Table 2">
            <a:extLst>
              <a:ext uri="{FF2B5EF4-FFF2-40B4-BE49-F238E27FC236}">
                <a16:creationId xmlns:a16="http://schemas.microsoft.com/office/drawing/2014/main" id="{55C51E92-91D6-1C0B-370E-9699D31C14DA}"/>
              </a:ext>
            </a:extLst>
          </p:cNvPr>
          <p:cNvGraphicFramePr>
            <a:graphicFrameLocks noGrp="1"/>
          </p:cNvGraphicFramePr>
          <p:nvPr>
            <p:extLst>
              <p:ext uri="{D42A27DB-BD31-4B8C-83A1-F6EECF244321}">
                <p14:modId xmlns:p14="http://schemas.microsoft.com/office/powerpoint/2010/main" val="21259365"/>
              </p:ext>
            </p:extLst>
          </p:nvPr>
        </p:nvGraphicFramePr>
        <p:xfrm>
          <a:off x="7132264" y="90815"/>
          <a:ext cx="4556443" cy="18288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552748061"/>
                    </a:ext>
                  </a:extLst>
                </a:gridCol>
                <a:gridCol w="548640">
                  <a:extLst>
                    <a:ext uri="{9D8B030D-6E8A-4147-A177-3AD203B41FA5}">
                      <a16:colId xmlns:a16="http://schemas.microsoft.com/office/drawing/2014/main" val="2949818358"/>
                    </a:ext>
                  </a:extLst>
                </a:gridCol>
                <a:gridCol w="208280">
                  <a:extLst>
                    <a:ext uri="{9D8B030D-6E8A-4147-A177-3AD203B41FA5}">
                      <a16:colId xmlns:a16="http://schemas.microsoft.com/office/drawing/2014/main" val="3768384043"/>
                    </a:ext>
                  </a:extLst>
                </a:gridCol>
                <a:gridCol w="822960">
                  <a:extLst>
                    <a:ext uri="{9D8B030D-6E8A-4147-A177-3AD203B41FA5}">
                      <a16:colId xmlns:a16="http://schemas.microsoft.com/office/drawing/2014/main" val="3673821677"/>
                    </a:ext>
                  </a:extLst>
                </a:gridCol>
                <a:gridCol w="208280">
                  <a:extLst>
                    <a:ext uri="{9D8B030D-6E8A-4147-A177-3AD203B41FA5}">
                      <a16:colId xmlns:a16="http://schemas.microsoft.com/office/drawing/2014/main" val="1380191459"/>
                    </a:ext>
                  </a:extLst>
                </a:gridCol>
                <a:gridCol w="822960">
                  <a:extLst>
                    <a:ext uri="{9D8B030D-6E8A-4147-A177-3AD203B41FA5}">
                      <a16:colId xmlns:a16="http://schemas.microsoft.com/office/drawing/2014/main" val="2784429797"/>
                    </a:ext>
                  </a:extLst>
                </a:gridCol>
                <a:gridCol w="208280">
                  <a:extLst>
                    <a:ext uri="{9D8B030D-6E8A-4147-A177-3AD203B41FA5}">
                      <a16:colId xmlns:a16="http://schemas.microsoft.com/office/drawing/2014/main" val="906539283"/>
                    </a:ext>
                  </a:extLst>
                </a:gridCol>
                <a:gridCol w="771843">
                  <a:extLst>
                    <a:ext uri="{9D8B030D-6E8A-4147-A177-3AD203B41FA5}">
                      <a16:colId xmlns:a16="http://schemas.microsoft.com/office/drawing/2014/main" val="2265317318"/>
                    </a:ext>
                  </a:extLst>
                </a:gridCol>
                <a:gridCol w="208280">
                  <a:extLst>
                    <a:ext uri="{9D8B030D-6E8A-4147-A177-3AD203B41FA5}">
                      <a16:colId xmlns:a16="http://schemas.microsoft.com/office/drawing/2014/main" val="4285212843"/>
                    </a:ext>
                  </a:extLst>
                </a:gridCol>
                <a:gridCol w="548640">
                  <a:extLst>
                    <a:ext uri="{9D8B030D-6E8A-4147-A177-3AD203B41FA5}">
                      <a16:colId xmlns:a16="http://schemas.microsoft.com/office/drawing/2014/main" val="3048000558"/>
                    </a:ext>
                  </a:extLst>
                </a:gridCol>
              </a:tblGrid>
              <a:tr h="182880">
                <a:tc>
                  <a:txBody>
                    <a:bodyPr/>
                    <a:lstStyle/>
                    <a:p>
                      <a:pPr algn="ctr"/>
                      <a:r>
                        <a:rPr lang="en-CA" sz="500" b="1">
                          <a:solidFill>
                            <a:schemeClr val="bg1"/>
                          </a:solidFill>
                        </a:rPr>
                        <a:t>N</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l"/>
                      <a:r>
                        <a:rPr lang="en-CA" sz="500">
                          <a:solidFill>
                            <a:schemeClr val="tx1"/>
                          </a:solidFill>
                        </a:rPr>
                        <a:t>Not Started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solidFill>
                            <a:schemeClr val="bg1"/>
                          </a:solidFill>
                        </a:rPr>
                        <a:t>G</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l"/>
                      <a:r>
                        <a:rPr lang="en-CA" sz="500">
                          <a:solidFill>
                            <a:schemeClr val="tx1"/>
                          </a:solidFill>
                        </a:rPr>
                        <a:t>In Progress, On Track</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t>Y</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l"/>
                      <a:r>
                        <a:rPr lang="en-CA" sz="500">
                          <a:solidFill>
                            <a:schemeClr val="tx1"/>
                          </a:solidFill>
                        </a:rPr>
                        <a:t>May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solidFill>
                            <a:schemeClr val="bg1"/>
                          </a:solidFill>
                        </a:rPr>
                        <a:t>R</a:t>
                      </a:r>
                      <a:endParaRPr lang="en-US" sz="5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l"/>
                      <a:r>
                        <a:rPr lang="en-CA" sz="500">
                          <a:solidFill>
                            <a:schemeClr val="tx1"/>
                          </a:solidFill>
                        </a:rPr>
                        <a:t>Will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t>C</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500">
                          <a:solidFill>
                            <a:schemeClr val="tx1"/>
                          </a:solidFill>
                        </a:rPr>
                        <a:t>Complete</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graphicFrame>
        <p:nvGraphicFramePr>
          <p:cNvPr id="21" name="Table 20">
            <a:extLst>
              <a:ext uri="{FF2B5EF4-FFF2-40B4-BE49-F238E27FC236}">
                <a16:creationId xmlns:a16="http://schemas.microsoft.com/office/drawing/2014/main" id="{6B243FB5-79C2-DEFF-76BD-F12EC0F13521}"/>
              </a:ext>
            </a:extLst>
          </p:cNvPr>
          <p:cNvGraphicFramePr>
            <a:graphicFrameLocks noGrp="1"/>
          </p:cNvGraphicFramePr>
          <p:nvPr>
            <p:extLst>
              <p:ext uri="{D42A27DB-BD31-4B8C-83A1-F6EECF244321}">
                <p14:modId xmlns:p14="http://schemas.microsoft.com/office/powerpoint/2010/main" val="2695143406"/>
              </p:ext>
            </p:extLst>
          </p:nvPr>
        </p:nvGraphicFramePr>
        <p:xfrm>
          <a:off x="117633" y="677464"/>
          <a:ext cx="6273803" cy="1687718"/>
        </p:xfrm>
        <a:graphic>
          <a:graphicData uri="http://schemas.openxmlformats.org/drawingml/2006/table">
            <a:tbl>
              <a:tblPr/>
              <a:tblGrid>
                <a:gridCol w="567887">
                  <a:extLst>
                    <a:ext uri="{9D8B030D-6E8A-4147-A177-3AD203B41FA5}">
                      <a16:colId xmlns:a16="http://schemas.microsoft.com/office/drawing/2014/main" val="542770605"/>
                    </a:ext>
                  </a:extLst>
                </a:gridCol>
                <a:gridCol w="405634">
                  <a:extLst>
                    <a:ext uri="{9D8B030D-6E8A-4147-A177-3AD203B41FA5}">
                      <a16:colId xmlns:a16="http://schemas.microsoft.com/office/drawing/2014/main" val="721424745"/>
                    </a:ext>
                  </a:extLst>
                </a:gridCol>
                <a:gridCol w="405634">
                  <a:extLst>
                    <a:ext uri="{9D8B030D-6E8A-4147-A177-3AD203B41FA5}">
                      <a16:colId xmlns:a16="http://schemas.microsoft.com/office/drawing/2014/main" val="2980709361"/>
                    </a:ext>
                  </a:extLst>
                </a:gridCol>
                <a:gridCol w="405634">
                  <a:extLst>
                    <a:ext uri="{9D8B030D-6E8A-4147-A177-3AD203B41FA5}">
                      <a16:colId xmlns:a16="http://schemas.microsoft.com/office/drawing/2014/main" val="4189054838"/>
                    </a:ext>
                  </a:extLst>
                </a:gridCol>
                <a:gridCol w="405634">
                  <a:extLst>
                    <a:ext uri="{9D8B030D-6E8A-4147-A177-3AD203B41FA5}">
                      <a16:colId xmlns:a16="http://schemas.microsoft.com/office/drawing/2014/main" val="1947436398"/>
                    </a:ext>
                  </a:extLst>
                </a:gridCol>
                <a:gridCol w="405634">
                  <a:extLst>
                    <a:ext uri="{9D8B030D-6E8A-4147-A177-3AD203B41FA5}">
                      <a16:colId xmlns:a16="http://schemas.microsoft.com/office/drawing/2014/main" val="3671164612"/>
                    </a:ext>
                  </a:extLst>
                </a:gridCol>
                <a:gridCol w="405634">
                  <a:extLst>
                    <a:ext uri="{9D8B030D-6E8A-4147-A177-3AD203B41FA5}">
                      <a16:colId xmlns:a16="http://schemas.microsoft.com/office/drawing/2014/main" val="4223143478"/>
                    </a:ext>
                  </a:extLst>
                </a:gridCol>
                <a:gridCol w="405634">
                  <a:extLst>
                    <a:ext uri="{9D8B030D-6E8A-4147-A177-3AD203B41FA5}">
                      <a16:colId xmlns:a16="http://schemas.microsoft.com/office/drawing/2014/main" val="1140894372"/>
                    </a:ext>
                  </a:extLst>
                </a:gridCol>
                <a:gridCol w="608450">
                  <a:extLst>
                    <a:ext uri="{9D8B030D-6E8A-4147-A177-3AD203B41FA5}">
                      <a16:colId xmlns:a16="http://schemas.microsoft.com/office/drawing/2014/main" val="1630437860"/>
                    </a:ext>
                  </a:extLst>
                </a:gridCol>
                <a:gridCol w="405634">
                  <a:extLst>
                    <a:ext uri="{9D8B030D-6E8A-4147-A177-3AD203B41FA5}">
                      <a16:colId xmlns:a16="http://schemas.microsoft.com/office/drawing/2014/main" val="1549931440"/>
                    </a:ext>
                  </a:extLst>
                </a:gridCol>
                <a:gridCol w="405634">
                  <a:extLst>
                    <a:ext uri="{9D8B030D-6E8A-4147-A177-3AD203B41FA5}">
                      <a16:colId xmlns:a16="http://schemas.microsoft.com/office/drawing/2014/main" val="3188408529"/>
                    </a:ext>
                  </a:extLst>
                </a:gridCol>
                <a:gridCol w="1446760">
                  <a:extLst>
                    <a:ext uri="{9D8B030D-6E8A-4147-A177-3AD203B41FA5}">
                      <a16:colId xmlns:a16="http://schemas.microsoft.com/office/drawing/2014/main" val="4128971172"/>
                    </a:ext>
                  </a:extLst>
                </a:gridCol>
              </a:tblGrid>
              <a:tr h="276225">
                <a:tc>
                  <a:txBody>
                    <a:bodyPr/>
                    <a:lstStyle/>
                    <a:p>
                      <a:pPr algn="ctr" fontAlgn="ctr"/>
                      <a:r>
                        <a:rPr lang="en-CA" sz="1200" b="1" i="0" u="none" strike="noStrike">
                          <a:solidFill>
                            <a:schemeClr val="tx1"/>
                          </a:solidFill>
                          <a:effectLst/>
                          <a:latin typeface="Trebuchet MS"/>
                        </a:rPr>
                        <a:t>W</a:t>
                      </a:r>
                      <a:endParaRPr lang="en-US" sz="1200" b="1" i="0" u="none" strike="noStrike">
                        <a:solidFill>
                          <a:schemeClr val="tx1"/>
                        </a:solidFill>
                        <a:effectLst/>
                        <a:latin typeface="Trebuchet MS"/>
                      </a:endParaRPr>
                    </a:p>
                  </a:txBody>
                  <a:tcPr marL="9525" marR="9525" marT="9525" marB="0" anchor="ctr">
                    <a:lnL w="9525"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11">
                  <a:txBody>
                    <a:bodyPr/>
                    <a:lstStyle/>
                    <a:p>
                      <a:pPr marL="0" algn="l" defTabSz="914400" rtl="0" eaLnBrk="1" fontAlgn="ctr" latinLnBrk="0" hangingPunct="1"/>
                      <a:r>
                        <a:rPr lang="en-CA" sz="1200" b="1" i="0" u="none" strike="noStrike" kern="1200">
                          <a:solidFill>
                            <a:srgbClr val="C00000"/>
                          </a:solidFill>
                          <a:effectLst/>
                          <a:latin typeface="+mn-lt"/>
                          <a:ea typeface="+mn-ea"/>
                          <a:cs typeface="+mn-cs"/>
                        </a:rPr>
                        <a:t>Core Banking – (Sep 21, 2025)</a:t>
                      </a:r>
                    </a:p>
                  </a:txBody>
                  <a:tcPr marL="114300" marR="9525" marT="9525" marB="0" anchor="ctr">
                    <a:lnL w="12700" cap="flat" cmpd="sng" algn="ctr">
                      <a:solidFill>
                        <a:schemeClr val="bg1">
                          <a:lumMod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r" fontAlgn="ctr"/>
                      <a:endParaRPr lang="en-US" sz="1050" b="1" i="0" u="none" strike="noStrike">
                        <a:solidFill>
                          <a:srgbClr val="000000"/>
                        </a:solidFill>
                        <a:effectLst/>
                        <a:latin typeface="Trebuchet MS" panose="020B0603020202020204" pitchFamily="34" charset="0"/>
                      </a:endParaRPr>
                    </a:p>
                  </a:txBody>
                  <a:tcPr marL="9525" marR="114300" marT="9525" marB="0" anchor="ctr">
                    <a:lnL w="9525" cap="flat" cmpd="sng" algn="ctr">
                      <a:solidFill>
                        <a:schemeClr val="tx1"/>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fontAlgn="ctr"/>
                      <a:endParaRPr lang="en-US" sz="1050" b="1" i="0" u="none" strike="noStrike">
                        <a:solidFill>
                          <a:schemeClr val="tx1"/>
                        </a:solidFill>
                        <a:effectLst/>
                        <a:latin typeface="Trebuchet MS" panose="020B0603020202020204" pitchFamily="34" charset="0"/>
                      </a:endParaRPr>
                    </a:p>
                  </a:txBody>
                  <a:tcPr marL="9525" marR="9525" marT="9525"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7013967"/>
                  </a:ext>
                </a:extLst>
              </a:tr>
              <a:tr h="190500">
                <a:tc rowSpan="3">
                  <a:txBody>
                    <a:bodyPr/>
                    <a:lstStyle/>
                    <a:p>
                      <a:pPr algn="r" fontAlgn="ctr"/>
                      <a:r>
                        <a:rPr lang="en-US" sz="1000" b="1" i="0" u="none" strike="noStrike">
                          <a:solidFill>
                            <a:srgbClr val="000000"/>
                          </a:solidFill>
                          <a:effectLst/>
                          <a:latin typeface="Trebuchet MS"/>
                        </a:rPr>
                        <a:t>Phase:</a:t>
                      </a:r>
                    </a:p>
                  </a:txBody>
                  <a:tcPr marL="9525" marR="9525" marT="9525"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REQ</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DES</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CON</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DIT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SIT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UAT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PAT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3">
                  <a:txBody>
                    <a:bodyPr/>
                    <a:lstStyle/>
                    <a:p>
                      <a:pPr algn="ctr" fontAlgn="ctr"/>
                      <a:r>
                        <a:rPr lang="en-US" sz="1000" b="1" i="0" u="none" strike="noStrike">
                          <a:solidFill>
                            <a:srgbClr val="000000"/>
                          </a:solidFill>
                          <a:effectLst/>
                          <a:latin typeface="Trebuchet MS"/>
                        </a:rPr>
                        <a:t>Scope:</a:t>
                      </a:r>
                    </a:p>
                  </a:txBody>
                  <a:tcPr marL="9525" marR="9525" marT="9525"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CA" sz="1000" b="1" i="0" u="none" strike="noStrike">
                          <a:solidFill>
                            <a:srgbClr val="C00000"/>
                          </a:solidFill>
                          <a:effectLst/>
                          <a:latin typeface="Trebuchet MS"/>
                        </a:rPr>
                        <a:t>71</a:t>
                      </a:r>
                      <a:endParaRPr lang="en-US" sz="1000" b="1" i="0" u="none" strike="noStrike">
                        <a:solidFill>
                          <a:srgbClr val="C00000"/>
                        </a:solidFill>
                        <a:effectLst/>
                        <a:latin typeface="Trebuchet MS"/>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CA" sz="900" b="1" i="0" u="none" strike="noStrike">
                          <a:solidFill>
                            <a:srgbClr val="000000"/>
                          </a:solidFill>
                          <a:effectLst/>
                          <a:latin typeface="Trebuchet MS"/>
                        </a:rPr>
                        <a:t>3</a:t>
                      </a:r>
                      <a:r>
                        <a:rPr lang="en-US" sz="900" b="1" i="0" u="none" strike="noStrike">
                          <a:solidFill>
                            <a:srgbClr val="000000"/>
                          </a:solidFill>
                          <a:effectLst/>
                          <a:latin typeface="Trebuchet MS"/>
                        </a:rPr>
                        <a:t>7</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r>
                        <a:rPr lang="en-US" sz="900" b="0" i="0" u="none" strike="noStrike">
                          <a:solidFill>
                            <a:srgbClr val="000000"/>
                          </a:solidFill>
                          <a:effectLst/>
                          <a:latin typeface="Trebuchet MS"/>
                        </a:rPr>
                        <a:t>Projects &amp; MOPs</a:t>
                      </a:r>
                    </a:p>
                  </a:txBody>
                  <a:tcPr marL="114300" marR="9525" marT="9525" marB="0"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6548466"/>
                  </a:ext>
                </a:extLst>
              </a:tr>
              <a:tr h="59705">
                <a:tc vMerge="1">
                  <a:txBody>
                    <a:bodyPr/>
                    <a:lstStyle/>
                    <a:p>
                      <a:endParaRPr lang="en-US"/>
                    </a:p>
                  </a:txBody>
                  <a:tcPr/>
                </a:tc>
                <a:tc vMerge="1">
                  <a:txBody>
                    <a:bodyPr/>
                    <a:lstStyle/>
                    <a:p>
                      <a:pPr algn="ctr" fontAlgn="ctr"/>
                      <a:r>
                        <a:rPr lang="en-CA" sz="900" b="1" i="0" u="none" strike="noStrike">
                          <a:solidFill>
                            <a:schemeClr val="tx1"/>
                          </a:solidFill>
                          <a:effectLst/>
                          <a:latin typeface="Trebuchet MS"/>
                        </a:rPr>
                        <a:t>C</a:t>
                      </a:r>
                      <a:endParaRPr lang="en-US" sz="900" b="1" i="0" u="none" strike="noStrike">
                        <a:solidFill>
                          <a:schemeClr val="tx1"/>
                        </a:solidFill>
                        <a:effectLst/>
                        <a:latin typeface="Trebuchet MS"/>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vMerge="1">
                  <a:txBody>
                    <a:bodyPr/>
                    <a:lstStyle/>
                    <a:p>
                      <a:pPr algn="ctr" fontAlgn="ctr"/>
                      <a:r>
                        <a:rPr lang="en-CA" sz="900" b="1" i="0" u="none" strike="noStrike">
                          <a:solidFill>
                            <a:schemeClr val="bg1"/>
                          </a:solidFill>
                          <a:effectLst/>
                          <a:latin typeface="Trebuchet MS"/>
                        </a:rPr>
                        <a:t>N</a:t>
                      </a:r>
                      <a:endParaRPr lang="en-US" sz="900" b="1" i="0" u="none" strike="noStrike">
                        <a:solidFill>
                          <a:schemeClr val="bg1"/>
                        </a:solidFill>
                        <a:effectLst/>
                        <a:latin typeface="Trebuchet M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70C0"/>
                    </a:solidFill>
                  </a:tcPr>
                </a:tc>
                <a:tc vMerge="1">
                  <a:txBody>
                    <a:bodyPr/>
                    <a:lstStyle/>
                    <a:p>
                      <a:endParaRPr lang="en-US"/>
                    </a:p>
                  </a:txBody>
                  <a:tcPr/>
                </a:tc>
                <a:tc vMerge="1">
                  <a:txBody>
                    <a:bodyPr/>
                    <a:lstStyle/>
                    <a:p>
                      <a:endParaRPr lang="en-US"/>
                    </a:p>
                  </a:txBody>
                  <a:tcPr/>
                </a:tc>
                <a:tc rowSpan="2">
                  <a:txBody>
                    <a:bodyPr/>
                    <a:lstStyle/>
                    <a:p>
                      <a:pPr algn="ctr" fontAlgn="ctr"/>
                      <a:r>
                        <a:rPr lang="en-CA" sz="900" b="1" i="0" u="none" strike="noStrike">
                          <a:solidFill>
                            <a:srgbClr val="000000"/>
                          </a:solidFill>
                          <a:effectLst/>
                          <a:latin typeface="Trebuchet MS"/>
                        </a:rPr>
                        <a:t>34</a:t>
                      </a:r>
                      <a:endParaRPr lang="en-US" sz="900" b="1" i="0" u="none" strike="noStrike">
                        <a:solidFill>
                          <a:srgbClr val="000000"/>
                        </a:solidFill>
                        <a:effectLst/>
                        <a:latin typeface="Trebuchet M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rowSpan="2">
                  <a:txBody>
                    <a:bodyPr/>
                    <a:lstStyle/>
                    <a:p>
                      <a:pPr algn="l" fontAlgn="ctr"/>
                      <a:r>
                        <a:rPr lang="en-US" sz="900" b="0" i="0" u="none" strike="noStrike">
                          <a:solidFill>
                            <a:srgbClr val="000000"/>
                          </a:solidFill>
                          <a:effectLst/>
                          <a:latin typeface="Trebuchet MS"/>
                        </a:rPr>
                        <a:t>PRBs/INCs/Others</a:t>
                      </a:r>
                    </a:p>
                  </a:txBody>
                  <a:tcPr marL="114300" marR="9525" marT="9525" marB="0" anchor="ctr">
                    <a:lnL>
                      <a:noFill/>
                    </a:lnL>
                    <a:lnR w="9525"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9864797"/>
                  </a:ext>
                </a:extLst>
              </a:tr>
              <a:tr h="0">
                <a:tc vMerge="1">
                  <a:txBody>
                    <a:bodyPr/>
                    <a:lstStyle/>
                    <a:p>
                      <a:pPr algn="r" fontAlgn="ctr"/>
                      <a:endParaRPr lang="en-US" sz="1000" b="1" i="0" u="none" strike="noStrike">
                        <a:solidFill>
                          <a:srgbClr val="000000"/>
                        </a:solidFill>
                        <a:effectLst/>
                        <a:latin typeface="Trebuchet MS"/>
                      </a:endParaRPr>
                    </a:p>
                  </a:txBody>
                  <a:tcPr marL="9525" marR="9525" marT="9525"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prstClr val="black"/>
                          </a:solidFill>
                          <a:effectLst/>
                          <a:uLnTx/>
                          <a:uFillTx/>
                          <a:latin typeface="Trebuchet MS"/>
                          <a:ea typeface="+mn-ea"/>
                          <a:cs typeface="+mn-cs"/>
                        </a:rPr>
                        <a:t>C</a:t>
                      </a:r>
                      <a:endParaRPr kumimoji="0" lang="en-US" sz="750" b="1" i="0" u="none" strike="noStrike" kern="1200" cap="none" spc="0" normalizeH="0" baseline="0" noProof="0">
                        <a:ln>
                          <a:noFill/>
                        </a:ln>
                        <a:solidFill>
                          <a:prstClr val="black"/>
                        </a:solidFill>
                        <a:effectLst/>
                        <a:uLnTx/>
                        <a:uFillTx/>
                        <a:latin typeface="Trebuchet MS"/>
                        <a:ea typeface="+mn-ea"/>
                        <a:cs typeface="+mn-cs"/>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prstClr val="black"/>
                          </a:solidFill>
                          <a:effectLst/>
                          <a:uLnTx/>
                          <a:uFillTx/>
                          <a:latin typeface="Trebuchet MS"/>
                          <a:ea typeface="+mn-ea"/>
                          <a:cs typeface="+mn-cs"/>
                        </a:rPr>
                        <a:t>C</a:t>
                      </a:r>
                      <a:endParaRPr kumimoji="0" lang="en-US" sz="750" b="1" i="0" u="none" strike="noStrike" kern="1200" cap="none" spc="0" normalizeH="0" baseline="0" noProof="0">
                        <a:ln>
                          <a:noFill/>
                        </a:ln>
                        <a:solidFill>
                          <a:prstClr val="black"/>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prstClr val="black"/>
                          </a:solidFill>
                          <a:effectLst/>
                          <a:uLnTx/>
                          <a:uFillTx/>
                          <a:latin typeface="Trebuchet MS"/>
                          <a:ea typeface="+mn-ea"/>
                          <a:cs typeface="+mn-cs"/>
                        </a:rPr>
                        <a:t>C</a:t>
                      </a:r>
                      <a:endParaRPr kumimoji="0" lang="en-US" sz="750" b="1" i="0" u="none" strike="noStrike" kern="1200" cap="none" spc="0" normalizeH="0" baseline="0" noProof="0">
                        <a:ln>
                          <a:noFill/>
                        </a:ln>
                        <a:solidFill>
                          <a:prstClr val="black"/>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prstClr val="black"/>
                          </a:solidFill>
                          <a:effectLst/>
                          <a:uLnTx/>
                          <a:uFillTx/>
                          <a:latin typeface="Trebuchet MS"/>
                          <a:ea typeface="+mn-ea"/>
                          <a:cs typeface="+mn-cs"/>
                        </a:rPr>
                        <a:t>C</a:t>
                      </a:r>
                      <a:endParaRPr kumimoji="0" lang="en-US" sz="750" b="1" i="0" u="none" strike="noStrike" kern="1200" cap="none" spc="0" normalizeH="0" baseline="0" noProof="0">
                        <a:ln>
                          <a:noFill/>
                        </a:ln>
                        <a:solidFill>
                          <a:prstClr val="black"/>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schemeClr val="tx1"/>
                          </a:solidFill>
                          <a:effectLst/>
                          <a:uLnTx/>
                          <a:uFillTx/>
                          <a:latin typeface="+mn-lt"/>
                          <a:ea typeface="+mn-ea"/>
                          <a:cs typeface="+mn-cs"/>
                        </a:rPr>
                        <a:t>C</a:t>
                      </a:r>
                      <a:endParaRPr kumimoji="0" lang="en-US" sz="800" b="1"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pPr algn="ctr" fontAlgn="ctr"/>
                      <a:endParaRPr lang="en-US" sz="1000" b="1" i="0" u="none" strike="noStrike">
                        <a:solidFill>
                          <a:srgbClr val="000000"/>
                        </a:solidFill>
                        <a:effectLst/>
                        <a:latin typeface="Trebuchet MS"/>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00" b="1" i="0" u="none" strike="noStrike">
                        <a:solidFill>
                          <a:srgbClr val="C00000"/>
                        </a:solidFill>
                        <a:effectLst/>
                        <a:latin typeface="Trebuchet MS"/>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900" b="1" i="0" u="none" strike="noStrike">
                        <a:solidFill>
                          <a:srgbClr val="000000"/>
                        </a:solidFill>
                        <a:effectLst/>
                        <a:latin typeface="Trebuchet MS"/>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ctr"/>
                      <a:endParaRPr lang="en-US" sz="900" b="0" i="0" u="none" strike="noStrike">
                        <a:solidFill>
                          <a:srgbClr val="000000"/>
                        </a:solidFill>
                        <a:effectLst/>
                        <a:latin typeface="Trebuchet MS"/>
                      </a:endParaRPr>
                    </a:p>
                  </a:txBody>
                  <a:tcPr marL="114300" marR="9525" marT="9525" marB="0"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1785214"/>
                  </a:ext>
                </a:extLst>
              </a:tr>
              <a:tr h="0">
                <a:tc rowSpan="2">
                  <a:txBody>
                    <a:bodyPr/>
                    <a:lstStyle/>
                    <a:p>
                      <a:pPr algn="r" fontAlgn="ctr"/>
                      <a:r>
                        <a:rPr lang="en-US" sz="1000" b="1" i="0" u="none" strike="noStrike">
                          <a:solidFill>
                            <a:srgbClr val="000000"/>
                          </a:solidFill>
                          <a:effectLst/>
                          <a:latin typeface="Trebuchet MS"/>
                        </a:rPr>
                        <a:t>Apps:</a:t>
                      </a:r>
                    </a:p>
                  </a:txBody>
                  <a:tcPr marL="9525" marR="9525" marT="9525"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rowSpan="2">
                  <a:txBody>
                    <a:bodyPr/>
                    <a:lstStyle/>
                    <a:p>
                      <a:pPr algn="ctr" fontAlgn="ctr"/>
                      <a:r>
                        <a:rPr lang="en-CA" sz="1000" b="1" i="0" u="none" strike="noStrike">
                          <a:solidFill>
                            <a:srgbClr val="C00000"/>
                          </a:solidFill>
                          <a:effectLst/>
                          <a:latin typeface="Trebuchet MS"/>
                        </a:rPr>
                        <a:t>42</a:t>
                      </a:r>
                      <a:endParaRPr lang="en-US" sz="1000" b="1" i="0" u="none" strike="noStrike">
                        <a:solidFill>
                          <a:srgbClr val="C00000"/>
                        </a:solidFill>
                        <a:effectLst/>
                        <a:latin typeface="Trebuchet MS"/>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r>
                        <a:rPr lang="en-US" sz="900" b="1" i="0" u="none" strike="noStrike">
                          <a:solidFill>
                            <a:srgbClr val="000000"/>
                          </a:solidFill>
                          <a:effectLst/>
                          <a:latin typeface="Trebuchet MS"/>
                        </a:rPr>
                        <a:t>30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gridSpan="2">
                  <a:txBody>
                    <a:bodyPr/>
                    <a:lstStyle/>
                    <a:p>
                      <a:pPr algn="l" fontAlgn="ctr"/>
                      <a:r>
                        <a:rPr lang="en-US" sz="900" b="0" i="0" u="none" strike="noStrike">
                          <a:solidFill>
                            <a:srgbClr val="000000"/>
                          </a:solidFill>
                          <a:effectLst/>
                          <a:latin typeface="Trebuchet MS"/>
                        </a:rPr>
                        <a:t>CBPT</a:t>
                      </a:r>
                    </a:p>
                  </a:txBody>
                  <a:tcPr marL="114300" marR="9525" marT="9525" marB="0" anchor="ctr">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gridSpan="7">
                  <a:txBody>
                    <a:bodyPr/>
                    <a:lstStyle/>
                    <a:p>
                      <a:pPr algn="l" fontAlgn="ctr"/>
                      <a:r>
                        <a:rPr lang="fr-FR" sz="900" b="0" i="0" u="none" strike="noStrike">
                          <a:solidFill>
                            <a:srgbClr val="000000"/>
                          </a:solidFill>
                          <a:effectLst/>
                          <a:latin typeface="Trebuchet MS" panose="020B0603020202020204" pitchFamily="34" charset="0"/>
                        </a:rPr>
                        <a:t>AIF, CAAP, CIBC R.Term, CLASS, COLT, DDGS, DDGS API, DM, DM (PEGA), ECM, EDTS, ENVOY, Excalibur, Excalibur API, Forms Management, IDP API, LCMS, LCMS API, Lending API, PCA/SAV, RPE, Remote Banking Batch, STB, TABS, W360 - FX, W360 - Non-Reg, W360 - RIF, W360 - RSP, W360 - TFSA, mMortgage</a:t>
                      </a:r>
                    </a:p>
                  </a:txBody>
                  <a:tcPr marL="9525" marR="9525" marT="27432" marB="27432"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lnL w="9525" cap="flat" cmpd="sng" algn="ctr">
                      <a:solidFill>
                        <a:schemeClr val="tx1"/>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44036896"/>
                  </a:ext>
                </a:extLst>
              </a:tr>
              <a:tr h="190500">
                <a:tc vMerge="1">
                  <a:txBody>
                    <a:bodyPr/>
                    <a:lstStyle/>
                    <a:p>
                      <a:endParaRPr lang="en-US"/>
                    </a:p>
                  </a:txBody>
                  <a:tcPr/>
                </a:tc>
                <a:tc vMerge="1">
                  <a:txBody>
                    <a:bodyPr/>
                    <a:lstStyle/>
                    <a:p>
                      <a:endParaRPr lang="en-US"/>
                    </a:p>
                  </a:txBody>
                  <a:tcPr/>
                </a:tc>
                <a:tc>
                  <a:txBody>
                    <a:bodyPr/>
                    <a:lstStyle/>
                    <a:p>
                      <a:pPr algn="ctr" fontAlgn="ctr"/>
                      <a:r>
                        <a:rPr lang="en-CA" sz="900" b="1" i="0" u="none" strike="noStrike">
                          <a:solidFill>
                            <a:srgbClr val="000000"/>
                          </a:solidFill>
                          <a:effectLst/>
                          <a:latin typeface="Trebuchet MS"/>
                        </a:rPr>
                        <a:t>12</a:t>
                      </a:r>
                      <a:endParaRPr lang="en-US" sz="900" b="1" i="0" u="none" strike="noStrike">
                        <a:solidFill>
                          <a:srgbClr val="000000"/>
                        </a:solidFill>
                        <a:effectLst/>
                        <a:latin typeface="Trebuchet MS"/>
                      </a:endParaRPr>
                    </a:p>
                  </a:txBody>
                  <a:tcPr marL="9525" marR="9525" marT="9525" marB="0" anchor="ctr">
                    <a:lnL>
                      <a:noFill/>
                    </a:lnL>
                    <a:lnR>
                      <a:noFill/>
                    </a:lnR>
                    <a:lnT>
                      <a:noFill/>
                    </a:lnT>
                    <a:lnB w="9525" cap="flat" cmpd="sng" algn="ctr">
                      <a:solidFill>
                        <a:schemeClr val="tx1"/>
                      </a:solidFill>
                      <a:prstDash val="solid"/>
                      <a:round/>
                      <a:headEnd type="none" w="med" len="med"/>
                      <a:tailEnd type="none" w="med" len="med"/>
                    </a:lnB>
                  </a:tcPr>
                </a:tc>
                <a:tc gridSpan="2">
                  <a:txBody>
                    <a:bodyPr/>
                    <a:lstStyle/>
                    <a:p>
                      <a:pPr algn="l" fontAlgn="ctr"/>
                      <a:r>
                        <a:rPr lang="en-US" sz="900" b="0" i="0" u="none" strike="noStrike">
                          <a:solidFill>
                            <a:srgbClr val="000000"/>
                          </a:solidFill>
                          <a:effectLst/>
                          <a:latin typeface="Trebuchet MS"/>
                        </a:rPr>
                        <a:t>Non-CBPT</a:t>
                      </a:r>
                    </a:p>
                  </a:txBody>
                  <a:tcPr marL="114300" marR="9525" marT="9525" marB="0" anchor="ctr">
                    <a:lnL>
                      <a:noFill/>
                    </a:lnL>
                    <a:lnR>
                      <a:noFill/>
                    </a:lnR>
                    <a:lnT>
                      <a:noFill/>
                    </a:lnT>
                    <a:lnB w="9525" cap="flat" cmpd="sng" algn="ctr">
                      <a:solidFill>
                        <a:schemeClr val="tx1"/>
                      </a:solidFill>
                      <a:prstDash val="solid"/>
                      <a:round/>
                      <a:headEnd type="none" w="med" len="med"/>
                      <a:tailEnd type="none" w="med" len="med"/>
                    </a:lnB>
                  </a:tcPr>
                </a:tc>
                <a:tc hMerge="1">
                  <a:txBody>
                    <a:bodyPr/>
                    <a:lstStyle/>
                    <a:p>
                      <a:endParaRPr lang="en-US"/>
                    </a:p>
                  </a:txBody>
                  <a:tcPr/>
                </a:tc>
                <a:tc gridSpan="7">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Trebuchet MS" panose="020B0603020202020204" pitchFamily="34" charset="0"/>
                          <a:ea typeface="+mn-ea"/>
                          <a:cs typeface="+mn-cs"/>
                        </a:rPr>
                        <a:t>CASA, CIW, COINS (Host Facilities), COMPASS-AIM, ECIF, EDH, EDSF, GOW, Lending BI, MI Lending, PostEdge, eBanking</a:t>
                      </a:r>
                    </a:p>
                  </a:txBody>
                  <a:tcPr marL="9525" marR="9525" marT="27432" marB="27432" anchor="ctr">
                    <a:lnL>
                      <a:noFill/>
                    </a:lnL>
                    <a:lnR w="9525" cap="flat" cmpd="sng" algn="ctr">
                      <a:solidFill>
                        <a:schemeClr val="tx1"/>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lnL w="9525"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51320110"/>
                  </a:ext>
                </a:extLst>
              </a:tr>
            </a:tbl>
          </a:graphicData>
        </a:graphic>
      </p:graphicFrame>
      <p:graphicFrame>
        <p:nvGraphicFramePr>
          <p:cNvPr id="10" name="Table 11">
            <a:extLst>
              <a:ext uri="{FF2B5EF4-FFF2-40B4-BE49-F238E27FC236}">
                <a16:creationId xmlns:a16="http://schemas.microsoft.com/office/drawing/2014/main" id="{9CB8B97B-725B-E97D-AB7E-301EC3C46AF6}"/>
              </a:ext>
            </a:extLst>
          </p:cNvPr>
          <p:cNvGraphicFramePr>
            <a:graphicFrameLocks noGrp="1"/>
          </p:cNvGraphicFramePr>
          <p:nvPr>
            <p:extLst>
              <p:ext uri="{D42A27DB-BD31-4B8C-83A1-F6EECF244321}">
                <p14:modId xmlns:p14="http://schemas.microsoft.com/office/powerpoint/2010/main" val="1352661678"/>
              </p:ext>
            </p:extLst>
          </p:nvPr>
        </p:nvGraphicFramePr>
        <p:xfrm>
          <a:off x="2545235" y="162612"/>
          <a:ext cx="4364148" cy="451819"/>
        </p:xfrm>
        <a:graphic>
          <a:graphicData uri="http://schemas.openxmlformats.org/drawingml/2006/table">
            <a:tbl>
              <a:tblPr firstRow="1" bandRow="1">
                <a:tableStyleId>{5940675A-B579-460E-94D1-54222C63F5DA}</a:tableStyleId>
              </a:tblPr>
              <a:tblGrid>
                <a:gridCol w="1096244">
                  <a:extLst>
                    <a:ext uri="{9D8B030D-6E8A-4147-A177-3AD203B41FA5}">
                      <a16:colId xmlns:a16="http://schemas.microsoft.com/office/drawing/2014/main" val="3257902328"/>
                    </a:ext>
                  </a:extLst>
                </a:gridCol>
                <a:gridCol w="1486499">
                  <a:extLst>
                    <a:ext uri="{9D8B030D-6E8A-4147-A177-3AD203B41FA5}">
                      <a16:colId xmlns:a16="http://schemas.microsoft.com/office/drawing/2014/main" val="1228183955"/>
                    </a:ext>
                  </a:extLst>
                </a:gridCol>
                <a:gridCol w="1005840">
                  <a:extLst>
                    <a:ext uri="{9D8B030D-6E8A-4147-A177-3AD203B41FA5}">
                      <a16:colId xmlns:a16="http://schemas.microsoft.com/office/drawing/2014/main" val="3836033793"/>
                    </a:ext>
                  </a:extLst>
                </a:gridCol>
                <a:gridCol w="775565">
                  <a:extLst>
                    <a:ext uri="{9D8B030D-6E8A-4147-A177-3AD203B41FA5}">
                      <a16:colId xmlns:a16="http://schemas.microsoft.com/office/drawing/2014/main" val="744771580"/>
                    </a:ext>
                  </a:extLst>
                </a:gridCol>
              </a:tblGrid>
              <a:tr h="217203">
                <a:tc>
                  <a:txBody>
                    <a:bodyPr/>
                    <a:lstStyle/>
                    <a:p>
                      <a:pPr algn="l"/>
                      <a:r>
                        <a:rPr lang="en-CA" sz="800" b="1"/>
                        <a:t>Release Triage #:</a:t>
                      </a:r>
                      <a:endParaRPr lang="en-US" sz="800" b="1"/>
                    </a:p>
                  </a:txBody>
                  <a:tcPr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kern="1200">
                          <a:solidFill>
                            <a:schemeClr val="tx1"/>
                          </a:solidFill>
                          <a:latin typeface="+mn-lt"/>
                          <a:ea typeface="+mn-ea"/>
                          <a:cs typeface="+mn-cs"/>
                        </a:rPr>
                        <a:t>TR2025-PRG-038233</a:t>
                      </a:r>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800" b="1"/>
                        <a:t>SIT/UAT Env:</a:t>
                      </a:r>
                      <a:endParaRPr lang="en-US" sz="800" b="0"/>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800" b="0"/>
                        <a:t>P1/T4</a:t>
                      </a:r>
                      <a:endParaRPr lang="en-CA" sz="800">
                        <a:solidFill>
                          <a:schemeClr val="tx1"/>
                        </a:solidFill>
                        <a:latin typeface="+mn-lt"/>
                      </a:endParaRPr>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33048288"/>
                  </a:ext>
                </a:extLst>
              </a:tr>
              <a:tr h="234616">
                <a:tc>
                  <a:txBody>
                    <a:bodyPr/>
                    <a:lstStyle/>
                    <a:p>
                      <a:pPr algn="l"/>
                      <a:r>
                        <a:rPr lang="en-CA" sz="800" b="1"/>
                        <a:t>TO CIS / SRR #:</a:t>
                      </a:r>
                      <a:endParaRPr lang="en-US" sz="800" b="1"/>
                    </a:p>
                  </a:txBody>
                  <a:tcPr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TO2024002460/SR054019</a:t>
                      </a:r>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800" b="1">
                          <a:latin typeface="+mn-lt"/>
                        </a:rPr>
                        <a:t>Master Change #:</a:t>
                      </a:r>
                      <a:endParaRPr lang="en-CA" sz="800" b="0" i="0" u="none" strike="noStrike" noProof="0"/>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buNone/>
                      </a:pPr>
                      <a:r>
                        <a:rPr lang="en-US" sz="800"/>
                        <a:t>CHG1477270</a:t>
                      </a:r>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301497"/>
                  </a:ext>
                </a:extLst>
              </a:tr>
            </a:tbl>
          </a:graphicData>
        </a:graphic>
      </p:graphicFrame>
      <p:graphicFrame>
        <p:nvGraphicFramePr>
          <p:cNvPr id="2" name="Table 1">
            <a:extLst>
              <a:ext uri="{FF2B5EF4-FFF2-40B4-BE49-F238E27FC236}">
                <a16:creationId xmlns:a16="http://schemas.microsoft.com/office/drawing/2014/main" id="{1557CD79-6888-515F-8099-4308C1FC5741}"/>
              </a:ext>
            </a:extLst>
          </p:cNvPr>
          <p:cNvGraphicFramePr>
            <a:graphicFrameLocks noGrp="1"/>
          </p:cNvGraphicFramePr>
          <p:nvPr>
            <p:extLst>
              <p:ext uri="{D42A27DB-BD31-4B8C-83A1-F6EECF244321}">
                <p14:modId xmlns:p14="http://schemas.microsoft.com/office/powerpoint/2010/main" val="457273266"/>
              </p:ext>
            </p:extLst>
          </p:nvPr>
        </p:nvGraphicFramePr>
        <p:xfrm>
          <a:off x="6502372" y="3100624"/>
          <a:ext cx="5234250" cy="3297438"/>
        </p:xfrm>
        <a:graphic>
          <a:graphicData uri="http://schemas.openxmlformats.org/drawingml/2006/table">
            <a:tbl>
              <a:tblPr firstRow="1" bandRow="1">
                <a:tableStyleId>{5940675A-B579-460E-94D1-54222C63F5DA}</a:tableStyleId>
              </a:tblPr>
              <a:tblGrid>
                <a:gridCol w="1101642">
                  <a:extLst>
                    <a:ext uri="{9D8B030D-6E8A-4147-A177-3AD203B41FA5}">
                      <a16:colId xmlns:a16="http://schemas.microsoft.com/office/drawing/2014/main" val="2121319596"/>
                    </a:ext>
                  </a:extLst>
                </a:gridCol>
                <a:gridCol w="459018">
                  <a:extLst>
                    <a:ext uri="{9D8B030D-6E8A-4147-A177-3AD203B41FA5}">
                      <a16:colId xmlns:a16="http://schemas.microsoft.com/office/drawing/2014/main" val="3594431399"/>
                    </a:ext>
                  </a:extLst>
                </a:gridCol>
                <a:gridCol w="785378">
                  <a:extLst>
                    <a:ext uri="{9D8B030D-6E8A-4147-A177-3AD203B41FA5}">
                      <a16:colId xmlns:a16="http://schemas.microsoft.com/office/drawing/2014/main" val="3841007314"/>
                    </a:ext>
                  </a:extLst>
                </a:gridCol>
                <a:gridCol w="785091">
                  <a:extLst>
                    <a:ext uri="{9D8B030D-6E8A-4147-A177-3AD203B41FA5}">
                      <a16:colId xmlns:a16="http://schemas.microsoft.com/office/drawing/2014/main" val="3593483485"/>
                    </a:ext>
                  </a:extLst>
                </a:gridCol>
                <a:gridCol w="2103121">
                  <a:extLst>
                    <a:ext uri="{9D8B030D-6E8A-4147-A177-3AD203B41FA5}">
                      <a16:colId xmlns:a16="http://schemas.microsoft.com/office/drawing/2014/main" val="3792836139"/>
                    </a:ext>
                  </a:extLst>
                </a:gridCol>
              </a:tblGrid>
              <a:tr h="206470">
                <a:tc gridSpan="5">
                  <a:txBody>
                    <a:bodyPr/>
                    <a:lstStyle/>
                    <a:p>
                      <a:pPr algn="ctr"/>
                      <a:r>
                        <a:rPr lang="en-CA" sz="800" b="1">
                          <a:solidFill>
                            <a:schemeClr val="bg1"/>
                          </a:solidFill>
                        </a:rPr>
                        <a:t>QA</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pPr algn="ctr"/>
                      <a:endParaRPr lang="en-US" sz="1000"/>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579959654"/>
                  </a:ext>
                </a:extLst>
              </a:tr>
              <a:tr h="221218">
                <a:tc>
                  <a:txBody>
                    <a:bodyPr/>
                    <a:lstStyle/>
                    <a:p>
                      <a:r>
                        <a:rPr lang="en-CA" sz="750">
                          <a:solidFill>
                            <a:schemeClr val="tx1"/>
                          </a:solidFill>
                        </a:rPr>
                        <a:t>SIT</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750" kern="1200">
                          <a:solidFill>
                            <a:schemeClr val="tx1"/>
                          </a:solidFill>
                          <a:latin typeface="+mn-lt"/>
                          <a:ea typeface="+mn-ea"/>
                          <a:cs typeface="+mn-cs"/>
                        </a:rPr>
                        <a:t>May 12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latinLnBrk="0" hangingPunct="1">
                        <a:lnSpc>
                          <a:spcPct val="100000"/>
                        </a:lnSpc>
                        <a:spcBef>
                          <a:spcPts val="0"/>
                        </a:spcBef>
                        <a:spcAft>
                          <a:spcPts val="0"/>
                        </a:spcAft>
                        <a:buNone/>
                      </a:pPr>
                      <a:r>
                        <a:rPr lang="en-CA" sz="750" kern="1200">
                          <a:solidFill>
                            <a:schemeClr val="tx1"/>
                          </a:solidFill>
                          <a:latin typeface="+mn-lt"/>
                          <a:ea typeface="+mn-ea"/>
                          <a:cs typeface="+mn-cs"/>
                        </a:rPr>
                        <a:t>Sep 05</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75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5940101"/>
                  </a:ext>
                </a:extLst>
              </a:tr>
              <a:tr h="231580">
                <a:tc>
                  <a:txBody>
                    <a:bodyPr/>
                    <a:lstStyle/>
                    <a:p>
                      <a:r>
                        <a:rPr lang="en-CA" sz="750">
                          <a:solidFill>
                            <a:schemeClr val="tx1"/>
                          </a:solidFill>
                        </a:rPr>
                        <a:t>UAT</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750" kern="1200">
                          <a:solidFill>
                            <a:schemeClr val="tx1"/>
                          </a:solidFill>
                          <a:latin typeface="+mn-lt"/>
                          <a:ea typeface="+mn-ea"/>
                          <a:cs typeface="+mn-cs"/>
                        </a:rPr>
                        <a:t>Jun 09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Sep 18</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0141708"/>
                  </a:ext>
                </a:extLst>
              </a:tr>
              <a:tr h="197893">
                <a:tc>
                  <a:txBody>
                    <a:bodyPr/>
                    <a:lstStyle/>
                    <a:p>
                      <a:r>
                        <a:rPr lang="en-CA" sz="750">
                          <a:solidFill>
                            <a:schemeClr val="tx1"/>
                          </a:solidFill>
                        </a:rPr>
                        <a:t>PAT</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Aug 19</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Sep 17</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effectLst/>
                        <a:uLnTx/>
                        <a:uFillTx/>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3585334"/>
                  </a:ext>
                </a:extLst>
              </a:tr>
              <a:tr h="221218">
                <a:tc>
                  <a:txBody>
                    <a:bodyPr/>
                    <a:lstStyle/>
                    <a:p>
                      <a:r>
                        <a:rPr lang="en-CA" sz="750">
                          <a:solidFill>
                            <a:schemeClr val="tx1"/>
                          </a:solidFill>
                        </a:rPr>
                        <a:t>CAAP PTE</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Aug 25</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Sep 12</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0838069"/>
                  </a:ext>
                </a:extLst>
              </a:tr>
              <a:tr h="221218">
                <a:tc>
                  <a:txBody>
                    <a:bodyPr/>
                    <a:lstStyle/>
                    <a:p>
                      <a:r>
                        <a:rPr lang="en-CA" sz="750">
                          <a:solidFill>
                            <a:schemeClr val="tx1"/>
                          </a:solidFill>
                        </a:rPr>
                        <a:t>PIV Planning</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G</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CA" sz="750" kern="1200">
                          <a:solidFill>
                            <a:schemeClr val="tx1"/>
                          </a:solidFill>
                          <a:latin typeface="+mn-lt"/>
                          <a:ea typeface="+mn-ea"/>
                          <a:cs typeface="+mn-cs"/>
                        </a:rPr>
                        <a:t>Aug 25 </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Sep 19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422300"/>
                  </a:ext>
                </a:extLst>
              </a:tr>
              <a:tr h="221218">
                <a:tc>
                  <a:txBody>
                    <a:bodyPr/>
                    <a:lstStyle/>
                    <a:p>
                      <a:r>
                        <a:rPr kumimoji="0" lang="en-CA" sz="750" b="0" i="0" u="none" strike="noStrike" kern="1200" cap="none" spc="0" normalizeH="0" baseline="0">
                          <a:ln>
                            <a:noFill/>
                          </a:ln>
                          <a:solidFill>
                            <a:schemeClr val="tx1"/>
                          </a:solidFill>
                          <a:effectLst/>
                          <a:uLnTx/>
                          <a:uFillTx/>
                          <a:latin typeface="Trebuchet MS"/>
                          <a:ea typeface="+mn-ea"/>
                          <a:cs typeface="+mn-cs"/>
                        </a:rPr>
                        <a:t>CBPT Reg.</a:t>
                      </a:r>
                      <a:endParaRPr kumimoji="0" lang="en-US" sz="750" b="0" i="0" u="none" strike="noStrike" kern="1200" cap="none" spc="0" normalizeH="0" baseline="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Aug 11</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Sep 17</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591194"/>
                  </a:ext>
                </a:extLst>
              </a:tr>
              <a:tr h="221218">
                <a:tc>
                  <a:txBody>
                    <a:bodyPr/>
                    <a:lstStyle/>
                    <a:p>
                      <a:r>
                        <a:rPr lang="en-CA" sz="750">
                          <a:solidFill>
                            <a:schemeClr val="tx1"/>
                          </a:solidFill>
                        </a:rPr>
                        <a:t>COMPASS Reg.</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Aug 25</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Sep 17</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01694"/>
                  </a:ext>
                </a:extLst>
              </a:tr>
              <a:tr h="221218">
                <a:tc>
                  <a:txBody>
                    <a:bodyPr/>
                    <a:lstStyle/>
                    <a:p>
                      <a:r>
                        <a:rPr lang="en-CA" sz="750">
                          <a:solidFill>
                            <a:schemeClr val="tx1"/>
                          </a:solidFill>
                        </a:rPr>
                        <a:t>FNF Reg.</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Aug 18</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Aug 29</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schemeClr val="tx1"/>
                        </a:solidFill>
                        <a:effectLst/>
                        <a:uLnTx/>
                        <a:uFillTx/>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6745038"/>
                  </a:ext>
                </a:extLst>
              </a:tr>
              <a:tr h="221218">
                <a:tc>
                  <a:txBody>
                    <a:bodyPr/>
                    <a:lstStyle/>
                    <a:p>
                      <a:r>
                        <a:rPr lang="en-CA" sz="750">
                          <a:solidFill>
                            <a:schemeClr val="tx1"/>
                          </a:solidFill>
                        </a:rPr>
                        <a:t>B/O Testing</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schemeClr val="tx1"/>
                          </a:solidFill>
                          <a:effectLst/>
                          <a:uLnTx/>
                          <a:uFillTx/>
                          <a:latin typeface="Trebuchet MS"/>
                          <a:ea typeface="+mn-ea"/>
                          <a:cs typeface="+mn-cs"/>
                        </a:rPr>
                        <a:t>C</a:t>
                      </a:r>
                      <a:endParaRPr kumimoji="0" lang="en-US" sz="75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750" kern="1200">
                          <a:solidFill>
                            <a:schemeClr val="tx1"/>
                          </a:solidFill>
                          <a:latin typeface="+mn-lt"/>
                          <a:ea typeface="+mn-ea"/>
                          <a:cs typeface="+mn-cs"/>
                        </a:rPr>
                        <a:t>Sep 15</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latinLnBrk="0" hangingPunct="1">
                        <a:lnSpc>
                          <a:spcPct val="100000"/>
                        </a:lnSpc>
                        <a:spcBef>
                          <a:spcPts val="0"/>
                        </a:spcBef>
                        <a:spcAft>
                          <a:spcPts val="0"/>
                        </a:spcAft>
                        <a:buNone/>
                      </a:pPr>
                      <a:r>
                        <a:rPr lang="en-CA" sz="750" kern="1200">
                          <a:solidFill>
                            <a:schemeClr val="tx1"/>
                          </a:solidFill>
                          <a:latin typeface="+mn-lt"/>
                          <a:ea typeface="+mn-ea"/>
                          <a:cs typeface="+mn-cs"/>
                        </a:rPr>
                        <a:t>Sep 19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8927080"/>
                  </a:ext>
                </a:extLst>
              </a:tr>
              <a:tr h="206470">
                <a:tc gridSpan="5">
                  <a:txBody>
                    <a:bodyPr/>
                    <a:lstStyle/>
                    <a:p>
                      <a:pPr algn="ctr"/>
                      <a:r>
                        <a:rPr lang="en-CA" sz="800" b="1">
                          <a:solidFill>
                            <a:schemeClr val="bg1"/>
                          </a:solidFill>
                        </a:rPr>
                        <a:t>PMO</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pPr algn="ctr"/>
                      <a:endParaRPr lang="en-US" sz="1000" b="1"/>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10009090"/>
                  </a:ext>
                </a:extLst>
              </a:tr>
              <a:tr h="221218">
                <a:tc>
                  <a:txBody>
                    <a:bodyPr/>
                    <a:lstStyle/>
                    <a:p>
                      <a:r>
                        <a:rPr lang="en-CA" sz="750">
                          <a:solidFill>
                            <a:schemeClr val="tx1"/>
                          </a:solidFill>
                        </a:rPr>
                        <a:t>Triages</a:t>
                      </a:r>
                      <a:endParaRPr lang="en-US" sz="75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prstClr val="black"/>
                          </a:solidFill>
                          <a:effectLst/>
                          <a:uLnTx/>
                          <a:uFillTx/>
                          <a:latin typeface="Trebuchet MS"/>
                          <a:ea typeface="+mn-ea"/>
                          <a:cs typeface="+mn-cs"/>
                        </a:rPr>
                        <a:t>C</a:t>
                      </a:r>
                      <a:endParaRPr kumimoji="0" lang="en-US" sz="750" b="1"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750" kern="1200">
                          <a:solidFill>
                            <a:schemeClr val="tx1"/>
                          </a:solidFill>
                          <a:latin typeface="+mn-lt"/>
                          <a:ea typeface="+mn-ea"/>
                          <a:cs typeface="+mn-cs"/>
                        </a:rPr>
                        <a:t>Jul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Trebuchet MS"/>
                          <a:ea typeface="+mn-ea"/>
                          <a:cs typeface="+mn-cs"/>
                        </a:rPr>
                        <a:t>Sep 19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5717354"/>
                  </a:ext>
                </a:extLst>
              </a:tr>
              <a:tr h="442436">
                <a:tc>
                  <a:txBody>
                    <a:bodyPr/>
                    <a:lstStyle/>
                    <a:p>
                      <a:r>
                        <a:rPr lang="en-CA" sz="750">
                          <a:solidFill>
                            <a:schemeClr val="tx1"/>
                          </a:solidFill>
                        </a:rPr>
                        <a:t>CIRA</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prstClr val="black"/>
                          </a:solidFill>
                          <a:effectLst/>
                          <a:uLnTx/>
                          <a:uFillTx/>
                          <a:latin typeface="Trebuchet MS"/>
                          <a:ea typeface="+mn-ea"/>
                          <a:cs typeface="+mn-cs"/>
                        </a:rPr>
                        <a:t>C</a:t>
                      </a:r>
                      <a:endParaRPr kumimoji="0" lang="en-US" sz="750" b="1"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750" kern="1200">
                          <a:solidFill>
                            <a:schemeClr val="tx1"/>
                          </a:solidFill>
                          <a:latin typeface="+mn-lt"/>
                          <a:ea typeface="+mn-ea"/>
                          <a:cs typeface="+mn-cs"/>
                        </a:rPr>
                        <a:t>Jul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mn-lt"/>
                          <a:ea typeface="+mn-ea"/>
                          <a:cs typeface="+mn-cs"/>
                        </a:rPr>
                        <a:t>Sep 19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750" b="0" i="0" u="none" strike="noStrike">
                        <a:solidFill>
                          <a:srgbClr val="000000"/>
                        </a:solidFill>
                        <a:effectLst/>
                        <a:latin typeface="Trebuchet MS" panose="020B0603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0183541"/>
                  </a:ext>
                </a:extLst>
              </a:tr>
              <a:tr h="221218">
                <a:tc>
                  <a:txBody>
                    <a:bodyPr/>
                    <a:lstStyle/>
                    <a:p>
                      <a:r>
                        <a:rPr lang="en-CA" sz="750">
                          <a:solidFill>
                            <a:schemeClr val="tx1"/>
                          </a:solidFill>
                        </a:rPr>
                        <a:t>Gating</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1" i="0" u="none" strike="noStrike" kern="1200" cap="none" spc="0" normalizeH="0" baseline="0" noProof="0">
                          <a:ln>
                            <a:noFill/>
                          </a:ln>
                          <a:solidFill>
                            <a:prstClr val="black"/>
                          </a:solidFill>
                          <a:effectLst/>
                          <a:uLnTx/>
                          <a:uFillTx/>
                          <a:latin typeface="Trebuchet MS"/>
                          <a:ea typeface="+mn-ea"/>
                          <a:cs typeface="+mn-cs"/>
                        </a:rPr>
                        <a:t>C</a:t>
                      </a:r>
                      <a:endParaRPr kumimoji="0" lang="en-US" sz="750" b="1"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750" kern="1200">
                          <a:solidFill>
                            <a:schemeClr val="tx1"/>
                          </a:solidFill>
                          <a:latin typeface="+mn-lt"/>
                          <a:ea typeface="+mn-ea"/>
                          <a:cs typeface="+mn-cs"/>
                        </a:rPr>
                        <a:t>Jul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50" b="0" i="0" u="none" strike="noStrike" kern="1200" cap="none" spc="0" normalizeH="0" baseline="0" noProof="0">
                          <a:ln>
                            <a:noFill/>
                          </a:ln>
                          <a:solidFill>
                            <a:prstClr val="black"/>
                          </a:solidFill>
                          <a:effectLst/>
                          <a:uLnTx/>
                          <a:uFillTx/>
                          <a:latin typeface="+mn-lt"/>
                          <a:ea typeface="+mn-ea"/>
                          <a:cs typeface="+mn-cs"/>
                        </a:rPr>
                        <a:t>Sep 19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75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3337473"/>
                  </a:ext>
                </a:extLst>
              </a:tr>
            </a:tbl>
          </a:graphicData>
        </a:graphic>
      </p:graphicFrame>
    </p:spTree>
    <p:extLst>
      <p:ext uri="{BB962C8B-B14F-4D97-AF65-F5344CB8AC3E}">
        <p14:creationId xmlns:p14="http://schemas.microsoft.com/office/powerpoint/2010/main" val="1160046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76C2D-0B6D-C68B-0439-FBBB133F11F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3CC6AC9-561F-B937-D0B9-8D4DCC87DFF7}"/>
              </a:ext>
            </a:extLst>
          </p:cNvPr>
          <p:cNvSpPr txBox="1">
            <a:spLocks/>
          </p:cNvSpPr>
          <p:nvPr/>
        </p:nvSpPr>
        <p:spPr>
          <a:xfrm>
            <a:off x="117633" y="85661"/>
            <a:ext cx="5955555"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800" b="1" i="0" u="none" strike="noStrike" kern="1200" cap="none" spc="0" normalizeH="0" baseline="0" noProof="0">
                <a:ln>
                  <a:noFill/>
                </a:ln>
                <a:solidFill>
                  <a:srgbClr val="D40139"/>
                </a:solidFill>
                <a:effectLst/>
                <a:uLnTx/>
                <a:uFillTx/>
                <a:ea typeface="+mj-ea"/>
                <a:cs typeface="+mj-cs"/>
              </a:rPr>
              <a:t>Release Status</a:t>
            </a:r>
            <a:endParaRPr kumimoji="0" lang="en-CA" sz="2800" b="1" i="0" u="none" strike="noStrike" kern="1200" cap="none" spc="0" normalizeH="0" baseline="0" noProof="0">
              <a:ln>
                <a:noFill/>
              </a:ln>
              <a:solidFill>
                <a:srgbClr val="D40139"/>
              </a:solidFill>
              <a:effectLst/>
              <a:uLnTx/>
              <a:uFillTx/>
              <a:ea typeface="+mj-ea"/>
              <a:cs typeface="+mj-cs"/>
            </a:endParaRPr>
          </a:p>
        </p:txBody>
      </p:sp>
      <p:sp>
        <p:nvSpPr>
          <p:cNvPr id="13" name="Rectangle 12">
            <a:hlinkClick r:id="rId3" action="ppaction://hlinksldjump"/>
            <a:extLst>
              <a:ext uri="{FF2B5EF4-FFF2-40B4-BE49-F238E27FC236}">
                <a16:creationId xmlns:a16="http://schemas.microsoft.com/office/drawing/2014/main" id="{97B6B462-FA61-F864-4A53-22D3A6D1593D}"/>
              </a:ext>
            </a:extLst>
          </p:cNvPr>
          <p:cNvSpPr/>
          <p:nvPr/>
        </p:nvSpPr>
        <p:spPr>
          <a:xfrm>
            <a:off x="59285" y="2365182"/>
            <a:ext cx="6273800" cy="4093428"/>
          </a:xfrm>
          <a:prstGeom prst="rect">
            <a:avLst/>
          </a:prstGeom>
          <a:ln>
            <a:noFill/>
          </a:ln>
        </p:spPr>
        <p:txBody>
          <a:bodyPr wrap="square" lIns="91440" tIns="45720" rIns="91440" bIns="45720" anchor="t">
            <a:spAutoFit/>
          </a:bodyPr>
          <a:lstStyle/>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mj-lt"/>
                <a:ea typeface="+mn-ea"/>
                <a:cs typeface="+mn-cs"/>
              </a:rPr>
              <a:t>Summary:</a:t>
            </a:r>
          </a:p>
          <a:p>
            <a:pPr marL="171450" indent="-171450" defTabSz="914400">
              <a:buFont typeface="Arial" panose="020B0604020202020204" pitchFamily="34" charset="0"/>
              <a:buChar char="•"/>
              <a:defRPr/>
            </a:pPr>
            <a:r>
              <a:rPr lang="en-CA" sz="1000">
                <a:latin typeface="+mj-lt"/>
                <a:cs typeface="Arial" panose="020B0604020202020204" pitchFamily="34" charset="0"/>
              </a:rPr>
              <a:t>Release is Red.</a:t>
            </a:r>
          </a:p>
          <a:p>
            <a:pPr marL="171450" indent="-171450" defTabSz="914400">
              <a:buFont typeface="Arial" panose="020B0604020202020204" pitchFamily="34" charset="0"/>
              <a:buChar char="•"/>
              <a:defRPr/>
            </a:pPr>
            <a:r>
              <a:rPr lang="en-CA" sz="1000">
                <a:latin typeface="+mj-lt"/>
                <a:cs typeface="Arial" panose="020B0604020202020204" pitchFamily="34" charset="0"/>
              </a:rPr>
              <a:t>The impacted initiative listed below has testing delays caused by unresolved defects, SIT delays, and solution gaps, with key issues in data accuracy and formatting. UAT is dependent on E2E SIT which is delayed due to dependency on open defects from other teams (EDTS, GOW, Lending BI) Teams are prioritizing defect resolution and may re-baseline testing timelines if required.</a:t>
            </a:r>
          </a:p>
          <a:p>
            <a:pPr defTabSz="914400">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lang="en-US" sz="1200" b="1">
              <a:solidFill>
                <a:srgbClr val="D40139"/>
              </a:solidFill>
              <a:latin typeface="+mj-lt"/>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lang="en-US" sz="1200" b="1">
              <a:solidFill>
                <a:srgbClr val="D40139"/>
              </a:solidFill>
              <a:latin typeface="+mj-lt"/>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lang="en-US" sz="1200" b="1">
              <a:solidFill>
                <a:srgbClr val="D40139"/>
              </a:solidFill>
              <a:latin typeface="+mj-lt"/>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lang="en-US" sz="1200" b="1">
              <a:solidFill>
                <a:srgbClr val="D40139"/>
              </a:solidFill>
              <a:latin typeface="+mj-lt"/>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mj-lt"/>
                <a:ea typeface="+mn-ea"/>
                <a:cs typeface="+mn-cs"/>
              </a:rPr>
              <a:t>Open Risks / Issues:</a:t>
            </a:r>
            <a:endParaRPr lang="en-US" sz="1000">
              <a:solidFill>
                <a:srgbClr val="000000"/>
              </a:solidFill>
              <a:latin typeface="+mj-lt"/>
            </a:endParaRPr>
          </a:p>
          <a:p>
            <a:pPr marL="171450" indent="-171450" defTabSz="914400">
              <a:buFont typeface="Arial" panose="020B0604020202020204" pitchFamily="34" charset="0"/>
              <a:buChar char="•"/>
              <a:defRPr/>
            </a:pPr>
            <a:r>
              <a:rPr lang="en-US" sz="1000">
                <a:solidFill>
                  <a:srgbClr val="000000"/>
                </a:solidFill>
                <a:latin typeface="Trebuchet MS" panose="020B0603020202020204" pitchFamily="34" charset="0"/>
              </a:rPr>
              <a:t>None</a:t>
            </a:r>
          </a:p>
          <a:p>
            <a:pPr defTabSz="914400">
              <a:defRPr/>
            </a:pPr>
            <a:endParaRPr lang="en-US" sz="1000">
              <a:solidFill>
                <a:srgbClr val="000000"/>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mj-lt"/>
                <a:ea typeface="+mn-ea"/>
                <a:cs typeface="+mn-cs"/>
              </a:rPr>
              <a:t>Awareness:</a:t>
            </a:r>
            <a:endParaRPr lang="en-US" sz="1200" b="1" i="0" u="none" strike="noStrike" kern="1200" cap="none" spc="0" normalizeH="0" baseline="0" noProof="0">
              <a:ln>
                <a:noFill/>
              </a:ln>
              <a:solidFill>
                <a:srgbClr val="D40139"/>
              </a:solidFill>
              <a:effectLst/>
              <a:uLnTx/>
              <a:uFillTx/>
              <a:latin typeface="+mj-lt"/>
            </a:endParaRPr>
          </a:p>
          <a:p>
            <a:pPr marL="171450" indent="-171450" defTabSz="914400">
              <a:buFont typeface="Arial" panose="020B0604020202020204" pitchFamily="34" charset="0"/>
              <a:buChar char="•"/>
              <a:defRPr/>
            </a:pPr>
            <a:r>
              <a:rPr lang="en-US" sz="1000">
                <a:solidFill>
                  <a:srgbClr val="000000"/>
                </a:solidFill>
              </a:rPr>
              <a:t>Lower Env Sync up are planned.</a:t>
            </a:r>
          </a:p>
        </p:txBody>
      </p:sp>
      <p:graphicFrame>
        <p:nvGraphicFramePr>
          <p:cNvPr id="14" name="Table 15">
            <a:extLst>
              <a:ext uri="{FF2B5EF4-FFF2-40B4-BE49-F238E27FC236}">
                <a16:creationId xmlns:a16="http://schemas.microsoft.com/office/drawing/2014/main" id="{F627C0FD-9ACE-8BA2-5ABB-9866E619956B}"/>
              </a:ext>
            </a:extLst>
          </p:cNvPr>
          <p:cNvGraphicFramePr>
            <a:graphicFrameLocks noGrp="1"/>
          </p:cNvGraphicFramePr>
          <p:nvPr>
            <p:extLst>
              <p:ext uri="{D42A27DB-BD31-4B8C-83A1-F6EECF244321}">
                <p14:modId xmlns:p14="http://schemas.microsoft.com/office/powerpoint/2010/main" val="4271546541"/>
              </p:ext>
            </p:extLst>
          </p:nvPr>
        </p:nvGraphicFramePr>
        <p:xfrm>
          <a:off x="6499476" y="715710"/>
          <a:ext cx="5237149" cy="2484120"/>
        </p:xfrm>
        <a:graphic>
          <a:graphicData uri="http://schemas.openxmlformats.org/drawingml/2006/table">
            <a:tbl>
              <a:tblPr firstRow="1" bandRow="1">
                <a:tableStyleId>{5940675A-B579-460E-94D1-54222C63F5DA}</a:tableStyleId>
              </a:tblPr>
              <a:tblGrid>
                <a:gridCol w="1104543">
                  <a:extLst>
                    <a:ext uri="{9D8B030D-6E8A-4147-A177-3AD203B41FA5}">
                      <a16:colId xmlns:a16="http://schemas.microsoft.com/office/drawing/2014/main" val="590069212"/>
                    </a:ext>
                  </a:extLst>
                </a:gridCol>
                <a:gridCol w="459017">
                  <a:extLst>
                    <a:ext uri="{9D8B030D-6E8A-4147-A177-3AD203B41FA5}">
                      <a16:colId xmlns:a16="http://schemas.microsoft.com/office/drawing/2014/main" val="289142566"/>
                    </a:ext>
                  </a:extLst>
                </a:gridCol>
                <a:gridCol w="785377">
                  <a:extLst>
                    <a:ext uri="{9D8B030D-6E8A-4147-A177-3AD203B41FA5}">
                      <a16:colId xmlns:a16="http://schemas.microsoft.com/office/drawing/2014/main" val="3540510859"/>
                    </a:ext>
                  </a:extLst>
                </a:gridCol>
                <a:gridCol w="785091">
                  <a:extLst>
                    <a:ext uri="{9D8B030D-6E8A-4147-A177-3AD203B41FA5}">
                      <a16:colId xmlns:a16="http://schemas.microsoft.com/office/drawing/2014/main" val="577368358"/>
                    </a:ext>
                  </a:extLst>
                </a:gridCol>
                <a:gridCol w="2103121">
                  <a:extLst>
                    <a:ext uri="{9D8B030D-6E8A-4147-A177-3AD203B41FA5}">
                      <a16:colId xmlns:a16="http://schemas.microsoft.com/office/drawing/2014/main" val="808314054"/>
                    </a:ext>
                  </a:extLst>
                </a:gridCol>
              </a:tblGrid>
              <a:tr h="0">
                <a:tc>
                  <a:txBody>
                    <a:bodyPr/>
                    <a:lstStyle/>
                    <a:p>
                      <a:pPr algn="ctr"/>
                      <a:r>
                        <a:rPr lang="en-CA" sz="900" b="1">
                          <a:solidFill>
                            <a:schemeClr val="tx1"/>
                          </a:solidFill>
                        </a:rPr>
                        <a:t>Activity</a:t>
                      </a:r>
                      <a:endParaRPr lang="en-US" sz="900" b="1">
                        <a:solidFill>
                          <a:schemeClr val="tx1"/>
                        </a:solidFill>
                      </a:endParaRP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en-CA" sz="900" b="1"/>
                        <a:t>Status</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CA" sz="900" b="1"/>
                        <a:t>Start</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CA" sz="900" b="1"/>
                        <a:t>End</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CA" sz="900" b="1"/>
                        <a:t>Comments</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9743300"/>
                  </a:ext>
                </a:extLst>
              </a:tr>
              <a:tr h="0">
                <a:tc gridSpan="5">
                  <a:txBody>
                    <a:bodyPr/>
                    <a:lstStyle/>
                    <a:p>
                      <a:pPr algn="ctr"/>
                      <a:r>
                        <a:rPr lang="en-CA" sz="800" b="1">
                          <a:solidFill>
                            <a:schemeClr val="bg1"/>
                          </a:solidFill>
                        </a:rPr>
                        <a:t>BA</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endParaRPr lang="en-CA" sz="9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277812957"/>
                  </a:ext>
                </a:extLst>
              </a:tr>
              <a:tr h="0">
                <a:tc>
                  <a:txBody>
                    <a:bodyPr/>
                    <a:lstStyle/>
                    <a:p>
                      <a:r>
                        <a:rPr lang="en-CA" sz="800">
                          <a:solidFill>
                            <a:schemeClr val="tx1"/>
                          </a:solidFill>
                        </a:rPr>
                        <a:t>BRD / SRDs / CRs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mn-lt"/>
                          <a:ea typeface="+mn-ea"/>
                          <a:cs typeface="+mn-cs"/>
                        </a:rPr>
                        <a:t>G</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CA"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CA"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algn="l"/>
                      <a:endParaRPr lang="en-CA"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1996147"/>
                  </a:ext>
                </a:extLst>
              </a:tr>
              <a:tr h="0">
                <a:tc gridSpan="5">
                  <a:txBody>
                    <a:bodyPr/>
                    <a:lstStyle/>
                    <a:p>
                      <a:pPr algn="ctr"/>
                      <a:r>
                        <a:rPr lang="en-CA" sz="800" b="1">
                          <a:solidFill>
                            <a:schemeClr val="bg1"/>
                          </a:solidFill>
                        </a:rPr>
                        <a:t>AD</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endParaRPr lang="en-US" sz="1000"/>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751212044"/>
                  </a:ext>
                </a:extLst>
              </a:tr>
              <a:tr h="0">
                <a:tc>
                  <a:txBody>
                    <a:bodyPr/>
                    <a:lstStyle/>
                    <a:p>
                      <a:r>
                        <a:rPr lang="en-CA" sz="800">
                          <a:solidFill>
                            <a:schemeClr val="tx1"/>
                          </a:solidFill>
                        </a:rPr>
                        <a:t>Infra Dependencies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effectLst/>
                          <a:uLnTx/>
                          <a:uFillTx/>
                          <a:latin typeface="+mn-lt"/>
                          <a:ea typeface="+mn-ea"/>
                          <a:cs typeface="+mn-cs"/>
                        </a:rPr>
                        <a:t>-</a:t>
                      </a:r>
                      <a:endParaRPr kumimoji="0" lang="en-US" sz="800" b="0" i="0" u="none" strike="noStrike" kern="1200" cap="none" spc="0" normalizeH="0" baseline="0" noProof="0">
                        <a:ln>
                          <a:noFill/>
                        </a:ln>
                        <a:effectLst/>
                        <a:uLnTx/>
                        <a:uFillTx/>
                        <a:latin typeface="+mn-lt"/>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effectLst/>
                          <a:uLnTx/>
                          <a:uFillTx/>
                          <a:latin typeface="Trebuchet MS"/>
                          <a:ea typeface="+mn-ea"/>
                          <a:cs typeface="+mn-cs"/>
                        </a:rPr>
                        <a:t>-</a:t>
                      </a:r>
                      <a:endParaRPr kumimoji="0" lang="en-US" sz="800" b="0" i="0" u="none" strike="noStrike" kern="1200" cap="none" spc="0" normalizeH="0" baseline="0" noProof="0">
                        <a:ln>
                          <a:noFill/>
                        </a:ln>
                        <a:effectLst/>
                        <a:uLnTx/>
                        <a:uFillTx/>
                        <a:latin typeface="Trebuchet MS"/>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0" u="none" strike="noStrike">
                        <a:solidFill>
                          <a:schemeClr val="tx1"/>
                        </a:solidFill>
                        <a:effectLst/>
                        <a:latin typeface="+mn-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1421103"/>
                  </a:ext>
                </a:extLst>
              </a:tr>
              <a:tr h="0">
                <a:tc>
                  <a:txBody>
                    <a:bodyPr/>
                    <a:lstStyle/>
                    <a:p>
                      <a:r>
                        <a:rPr lang="en-CA" sz="800">
                          <a:solidFill>
                            <a:schemeClr val="tx1"/>
                          </a:solidFill>
                        </a:rPr>
                        <a:t>MIP</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kern="1200">
                          <a:solidFill>
                            <a:schemeClr val="tx1"/>
                          </a:solidFill>
                          <a:latin typeface="+mn-lt"/>
                          <a:ea typeface="+mn-ea"/>
                          <a:cs typeface="+mn-cs"/>
                        </a:rPr>
                        <a:t>Oct 17</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80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4036"/>
                  </a:ext>
                </a:extLst>
              </a:tr>
              <a:tr h="198578">
                <a:tc>
                  <a:txBody>
                    <a:bodyPr/>
                    <a:lstStyle/>
                    <a:p>
                      <a:r>
                        <a:rPr lang="en-CA" sz="800">
                          <a:solidFill>
                            <a:schemeClr val="tx1"/>
                          </a:solidFill>
                        </a:rPr>
                        <a:t>B/O Matrix</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kern="1200">
                          <a:solidFill>
                            <a:schemeClr val="tx1"/>
                          </a:solidFill>
                          <a:latin typeface="+mn-lt"/>
                          <a:ea typeface="+mn-ea"/>
                          <a:cs typeface="+mn-cs"/>
                        </a:rPr>
                        <a:t>Oct 07</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80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3156198"/>
                  </a:ext>
                </a:extLst>
              </a:tr>
              <a:tr h="0">
                <a:tc>
                  <a:txBody>
                    <a:bodyPr/>
                    <a:lstStyle/>
                    <a:p>
                      <a:pPr marL="0" algn="l" defTabSz="914400" rtl="0" eaLnBrk="1" latinLnBrk="0" hangingPunct="1"/>
                      <a:r>
                        <a:rPr lang="en-CA" sz="800" kern="1200">
                          <a:solidFill>
                            <a:schemeClr val="tx1"/>
                          </a:solidFill>
                          <a:latin typeface="+mn-lt"/>
                          <a:ea typeface="+mn-ea"/>
                          <a:cs typeface="+mn-cs"/>
                        </a:rPr>
                        <a:t>SCM Updates</a:t>
                      </a:r>
                      <a:endParaRPr lang="en-US" sz="800" kern="1200">
                        <a:solidFill>
                          <a:schemeClr val="tx1"/>
                        </a:solidFill>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Oct 13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649755"/>
                  </a:ext>
                </a:extLst>
              </a:tr>
              <a:tr h="129404">
                <a:tc>
                  <a:txBody>
                    <a:bodyPr/>
                    <a:lstStyle/>
                    <a:p>
                      <a:r>
                        <a:rPr lang="en-CA" sz="800">
                          <a:solidFill>
                            <a:schemeClr val="tx1"/>
                          </a:solidFill>
                        </a:rPr>
                        <a:t>ACPs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Oct 13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987816"/>
                  </a:ext>
                </a:extLst>
              </a:tr>
              <a:tr h="0">
                <a:tc>
                  <a:txBody>
                    <a:bodyPr/>
                    <a:lstStyle/>
                    <a:p>
                      <a:r>
                        <a:rPr lang="en-CA" sz="800">
                          <a:solidFill>
                            <a:schemeClr val="tx1"/>
                          </a:solidFill>
                        </a:rPr>
                        <a:t>OSI / Run Books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Oct 13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2469613"/>
                  </a:ext>
                </a:extLst>
              </a:tr>
              <a:tr h="0">
                <a:tc>
                  <a:txBody>
                    <a:bodyPr/>
                    <a:lstStyle/>
                    <a:p>
                      <a:r>
                        <a:rPr lang="en-CA" sz="800">
                          <a:solidFill>
                            <a:schemeClr val="tx1"/>
                          </a:solidFill>
                        </a:rPr>
                        <a:t>ADM Readiness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Oct 13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1769880"/>
                  </a:ext>
                </a:extLst>
              </a:tr>
            </a:tbl>
          </a:graphicData>
        </a:graphic>
      </p:graphicFrame>
      <p:sp>
        <p:nvSpPr>
          <p:cNvPr id="16" name="Subtitle 2">
            <a:extLst>
              <a:ext uri="{FF2B5EF4-FFF2-40B4-BE49-F238E27FC236}">
                <a16:creationId xmlns:a16="http://schemas.microsoft.com/office/drawing/2014/main" id="{FCAD6792-D4CE-EA39-6B58-34C31A876359}"/>
              </a:ext>
            </a:extLst>
          </p:cNvPr>
          <p:cNvSpPr txBox="1">
            <a:spLocks/>
          </p:cNvSpPr>
          <p:nvPr/>
        </p:nvSpPr>
        <p:spPr>
          <a:xfrm>
            <a:off x="8024304" y="358700"/>
            <a:ext cx="2201690" cy="250050"/>
          </a:xfrm>
          <a:prstGeom prst="rect">
            <a:avLst/>
          </a:prstGeom>
        </p:spPr>
        <p:txBody>
          <a:bodyPr vert="horz" wrap="square" lIns="0" tIns="0" rIns="0" bIns="0" rtlCol="0">
            <a:spAutoFit/>
          </a:bodyPr>
          <a:lstStyle>
            <a:lvl1pPr marL="0" indent="0" algn="l" defTabSz="914400" rtl="0" eaLnBrk="1" latinLnBrk="0" hangingPunct="1">
              <a:spcBef>
                <a:spcPts val="600"/>
              </a:spcBef>
              <a:spcAft>
                <a:spcPts val="600"/>
              </a:spcAft>
              <a:buFont typeface="Arial" panose="020B0604020202020204" pitchFamily="34" charset="0"/>
              <a:buNone/>
              <a:defRPr sz="2000" b="1" kern="1200">
                <a:solidFill>
                  <a:schemeClr val="accent6"/>
                </a:solidFill>
                <a:latin typeface="+mn-lt"/>
                <a:ea typeface="+mn-ea"/>
                <a:cs typeface="+mn-cs"/>
              </a:defRPr>
            </a:lvl1pPr>
            <a:lvl2pPr marL="228600" indent="-228600"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2pPr>
            <a:lvl3pPr marL="457200" indent="-22383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3pPr>
            <a:lvl4pPr marL="685800" indent="-231775"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4pPr>
            <a:lvl5pPr marL="915988" indent="-23018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CA" sz="1600" b="1" i="0" u="none" strike="noStrike" kern="1200" cap="none" spc="0" normalizeH="0" baseline="0" noProof="0">
                <a:ln>
                  <a:noFill/>
                </a:ln>
                <a:solidFill>
                  <a:srgbClr val="D40139"/>
                </a:solidFill>
                <a:effectLst/>
                <a:uLnTx/>
                <a:uFillTx/>
                <a:latin typeface="+mj-lt"/>
                <a:ea typeface="+mn-ea"/>
                <a:cs typeface="+mn-cs"/>
              </a:rPr>
              <a:t>Deliverable Status</a:t>
            </a:r>
          </a:p>
        </p:txBody>
      </p:sp>
      <p:graphicFrame>
        <p:nvGraphicFramePr>
          <p:cNvPr id="18" name="Table 11">
            <a:extLst>
              <a:ext uri="{FF2B5EF4-FFF2-40B4-BE49-F238E27FC236}">
                <a16:creationId xmlns:a16="http://schemas.microsoft.com/office/drawing/2014/main" id="{0EC5E934-E686-D475-CC1C-F7A96E54CAFC}"/>
              </a:ext>
            </a:extLst>
          </p:cNvPr>
          <p:cNvGraphicFramePr>
            <a:graphicFrameLocks noGrp="1"/>
          </p:cNvGraphicFramePr>
          <p:nvPr>
            <p:ph idx="1"/>
            <p:extLst>
              <p:ext uri="{D42A27DB-BD31-4B8C-83A1-F6EECF244321}">
                <p14:modId xmlns:p14="http://schemas.microsoft.com/office/powerpoint/2010/main" val="1259190665"/>
              </p:ext>
            </p:extLst>
          </p:nvPr>
        </p:nvGraphicFramePr>
        <p:xfrm>
          <a:off x="492981" y="6348809"/>
          <a:ext cx="5068476" cy="396240"/>
        </p:xfrm>
        <a:graphic>
          <a:graphicData uri="http://schemas.openxmlformats.org/drawingml/2006/table">
            <a:tbl>
              <a:tblPr firstRow="1" bandRow="1">
                <a:tableStyleId>{5940675A-B579-460E-94D1-54222C63F5DA}</a:tableStyleId>
              </a:tblPr>
              <a:tblGrid>
                <a:gridCol w="1319436">
                  <a:extLst>
                    <a:ext uri="{9D8B030D-6E8A-4147-A177-3AD203B41FA5}">
                      <a16:colId xmlns:a16="http://schemas.microsoft.com/office/drawing/2014/main" val="2592895187"/>
                    </a:ext>
                  </a:extLst>
                </a:gridCol>
                <a:gridCol w="1371600">
                  <a:extLst>
                    <a:ext uri="{9D8B030D-6E8A-4147-A177-3AD203B41FA5}">
                      <a16:colId xmlns:a16="http://schemas.microsoft.com/office/drawing/2014/main" val="2315325055"/>
                    </a:ext>
                  </a:extLst>
                </a:gridCol>
                <a:gridCol w="914400">
                  <a:extLst>
                    <a:ext uri="{9D8B030D-6E8A-4147-A177-3AD203B41FA5}">
                      <a16:colId xmlns:a16="http://schemas.microsoft.com/office/drawing/2014/main" val="468379215"/>
                    </a:ext>
                  </a:extLst>
                </a:gridCol>
                <a:gridCol w="1463040">
                  <a:extLst>
                    <a:ext uri="{9D8B030D-6E8A-4147-A177-3AD203B41FA5}">
                      <a16:colId xmlns:a16="http://schemas.microsoft.com/office/drawing/2014/main" val="3785417576"/>
                    </a:ext>
                  </a:extLst>
                </a:gridCol>
              </a:tblGrid>
              <a:tr h="150334">
                <a:tc>
                  <a:txBody>
                    <a:bodyPr/>
                    <a:lstStyle/>
                    <a:p>
                      <a:pPr algn="r"/>
                      <a:r>
                        <a:rPr lang="en-CA" sz="700" b="1">
                          <a:latin typeface="+mn-lt"/>
                        </a:rPr>
                        <a:t>Release Lead:</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700">
                          <a:latin typeface="+mn-lt"/>
                        </a:rPr>
                        <a:t>Anisah Patel</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CA" sz="700" b="1">
                          <a:latin typeface="+mn-lt"/>
                        </a:rPr>
                        <a:t>Release AD Lead:</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700">
                          <a:latin typeface="+mn-lt"/>
                        </a:rPr>
                        <a:t>Sivin Victor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0915363"/>
                  </a:ext>
                </a:extLst>
              </a:tr>
              <a:tr h="0">
                <a:tc>
                  <a:txBody>
                    <a:bodyPr/>
                    <a:lstStyle/>
                    <a:p>
                      <a:pPr algn="r"/>
                      <a:r>
                        <a:rPr lang="en-CA" sz="700" b="1">
                          <a:latin typeface="+mn-lt"/>
                        </a:rPr>
                        <a:t>TO / DXC PM:</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700">
                          <a:latin typeface="+mn-lt"/>
                        </a:rPr>
                        <a:t>Devika Gandhi / Chad Irvine</a:t>
                      </a:r>
                      <a:endParaRPr lang="en-US" sz="70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CA" sz="700" b="1">
                          <a:latin typeface="+mn-lt"/>
                        </a:rPr>
                        <a:t>Release QA Lead:</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700">
                          <a:latin typeface="+mn-lt"/>
                        </a:rPr>
                        <a:t>Deborah Zhang</a:t>
                      </a:r>
                      <a:endParaRPr lang="en-US" sz="70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783638"/>
                  </a:ext>
                </a:extLst>
              </a:tr>
            </a:tbl>
          </a:graphicData>
        </a:graphic>
      </p:graphicFrame>
      <p:graphicFrame>
        <p:nvGraphicFramePr>
          <p:cNvPr id="19" name="Table 2">
            <a:extLst>
              <a:ext uri="{FF2B5EF4-FFF2-40B4-BE49-F238E27FC236}">
                <a16:creationId xmlns:a16="http://schemas.microsoft.com/office/drawing/2014/main" id="{BA17819A-8AC2-3E4A-D28A-7DB7EC1BFB33}"/>
              </a:ext>
            </a:extLst>
          </p:cNvPr>
          <p:cNvGraphicFramePr>
            <a:graphicFrameLocks noGrp="1"/>
          </p:cNvGraphicFramePr>
          <p:nvPr/>
        </p:nvGraphicFramePr>
        <p:xfrm>
          <a:off x="7132264" y="90815"/>
          <a:ext cx="4556443" cy="18288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552748061"/>
                    </a:ext>
                  </a:extLst>
                </a:gridCol>
                <a:gridCol w="548640">
                  <a:extLst>
                    <a:ext uri="{9D8B030D-6E8A-4147-A177-3AD203B41FA5}">
                      <a16:colId xmlns:a16="http://schemas.microsoft.com/office/drawing/2014/main" val="2949818358"/>
                    </a:ext>
                  </a:extLst>
                </a:gridCol>
                <a:gridCol w="208280">
                  <a:extLst>
                    <a:ext uri="{9D8B030D-6E8A-4147-A177-3AD203B41FA5}">
                      <a16:colId xmlns:a16="http://schemas.microsoft.com/office/drawing/2014/main" val="3768384043"/>
                    </a:ext>
                  </a:extLst>
                </a:gridCol>
                <a:gridCol w="822960">
                  <a:extLst>
                    <a:ext uri="{9D8B030D-6E8A-4147-A177-3AD203B41FA5}">
                      <a16:colId xmlns:a16="http://schemas.microsoft.com/office/drawing/2014/main" val="3673821677"/>
                    </a:ext>
                  </a:extLst>
                </a:gridCol>
                <a:gridCol w="208280">
                  <a:extLst>
                    <a:ext uri="{9D8B030D-6E8A-4147-A177-3AD203B41FA5}">
                      <a16:colId xmlns:a16="http://schemas.microsoft.com/office/drawing/2014/main" val="1380191459"/>
                    </a:ext>
                  </a:extLst>
                </a:gridCol>
                <a:gridCol w="822960">
                  <a:extLst>
                    <a:ext uri="{9D8B030D-6E8A-4147-A177-3AD203B41FA5}">
                      <a16:colId xmlns:a16="http://schemas.microsoft.com/office/drawing/2014/main" val="2784429797"/>
                    </a:ext>
                  </a:extLst>
                </a:gridCol>
                <a:gridCol w="208280">
                  <a:extLst>
                    <a:ext uri="{9D8B030D-6E8A-4147-A177-3AD203B41FA5}">
                      <a16:colId xmlns:a16="http://schemas.microsoft.com/office/drawing/2014/main" val="906539283"/>
                    </a:ext>
                  </a:extLst>
                </a:gridCol>
                <a:gridCol w="771843">
                  <a:extLst>
                    <a:ext uri="{9D8B030D-6E8A-4147-A177-3AD203B41FA5}">
                      <a16:colId xmlns:a16="http://schemas.microsoft.com/office/drawing/2014/main" val="2265317318"/>
                    </a:ext>
                  </a:extLst>
                </a:gridCol>
                <a:gridCol w="208280">
                  <a:extLst>
                    <a:ext uri="{9D8B030D-6E8A-4147-A177-3AD203B41FA5}">
                      <a16:colId xmlns:a16="http://schemas.microsoft.com/office/drawing/2014/main" val="4285212843"/>
                    </a:ext>
                  </a:extLst>
                </a:gridCol>
                <a:gridCol w="548640">
                  <a:extLst>
                    <a:ext uri="{9D8B030D-6E8A-4147-A177-3AD203B41FA5}">
                      <a16:colId xmlns:a16="http://schemas.microsoft.com/office/drawing/2014/main" val="3048000558"/>
                    </a:ext>
                  </a:extLst>
                </a:gridCol>
              </a:tblGrid>
              <a:tr h="182880">
                <a:tc>
                  <a:txBody>
                    <a:bodyPr/>
                    <a:lstStyle/>
                    <a:p>
                      <a:pPr algn="ctr"/>
                      <a:r>
                        <a:rPr lang="en-CA" sz="500" b="1">
                          <a:solidFill>
                            <a:schemeClr val="bg1"/>
                          </a:solidFill>
                        </a:rPr>
                        <a:t>N</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l"/>
                      <a:r>
                        <a:rPr lang="en-CA" sz="500">
                          <a:solidFill>
                            <a:schemeClr val="tx1"/>
                          </a:solidFill>
                        </a:rPr>
                        <a:t>Not Started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solidFill>
                            <a:schemeClr val="bg1"/>
                          </a:solidFill>
                        </a:rPr>
                        <a:t>G</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l"/>
                      <a:r>
                        <a:rPr lang="en-CA" sz="500">
                          <a:solidFill>
                            <a:schemeClr val="tx1"/>
                          </a:solidFill>
                        </a:rPr>
                        <a:t>In Progress, On Track</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t>Y</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l"/>
                      <a:r>
                        <a:rPr lang="en-CA" sz="500">
                          <a:solidFill>
                            <a:schemeClr val="tx1"/>
                          </a:solidFill>
                        </a:rPr>
                        <a:t>May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solidFill>
                            <a:schemeClr val="bg1"/>
                          </a:solidFill>
                        </a:rPr>
                        <a:t>R</a:t>
                      </a:r>
                      <a:endParaRPr lang="en-US" sz="5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l"/>
                      <a:r>
                        <a:rPr lang="en-CA" sz="500">
                          <a:solidFill>
                            <a:schemeClr val="tx1"/>
                          </a:solidFill>
                        </a:rPr>
                        <a:t>Will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t>C</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500">
                          <a:solidFill>
                            <a:schemeClr val="tx1"/>
                          </a:solidFill>
                        </a:rPr>
                        <a:t>Complete</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graphicFrame>
        <p:nvGraphicFramePr>
          <p:cNvPr id="21" name="Table 20">
            <a:extLst>
              <a:ext uri="{FF2B5EF4-FFF2-40B4-BE49-F238E27FC236}">
                <a16:creationId xmlns:a16="http://schemas.microsoft.com/office/drawing/2014/main" id="{CF400F31-EADE-5125-7C50-BEB74E760476}"/>
              </a:ext>
            </a:extLst>
          </p:cNvPr>
          <p:cNvGraphicFramePr>
            <a:graphicFrameLocks noGrp="1"/>
          </p:cNvGraphicFramePr>
          <p:nvPr>
            <p:extLst>
              <p:ext uri="{D42A27DB-BD31-4B8C-83A1-F6EECF244321}">
                <p14:modId xmlns:p14="http://schemas.microsoft.com/office/powerpoint/2010/main" val="820243326"/>
              </p:ext>
            </p:extLst>
          </p:nvPr>
        </p:nvGraphicFramePr>
        <p:xfrm>
          <a:off x="117633" y="712606"/>
          <a:ext cx="6273803" cy="1550558"/>
        </p:xfrm>
        <a:graphic>
          <a:graphicData uri="http://schemas.openxmlformats.org/drawingml/2006/table">
            <a:tbl>
              <a:tblPr/>
              <a:tblGrid>
                <a:gridCol w="567887">
                  <a:extLst>
                    <a:ext uri="{9D8B030D-6E8A-4147-A177-3AD203B41FA5}">
                      <a16:colId xmlns:a16="http://schemas.microsoft.com/office/drawing/2014/main" val="542770605"/>
                    </a:ext>
                  </a:extLst>
                </a:gridCol>
                <a:gridCol w="405634">
                  <a:extLst>
                    <a:ext uri="{9D8B030D-6E8A-4147-A177-3AD203B41FA5}">
                      <a16:colId xmlns:a16="http://schemas.microsoft.com/office/drawing/2014/main" val="721424745"/>
                    </a:ext>
                  </a:extLst>
                </a:gridCol>
                <a:gridCol w="405634">
                  <a:extLst>
                    <a:ext uri="{9D8B030D-6E8A-4147-A177-3AD203B41FA5}">
                      <a16:colId xmlns:a16="http://schemas.microsoft.com/office/drawing/2014/main" val="2980709361"/>
                    </a:ext>
                  </a:extLst>
                </a:gridCol>
                <a:gridCol w="405634">
                  <a:extLst>
                    <a:ext uri="{9D8B030D-6E8A-4147-A177-3AD203B41FA5}">
                      <a16:colId xmlns:a16="http://schemas.microsoft.com/office/drawing/2014/main" val="4189054838"/>
                    </a:ext>
                  </a:extLst>
                </a:gridCol>
                <a:gridCol w="405634">
                  <a:extLst>
                    <a:ext uri="{9D8B030D-6E8A-4147-A177-3AD203B41FA5}">
                      <a16:colId xmlns:a16="http://schemas.microsoft.com/office/drawing/2014/main" val="1947436398"/>
                    </a:ext>
                  </a:extLst>
                </a:gridCol>
                <a:gridCol w="405634">
                  <a:extLst>
                    <a:ext uri="{9D8B030D-6E8A-4147-A177-3AD203B41FA5}">
                      <a16:colId xmlns:a16="http://schemas.microsoft.com/office/drawing/2014/main" val="3671164612"/>
                    </a:ext>
                  </a:extLst>
                </a:gridCol>
                <a:gridCol w="405634">
                  <a:extLst>
                    <a:ext uri="{9D8B030D-6E8A-4147-A177-3AD203B41FA5}">
                      <a16:colId xmlns:a16="http://schemas.microsoft.com/office/drawing/2014/main" val="4223143478"/>
                    </a:ext>
                  </a:extLst>
                </a:gridCol>
                <a:gridCol w="405634">
                  <a:extLst>
                    <a:ext uri="{9D8B030D-6E8A-4147-A177-3AD203B41FA5}">
                      <a16:colId xmlns:a16="http://schemas.microsoft.com/office/drawing/2014/main" val="1140894372"/>
                    </a:ext>
                  </a:extLst>
                </a:gridCol>
                <a:gridCol w="608450">
                  <a:extLst>
                    <a:ext uri="{9D8B030D-6E8A-4147-A177-3AD203B41FA5}">
                      <a16:colId xmlns:a16="http://schemas.microsoft.com/office/drawing/2014/main" val="1630437860"/>
                    </a:ext>
                  </a:extLst>
                </a:gridCol>
                <a:gridCol w="405634">
                  <a:extLst>
                    <a:ext uri="{9D8B030D-6E8A-4147-A177-3AD203B41FA5}">
                      <a16:colId xmlns:a16="http://schemas.microsoft.com/office/drawing/2014/main" val="1549931440"/>
                    </a:ext>
                  </a:extLst>
                </a:gridCol>
                <a:gridCol w="405634">
                  <a:extLst>
                    <a:ext uri="{9D8B030D-6E8A-4147-A177-3AD203B41FA5}">
                      <a16:colId xmlns:a16="http://schemas.microsoft.com/office/drawing/2014/main" val="3188408529"/>
                    </a:ext>
                  </a:extLst>
                </a:gridCol>
                <a:gridCol w="1446760">
                  <a:extLst>
                    <a:ext uri="{9D8B030D-6E8A-4147-A177-3AD203B41FA5}">
                      <a16:colId xmlns:a16="http://schemas.microsoft.com/office/drawing/2014/main" val="4128971172"/>
                    </a:ext>
                  </a:extLst>
                </a:gridCol>
              </a:tblGrid>
              <a:tr h="276225">
                <a:tc>
                  <a:txBody>
                    <a:bodyPr/>
                    <a:lstStyle/>
                    <a:p>
                      <a:pPr algn="ctr" fontAlgn="ctr"/>
                      <a:r>
                        <a:rPr lang="en-CA" sz="1200" b="1" i="0" u="none" strike="noStrike">
                          <a:solidFill>
                            <a:schemeClr val="bg1"/>
                          </a:solidFill>
                          <a:effectLst/>
                          <a:latin typeface="Trebuchet MS"/>
                        </a:rPr>
                        <a:t>R</a:t>
                      </a:r>
                      <a:endParaRPr lang="en-US" sz="1200" b="1" i="0" u="none" strike="noStrike">
                        <a:solidFill>
                          <a:schemeClr val="bg1"/>
                        </a:solidFill>
                        <a:effectLst/>
                        <a:latin typeface="Trebuchet MS"/>
                      </a:endParaRPr>
                    </a:p>
                  </a:txBody>
                  <a:tcPr marL="9525" marR="9525" marT="9525" marB="0" anchor="ctr">
                    <a:lnL w="9525"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gridSpan="11">
                  <a:txBody>
                    <a:bodyPr/>
                    <a:lstStyle/>
                    <a:p>
                      <a:pPr marL="0" algn="l" defTabSz="914400" rtl="0" eaLnBrk="1" fontAlgn="ctr" latinLnBrk="0" hangingPunct="1"/>
                      <a:r>
                        <a:rPr lang="en-CA" sz="1200" b="1" i="0" u="none" strike="noStrike" kern="1200">
                          <a:solidFill>
                            <a:srgbClr val="C00000"/>
                          </a:solidFill>
                          <a:effectLst/>
                          <a:latin typeface="+mn-lt"/>
                          <a:ea typeface="+mn-ea"/>
                          <a:cs typeface="+mn-cs"/>
                        </a:rPr>
                        <a:t>Core Banking – (Nov 16, 2025)</a:t>
                      </a:r>
                    </a:p>
                  </a:txBody>
                  <a:tcPr marL="114300" marR="9525" marT="9525" marB="0" anchor="ctr">
                    <a:lnL w="12700" cap="flat" cmpd="sng" algn="ctr">
                      <a:solidFill>
                        <a:schemeClr val="bg1">
                          <a:lumMod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r" fontAlgn="ctr"/>
                      <a:endParaRPr lang="en-US" sz="1050" b="1" i="0" u="none" strike="noStrike">
                        <a:solidFill>
                          <a:srgbClr val="000000"/>
                        </a:solidFill>
                        <a:effectLst/>
                        <a:latin typeface="Trebuchet MS" panose="020B0603020202020204" pitchFamily="34" charset="0"/>
                      </a:endParaRPr>
                    </a:p>
                  </a:txBody>
                  <a:tcPr marL="9525" marR="114300" marT="9525" marB="0" anchor="ctr">
                    <a:lnL w="9525" cap="flat" cmpd="sng" algn="ctr">
                      <a:solidFill>
                        <a:schemeClr val="tx1"/>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fontAlgn="ctr"/>
                      <a:endParaRPr lang="en-US" sz="1050" b="1" i="0" u="none" strike="noStrike">
                        <a:solidFill>
                          <a:schemeClr val="tx1"/>
                        </a:solidFill>
                        <a:effectLst/>
                        <a:latin typeface="Trebuchet MS" panose="020B0603020202020204" pitchFamily="34" charset="0"/>
                      </a:endParaRPr>
                    </a:p>
                  </a:txBody>
                  <a:tcPr marL="9525" marR="9525" marT="9525"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7013967"/>
                  </a:ext>
                </a:extLst>
              </a:tr>
              <a:tr h="190500">
                <a:tc rowSpan="3">
                  <a:txBody>
                    <a:bodyPr/>
                    <a:lstStyle/>
                    <a:p>
                      <a:pPr algn="r" fontAlgn="ctr"/>
                      <a:r>
                        <a:rPr lang="en-US" sz="1000" b="1" i="0" u="none" strike="noStrike">
                          <a:solidFill>
                            <a:srgbClr val="000000"/>
                          </a:solidFill>
                          <a:effectLst/>
                          <a:latin typeface="Trebuchet MS"/>
                        </a:rPr>
                        <a:t>Phase:</a:t>
                      </a:r>
                    </a:p>
                  </a:txBody>
                  <a:tcPr marL="9525" marR="9525" marT="9525"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REQ</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DES</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CON</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DIT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SIT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UAT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PAT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3">
                  <a:txBody>
                    <a:bodyPr/>
                    <a:lstStyle/>
                    <a:p>
                      <a:pPr algn="ctr" fontAlgn="ctr"/>
                      <a:r>
                        <a:rPr lang="en-US" sz="1000" b="1" i="0" u="none" strike="noStrike">
                          <a:solidFill>
                            <a:srgbClr val="000000"/>
                          </a:solidFill>
                          <a:effectLst/>
                          <a:latin typeface="Trebuchet MS"/>
                        </a:rPr>
                        <a:t>Scope:</a:t>
                      </a:r>
                    </a:p>
                  </a:txBody>
                  <a:tcPr marL="9525" marR="9525" marT="9525"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CA" sz="1000" b="1" i="0" u="none" strike="noStrike">
                          <a:solidFill>
                            <a:srgbClr val="C00000"/>
                          </a:solidFill>
                          <a:effectLst/>
                          <a:latin typeface="Trebuchet MS"/>
                        </a:rPr>
                        <a:t>61</a:t>
                      </a:r>
                      <a:endParaRPr lang="en-US" sz="1000" b="1" i="0" u="none" strike="noStrike">
                        <a:solidFill>
                          <a:srgbClr val="C00000"/>
                        </a:solidFill>
                        <a:effectLst/>
                        <a:latin typeface="Trebuchet MS"/>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CA" sz="900" b="1" i="0" u="none" strike="noStrike">
                          <a:solidFill>
                            <a:srgbClr val="000000"/>
                          </a:solidFill>
                          <a:effectLst/>
                          <a:latin typeface="Trebuchet MS"/>
                        </a:rPr>
                        <a:t>32</a:t>
                      </a:r>
                      <a:endParaRPr lang="en-US" sz="900" b="1" i="0" u="none" strike="noStrike">
                        <a:solidFill>
                          <a:srgbClr val="000000"/>
                        </a:solidFill>
                        <a:effectLst/>
                        <a:latin typeface="Trebuchet MS"/>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r>
                        <a:rPr lang="en-US" sz="900" b="0" i="0" u="none" strike="noStrike">
                          <a:solidFill>
                            <a:srgbClr val="000000"/>
                          </a:solidFill>
                          <a:effectLst/>
                          <a:latin typeface="Trebuchet MS"/>
                        </a:rPr>
                        <a:t>Projects &amp; MOPs</a:t>
                      </a:r>
                    </a:p>
                  </a:txBody>
                  <a:tcPr marL="114300" marR="9525" marT="9525" marB="0"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6548466"/>
                  </a:ext>
                </a:extLst>
              </a:tr>
              <a:tr h="59705">
                <a:tc vMerge="1">
                  <a:txBody>
                    <a:bodyPr/>
                    <a:lstStyle/>
                    <a:p>
                      <a:endParaRPr lang="en-US"/>
                    </a:p>
                  </a:txBody>
                  <a:tcPr/>
                </a:tc>
                <a:tc vMerge="1">
                  <a:txBody>
                    <a:bodyPr/>
                    <a:lstStyle/>
                    <a:p>
                      <a:pPr algn="ctr" fontAlgn="ctr"/>
                      <a:r>
                        <a:rPr lang="en-CA" sz="900" b="1" i="0" u="none" strike="noStrike">
                          <a:solidFill>
                            <a:schemeClr val="tx1"/>
                          </a:solidFill>
                          <a:effectLst/>
                          <a:latin typeface="Trebuchet MS"/>
                        </a:rPr>
                        <a:t>C</a:t>
                      </a:r>
                      <a:endParaRPr lang="en-US" sz="900" b="1" i="0" u="none" strike="noStrike">
                        <a:solidFill>
                          <a:schemeClr val="tx1"/>
                        </a:solidFill>
                        <a:effectLst/>
                        <a:latin typeface="Trebuchet MS"/>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vMerge="1">
                  <a:txBody>
                    <a:bodyPr/>
                    <a:lstStyle/>
                    <a:p>
                      <a:pPr algn="ctr" fontAlgn="ctr"/>
                      <a:r>
                        <a:rPr lang="en-CA" sz="900" b="1" i="0" u="none" strike="noStrike">
                          <a:solidFill>
                            <a:schemeClr val="bg1"/>
                          </a:solidFill>
                          <a:effectLst/>
                          <a:latin typeface="Trebuchet MS"/>
                        </a:rPr>
                        <a:t>N</a:t>
                      </a:r>
                      <a:endParaRPr lang="en-US" sz="900" b="1" i="0" u="none" strike="noStrike">
                        <a:solidFill>
                          <a:schemeClr val="bg1"/>
                        </a:solidFill>
                        <a:effectLst/>
                        <a:latin typeface="Trebuchet M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70C0"/>
                    </a:solidFill>
                  </a:tcPr>
                </a:tc>
                <a:tc vMerge="1">
                  <a:txBody>
                    <a:bodyPr/>
                    <a:lstStyle/>
                    <a:p>
                      <a:endParaRPr lang="en-US"/>
                    </a:p>
                  </a:txBody>
                  <a:tcPr/>
                </a:tc>
                <a:tc vMerge="1">
                  <a:txBody>
                    <a:bodyPr/>
                    <a:lstStyle/>
                    <a:p>
                      <a:endParaRPr lang="en-US"/>
                    </a:p>
                  </a:txBody>
                  <a:tcPr/>
                </a:tc>
                <a:tc rowSpan="2">
                  <a:txBody>
                    <a:bodyPr/>
                    <a:lstStyle/>
                    <a:p>
                      <a:pPr algn="ctr" fontAlgn="ctr"/>
                      <a:r>
                        <a:rPr lang="en-CA" sz="900" b="1" i="0" u="none" strike="noStrike">
                          <a:solidFill>
                            <a:srgbClr val="000000"/>
                          </a:solidFill>
                          <a:effectLst/>
                          <a:latin typeface="Trebuchet MS"/>
                        </a:rPr>
                        <a:t>29</a:t>
                      </a:r>
                      <a:endParaRPr lang="en-US" sz="900" b="1" i="0" u="none" strike="noStrike">
                        <a:solidFill>
                          <a:srgbClr val="000000"/>
                        </a:solidFill>
                        <a:effectLst/>
                        <a:latin typeface="Trebuchet M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rowSpan="2">
                  <a:txBody>
                    <a:bodyPr/>
                    <a:lstStyle/>
                    <a:p>
                      <a:pPr algn="l" fontAlgn="ctr"/>
                      <a:r>
                        <a:rPr lang="en-US" sz="900" b="0" i="0" u="none" strike="noStrike">
                          <a:solidFill>
                            <a:srgbClr val="000000"/>
                          </a:solidFill>
                          <a:effectLst/>
                          <a:latin typeface="Trebuchet MS"/>
                        </a:rPr>
                        <a:t>PRBs/INCs/Others</a:t>
                      </a:r>
                    </a:p>
                  </a:txBody>
                  <a:tcPr marL="114300" marR="9525" marT="9525" marB="0" anchor="ctr">
                    <a:lnL>
                      <a:noFill/>
                    </a:lnL>
                    <a:lnR w="9525"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9864797"/>
                  </a:ext>
                </a:extLst>
              </a:tr>
              <a:tr h="0">
                <a:tc vMerge="1">
                  <a:txBody>
                    <a:bodyPr/>
                    <a:lstStyle/>
                    <a:p>
                      <a:pPr algn="r" fontAlgn="ctr"/>
                      <a:endParaRPr lang="en-US" sz="1000" b="1" i="0" u="none" strike="noStrike">
                        <a:solidFill>
                          <a:srgbClr val="000000"/>
                        </a:solidFill>
                        <a:effectLst/>
                        <a:latin typeface="Trebuchet MS"/>
                      </a:endParaRPr>
                    </a:p>
                  </a:txBody>
                  <a:tcPr marL="9525" marR="9525" marT="9525"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G</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G</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G</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R</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anchor="ctr">
                    <a:lnL>
                      <a:noFill/>
                    </a:lnL>
                    <a:lnR>
                      <a:noFill/>
                    </a:lnR>
                    <a:lnT>
                      <a:noFill/>
                    </a:lnT>
                    <a:lnB w="6350" cap="flat" cmpd="sng" algn="ctr">
                      <a:solidFill>
                        <a:srgbClr val="000000"/>
                      </a:solidFill>
                      <a:prstDash val="solid"/>
                      <a:round/>
                      <a:headEnd type="none" w="med" len="med"/>
                      <a:tailEnd type="none" w="med" len="med"/>
                    </a:lnB>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70C0"/>
                    </a:solidFill>
                  </a:tcPr>
                </a:tc>
                <a:tc vMerge="1">
                  <a:txBody>
                    <a:bodyPr/>
                    <a:lstStyle/>
                    <a:p>
                      <a:pPr algn="ctr" fontAlgn="ctr"/>
                      <a:endParaRPr lang="en-US" sz="1000" b="1" i="0" u="none" strike="noStrike">
                        <a:solidFill>
                          <a:srgbClr val="000000"/>
                        </a:solidFill>
                        <a:effectLst/>
                        <a:latin typeface="Trebuchet MS"/>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00" b="1" i="0" u="none" strike="noStrike">
                        <a:solidFill>
                          <a:srgbClr val="C00000"/>
                        </a:solidFill>
                        <a:effectLst/>
                        <a:latin typeface="Trebuchet MS"/>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900" b="1" i="0" u="none" strike="noStrike">
                        <a:solidFill>
                          <a:srgbClr val="000000"/>
                        </a:solidFill>
                        <a:effectLst/>
                        <a:latin typeface="Trebuchet MS"/>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ctr"/>
                      <a:endParaRPr lang="en-US" sz="900" b="0" i="0" u="none" strike="noStrike">
                        <a:solidFill>
                          <a:srgbClr val="000000"/>
                        </a:solidFill>
                        <a:effectLst/>
                        <a:latin typeface="Trebuchet MS"/>
                      </a:endParaRPr>
                    </a:p>
                  </a:txBody>
                  <a:tcPr marL="114300" marR="9525" marT="9525" marB="0"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1785214"/>
                  </a:ext>
                </a:extLst>
              </a:tr>
              <a:tr h="0">
                <a:tc rowSpan="2">
                  <a:txBody>
                    <a:bodyPr/>
                    <a:lstStyle/>
                    <a:p>
                      <a:pPr algn="r" fontAlgn="ctr"/>
                      <a:r>
                        <a:rPr lang="en-US" sz="1000" b="1" i="0" u="none" strike="noStrike">
                          <a:solidFill>
                            <a:srgbClr val="000000"/>
                          </a:solidFill>
                          <a:effectLst/>
                          <a:latin typeface="Trebuchet MS"/>
                        </a:rPr>
                        <a:t>Apps:</a:t>
                      </a:r>
                    </a:p>
                  </a:txBody>
                  <a:tcPr marL="9525" marR="9525" marT="9525"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rowSpan="2">
                  <a:txBody>
                    <a:bodyPr/>
                    <a:lstStyle/>
                    <a:p>
                      <a:pPr algn="ctr" fontAlgn="ctr"/>
                      <a:r>
                        <a:rPr lang="en-CA" sz="1000" b="1" i="0" u="none" strike="noStrike">
                          <a:solidFill>
                            <a:srgbClr val="C00000"/>
                          </a:solidFill>
                          <a:effectLst/>
                          <a:latin typeface="Trebuchet MS"/>
                        </a:rPr>
                        <a:t>32</a:t>
                      </a:r>
                      <a:endParaRPr lang="en-US" sz="1000" b="1" i="0" u="none" strike="noStrike">
                        <a:solidFill>
                          <a:srgbClr val="C00000"/>
                        </a:solidFill>
                        <a:effectLst/>
                        <a:latin typeface="Trebuchet MS"/>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mj-lt"/>
                        </a:rPr>
                        <a:t>26</a:t>
                      </a:r>
                      <a:endParaRPr lang="en-US" sz="900" b="1" i="0" u="none" strike="noStrike">
                        <a:solidFill>
                          <a:srgbClr val="000000"/>
                        </a:solidFill>
                        <a:effectLst/>
                        <a:latin typeface="+mj-lt"/>
                      </a:endParaRPr>
                    </a:p>
                  </a:txBody>
                  <a:tcPr marL="9525" marR="9525" marT="27432" marB="27432" anchor="ctr">
                    <a:lnL>
                      <a:noFill/>
                    </a:lnL>
                    <a:lnR>
                      <a:noFill/>
                    </a:lnR>
                    <a:lnT w="6350" cap="flat" cmpd="sng" algn="ctr">
                      <a:solidFill>
                        <a:srgbClr val="000000"/>
                      </a:solidFill>
                      <a:prstDash val="solid"/>
                      <a:round/>
                      <a:headEnd type="none" w="med" len="med"/>
                      <a:tailEnd type="none" w="med" len="med"/>
                    </a:lnT>
                    <a:lnB>
                      <a:noFill/>
                    </a:lnB>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j-lt"/>
                          <a:ea typeface="+mn-ea"/>
                          <a:cs typeface="+mn-cs"/>
                        </a:rPr>
                        <a:t>CBPT</a:t>
                      </a:r>
                    </a:p>
                  </a:txBody>
                  <a:tcPr marL="114300" marR="9525" marT="27432" marB="27432" anchor="ctr">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gridSpan="7">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fr-FR" sz="900" b="0" i="0" u="none" strike="noStrike">
                          <a:solidFill>
                            <a:srgbClr val="000000"/>
                          </a:solidFill>
                          <a:effectLst/>
                          <a:latin typeface="Trebuchet MS" panose="020B0603020202020204" pitchFamily="34" charset="0"/>
                        </a:rPr>
                        <a:t>AMS, CAAP, CI, CLASS, COLT, DDGS, DDGS API, DM, DM (PEGA), ECM, EDTS, ENVOY, Excalibur, FX, FirstLine.com, Forms Management, IMDS, LAS, LCMS, Lending API, PCA/SAV, RPE, STB, TABS, Target, mMortgage</a:t>
                      </a:r>
                    </a:p>
                  </a:txBody>
                  <a:tcPr marL="9525" marR="9525" marT="27432" marB="27432"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lnL w="9525" cap="flat" cmpd="sng" algn="ctr">
                      <a:solidFill>
                        <a:schemeClr val="tx1"/>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44036896"/>
                  </a:ext>
                </a:extLst>
              </a:tr>
              <a:tr h="190500">
                <a:tc vMerge="1">
                  <a:txBody>
                    <a:bodyPr/>
                    <a:lstStyle/>
                    <a:p>
                      <a:endParaRPr lang="en-US"/>
                    </a:p>
                  </a:txBody>
                  <a:tcPr/>
                </a:tc>
                <a:tc vMerge="1">
                  <a:txBody>
                    <a:bodyPr/>
                    <a:lstStyle/>
                    <a:p>
                      <a:endParaRPr lang="en-US"/>
                    </a:p>
                  </a:txBody>
                  <a:tcPr/>
                </a:tc>
                <a:tc>
                  <a:txBody>
                    <a:bodyPr/>
                    <a:lstStyle/>
                    <a:p>
                      <a:pPr algn="ctr" fontAlgn="ctr"/>
                      <a:r>
                        <a:rPr lang="en-CA" sz="900" b="1" i="0" u="none" strike="noStrike">
                          <a:solidFill>
                            <a:srgbClr val="000000"/>
                          </a:solidFill>
                          <a:effectLst/>
                          <a:latin typeface="Trebuchet MS"/>
                        </a:rPr>
                        <a:t>06</a:t>
                      </a:r>
                      <a:endParaRPr lang="en-US" sz="900" b="1" i="0" u="none" strike="noStrike">
                        <a:solidFill>
                          <a:srgbClr val="000000"/>
                        </a:solidFill>
                        <a:effectLst/>
                        <a:latin typeface="Trebuchet MS"/>
                      </a:endParaRPr>
                    </a:p>
                  </a:txBody>
                  <a:tcPr marL="9525" marR="9525" marT="9525" marB="0" anchor="ctr">
                    <a:lnL>
                      <a:noFill/>
                    </a:lnL>
                    <a:lnR>
                      <a:noFill/>
                    </a:lnR>
                    <a:lnT>
                      <a:noFill/>
                    </a:lnT>
                    <a:lnB w="9525" cap="flat" cmpd="sng" algn="ctr">
                      <a:solidFill>
                        <a:schemeClr val="tx1"/>
                      </a:solidFill>
                      <a:prstDash val="solid"/>
                      <a:round/>
                      <a:headEnd type="none" w="med" len="med"/>
                      <a:tailEnd type="none" w="med" len="med"/>
                    </a:lnB>
                  </a:tcPr>
                </a:tc>
                <a:tc gridSpan="2">
                  <a:txBody>
                    <a:bodyPr/>
                    <a:lstStyle/>
                    <a:p>
                      <a:pPr algn="l" fontAlgn="ctr"/>
                      <a:r>
                        <a:rPr lang="en-US" sz="900" b="0" i="0" u="none" strike="noStrike">
                          <a:solidFill>
                            <a:srgbClr val="000000"/>
                          </a:solidFill>
                          <a:effectLst/>
                          <a:latin typeface="Trebuchet MS"/>
                        </a:rPr>
                        <a:t>Non-CBPT</a:t>
                      </a:r>
                    </a:p>
                  </a:txBody>
                  <a:tcPr marL="114300" marR="9525" marT="9525" marB="0" anchor="ctr">
                    <a:lnL>
                      <a:noFill/>
                    </a:lnL>
                    <a:lnR>
                      <a:noFill/>
                    </a:lnR>
                    <a:lnT>
                      <a:noFill/>
                    </a:lnT>
                    <a:lnB w="9525" cap="flat" cmpd="sng" algn="ctr">
                      <a:solidFill>
                        <a:schemeClr val="tx1"/>
                      </a:solidFill>
                      <a:prstDash val="solid"/>
                      <a:round/>
                      <a:headEnd type="none" w="med" len="med"/>
                      <a:tailEnd type="none" w="med" len="med"/>
                    </a:lnB>
                  </a:tcPr>
                </a:tc>
                <a:tc hMerge="1">
                  <a:txBody>
                    <a:bodyPr/>
                    <a:lstStyle/>
                    <a:p>
                      <a:endParaRPr lang="en-US"/>
                    </a:p>
                  </a:txBody>
                  <a:tcPr/>
                </a:tc>
                <a:tc gridSpan="7">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CA" sz="900" b="0" i="0" u="none" strike="noStrike" kern="1200">
                          <a:solidFill>
                            <a:srgbClr val="000000"/>
                          </a:solidFill>
                          <a:effectLst/>
                          <a:latin typeface="Trebuchet MS" panose="020B0603020202020204" pitchFamily="34" charset="0"/>
                          <a:ea typeface="+mn-ea"/>
                          <a:cs typeface="+mn-cs"/>
                        </a:rPr>
                        <a:t>COMPASS-AIM, Client Messaging Alert Broker (CMAB), ECIF, EDH, SKP (Vendor), eBanking</a:t>
                      </a:r>
                      <a:endParaRPr lang="en-US" sz="900" b="0" i="0" u="none" strike="noStrike" kern="1200">
                        <a:solidFill>
                          <a:srgbClr val="000000"/>
                        </a:solidFill>
                        <a:effectLst/>
                        <a:latin typeface="Trebuchet MS" panose="020B0603020202020204" pitchFamily="34" charset="0"/>
                        <a:ea typeface="+mn-ea"/>
                        <a:cs typeface="+mn-cs"/>
                      </a:endParaRPr>
                    </a:p>
                  </a:txBody>
                  <a:tcPr marL="9525" marR="9525" marT="27432" marB="27432" anchor="ctr">
                    <a:lnL>
                      <a:noFill/>
                    </a:lnL>
                    <a:lnR w="9525" cap="flat" cmpd="sng" algn="ctr">
                      <a:solidFill>
                        <a:schemeClr val="tx1"/>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lnL w="9525"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51320110"/>
                  </a:ext>
                </a:extLst>
              </a:tr>
            </a:tbl>
          </a:graphicData>
        </a:graphic>
      </p:graphicFrame>
      <p:graphicFrame>
        <p:nvGraphicFramePr>
          <p:cNvPr id="10" name="Table 11">
            <a:extLst>
              <a:ext uri="{FF2B5EF4-FFF2-40B4-BE49-F238E27FC236}">
                <a16:creationId xmlns:a16="http://schemas.microsoft.com/office/drawing/2014/main" id="{9A62B027-6461-E88F-4C01-1BCB3358565A}"/>
              </a:ext>
            </a:extLst>
          </p:cNvPr>
          <p:cNvGraphicFramePr>
            <a:graphicFrameLocks noGrp="1"/>
          </p:cNvGraphicFramePr>
          <p:nvPr>
            <p:extLst>
              <p:ext uri="{D42A27DB-BD31-4B8C-83A1-F6EECF244321}">
                <p14:modId xmlns:p14="http://schemas.microsoft.com/office/powerpoint/2010/main" val="187253446"/>
              </p:ext>
            </p:extLst>
          </p:nvPr>
        </p:nvGraphicFramePr>
        <p:xfrm>
          <a:off x="2545235" y="162612"/>
          <a:ext cx="4364148" cy="447976"/>
        </p:xfrm>
        <a:graphic>
          <a:graphicData uri="http://schemas.openxmlformats.org/drawingml/2006/table">
            <a:tbl>
              <a:tblPr firstRow="1" bandRow="1">
                <a:tableStyleId>{5940675A-B579-460E-94D1-54222C63F5DA}</a:tableStyleId>
              </a:tblPr>
              <a:tblGrid>
                <a:gridCol w="1096244">
                  <a:extLst>
                    <a:ext uri="{9D8B030D-6E8A-4147-A177-3AD203B41FA5}">
                      <a16:colId xmlns:a16="http://schemas.microsoft.com/office/drawing/2014/main" val="3257902328"/>
                    </a:ext>
                  </a:extLst>
                </a:gridCol>
                <a:gridCol w="1486499">
                  <a:extLst>
                    <a:ext uri="{9D8B030D-6E8A-4147-A177-3AD203B41FA5}">
                      <a16:colId xmlns:a16="http://schemas.microsoft.com/office/drawing/2014/main" val="1228183955"/>
                    </a:ext>
                  </a:extLst>
                </a:gridCol>
                <a:gridCol w="1005840">
                  <a:extLst>
                    <a:ext uri="{9D8B030D-6E8A-4147-A177-3AD203B41FA5}">
                      <a16:colId xmlns:a16="http://schemas.microsoft.com/office/drawing/2014/main" val="3836033793"/>
                    </a:ext>
                  </a:extLst>
                </a:gridCol>
                <a:gridCol w="775565">
                  <a:extLst>
                    <a:ext uri="{9D8B030D-6E8A-4147-A177-3AD203B41FA5}">
                      <a16:colId xmlns:a16="http://schemas.microsoft.com/office/drawing/2014/main" val="744771580"/>
                    </a:ext>
                  </a:extLst>
                </a:gridCol>
              </a:tblGrid>
              <a:tr h="193161">
                <a:tc>
                  <a:txBody>
                    <a:bodyPr/>
                    <a:lstStyle/>
                    <a:p>
                      <a:pPr algn="l"/>
                      <a:r>
                        <a:rPr lang="en-CA" sz="800" b="1"/>
                        <a:t>Release Triage #:</a:t>
                      </a:r>
                      <a:endParaRPr lang="en-US" sz="800" b="1"/>
                    </a:p>
                  </a:txBody>
                  <a:tcPr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a:t>TR2025-PRG-038874</a:t>
                      </a:r>
                      <a:endParaRPr lang="en-CA" sz="800" b="0" kern="1200">
                        <a:solidFill>
                          <a:schemeClr val="tx1"/>
                        </a:solidFill>
                        <a:latin typeface="+mn-lt"/>
                        <a:ea typeface="+mn-ea"/>
                        <a:cs typeface="+mn-cs"/>
                      </a:endParaRPr>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800" b="1"/>
                        <a:t>SIT/UAT Env:</a:t>
                      </a:r>
                      <a:endParaRPr lang="en-US" sz="800" b="0"/>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800" b="0"/>
                        <a:t>PA/T4</a:t>
                      </a:r>
                      <a:endParaRPr lang="en-CA" sz="800">
                        <a:solidFill>
                          <a:schemeClr val="tx1"/>
                        </a:solidFill>
                        <a:latin typeface="+mn-lt"/>
                      </a:endParaRPr>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33048288"/>
                  </a:ext>
                </a:extLst>
              </a:tr>
              <a:tr h="234616">
                <a:tc>
                  <a:txBody>
                    <a:bodyPr/>
                    <a:lstStyle/>
                    <a:p>
                      <a:pPr algn="l"/>
                      <a:r>
                        <a:rPr lang="en-CA" sz="800" b="1"/>
                        <a:t>TO CIS / SRR #:</a:t>
                      </a:r>
                      <a:endParaRPr lang="en-US" sz="800" b="1"/>
                    </a:p>
                  </a:txBody>
                  <a:tcPr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TO2024002460/SR054019</a:t>
                      </a:r>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800" b="1">
                          <a:latin typeface="+mn-lt"/>
                        </a:rPr>
                        <a:t>Master Change #:</a:t>
                      </a:r>
                      <a:endParaRPr lang="en-CA" sz="800" b="0" i="0" u="none" strike="noStrike" noProof="0"/>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buNone/>
                      </a:pPr>
                      <a:r>
                        <a:rPr lang="en-US" sz="800"/>
                        <a:t>CHG1505987</a:t>
                      </a:r>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301497"/>
                  </a:ext>
                </a:extLst>
              </a:tr>
            </a:tbl>
          </a:graphicData>
        </a:graphic>
      </p:graphicFrame>
      <p:graphicFrame>
        <p:nvGraphicFramePr>
          <p:cNvPr id="2" name="Table 1">
            <a:extLst>
              <a:ext uri="{FF2B5EF4-FFF2-40B4-BE49-F238E27FC236}">
                <a16:creationId xmlns:a16="http://schemas.microsoft.com/office/drawing/2014/main" id="{EE0A7C36-7944-1AF3-A8D2-7839D15470E0}"/>
              </a:ext>
            </a:extLst>
          </p:cNvPr>
          <p:cNvGraphicFramePr>
            <a:graphicFrameLocks noGrp="1"/>
          </p:cNvGraphicFramePr>
          <p:nvPr>
            <p:extLst>
              <p:ext uri="{D42A27DB-BD31-4B8C-83A1-F6EECF244321}">
                <p14:modId xmlns:p14="http://schemas.microsoft.com/office/powerpoint/2010/main" val="1573487171"/>
              </p:ext>
            </p:extLst>
          </p:nvPr>
        </p:nvGraphicFramePr>
        <p:xfrm>
          <a:off x="6499473" y="3199830"/>
          <a:ext cx="5234250" cy="3170522"/>
        </p:xfrm>
        <a:graphic>
          <a:graphicData uri="http://schemas.openxmlformats.org/drawingml/2006/table">
            <a:tbl>
              <a:tblPr firstRow="1" bandRow="1">
                <a:tableStyleId>{5940675A-B579-460E-94D1-54222C63F5DA}</a:tableStyleId>
              </a:tblPr>
              <a:tblGrid>
                <a:gridCol w="1101642">
                  <a:extLst>
                    <a:ext uri="{9D8B030D-6E8A-4147-A177-3AD203B41FA5}">
                      <a16:colId xmlns:a16="http://schemas.microsoft.com/office/drawing/2014/main" val="2121319596"/>
                    </a:ext>
                  </a:extLst>
                </a:gridCol>
                <a:gridCol w="459018">
                  <a:extLst>
                    <a:ext uri="{9D8B030D-6E8A-4147-A177-3AD203B41FA5}">
                      <a16:colId xmlns:a16="http://schemas.microsoft.com/office/drawing/2014/main" val="3594431399"/>
                    </a:ext>
                  </a:extLst>
                </a:gridCol>
                <a:gridCol w="785378">
                  <a:extLst>
                    <a:ext uri="{9D8B030D-6E8A-4147-A177-3AD203B41FA5}">
                      <a16:colId xmlns:a16="http://schemas.microsoft.com/office/drawing/2014/main" val="3841007314"/>
                    </a:ext>
                  </a:extLst>
                </a:gridCol>
                <a:gridCol w="785091">
                  <a:extLst>
                    <a:ext uri="{9D8B030D-6E8A-4147-A177-3AD203B41FA5}">
                      <a16:colId xmlns:a16="http://schemas.microsoft.com/office/drawing/2014/main" val="3593483485"/>
                    </a:ext>
                  </a:extLst>
                </a:gridCol>
                <a:gridCol w="2103121">
                  <a:extLst>
                    <a:ext uri="{9D8B030D-6E8A-4147-A177-3AD203B41FA5}">
                      <a16:colId xmlns:a16="http://schemas.microsoft.com/office/drawing/2014/main" val="3792836139"/>
                    </a:ext>
                  </a:extLst>
                </a:gridCol>
              </a:tblGrid>
              <a:tr h="0">
                <a:tc gridSpan="5">
                  <a:txBody>
                    <a:bodyPr/>
                    <a:lstStyle/>
                    <a:p>
                      <a:pPr algn="ctr"/>
                      <a:r>
                        <a:rPr lang="en-CA" sz="800" b="1">
                          <a:solidFill>
                            <a:schemeClr val="bg1"/>
                          </a:solidFill>
                        </a:rPr>
                        <a:t>QA</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pPr algn="ctr"/>
                      <a:endParaRPr lang="en-US" sz="1000"/>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579959654"/>
                  </a:ext>
                </a:extLst>
              </a:tr>
              <a:tr h="226683">
                <a:tc>
                  <a:txBody>
                    <a:bodyPr/>
                    <a:lstStyle/>
                    <a:p>
                      <a:r>
                        <a:rPr lang="en-CA" sz="800">
                          <a:solidFill>
                            <a:schemeClr val="tx1"/>
                          </a:solidFill>
                        </a:rPr>
                        <a:t>SIT</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Y</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800" kern="1200">
                          <a:solidFill>
                            <a:schemeClr val="tx1"/>
                          </a:solidFill>
                          <a:latin typeface="+mn-lt"/>
                          <a:ea typeface="+mn-ea"/>
                          <a:cs typeface="+mn-cs"/>
                        </a:rPr>
                        <a:t>Aug 04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latinLnBrk="0" hangingPunct="1">
                        <a:lnSpc>
                          <a:spcPct val="100000"/>
                        </a:lnSpc>
                        <a:spcBef>
                          <a:spcPts val="0"/>
                        </a:spcBef>
                        <a:spcAft>
                          <a:spcPts val="0"/>
                        </a:spcAft>
                        <a:buNone/>
                      </a:pPr>
                      <a:r>
                        <a:rPr lang="en-CA" sz="800" kern="1200">
                          <a:solidFill>
                            <a:schemeClr val="tx1"/>
                          </a:solidFill>
                          <a:latin typeface="+mn-lt"/>
                          <a:ea typeface="+mn-ea"/>
                          <a:cs typeface="+mn-cs"/>
                        </a:rPr>
                        <a:t>Oct 17</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80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5940101"/>
                  </a:ext>
                </a:extLst>
              </a:tr>
              <a:tr h="0">
                <a:tc>
                  <a:txBody>
                    <a:bodyPr/>
                    <a:lstStyle/>
                    <a:p>
                      <a:r>
                        <a:rPr lang="en-CA" sz="800">
                          <a:solidFill>
                            <a:schemeClr val="tx1"/>
                          </a:solidFill>
                        </a:rPr>
                        <a:t>UAT</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R</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800" kern="1200">
                          <a:solidFill>
                            <a:schemeClr val="tx1"/>
                          </a:solidFill>
                          <a:latin typeface="+mn-lt"/>
                          <a:ea typeface="+mn-ea"/>
                          <a:cs typeface="+mn-cs"/>
                        </a:rPr>
                        <a:t>Sep 22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07</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0141708"/>
                  </a:ext>
                </a:extLst>
              </a:tr>
              <a:tr h="215434">
                <a:tc>
                  <a:txBody>
                    <a:bodyPr/>
                    <a:lstStyle/>
                    <a:p>
                      <a:r>
                        <a:rPr lang="en-CA" sz="800">
                          <a:solidFill>
                            <a:schemeClr val="tx1"/>
                          </a:solidFill>
                        </a:rPr>
                        <a:t>PAT</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Oct 13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07</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3585334"/>
                  </a:ext>
                </a:extLst>
              </a:tr>
              <a:tr h="0">
                <a:tc>
                  <a:txBody>
                    <a:bodyPr/>
                    <a:lstStyle/>
                    <a:p>
                      <a:r>
                        <a:rPr lang="en-CA" sz="800">
                          <a:solidFill>
                            <a:schemeClr val="tx1"/>
                          </a:solidFill>
                        </a:rPr>
                        <a:t>CAAP PTE</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kern="1200">
                          <a:solidFill>
                            <a:schemeClr val="tx1"/>
                          </a:solidFill>
                          <a:latin typeface="+mn-lt"/>
                          <a:ea typeface="+mn-ea"/>
                          <a:cs typeface="+mn-cs"/>
                        </a:rPr>
                        <a:t>N/A</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kern="1200">
                          <a:solidFill>
                            <a:schemeClr val="tx1"/>
                          </a:solidFill>
                          <a:latin typeface="+mn-lt"/>
                          <a:ea typeface="+mn-ea"/>
                          <a:cs typeface="+mn-cs"/>
                        </a:rPr>
                        <a:t>N/A</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schemeClr val="tx1"/>
                          </a:solidFill>
                          <a:effectLst/>
                          <a:uLnTx/>
                          <a:uFillTx/>
                          <a:latin typeface="Trebuchet MS"/>
                          <a:ea typeface="+mn-ea"/>
                          <a:cs typeface="+mn-cs"/>
                        </a:rPr>
                        <a:t>No projects are making changes to CAAP</a:t>
                      </a:r>
                      <a:endParaRPr kumimoji="0" lang="en-US" sz="80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0838069"/>
                  </a:ext>
                </a:extLst>
              </a:tr>
              <a:tr h="206275">
                <a:tc>
                  <a:txBody>
                    <a:bodyPr/>
                    <a:lstStyle/>
                    <a:p>
                      <a:r>
                        <a:rPr lang="en-CA" sz="800">
                          <a:solidFill>
                            <a:schemeClr val="tx1"/>
                          </a:solidFill>
                        </a:rPr>
                        <a:t>PIV Planning</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Oct 13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422300"/>
                  </a:ext>
                </a:extLst>
              </a:tr>
              <a:tr h="0">
                <a:tc>
                  <a:txBody>
                    <a:bodyPr/>
                    <a:lstStyle/>
                    <a:p>
                      <a:r>
                        <a:rPr kumimoji="0" lang="en-CA" sz="800" b="0" i="0" u="none" strike="noStrike" kern="1200" cap="none" spc="0" normalizeH="0" baseline="0">
                          <a:ln>
                            <a:noFill/>
                          </a:ln>
                          <a:solidFill>
                            <a:schemeClr val="tx1"/>
                          </a:solidFill>
                          <a:effectLst/>
                          <a:uLnTx/>
                          <a:uFillTx/>
                          <a:latin typeface="Trebuchet MS"/>
                          <a:ea typeface="+mn-ea"/>
                          <a:cs typeface="+mn-cs"/>
                        </a:rPr>
                        <a:t>CBPT Reg.</a:t>
                      </a:r>
                      <a:endParaRPr kumimoji="0" lang="en-US" sz="800" b="0" i="0" u="none" strike="noStrike" kern="1200" cap="none" spc="0" normalizeH="0" baseline="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Oct 06</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591194"/>
                  </a:ext>
                </a:extLst>
              </a:tr>
              <a:tr h="229202">
                <a:tc>
                  <a:txBody>
                    <a:bodyPr/>
                    <a:lstStyle/>
                    <a:p>
                      <a:r>
                        <a:rPr lang="en-CA" sz="800">
                          <a:solidFill>
                            <a:schemeClr val="tx1"/>
                          </a:solidFill>
                        </a:rPr>
                        <a:t>COMPASS Reg.</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Oct 27</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07</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01694"/>
                  </a:ext>
                </a:extLst>
              </a:tr>
              <a:tr h="0">
                <a:tc>
                  <a:txBody>
                    <a:bodyPr/>
                    <a:lstStyle/>
                    <a:p>
                      <a:r>
                        <a:rPr lang="en-CA" sz="800">
                          <a:solidFill>
                            <a:schemeClr val="tx1"/>
                          </a:solidFill>
                        </a:rPr>
                        <a:t>FNF Reg.</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Oct 13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Oct 31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6745038"/>
                  </a:ext>
                </a:extLst>
              </a:tr>
              <a:tr h="0">
                <a:tc>
                  <a:txBody>
                    <a:bodyPr/>
                    <a:lstStyle/>
                    <a:p>
                      <a:r>
                        <a:rPr lang="en-CA" sz="800">
                          <a:solidFill>
                            <a:schemeClr val="tx1"/>
                          </a:solidFill>
                        </a:rPr>
                        <a:t>B/O Testing</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Nov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8927080"/>
                  </a:ext>
                </a:extLst>
              </a:tr>
              <a:tr h="0">
                <a:tc gridSpan="5">
                  <a:txBody>
                    <a:bodyPr/>
                    <a:lstStyle/>
                    <a:p>
                      <a:pPr algn="ctr"/>
                      <a:r>
                        <a:rPr lang="en-CA" sz="800" b="1">
                          <a:solidFill>
                            <a:schemeClr val="bg1"/>
                          </a:solidFill>
                        </a:rPr>
                        <a:t>PMO</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pPr algn="ctr"/>
                      <a:endParaRPr lang="en-US" sz="1000" b="1"/>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10009090"/>
                  </a:ext>
                </a:extLst>
              </a:tr>
              <a:tr h="0">
                <a:tc>
                  <a:txBody>
                    <a:bodyPr/>
                    <a:lstStyle/>
                    <a:p>
                      <a:r>
                        <a:rPr lang="en-CA" sz="800">
                          <a:solidFill>
                            <a:schemeClr val="tx1"/>
                          </a:solidFill>
                        </a:rPr>
                        <a:t>Triages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white"/>
                          </a:solidFill>
                          <a:effectLst/>
                          <a:uLnTx/>
                          <a:uFillTx/>
                          <a:latin typeface="Trebuchet MS"/>
                          <a:ea typeface="+mn-ea"/>
                          <a:cs typeface="+mn-cs"/>
                        </a:rPr>
                        <a:t>G</a:t>
                      </a:r>
                      <a:endParaRPr kumimoji="0" lang="en-US" sz="900" b="1" i="0" u="none" strike="noStrike" kern="1200" cap="none" spc="0" normalizeH="0" baseline="0" noProof="0">
                        <a:ln>
                          <a:noFill/>
                        </a:ln>
                        <a:solidFill>
                          <a:prstClr val="white"/>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800" kern="1200">
                          <a:solidFill>
                            <a:schemeClr val="tx1"/>
                          </a:solidFill>
                          <a:latin typeface="+mn-lt"/>
                          <a:ea typeface="+mn-ea"/>
                          <a:cs typeface="+mn-cs"/>
                        </a:rPr>
                        <a:t>Sep 16</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5717354"/>
                  </a:ext>
                </a:extLst>
              </a:tr>
              <a:tr h="0">
                <a:tc>
                  <a:txBody>
                    <a:bodyPr/>
                    <a:lstStyle/>
                    <a:p>
                      <a:r>
                        <a:rPr lang="en-CA" sz="800">
                          <a:solidFill>
                            <a:schemeClr val="tx1"/>
                          </a:solidFill>
                        </a:rPr>
                        <a:t>CIRA</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white"/>
                          </a:solidFill>
                          <a:effectLst/>
                          <a:uLnTx/>
                          <a:uFillTx/>
                          <a:latin typeface="Trebuchet MS"/>
                          <a:ea typeface="+mn-ea"/>
                          <a:cs typeface="+mn-cs"/>
                        </a:rPr>
                        <a:t>G</a:t>
                      </a:r>
                      <a:endParaRPr kumimoji="0" lang="en-US" sz="900" b="1" i="0" u="none" strike="noStrike" kern="1200" cap="none" spc="0" normalizeH="0" baseline="0" noProof="0">
                        <a:ln>
                          <a:noFill/>
                        </a:ln>
                        <a:solidFill>
                          <a:prstClr val="white"/>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800" kern="1200">
                          <a:solidFill>
                            <a:schemeClr val="tx1"/>
                          </a:solidFill>
                          <a:latin typeface="+mn-lt"/>
                          <a:ea typeface="+mn-ea"/>
                          <a:cs typeface="+mn-cs"/>
                        </a:rPr>
                        <a:t>Sep 16</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800" b="0" i="0" u="none" strike="noStrike">
                        <a:solidFill>
                          <a:srgbClr val="000000"/>
                        </a:solidFill>
                        <a:effectLst/>
                        <a:latin typeface="Trebuchet MS" panose="020B0603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0183541"/>
                  </a:ext>
                </a:extLst>
              </a:tr>
              <a:tr h="0">
                <a:tc>
                  <a:txBody>
                    <a:bodyPr/>
                    <a:lstStyle/>
                    <a:p>
                      <a:r>
                        <a:rPr lang="en-CA" sz="800">
                          <a:solidFill>
                            <a:schemeClr val="tx1"/>
                          </a:solidFill>
                        </a:rPr>
                        <a:t>Gating</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white"/>
                          </a:solidFill>
                          <a:effectLst/>
                          <a:uLnTx/>
                          <a:uFillTx/>
                          <a:latin typeface="Trebuchet MS"/>
                          <a:ea typeface="+mn-ea"/>
                          <a:cs typeface="+mn-cs"/>
                        </a:rPr>
                        <a:t>G</a:t>
                      </a:r>
                      <a:endParaRPr kumimoji="0" lang="en-US" sz="900" b="1" i="0" u="none" strike="noStrike" kern="1200" cap="none" spc="0" normalizeH="0" baseline="0" noProof="0">
                        <a:ln>
                          <a:noFill/>
                        </a:ln>
                        <a:solidFill>
                          <a:prstClr val="white"/>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800" kern="1200">
                          <a:solidFill>
                            <a:schemeClr val="tx1"/>
                          </a:solidFill>
                          <a:latin typeface="+mn-lt"/>
                          <a:ea typeface="+mn-ea"/>
                          <a:cs typeface="+mn-cs"/>
                        </a:rPr>
                        <a:t>Sep 16</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Nov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80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3337473"/>
                  </a:ext>
                </a:extLst>
              </a:tr>
            </a:tbl>
          </a:graphicData>
        </a:graphic>
      </p:graphicFrame>
      <p:graphicFrame>
        <p:nvGraphicFramePr>
          <p:cNvPr id="5" name="Table 4">
            <a:extLst>
              <a:ext uri="{FF2B5EF4-FFF2-40B4-BE49-F238E27FC236}">
                <a16:creationId xmlns:a16="http://schemas.microsoft.com/office/drawing/2014/main" id="{3207F390-0155-B71D-E3BE-0589DF61EB82}"/>
              </a:ext>
            </a:extLst>
          </p:cNvPr>
          <p:cNvGraphicFramePr>
            <a:graphicFrameLocks noGrp="1"/>
          </p:cNvGraphicFramePr>
          <p:nvPr>
            <p:extLst>
              <p:ext uri="{D42A27DB-BD31-4B8C-83A1-F6EECF244321}">
                <p14:modId xmlns:p14="http://schemas.microsoft.com/office/powerpoint/2010/main" val="1926604073"/>
              </p:ext>
            </p:extLst>
          </p:nvPr>
        </p:nvGraphicFramePr>
        <p:xfrm>
          <a:off x="216656" y="3429000"/>
          <a:ext cx="5959058" cy="1848157"/>
        </p:xfrm>
        <a:graphic>
          <a:graphicData uri="http://schemas.openxmlformats.org/drawingml/2006/table">
            <a:tbl>
              <a:tblPr firstRow="1" bandRow="1">
                <a:tableStyleId>{5940675A-B579-460E-94D1-54222C63F5DA}</a:tableStyleId>
              </a:tblPr>
              <a:tblGrid>
                <a:gridCol w="630135">
                  <a:extLst>
                    <a:ext uri="{9D8B030D-6E8A-4147-A177-3AD203B41FA5}">
                      <a16:colId xmlns:a16="http://schemas.microsoft.com/office/drawing/2014/main" val="3502640996"/>
                    </a:ext>
                  </a:extLst>
                </a:gridCol>
                <a:gridCol w="624253">
                  <a:extLst>
                    <a:ext uri="{9D8B030D-6E8A-4147-A177-3AD203B41FA5}">
                      <a16:colId xmlns:a16="http://schemas.microsoft.com/office/drawing/2014/main" val="2734795740"/>
                    </a:ext>
                  </a:extLst>
                </a:gridCol>
                <a:gridCol w="4704670">
                  <a:extLst>
                    <a:ext uri="{9D8B030D-6E8A-4147-A177-3AD203B41FA5}">
                      <a16:colId xmlns:a16="http://schemas.microsoft.com/office/drawing/2014/main" val="2401932686"/>
                    </a:ext>
                  </a:extLst>
                </a:gridCol>
              </a:tblGrid>
              <a:tr h="217912">
                <a:tc>
                  <a:txBody>
                    <a:bodyPr/>
                    <a:lstStyle/>
                    <a:p>
                      <a:pPr algn="ctr"/>
                      <a:r>
                        <a:rPr lang="en-CA" sz="900" b="1">
                          <a:latin typeface="+mj-lt"/>
                          <a:cs typeface="Arial" panose="020B0604020202020204" pitchFamily="34" charset="0"/>
                        </a:rPr>
                        <a:t>Status</a:t>
                      </a:r>
                      <a:endParaRPr lang="en-US" sz="900" b="1">
                        <a:latin typeface="+mj-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900" b="1">
                          <a:latin typeface="+mj-lt"/>
                          <a:cs typeface="Arial" panose="020B0604020202020204" pitchFamily="34" charset="0"/>
                        </a:rPr>
                        <a:t>Phase</a:t>
                      </a:r>
                      <a:endParaRPr lang="en-US" sz="900" b="1">
                        <a:latin typeface="+mj-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900" b="1">
                          <a:latin typeface="+mj-lt"/>
                          <a:cs typeface="Arial" panose="020B0604020202020204" pitchFamily="34" charset="0"/>
                        </a:rPr>
                        <a:t> Item</a:t>
                      </a:r>
                      <a:endParaRPr lang="en-US" sz="900" b="1">
                        <a:latin typeface="+mj-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19580"/>
                  </a:ext>
                </a:extLst>
              </a:tr>
              <a:tr h="740901">
                <a:tc>
                  <a:txBody>
                    <a:bodyPr/>
                    <a:lstStyle/>
                    <a:p>
                      <a:pPr algn="ctr"/>
                      <a:r>
                        <a:rPr lang="en-CA" sz="900" b="1">
                          <a:solidFill>
                            <a:schemeClr val="bg1"/>
                          </a:solidFill>
                          <a:latin typeface="+mj-lt"/>
                          <a:cs typeface="Arial" panose="020B0604020202020204" pitchFamily="34" charset="0"/>
                        </a:rPr>
                        <a:t>R</a:t>
                      </a:r>
                      <a:endParaRPr lang="en-US" sz="900" b="1">
                        <a:solidFill>
                          <a:schemeClr val="bg1"/>
                        </a:solidFill>
                        <a:latin typeface="+mj-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CA" sz="900" b="1">
                          <a:latin typeface="+mj-lt"/>
                          <a:cs typeface="Arial" panose="020B0604020202020204" pitchFamily="34" charset="0"/>
                        </a:rPr>
                        <a:t>UAT</a:t>
                      </a:r>
                      <a:endParaRPr lang="en-US" sz="900" b="1">
                        <a:latin typeface="+mj-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900" b="1" i="0" u="none" strike="noStrike" kern="1200" noProof="0">
                          <a:solidFill>
                            <a:srgbClr val="000000"/>
                          </a:solidFill>
                          <a:effectLst/>
                          <a:latin typeface="+mj-lt"/>
                          <a:ea typeface="+mn-ea"/>
                          <a:cs typeface="+mn-cs"/>
                        </a:rPr>
                        <a:t>3517|Property Insurance Cancellation: </a:t>
                      </a:r>
                      <a:r>
                        <a:rPr lang="en-CA" sz="900">
                          <a:effectLst/>
                        </a:rPr>
                        <a:t>Red due to unresolved defects, SIT delays, and eight solution gaps missed during internal testing. Key issues include data mismatches, incorrect date formats, and pending updates, with revised SIT end dates set for dependent Lending BI to Oct 13. The go-to-green plan focuses on completing one full end-to-end data flow and QA risk assessment.</a:t>
                      </a:r>
                      <a:endParaRPr lang="en-CA" sz="900" b="0" i="0" u="none" strike="noStrike" kern="1200" noProof="0">
                        <a:solidFill>
                          <a:srgbClr val="000000"/>
                        </a:solidFill>
                        <a:effectLst/>
                        <a:latin typeface="+mj-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4611915"/>
                  </a:ext>
                </a:extLst>
              </a:tr>
              <a:tr h="842317">
                <a:tc>
                  <a:txBody>
                    <a:bodyPr/>
                    <a:lstStyle/>
                    <a:p>
                      <a:pPr algn="ctr"/>
                      <a:r>
                        <a:rPr lang="en-CA" sz="900" b="1">
                          <a:solidFill>
                            <a:schemeClr val="tx1"/>
                          </a:solidFill>
                          <a:latin typeface="+mj-lt"/>
                          <a:cs typeface="Arial" panose="020B0604020202020204" pitchFamily="34" charset="0"/>
                        </a:rPr>
                        <a:t>Y</a:t>
                      </a:r>
                      <a:endParaRPr lang="en-US" sz="900" b="1">
                        <a:solidFill>
                          <a:schemeClr val="tx1"/>
                        </a:solidFill>
                        <a:latin typeface="+mj-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CA" sz="900" b="1">
                          <a:latin typeface="+mj-lt"/>
                          <a:cs typeface="Arial" panose="020B0604020202020204" pitchFamily="34" charset="0"/>
                        </a:rPr>
                        <a:t>SIT</a:t>
                      </a:r>
                      <a:endParaRPr lang="en-US" sz="900" b="1">
                        <a:latin typeface="+mj-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900" b="1" i="0" u="none" strike="noStrike" kern="1200" noProof="0">
                          <a:solidFill>
                            <a:srgbClr val="000000"/>
                          </a:solidFill>
                          <a:effectLst/>
                          <a:latin typeface="+mn-lt"/>
                          <a:ea typeface="+mn-ea"/>
                          <a:cs typeface="+mn-cs"/>
                        </a:rPr>
                        <a:t>3517|Property Insurance Cancellation: </a:t>
                      </a:r>
                      <a:r>
                        <a:rPr lang="en-CA" sz="900" b="0" i="0" u="none" strike="noStrike" kern="1200" noProof="0">
                          <a:solidFill>
                            <a:srgbClr val="000000"/>
                          </a:solidFill>
                          <a:effectLst/>
                          <a:latin typeface="+mn-lt"/>
                          <a:ea typeface="+mn-ea"/>
                          <a:cs typeface="+mn-cs"/>
                        </a:rPr>
                        <a:t>Yellow as extraction issues have been addressed but need better accuracy; updated fixes to be addressed by AD and will be deployed by Oct 09. Testing to be performed after deployment.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900" b="1" i="0" u="none" strike="noStrike" kern="1200" noProof="0">
                          <a:solidFill>
                            <a:srgbClr val="000000"/>
                          </a:solidFill>
                          <a:effectLst/>
                          <a:latin typeface="+mn-lt"/>
                          <a:ea typeface="+mn-ea"/>
                          <a:cs typeface="+mn-cs"/>
                        </a:rPr>
                        <a:t>4149|NSOD Forms Update: </a:t>
                      </a:r>
                      <a:r>
                        <a:rPr lang="en-CA" sz="900" b="0" i="0" u="none" strike="noStrike" kern="1200" noProof="0">
                          <a:solidFill>
                            <a:srgbClr val="000000"/>
                          </a:solidFill>
                          <a:effectLst/>
                          <a:latin typeface="+mn-lt"/>
                          <a:ea typeface="+mn-ea"/>
                          <a:cs typeface="+mn-cs"/>
                        </a:rPr>
                        <a:t>Yellow as Envoy UI issue has been resolved and SIT code to be deployed Oct 10, and end-to-end retesting on Oct 13.</a:t>
                      </a:r>
                      <a:endParaRPr lang="en-CA" sz="900" b="1" i="0" u="none" strike="noStrike" kern="1200" noProof="0">
                        <a:solidFill>
                          <a:srgbClr val="000000"/>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1011826"/>
                  </a:ext>
                </a:extLst>
              </a:tr>
            </a:tbl>
          </a:graphicData>
        </a:graphic>
      </p:graphicFrame>
    </p:spTree>
    <p:extLst>
      <p:ext uri="{BB962C8B-B14F-4D97-AF65-F5344CB8AC3E}">
        <p14:creationId xmlns:p14="http://schemas.microsoft.com/office/powerpoint/2010/main" val="2105159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ECE70-363F-A561-7E3D-D2404F73B51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04F60AE-6E30-AC33-CC14-5431CC326D02}"/>
              </a:ext>
            </a:extLst>
          </p:cNvPr>
          <p:cNvSpPr>
            <a:spLocks noGrp="1"/>
          </p:cNvSpPr>
          <p:nvPr>
            <p:ph type="title"/>
          </p:nvPr>
        </p:nvSpPr>
        <p:spPr>
          <a:xfrm>
            <a:off x="297180" y="219075"/>
            <a:ext cx="10933748" cy="581983"/>
          </a:xfrm>
        </p:spPr>
        <p:txBody>
          <a:bodyPr/>
          <a:lstStyle/>
          <a:p>
            <a:r>
              <a:rPr lang="en-CA" sz="2800"/>
              <a:t>November 16</a:t>
            </a:r>
            <a:r>
              <a:rPr lang="en-CA" sz="2800" baseline="30000"/>
              <a:t>th</a:t>
            </a:r>
            <a:r>
              <a:rPr lang="en-CA" sz="2800"/>
              <a:t> Release Scope</a:t>
            </a:r>
            <a:endParaRPr lang="en-US" sz="2800"/>
          </a:p>
        </p:txBody>
      </p:sp>
      <p:graphicFrame>
        <p:nvGraphicFramePr>
          <p:cNvPr id="13" name="Table 2">
            <a:extLst>
              <a:ext uri="{FF2B5EF4-FFF2-40B4-BE49-F238E27FC236}">
                <a16:creationId xmlns:a16="http://schemas.microsoft.com/office/drawing/2014/main" id="{10306869-969D-0EF7-7E20-381784AFBE12}"/>
              </a:ext>
            </a:extLst>
          </p:cNvPr>
          <p:cNvGraphicFramePr>
            <a:graphicFrameLocks noGrp="1"/>
          </p:cNvGraphicFramePr>
          <p:nvPr/>
        </p:nvGraphicFramePr>
        <p:xfrm>
          <a:off x="6948023" y="219075"/>
          <a:ext cx="4588193" cy="182880"/>
        </p:xfrm>
        <a:graphic>
          <a:graphicData uri="http://schemas.openxmlformats.org/drawingml/2006/table">
            <a:tbl>
              <a:tblPr firstRow="1" bandRow="1"/>
              <a:tblGrid>
                <a:gridCol w="208280">
                  <a:extLst>
                    <a:ext uri="{9D8B030D-6E8A-4147-A177-3AD203B41FA5}">
                      <a16:colId xmlns:a16="http://schemas.microsoft.com/office/drawing/2014/main" val="2552748061"/>
                    </a:ext>
                  </a:extLst>
                </a:gridCol>
                <a:gridCol w="548640">
                  <a:extLst>
                    <a:ext uri="{9D8B030D-6E8A-4147-A177-3AD203B41FA5}">
                      <a16:colId xmlns:a16="http://schemas.microsoft.com/office/drawing/2014/main" val="2949818358"/>
                    </a:ext>
                  </a:extLst>
                </a:gridCol>
                <a:gridCol w="208280">
                  <a:extLst>
                    <a:ext uri="{9D8B030D-6E8A-4147-A177-3AD203B41FA5}">
                      <a16:colId xmlns:a16="http://schemas.microsoft.com/office/drawing/2014/main" val="3768384043"/>
                    </a:ext>
                  </a:extLst>
                </a:gridCol>
                <a:gridCol w="822960">
                  <a:extLst>
                    <a:ext uri="{9D8B030D-6E8A-4147-A177-3AD203B41FA5}">
                      <a16:colId xmlns:a16="http://schemas.microsoft.com/office/drawing/2014/main" val="3673821677"/>
                    </a:ext>
                  </a:extLst>
                </a:gridCol>
                <a:gridCol w="208280">
                  <a:extLst>
                    <a:ext uri="{9D8B030D-6E8A-4147-A177-3AD203B41FA5}">
                      <a16:colId xmlns:a16="http://schemas.microsoft.com/office/drawing/2014/main" val="1380191459"/>
                    </a:ext>
                  </a:extLst>
                </a:gridCol>
                <a:gridCol w="771843">
                  <a:extLst>
                    <a:ext uri="{9D8B030D-6E8A-4147-A177-3AD203B41FA5}">
                      <a16:colId xmlns:a16="http://schemas.microsoft.com/office/drawing/2014/main" val="2784429797"/>
                    </a:ext>
                  </a:extLst>
                </a:gridCol>
                <a:gridCol w="208280">
                  <a:extLst>
                    <a:ext uri="{9D8B030D-6E8A-4147-A177-3AD203B41FA5}">
                      <a16:colId xmlns:a16="http://schemas.microsoft.com/office/drawing/2014/main" val="906539283"/>
                    </a:ext>
                  </a:extLst>
                </a:gridCol>
                <a:gridCol w="822960">
                  <a:extLst>
                    <a:ext uri="{9D8B030D-6E8A-4147-A177-3AD203B41FA5}">
                      <a16:colId xmlns:a16="http://schemas.microsoft.com/office/drawing/2014/main" val="2265317318"/>
                    </a:ext>
                  </a:extLst>
                </a:gridCol>
                <a:gridCol w="240030">
                  <a:extLst>
                    <a:ext uri="{9D8B030D-6E8A-4147-A177-3AD203B41FA5}">
                      <a16:colId xmlns:a16="http://schemas.microsoft.com/office/drawing/2014/main" val="4285212843"/>
                    </a:ext>
                  </a:extLst>
                </a:gridCol>
                <a:gridCol w="548640">
                  <a:extLst>
                    <a:ext uri="{9D8B030D-6E8A-4147-A177-3AD203B41FA5}">
                      <a16:colId xmlns:a16="http://schemas.microsoft.com/office/drawing/2014/main" val="3048000558"/>
                    </a:ext>
                  </a:extLst>
                </a:gridCol>
              </a:tblGrid>
              <a:tr h="182880">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N</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Not Started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G</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In Progress, On Track</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Y</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May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R</a:t>
                      </a:r>
                      <a:endParaRPr lang="en-US" sz="5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Will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C</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Complete</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graphicFrame>
        <p:nvGraphicFramePr>
          <p:cNvPr id="3" name="Table 2">
            <a:extLst>
              <a:ext uri="{FF2B5EF4-FFF2-40B4-BE49-F238E27FC236}">
                <a16:creationId xmlns:a16="http://schemas.microsoft.com/office/drawing/2014/main" id="{BC375BE1-0E15-EF66-ECD2-671E639E5003}"/>
              </a:ext>
            </a:extLst>
          </p:cNvPr>
          <p:cNvGraphicFramePr>
            <a:graphicFrameLocks noGrp="1"/>
          </p:cNvGraphicFramePr>
          <p:nvPr>
            <p:extLst>
              <p:ext uri="{D42A27DB-BD31-4B8C-83A1-F6EECF244321}">
                <p14:modId xmlns:p14="http://schemas.microsoft.com/office/powerpoint/2010/main" val="4023272204"/>
              </p:ext>
            </p:extLst>
          </p:nvPr>
        </p:nvGraphicFramePr>
        <p:xfrm>
          <a:off x="297180" y="801058"/>
          <a:ext cx="11239036" cy="5661587"/>
        </p:xfrm>
        <a:graphic>
          <a:graphicData uri="http://schemas.openxmlformats.org/drawingml/2006/table">
            <a:tbl>
              <a:tblPr/>
              <a:tblGrid>
                <a:gridCol w="4123540">
                  <a:extLst>
                    <a:ext uri="{9D8B030D-6E8A-4147-A177-3AD203B41FA5}">
                      <a16:colId xmlns:a16="http://schemas.microsoft.com/office/drawing/2014/main" val="3389139256"/>
                    </a:ext>
                  </a:extLst>
                </a:gridCol>
                <a:gridCol w="843886">
                  <a:extLst>
                    <a:ext uri="{9D8B030D-6E8A-4147-A177-3AD203B41FA5}">
                      <a16:colId xmlns:a16="http://schemas.microsoft.com/office/drawing/2014/main" val="3309773986"/>
                    </a:ext>
                  </a:extLst>
                </a:gridCol>
                <a:gridCol w="1006910">
                  <a:extLst>
                    <a:ext uri="{9D8B030D-6E8A-4147-A177-3AD203B41FA5}">
                      <a16:colId xmlns:a16="http://schemas.microsoft.com/office/drawing/2014/main" val="605816060"/>
                    </a:ext>
                  </a:extLst>
                </a:gridCol>
                <a:gridCol w="652094">
                  <a:extLst>
                    <a:ext uri="{9D8B030D-6E8A-4147-A177-3AD203B41FA5}">
                      <a16:colId xmlns:a16="http://schemas.microsoft.com/office/drawing/2014/main" val="470021196"/>
                    </a:ext>
                  </a:extLst>
                </a:gridCol>
                <a:gridCol w="230150">
                  <a:extLst>
                    <a:ext uri="{9D8B030D-6E8A-4147-A177-3AD203B41FA5}">
                      <a16:colId xmlns:a16="http://schemas.microsoft.com/office/drawing/2014/main" val="3687637065"/>
                    </a:ext>
                  </a:extLst>
                </a:gridCol>
                <a:gridCol w="230150">
                  <a:extLst>
                    <a:ext uri="{9D8B030D-6E8A-4147-A177-3AD203B41FA5}">
                      <a16:colId xmlns:a16="http://schemas.microsoft.com/office/drawing/2014/main" val="2103819925"/>
                    </a:ext>
                  </a:extLst>
                </a:gridCol>
                <a:gridCol w="220561">
                  <a:extLst>
                    <a:ext uri="{9D8B030D-6E8A-4147-A177-3AD203B41FA5}">
                      <a16:colId xmlns:a16="http://schemas.microsoft.com/office/drawing/2014/main" val="2497650809"/>
                    </a:ext>
                  </a:extLst>
                </a:gridCol>
                <a:gridCol w="3107038">
                  <a:extLst>
                    <a:ext uri="{9D8B030D-6E8A-4147-A177-3AD203B41FA5}">
                      <a16:colId xmlns:a16="http://schemas.microsoft.com/office/drawing/2014/main" val="549581597"/>
                    </a:ext>
                  </a:extLst>
                </a:gridCol>
                <a:gridCol w="824707">
                  <a:extLst>
                    <a:ext uri="{9D8B030D-6E8A-4147-A177-3AD203B41FA5}">
                      <a16:colId xmlns:a16="http://schemas.microsoft.com/office/drawing/2014/main" val="1930347150"/>
                    </a:ext>
                  </a:extLst>
                </a:gridCol>
              </a:tblGrid>
              <a:tr h="254628">
                <a:tc>
                  <a:txBody>
                    <a:bodyPr/>
                    <a:lstStyle/>
                    <a:p>
                      <a:pPr algn="l" fontAlgn="b">
                        <a:buNone/>
                      </a:pPr>
                      <a:r>
                        <a:rPr lang="en-US" sz="850" b="1" i="0" u="none" strike="noStrike">
                          <a:solidFill>
                            <a:srgbClr val="000000"/>
                          </a:solidFill>
                          <a:effectLst/>
                          <a:latin typeface="Trebuchet MS" panose="020B0603020202020204" pitchFamily="34" charset="0"/>
                        </a:rPr>
                        <a:t>Item</a:t>
                      </a:r>
                    </a:p>
                  </a:txBody>
                  <a:tcPr marL="2076" marR="2076" marT="2076"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PM</a:t>
                      </a:r>
                    </a:p>
                  </a:txBody>
                  <a:tcPr marL="2076" marR="2076" marT="207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PD</a:t>
                      </a:r>
                    </a:p>
                  </a:txBody>
                  <a:tcPr marL="2076" marR="2076" marT="207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Type</a:t>
                      </a:r>
                    </a:p>
                  </a:txBody>
                  <a:tcPr marL="2076" marR="2076" marT="2076"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REQ</a:t>
                      </a:r>
                    </a:p>
                  </a:txBody>
                  <a:tcPr marL="2076" marR="2076" marT="2076"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DEV</a:t>
                      </a:r>
                    </a:p>
                  </a:txBody>
                  <a:tcPr marL="2076" marR="2076" marT="207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QA</a:t>
                      </a:r>
                    </a:p>
                  </a:txBody>
                  <a:tcPr marL="2076" marR="2076" marT="2076"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Apps</a:t>
                      </a:r>
                    </a:p>
                  </a:txBody>
                  <a:tcPr marL="2076" marR="2076" marT="207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50" b="1" i="0" u="none" strike="noStrike">
                          <a:solidFill>
                            <a:srgbClr val="000000"/>
                          </a:solidFill>
                          <a:effectLst/>
                          <a:latin typeface="Trebuchet MS" panose="020B0603020202020204" pitchFamily="34" charset="0"/>
                        </a:rPr>
                        <a:t>Coins Dependent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1466133597"/>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16355  | Bill 72 COPS Monthly Flat Fee (Nov - CRs)</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Princy</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Panagiotoglou, Fred</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DDGS, RPE, ECM, Client Messaging Alert Broker (CMAB)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1192978"/>
                  </a:ext>
                </a:extLst>
              </a:tr>
              <a:tr h="254628">
                <a:tc>
                  <a:txBody>
                    <a:bodyPr/>
                    <a:lstStyle/>
                    <a:p>
                      <a:pPr algn="l" fontAlgn="ctr">
                        <a:buNone/>
                      </a:pPr>
                      <a:r>
                        <a:rPr lang="en-CA" sz="850" b="0" i="0" u="none" strike="noStrike">
                          <a:solidFill>
                            <a:srgbClr val="000000"/>
                          </a:solidFill>
                          <a:effectLst/>
                          <a:latin typeface="Trebuchet MS" panose="020B0603020202020204" pitchFamily="34" charset="0"/>
                        </a:rPr>
                        <a:t>16393 | Credit Maintenance Platform - Nov Release</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Kanyinsola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Dykeman, Christina M</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DM</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7076169"/>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23572 | RESL POD Shift Left - Nov Release</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Prateek</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Sudan, Arpan</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mMortgage, LCMS</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9981577"/>
                  </a:ext>
                </a:extLst>
              </a:tr>
              <a:tr h="254628">
                <a:tc>
                  <a:txBody>
                    <a:bodyPr/>
                    <a:lstStyle/>
                    <a:p>
                      <a:pPr algn="l" fontAlgn="ctr">
                        <a:buNone/>
                      </a:pPr>
                      <a:r>
                        <a:rPr lang="en-CA" sz="850" b="0" i="0" u="none" strike="noStrike">
                          <a:solidFill>
                            <a:srgbClr val="000000"/>
                          </a:solidFill>
                          <a:effectLst/>
                          <a:latin typeface="Trebuchet MS" panose="020B0603020202020204" pitchFamily="34" charset="0"/>
                        </a:rPr>
                        <a:t>23978 | Include Simplii Accounts in DM Global Unsecured Debt Calculation</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Kanyinsola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Dykeman, Christina M</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DM</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999833"/>
                  </a:ext>
                </a:extLst>
              </a:tr>
              <a:tr h="146141">
                <a:tc>
                  <a:txBody>
                    <a:bodyPr/>
                    <a:lstStyle/>
                    <a:p>
                      <a:pPr algn="l" fontAlgn="ctr">
                        <a:buNone/>
                      </a:pPr>
                      <a:r>
                        <a:rPr lang="en-US" sz="850" b="0" i="0" u="none" strike="noStrike">
                          <a:solidFill>
                            <a:srgbClr val="000000"/>
                          </a:solidFill>
                          <a:effectLst/>
                          <a:latin typeface="Trebuchet MS" panose="020B0603020202020204" pitchFamily="34" charset="0"/>
                        </a:rPr>
                        <a:t>2616 | Renewal Due Diligence MVP 2.2</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Rachel</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Sudan, Arpan</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CA" sz="850" b="0" i="0" u="none" strike="noStrike">
                          <a:solidFill>
                            <a:srgbClr val="000000"/>
                          </a:solidFill>
                          <a:effectLst/>
                          <a:latin typeface="Trebuchet MS" panose="020B0603020202020204" pitchFamily="34" charset="0"/>
                        </a:rPr>
                        <a:t>mMortgage, Excalibur, DDGS, Lending API</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665409"/>
                  </a:ext>
                </a:extLst>
              </a:tr>
              <a:tr h="254628">
                <a:tc>
                  <a:txBody>
                    <a:bodyPr/>
                    <a:lstStyle/>
                    <a:p>
                      <a:pPr algn="l" fontAlgn="ctr">
                        <a:buNone/>
                      </a:pPr>
                      <a:r>
                        <a:rPr lang="en-US" sz="850" b="0" i="0" u="none" strike="noStrike">
                          <a:solidFill>
                            <a:srgbClr val="000000"/>
                          </a:solidFill>
                          <a:effectLst/>
                          <a:latin typeface="Trebuchet MS" panose="020B0603020202020204" pitchFamily="34" charset="0"/>
                        </a:rPr>
                        <a:t>3069 | Guardian</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Joy Rosalynn</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Dykeman, Christina M</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mMortgage, Lending API, EDTS, EDH, SKP (Vendor)</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2445794"/>
                  </a:ext>
                </a:extLst>
              </a:tr>
              <a:tr h="146141">
                <a:tc>
                  <a:txBody>
                    <a:bodyPr/>
                    <a:lstStyle/>
                    <a:p>
                      <a:pPr algn="l" fontAlgn="ctr">
                        <a:buNone/>
                      </a:pPr>
                      <a:r>
                        <a:rPr lang="en-US" sz="850" b="0" i="0" u="none" strike="noStrike">
                          <a:solidFill>
                            <a:srgbClr val="000000"/>
                          </a:solidFill>
                          <a:effectLst/>
                          <a:latin typeface="Trebuchet MS" panose="020B0603020202020204" pitchFamily="34" charset="0"/>
                        </a:rPr>
                        <a:t>3291 | Client Level Pricing</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Naveed</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Sudan, Arpan</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mMortgage, Excalibur</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8900129"/>
                  </a:ext>
                </a:extLst>
              </a:tr>
              <a:tr h="254628">
                <a:tc>
                  <a:txBody>
                    <a:bodyPr/>
                    <a:lstStyle/>
                    <a:p>
                      <a:pPr algn="l" fontAlgn="ctr">
                        <a:buNone/>
                      </a:pPr>
                      <a:r>
                        <a:rPr lang="en-US" sz="850" b="0" i="0" u="none" strike="noStrike">
                          <a:solidFill>
                            <a:srgbClr val="000000"/>
                          </a:solidFill>
                          <a:effectLst/>
                          <a:latin typeface="Trebuchet MS" panose="020B0603020202020204" pitchFamily="34" charset="0"/>
                        </a:rPr>
                        <a:t>3517 | Property Insurance Cancellation</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Reshma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Dykeman, Christina M</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R</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buNone/>
                      </a:pPr>
                      <a:r>
                        <a:rPr lang="en-US" sz="850" b="0" i="0" u="none" strike="noStrike">
                          <a:solidFill>
                            <a:srgbClr val="000000"/>
                          </a:solidFill>
                          <a:effectLst/>
                          <a:latin typeface="Trebuchet MS" panose="020B0603020202020204" pitchFamily="34" charset="0"/>
                        </a:rPr>
                        <a:t>DDGS, TABS, ECM, EDTS</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36436354"/>
                  </a:ext>
                </a:extLst>
              </a:tr>
              <a:tr h="146141">
                <a:tc>
                  <a:txBody>
                    <a:bodyPr/>
                    <a:lstStyle/>
                    <a:p>
                      <a:pPr algn="l" fontAlgn="ctr">
                        <a:buNone/>
                      </a:pPr>
                      <a:r>
                        <a:rPr lang="en-US" sz="850" b="0" i="0" u="none" strike="noStrike">
                          <a:solidFill>
                            <a:srgbClr val="000000"/>
                          </a:solidFill>
                          <a:effectLst/>
                          <a:latin typeface="Trebuchet MS" panose="020B0603020202020204" pitchFamily="34" charset="0"/>
                        </a:rPr>
                        <a:t>3745 | Project JEDI</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Sidhartha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Panagiotoglou, Fred</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STB, COLT, CI, FX</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Yes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9687999"/>
                  </a:ext>
                </a:extLst>
              </a:tr>
              <a:tr h="254628">
                <a:tc>
                  <a:txBody>
                    <a:bodyPr/>
                    <a:lstStyle/>
                    <a:p>
                      <a:pPr algn="l" fontAlgn="ctr">
                        <a:buNone/>
                      </a:pPr>
                      <a:r>
                        <a:rPr lang="en-CA" sz="850" b="0" i="0" u="none" strike="noStrike">
                          <a:solidFill>
                            <a:srgbClr val="000000"/>
                          </a:solidFill>
                          <a:effectLst/>
                          <a:latin typeface="Trebuchet MS" panose="020B0603020202020204" pitchFamily="34" charset="0"/>
                        </a:rPr>
                        <a:t>3796 | CLD and Repricing Letters - Imaging in ECM</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Nikita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Dykeman, Christina M</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CLASS, DDGS, IMDS, RPE</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8791037"/>
                  </a:ext>
                </a:extLst>
              </a:tr>
              <a:tr h="254628">
                <a:tc>
                  <a:txBody>
                    <a:bodyPr/>
                    <a:lstStyle/>
                    <a:p>
                      <a:pPr algn="l" fontAlgn="ctr">
                        <a:buNone/>
                      </a:pPr>
                      <a:r>
                        <a:rPr lang="en-CA" sz="850" b="0" i="0" u="none" strike="noStrike">
                          <a:solidFill>
                            <a:srgbClr val="000000"/>
                          </a:solidFill>
                          <a:effectLst/>
                          <a:latin typeface="Trebuchet MS" panose="020B0603020202020204" pitchFamily="34" charset="0"/>
                        </a:rPr>
                        <a:t>4313 | Digital Use Cases: Reverse Franchising</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Kanyinsola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Dykeman, Christina M</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Lending API, eBanking, ECIF</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081142"/>
                  </a:ext>
                </a:extLst>
              </a:tr>
              <a:tr h="254628">
                <a:tc>
                  <a:txBody>
                    <a:bodyPr/>
                    <a:lstStyle/>
                    <a:p>
                      <a:pPr algn="l" fontAlgn="ctr">
                        <a:buNone/>
                      </a:pPr>
                      <a:r>
                        <a:rPr lang="en-US" sz="850" b="0" i="0" u="none" strike="noStrike">
                          <a:solidFill>
                            <a:srgbClr val="000000"/>
                          </a:solidFill>
                          <a:effectLst/>
                          <a:latin typeface="Trebuchet MS" panose="020B0603020202020204" pitchFamily="34" charset="0"/>
                        </a:rPr>
                        <a:t>4356 | Credit Bureau Online Services Enhancements - Add Telco Trades &amp; IDX Score</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Ananth</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Dykeman, Christina M</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PRJ</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DM, LCMS, CAAP, COMPASS-AIM</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2397900"/>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13812 | mMortgage Property Details Updates</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Ganesh</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mMortgage</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0790276"/>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13832/4409 | DM Relationships 4,5,6,7 to be Excluded from Auto-Approval </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Onkar</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DM (PEGA)</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362948"/>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13920 | Deferred Interest Renewal Package Generation - CMC Mortgages</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Ganesh</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Excalibur</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3023841"/>
                  </a:ext>
                </a:extLst>
              </a:tr>
              <a:tr h="265220">
                <a:tc>
                  <a:txBody>
                    <a:bodyPr/>
                    <a:lstStyle/>
                    <a:p>
                      <a:pPr algn="l" fontAlgn="ctr">
                        <a:buNone/>
                      </a:pPr>
                      <a:r>
                        <a:rPr lang="en-US" sz="850" b="0" i="0" u="none" strike="noStrike">
                          <a:solidFill>
                            <a:srgbClr val="000000"/>
                          </a:solidFill>
                          <a:effectLst/>
                          <a:latin typeface="Trebuchet MS" panose="020B0603020202020204" pitchFamily="34" charset="0"/>
                        </a:rPr>
                        <a:t>16718 | RAF Program Expansion</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Adinarayana Murthy</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RPE</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4151279"/>
                  </a:ext>
                </a:extLst>
              </a:tr>
              <a:tr h="146141">
                <a:tc>
                  <a:txBody>
                    <a:bodyPr/>
                    <a:lstStyle/>
                    <a:p>
                      <a:pPr algn="l" fontAlgn="ctr">
                        <a:buNone/>
                      </a:pPr>
                      <a:r>
                        <a:rPr lang="en-US" sz="850" b="0" i="0" u="none" strike="noStrike">
                          <a:solidFill>
                            <a:srgbClr val="000000"/>
                          </a:solidFill>
                          <a:effectLst/>
                          <a:latin typeface="Trebuchet MS" panose="020B0603020202020204" pitchFamily="34" charset="0"/>
                        </a:rPr>
                        <a:t>17774 | AMS 2025</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Neha Vineet</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Excalibur, DDGS, IMDS</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2338130"/>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22379 | Risk Issue 7308 - RESL 2.0. Values to Populate CLASS 2012 to Current Data</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Neha Vineet</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CLASS</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3547196"/>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22425 | MVP16 CR65 Excalibur LFA to Appraised Value</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Neha Vineet</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Excalibur</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6410647"/>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22623 | Eliminate IMDS (Infoprint) dependency for DDGS letters</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Paramita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DDGS</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2923637"/>
                  </a:ext>
                </a:extLst>
              </a:tr>
              <a:tr h="265220">
                <a:tc>
                  <a:txBody>
                    <a:bodyPr/>
                    <a:lstStyle/>
                    <a:p>
                      <a:pPr algn="l" fontAlgn="ctr">
                        <a:buNone/>
                      </a:pPr>
                      <a:r>
                        <a:rPr lang="en-CA" sz="850" b="0" i="0" u="none" strike="noStrike">
                          <a:solidFill>
                            <a:srgbClr val="000000"/>
                          </a:solidFill>
                          <a:effectLst/>
                          <a:latin typeface="Trebuchet MS" panose="020B0603020202020204" pitchFamily="34" charset="0"/>
                        </a:rPr>
                        <a:t>23113 | Unclaimed Balances Records transfer from NAS to ECM</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Adinarayana Murthy</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50" b="0" i="0" u="none" strike="noStrike">
                          <a:solidFill>
                            <a:srgbClr val="000000"/>
                          </a:solidFill>
                          <a:effectLst/>
                          <a:latin typeface="Trebuchet MS" panose="020B0603020202020204" pitchFamily="34" charset="0"/>
                        </a:rPr>
                        <a:t>ECM</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7578604"/>
                  </a:ext>
                </a:extLst>
              </a:tr>
              <a:tr h="146141">
                <a:tc>
                  <a:txBody>
                    <a:bodyPr/>
                    <a:lstStyle/>
                    <a:p>
                      <a:pPr algn="l" fontAlgn="ctr">
                        <a:buNone/>
                      </a:pPr>
                      <a:r>
                        <a:rPr lang="en-US" sz="850" b="0" i="0" u="none" strike="noStrike">
                          <a:solidFill>
                            <a:srgbClr val="000000"/>
                          </a:solidFill>
                          <a:effectLst/>
                          <a:latin typeface="Trebuchet MS" panose="020B0603020202020204" pitchFamily="34" charset="0"/>
                        </a:rPr>
                        <a:t>23266 | Ingestion Error Fix - MVP 1 </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Ganesh</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LCMS</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0384706"/>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23365 | LCMS Funding Condition Issues</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Neha Vineet</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LCMS</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4464956"/>
                  </a:ext>
                </a:extLst>
              </a:tr>
              <a:tr h="265220">
                <a:tc>
                  <a:txBody>
                    <a:bodyPr/>
                    <a:lstStyle/>
                    <a:p>
                      <a:pPr algn="l" fontAlgn="ctr">
                        <a:buNone/>
                      </a:pPr>
                      <a:r>
                        <a:rPr lang="en-CA" sz="850" b="0" i="0" u="none" strike="noStrike">
                          <a:solidFill>
                            <a:srgbClr val="000000"/>
                          </a:solidFill>
                          <a:effectLst/>
                          <a:latin typeface="Trebuchet MS" panose="020B0603020202020204" pitchFamily="34" charset="0"/>
                        </a:rPr>
                        <a:t>23515 | Update Creditor Insurance Product Summarys for Fax Number</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Adinarayana Murthy</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CA" sz="850" b="0" i="0" u="none" strike="noStrike">
                          <a:solidFill>
                            <a:srgbClr val="000000"/>
                          </a:solidFill>
                          <a:effectLst/>
                          <a:latin typeface="Trebuchet MS" panose="020B0603020202020204" pitchFamily="34" charset="0"/>
                        </a:rPr>
                        <a:t>DDGS, DDGS API, Forms Management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5027325"/>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23538 | LAS Feed - AML-TMS (Map-585) - Decommission (TO2025000894 - SR054809)</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Rajib</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OO</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50" b="0" i="0" u="none" strike="noStrike">
                          <a:solidFill>
                            <a:srgbClr val="000000"/>
                          </a:solidFill>
                          <a:effectLst/>
                          <a:latin typeface="Trebuchet MS" panose="020B0603020202020204" pitchFamily="34" charset="0"/>
                        </a:rPr>
                        <a:t>LAS</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419472"/>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23552 | Excalibur to RCDW Month End Interest Calculation Update</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Neha Vineet</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Excalibur</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7216394"/>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23725 | AML CDCC Sustainment Project</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Neha Vineet</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EDTS</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691784"/>
                  </a:ext>
                </a:extLst>
              </a:tr>
              <a:tr h="146141">
                <a:tc>
                  <a:txBody>
                    <a:bodyPr/>
                    <a:lstStyle/>
                    <a:p>
                      <a:pPr algn="l" fontAlgn="ctr">
                        <a:buNone/>
                      </a:pPr>
                      <a:r>
                        <a:rPr lang="en-US" sz="850" b="0" i="0" u="none" strike="noStrike">
                          <a:solidFill>
                            <a:srgbClr val="000000"/>
                          </a:solidFill>
                          <a:effectLst/>
                          <a:latin typeface="Trebuchet MS" panose="020B0603020202020204" pitchFamily="34" charset="0"/>
                        </a:rPr>
                        <a:t>4105 | Client at Risk</a:t>
                      </a: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Neha Vineet</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Excalibur</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0380996"/>
                  </a:ext>
                </a:extLst>
              </a:tr>
              <a:tr h="146141">
                <a:tc>
                  <a:txBody>
                    <a:bodyPr/>
                    <a:lstStyle/>
                    <a:p>
                      <a:pPr algn="l" fontAlgn="ctr">
                        <a:buNone/>
                      </a:pPr>
                      <a:r>
                        <a:rPr lang="en-CA" sz="850" b="0" i="0" u="none" strike="noStrike">
                          <a:solidFill>
                            <a:srgbClr val="000000"/>
                          </a:solidFill>
                          <a:effectLst/>
                          <a:latin typeface="Trebuchet MS" panose="020B0603020202020204" pitchFamily="34" charset="0"/>
                        </a:rPr>
                        <a:t>22622 | Form Modernization Stream3</a:t>
                      </a:r>
                      <a:endParaRPr lang="en-US" sz="850" b="0" i="0" u="none" strike="noStrike">
                        <a:solidFill>
                          <a:srgbClr val="000000"/>
                        </a:solidFill>
                        <a:effectLst/>
                        <a:latin typeface="Trebuchet MS" panose="020B0603020202020204" pitchFamily="34" charset="0"/>
                      </a:endParaRPr>
                    </a:p>
                  </a:txBody>
                  <a:tcPr marL="2076" marR="2076" marT="207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Dheeraj</a:t>
                      </a: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2076" marR="2076" marT="207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CA" sz="850" b="0" i="0" u="none" strike="noStrike">
                          <a:solidFill>
                            <a:srgbClr val="000000"/>
                          </a:solidFill>
                          <a:effectLst/>
                          <a:latin typeface="Trebuchet MS" panose="020B0603020202020204" pitchFamily="34" charset="0"/>
                        </a:rPr>
                        <a:t>PRJ</a:t>
                      </a:r>
                      <a:endParaRPr lang="en-US" sz="850" b="0" i="0" u="none" strike="noStrike">
                        <a:solidFill>
                          <a:srgbClr val="000000"/>
                        </a:solidFill>
                        <a:effectLst/>
                        <a:latin typeface="Trebuchet MS" panose="020B0603020202020204" pitchFamily="34" charset="0"/>
                      </a:endParaRPr>
                    </a:p>
                  </a:txBody>
                  <a:tcPr marL="2076" marR="2076" marT="207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CA" sz="850" b="0" i="0" u="none" strike="noStrike">
                          <a:solidFill>
                            <a:srgbClr val="000000"/>
                          </a:solidFill>
                          <a:effectLst/>
                          <a:latin typeface="Trebuchet MS" panose="020B0603020202020204" pitchFamily="34" charset="0"/>
                        </a:rPr>
                        <a:t>-</a:t>
                      </a:r>
                      <a:endParaRPr lang="en-US" sz="850" b="0" i="0" u="none" strike="noStrike">
                        <a:solidFill>
                          <a:srgbClr val="000000"/>
                        </a:solidFill>
                        <a:effectLst/>
                        <a:latin typeface="Trebuchet MS" panose="020B0603020202020204" pitchFamily="34" charset="0"/>
                      </a:endParaRP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CA" sz="850" b="0" i="0" u="none" strike="noStrike">
                          <a:solidFill>
                            <a:srgbClr val="000000"/>
                          </a:solidFill>
                          <a:effectLst/>
                          <a:latin typeface="Trebuchet MS" panose="020B0603020202020204" pitchFamily="34" charset="0"/>
                        </a:rPr>
                        <a:t>-</a:t>
                      </a:r>
                      <a:endParaRPr lang="en-US" sz="850" b="0" i="0" u="none" strike="noStrike">
                        <a:solidFill>
                          <a:srgbClr val="000000"/>
                        </a:solidFill>
                        <a:effectLst/>
                        <a:latin typeface="Trebuchet MS" panose="020B0603020202020204" pitchFamily="34" charset="0"/>
                      </a:endParaRP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1" i="0" u="none" strike="noStrike">
                        <a:solidFill>
                          <a:srgbClr val="FFFFFF"/>
                        </a:solidFill>
                        <a:effectLst/>
                        <a:latin typeface="Trebuchet MS" panose="020B0603020202020204" pitchFamily="34" charset="0"/>
                      </a:endParaRP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CA" sz="850" b="0" i="0" u="none" strike="noStrike">
                          <a:solidFill>
                            <a:srgbClr val="000000"/>
                          </a:solidFill>
                          <a:effectLst/>
                          <a:latin typeface="Trebuchet MS" panose="020B0603020202020204" pitchFamily="34" charset="0"/>
                        </a:rPr>
                        <a:t>IMDS, DDGS</a:t>
                      </a:r>
                      <a:endParaRPr lang="en-US" sz="850" b="0" i="0" u="none" strike="noStrike">
                        <a:solidFill>
                          <a:srgbClr val="000000"/>
                        </a:solidFill>
                        <a:effectLst/>
                        <a:latin typeface="Trebuchet MS" panose="020B0603020202020204" pitchFamily="34" charset="0"/>
                      </a:endParaRP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2076" marR="2076" marT="20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7336227"/>
                  </a:ext>
                </a:extLst>
              </a:tr>
            </a:tbl>
          </a:graphicData>
        </a:graphic>
      </p:graphicFrame>
    </p:spTree>
    <p:extLst>
      <p:ext uri="{BB962C8B-B14F-4D97-AF65-F5344CB8AC3E}">
        <p14:creationId xmlns:p14="http://schemas.microsoft.com/office/powerpoint/2010/main" val="469008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40E0B-1D24-AF09-1797-E99EE181E3F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63253C5-4194-10B8-26E0-8DACF0ED2C49}"/>
              </a:ext>
            </a:extLst>
          </p:cNvPr>
          <p:cNvSpPr>
            <a:spLocks noGrp="1"/>
          </p:cNvSpPr>
          <p:nvPr>
            <p:ph type="title"/>
          </p:nvPr>
        </p:nvSpPr>
        <p:spPr>
          <a:xfrm>
            <a:off x="297180" y="219075"/>
            <a:ext cx="10933748" cy="581983"/>
          </a:xfrm>
        </p:spPr>
        <p:txBody>
          <a:bodyPr/>
          <a:lstStyle/>
          <a:p>
            <a:r>
              <a:rPr lang="en-CA" sz="2800"/>
              <a:t>November 16</a:t>
            </a:r>
            <a:r>
              <a:rPr lang="en-CA" sz="2800" baseline="30000"/>
              <a:t>th</a:t>
            </a:r>
            <a:r>
              <a:rPr lang="en-CA" sz="2800"/>
              <a:t> Release Scope</a:t>
            </a:r>
            <a:endParaRPr lang="en-US" sz="2800"/>
          </a:p>
        </p:txBody>
      </p:sp>
      <p:graphicFrame>
        <p:nvGraphicFramePr>
          <p:cNvPr id="13" name="Table 2">
            <a:extLst>
              <a:ext uri="{FF2B5EF4-FFF2-40B4-BE49-F238E27FC236}">
                <a16:creationId xmlns:a16="http://schemas.microsoft.com/office/drawing/2014/main" id="{A9D038F6-2A90-1295-73C1-50AAC788ADFA}"/>
              </a:ext>
            </a:extLst>
          </p:cNvPr>
          <p:cNvGraphicFramePr>
            <a:graphicFrameLocks noGrp="1"/>
          </p:cNvGraphicFramePr>
          <p:nvPr/>
        </p:nvGraphicFramePr>
        <p:xfrm>
          <a:off x="6948023" y="219075"/>
          <a:ext cx="4588193" cy="182880"/>
        </p:xfrm>
        <a:graphic>
          <a:graphicData uri="http://schemas.openxmlformats.org/drawingml/2006/table">
            <a:tbl>
              <a:tblPr firstRow="1" bandRow="1"/>
              <a:tblGrid>
                <a:gridCol w="208280">
                  <a:extLst>
                    <a:ext uri="{9D8B030D-6E8A-4147-A177-3AD203B41FA5}">
                      <a16:colId xmlns:a16="http://schemas.microsoft.com/office/drawing/2014/main" val="2552748061"/>
                    </a:ext>
                  </a:extLst>
                </a:gridCol>
                <a:gridCol w="548640">
                  <a:extLst>
                    <a:ext uri="{9D8B030D-6E8A-4147-A177-3AD203B41FA5}">
                      <a16:colId xmlns:a16="http://schemas.microsoft.com/office/drawing/2014/main" val="2949818358"/>
                    </a:ext>
                  </a:extLst>
                </a:gridCol>
                <a:gridCol w="208280">
                  <a:extLst>
                    <a:ext uri="{9D8B030D-6E8A-4147-A177-3AD203B41FA5}">
                      <a16:colId xmlns:a16="http://schemas.microsoft.com/office/drawing/2014/main" val="3768384043"/>
                    </a:ext>
                  </a:extLst>
                </a:gridCol>
                <a:gridCol w="822960">
                  <a:extLst>
                    <a:ext uri="{9D8B030D-6E8A-4147-A177-3AD203B41FA5}">
                      <a16:colId xmlns:a16="http://schemas.microsoft.com/office/drawing/2014/main" val="3673821677"/>
                    </a:ext>
                  </a:extLst>
                </a:gridCol>
                <a:gridCol w="208280">
                  <a:extLst>
                    <a:ext uri="{9D8B030D-6E8A-4147-A177-3AD203B41FA5}">
                      <a16:colId xmlns:a16="http://schemas.microsoft.com/office/drawing/2014/main" val="1380191459"/>
                    </a:ext>
                  </a:extLst>
                </a:gridCol>
                <a:gridCol w="771843">
                  <a:extLst>
                    <a:ext uri="{9D8B030D-6E8A-4147-A177-3AD203B41FA5}">
                      <a16:colId xmlns:a16="http://schemas.microsoft.com/office/drawing/2014/main" val="2784429797"/>
                    </a:ext>
                  </a:extLst>
                </a:gridCol>
                <a:gridCol w="208280">
                  <a:extLst>
                    <a:ext uri="{9D8B030D-6E8A-4147-A177-3AD203B41FA5}">
                      <a16:colId xmlns:a16="http://schemas.microsoft.com/office/drawing/2014/main" val="906539283"/>
                    </a:ext>
                  </a:extLst>
                </a:gridCol>
                <a:gridCol w="822960">
                  <a:extLst>
                    <a:ext uri="{9D8B030D-6E8A-4147-A177-3AD203B41FA5}">
                      <a16:colId xmlns:a16="http://schemas.microsoft.com/office/drawing/2014/main" val="2265317318"/>
                    </a:ext>
                  </a:extLst>
                </a:gridCol>
                <a:gridCol w="240030">
                  <a:extLst>
                    <a:ext uri="{9D8B030D-6E8A-4147-A177-3AD203B41FA5}">
                      <a16:colId xmlns:a16="http://schemas.microsoft.com/office/drawing/2014/main" val="4285212843"/>
                    </a:ext>
                  </a:extLst>
                </a:gridCol>
                <a:gridCol w="548640">
                  <a:extLst>
                    <a:ext uri="{9D8B030D-6E8A-4147-A177-3AD203B41FA5}">
                      <a16:colId xmlns:a16="http://schemas.microsoft.com/office/drawing/2014/main" val="3048000558"/>
                    </a:ext>
                  </a:extLst>
                </a:gridCol>
              </a:tblGrid>
              <a:tr h="182880">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N</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Not Started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G</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In Progress, On Track</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Y</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May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R</a:t>
                      </a:r>
                      <a:endParaRPr lang="en-US" sz="5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Will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C</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Complete</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graphicFrame>
        <p:nvGraphicFramePr>
          <p:cNvPr id="3" name="Table 2">
            <a:extLst>
              <a:ext uri="{FF2B5EF4-FFF2-40B4-BE49-F238E27FC236}">
                <a16:creationId xmlns:a16="http://schemas.microsoft.com/office/drawing/2014/main" id="{9543E919-4679-B736-D0C3-9BC3936F7207}"/>
              </a:ext>
            </a:extLst>
          </p:cNvPr>
          <p:cNvGraphicFramePr>
            <a:graphicFrameLocks noGrp="1"/>
          </p:cNvGraphicFramePr>
          <p:nvPr>
            <p:extLst>
              <p:ext uri="{D42A27DB-BD31-4B8C-83A1-F6EECF244321}">
                <p14:modId xmlns:p14="http://schemas.microsoft.com/office/powerpoint/2010/main" val="749105921"/>
              </p:ext>
            </p:extLst>
          </p:nvPr>
        </p:nvGraphicFramePr>
        <p:xfrm>
          <a:off x="297180" y="801056"/>
          <a:ext cx="11239036" cy="5642077"/>
        </p:xfrm>
        <a:graphic>
          <a:graphicData uri="http://schemas.openxmlformats.org/drawingml/2006/table">
            <a:tbl>
              <a:tblPr/>
              <a:tblGrid>
                <a:gridCol w="4123538">
                  <a:extLst>
                    <a:ext uri="{9D8B030D-6E8A-4147-A177-3AD203B41FA5}">
                      <a16:colId xmlns:a16="http://schemas.microsoft.com/office/drawing/2014/main" val="3947321181"/>
                    </a:ext>
                  </a:extLst>
                </a:gridCol>
                <a:gridCol w="843888">
                  <a:extLst>
                    <a:ext uri="{9D8B030D-6E8A-4147-A177-3AD203B41FA5}">
                      <a16:colId xmlns:a16="http://schemas.microsoft.com/office/drawing/2014/main" val="2333177620"/>
                    </a:ext>
                  </a:extLst>
                </a:gridCol>
                <a:gridCol w="1006910">
                  <a:extLst>
                    <a:ext uri="{9D8B030D-6E8A-4147-A177-3AD203B41FA5}">
                      <a16:colId xmlns:a16="http://schemas.microsoft.com/office/drawing/2014/main" val="1107498963"/>
                    </a:ext>
                  </a:extLst>
                </a:gridCol>
                <a:gridCol w="652092">
                  <a:extLst>
                    <a:ext uri="{9D8B030D-6E8A-4147-A177-3AD203B41FA5}">
                      <a16:colId xmlns:a16="http://schemas.microsoft.com/office/drawing/2014/main" val="3900466040"/>
                    </a:ext>
                  </a:extLst>
                </a:gridCol>
                <a:gridCol w="230150">
                  <a:extLst>
                    <a:ext uri="{9D8B030D-6E8A-4147-A177-3AD203B41FA5}">
                      <a16:colId xmlns:a16="http://schemas.microsoft.com/office/drawing/2014/main" val="1347342287"/>
                    </a:ext>
                  </a:extLst>
                </a:gridCol>
                <a:gridCol w="230150">
                  <a:extLst>
                    <a:ext uri="{9D8B030D-6E8A-4147-A177-3AD203B41FA5}">
                      <a16:colId xmlns:a16="http://schemas.microsoft.com/office/drawing/2014/main" val="2453296918"/>
                    </a:ext>
                  </a:extLst>
                </a:gridCol>
                <a:gridCol w="220561">
                  <a:extLst>
                    <a:ext uri="{9D8B030D-6E8A-4147-A177-3AD203B41FA5}">
                      <a16:colId xmlns:a16="http://schemas.microsoft.com/office/drawing/2014/main" val="3733752551"/>
                    </a:ext>
                  </a:extLst>
                </a:gridCol>
                <a:gridCol w="3107038">
                  <a:extLst>
                    <a:ext uri="{9D8B030D-6E8A-4147-A177-3AD203B41FA5}">
                      <a16:colId xmlns:a16="http://schemas.microsoft.com/office/drawing/2014/main" val="830180185"/>
                    </a:ext>
                  </a:extLst>
                </a:gridCol>
                <a:gridCol w="824709">
                  <a:extLst>
                    <a:ext uri="{9D8B030D-6E8A-4147-A177-3AD203B41FA5}">
                      <a16:colId xmlns:a16="http://schemas.microsoft.com/office/drawing/2014/main" val="181468864"/>
                    </a:ext>
                  </a:extLst>
                </a:gridCol>
              </a:tblGrid>
              <a:tr h="296149">
                <a:tc>
                  <a:txBody>
                    <a:bodyPr/>
                    <a:lstStyle/>
                    <a:p>
                      <a:pPr algn="l" fontAlgn="b">
                        <a:buNone/>
                      </a:pPr>
                      <a:r>
                        <a:rPr lang="en-US" sz="850" b="1" i="0" u="none" strike="noStrike">
                          <a:solidFill>
                            <a:srgbClr val="000000"/>
                          </a:solidFill>
                          <a:effectLst/>
                          <a:latin typeface="Trebuchet MS" panose="020B0603020202020204" pitchFamily="34" charset="0"/>
                        </a:rPr>
                        <a:t>Item</a:t>
                      </a:r>
                    </a:p>
                  </a:txBody>
                  <a:tcPr marL="956" marR="956" marT="956"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PM</a:t>
                      </a:r>
                    </a:p>
                  </a:txBody>
                  <a:tcPr marL="956" marR="956" marT="95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PD</a:t>
                      </a:r>
                    </a:p>
                  </a:txBody>
                  <a:tcPr marL="956" marR="956" marT="95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Type</a:t>
                      </a:r>
                    </a:p>
                  </a:txBody>
                  <a:tcPr marL="956" marR="956" marT="956"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REQ</a:t>
                      </a:r>
                    </a:p>
                  </a:txBody>
                  <a:tcPr marL="956" marR="956" marT="956"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DEV</a:t>
                      </a:r>
                    </a:p>
                  </a:txBody>
                  <a:tcPr marL="956" marR="956" marT="95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QA</a:t>
                      </a:r>
                    </a:p>
                  </a:txBody>
                  <a:tcPr marL="956" marR="956" marT="956"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850" b="1" i="0" u="none" strike="noStrike">
                          <a:solidFill>
                            <a:srgbClr val="000000"/>
                          </a:solidFill>
                          <a:effectLst/>
                          <a:latin typeface="Trebuchet MS" panose="020B0603020202020204" pitchFamily="34" charset="0"/>
                        </a:rPr>
                        <a:t>Apps</a:t>
                      </a:r>
                    </a:p>
                  </a:txBody>
                  <a:tcPr marL="956" marR="956" marT="9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50" b="1" i="0" u="none" strike="noStrike">
                          <a:solidFill>
                            <a:srgbClr val="000000"/>
                          </a:solidFill>
                          <a:effectLst/>
                          <a:latin typeface="Trebuchet MS" panose="020B0603020202020204" pitchFamily="34" charset="0"/>
                        </a:rPr>
                        <a:t>Coins Dependent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498490046"/>
                  </a:ext>
                </a:extLst>
              </a:tr>
              <a:tr h="148619">
                <a:tc>
                  <a:txBody>
                    <a:bodyPr/>
                    <a:lstStyle/>
                    <a:p>
                      <a:pPr algn="l" fontAlgn="ctr">
                        <a:buNone/>
                      </a:pPr>
                      <a:r>
                        <a:rPr lang="en-US" sz="850" b="0" i="0" u="none" strike="noStrike">
                          <a:solidFill>
                            <a:srgbClr val="000000"/>
                          </a:solidFill>
                          <a:effectLst/>
                          <a:latin typeface="Trebuchet MS" panose="020B0603020202020204" pitchFamily="34" charset="0"/>
                        </a:rPr>
                        <a:t>4149 | NSOD Forms Update</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Onkar</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Y</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en-US" sz="850" b="0" i="0" u="none" strike="noStrike">
                          <a:solidFill>
                            <a:srgbClr val="000000"/>
                          </a:solidFill>
                          <a:effectLst/>
                          <a:latin typeface="Trebuchet MS" panose="020B0603020202020204" pitchFamily="34" charset="0"/>
                        </a:rPr>
                        <a:t>RPE, DDGS, ECM, IMDS, ENVOY, PCA/SAV</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6248831"/>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PRB0032177 | E37 External Table Upload issue</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DM</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114746"/>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PRB0032456 | unassigned files with User ID-Shortage workgroup on LCMS LP</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LCMS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7898263"/>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PRB0032484 | Issue with BRUL20703 - Deferred Income Indicator</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DM</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8326834"/>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PRB0032489 | Real Time Data issue at LCMS end for create date  field</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Lending API</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9320570"/>
                  </a:ext>
                </a:extLst>
              </a:tr>
              <a:tr h="296149">
                <a:tc>
                  <a:txBody>
                    <a:bodyPr/>
                    <a:lstStyle/>
                    <a:p>
                      <a:pPr algn="l" fontAlgn="ctr">
                        <a:buNone/>
                      </a:pPr>
                      <a:r>
                        <a:rPr lang="en-CA" sz="850" b="0" i="0" u="none" strike="noStrike">
                          <a:solidFill>
                            <a:srgbClr val="000000"/>
                          </a:solidFill>
                          <a:effectLst/>
                          <a:latin typeface="Trebuchet MS" panose="020B0603020202020204" pitchFamily="34" charset="0"/>
                        </a:rPr>
                        <a:t>PRB0032598 | Excalibur – Remaining amortization issue on renewal confirmation letter for VRM mortgages</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Excalibur</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0355572"/>
                  </a:ext>
                </a:extLst>
              </a:tr>
              <a:tr h="296149">
                <a:tc>
                  <a:txBody>
                    <a:bodyPr/>
                    <a:lstStyle/>
                    <a:p>
                      <a:pPr algn="l" fontAlgn="ctr">
                        <a:buNone/>
                      </a:pPr>
                      <a:r>
                        <a:rPr lang="en-CA" sz="850" b="0" i="0" u="none" strike="noStrike">
                          <a:solidFill>
                            <a:srgbClr val="000000"/>
                          </a:solidFill>
                          <a:effectLst/>
                          <a:latin typeface="Trebuchet MS" panose="020B0603020202020204" pitchFamily="34" charset="0"/>
                        </a:rPr>
                        <a:t>PRB0032654 | Defect 4171 - Deal originated from mMTG with Variable product having any promotional offers we could see Approval/Condit...</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LCMS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709880"/>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PRB0032685 | Issue with BRUL20853 Do not Decline Refer</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DM</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5151762"/>
                  </a:ext>
                </a:extLst>
              </a:tr>
              <a:tr h="296149">
                <a:tc>
                  <a:txBody>
                    <a:bodyPr/>
                    <a:lstStyle/>
                    <a:p>
                      <a:pPr algn="l" fontAlgn="ctr">
                        <a:buNone/>
                      </a:pPr>
                      <a:r>
                        <a:rPr lang="en-CA" sz="850" b="0" i="0" u="none" strike="noStrike">
                          <a:solidFill>
                            <a:srgbClr val="000000"/>
                          </a:solidFill>
                          <a:effectLst/>
                          <a:latin typeface="Trebuchet MS" panose="020B0603020202020204" pitchFamily="34" charset="0"/>
                        </a:rPr>
                        <a:t>PRB0032734 | Excalibur – Incorrect Prepayment calculation for multiple prepayment reversal &gt;= 50K with same posting date &amp; transactio...</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Excalibur</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9281239"/>
                  </a:ext>
                </a:extLst>
              </a:tr>
              <a:tr h="296149">
                <a:tc>
                  <a:txBody>
                    <a:bodyPr/>
                    <a:lstStyle/>
                    <a:p>
                      <a:pPr algn="l" fontAlgn="ctr">
                        <a:buNone/>
                      </a:pPr>
                      <a:r>
                        <a:rPr lang="en-CA" sz="850" b="0" i="0" u="none" strike="noStrike">
                          <a:solidFill>
                            <a:srgbClr val="000000"/>
                          </a:solidFill>
                          <a:effectLst/>
                          <a:latin typeface="Trebuchet MS" panose="020B0603020202020204" pitchFamily="34" charset="0"/>
                        </a:rPr>
                        <a:t>PRB0032786 | GVS FAIL recd from DM not reflecting on MMTG, system retained GVS PASS incorrectly.</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LCMS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8871147"/>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PRB0032788 | Fix shell script to prevent external upload job failure</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DM</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519289"/>
                  </a:ext>
                </a:extLst>
              </a:tr>
              <a:tr h="148619">
                <a:tc>
                  <a:txBody>
                    <a:bodyPr/>
                    <a:lstStyle/>
                    <a:p>
                      <a:pPr algn="l" fontAlgn="ctr">
                        <a:buNone/>
                      </a:pPr>
                      <a:r>
                        <a:rPr lang="en-US" sz="850" b="0" i="0" u="none" strike="noStrike">
                          <a:solidFill>
                            <a:srgbClr val="000000"/>
                          </a:solidFill>
                          <a:effectLst/>
                          <a:latin typeface="Trebuchet MS" panose="020B0603020202020204" pitchFamily="34" charset="0"/>
                        </a:rPr>
                        <a:t>PRB0032791 | Pentest Fixes 2025</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FirstLine.com</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0037961"/>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PRB0032826 | LCMS Glossary French Description</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LCMS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4047466"/>
                  </a:ext>
                </a:extLst>
              </a:tr>
              <a:tr h="148619">
                <a:tc>
                  <a:txBody>
                    <a:bodyPr/>
                    <a:lstStyle/>
                    <a:p>
                      <a:pPr algn="l" fontAlgn="ctr">
                        <a:buNone/>
                      </a:pPr>
                      <a:r>
                        <a:rPr lang="en-US" sz="850" b="0" i="0" u="none" strike="noStrike">
                          <a:solidFill>
                            <a:srgbClr val="000000"/>
                          </a:solidFill>
                          <a:effectLst/>
                          <a:latin typeface="Trebuchet MS" panose="020B0603020202020204" pitchFamily="34" charset="0"/>
                        </a:rPr>
                        <a:t>PRB0032836 | COINS STB ATDF Fix</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Shannon</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Kohli, Rajesh</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STB</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4503948"/>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PRB0032846 | Log file increase for the MMTG CP API</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Lending API</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1174532"/>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PRB0032849 | To fix GL mapping for FLM PREPY transactions</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Target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2173785"/>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PRB0032862 | Fortify Security Scan Issues</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LCMS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1735356"/>
                  </a:ext>
                </a:extLst>
              </a:tr>
              <a:tr h="148619">
                <a:tc>
                  <a:txBody>
                    <a:bodyPr/>
                    <a:lstStyle/>
                    <a:p>
                      <a:pPr algn="l" fontAlgn="ctr">
                        <a:buNone/>
                      </a:pPr>
                      <a:r>
                        <a:rPr lang="en-US" sz="850" b="0" i="0" u="none" strike="noStrike">
                          <a:solidFill>
                            <a:srgbClr val="000000"/>
                          </a:solidFill>
                          <a:effectLst/>
                          <a:latin typeface="Trebuchet MS" panose="020B0603020202020204" pitchFamily="34" charset="0"/>
                        </a:rPr>
                        <a:t>PRB0032867 | TBD Funding method</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LCMS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3769162"/>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PRB0032891 | Create new job for Simplii ECM drop1</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Target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2747402"/>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PRB0032894 | HPP Mtge Attachment Issue Fix</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CLASS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0519707"/>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PRB0032895 | Subject Property issue fix LFA</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CLASS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4949790"/>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PRB0032939 | Cancellation At the time of invocation target exception</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LCMS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4448765"/>
                  </a:ext>
                </a:extLst>
              </a:tr>
              <a:tr h="148619">
                <a:tc>
                  <a:txBody>
                    <a:bodyPr/>
                    <a:lstStyle/>
                    <a:p>
                      <a:pPr algn="l" fontAlgn="ctr">
                        <a:buNone/>
                      </a:pPr>
                      <a:r>
                        <a:rPr lang="en-US" sz="850" b="0" i="0" u="none" strike="noStrike">
                          <a:solidFill>
                            <a:srgbClr val="000000"/>
                          </a:solidFill>
                          <a:effectLst/>
                          <a:latin typeface="Trebuchet MS" panose="020B0603020202020204" pitchFamily="34" charset="0"/>
                        </a:rPr>
                        <a:t>PRB0032955 | PRB0032955 Resync Nov 2025 release</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50" b="0" i="0" u="none" strike="noStrike">
                          <a:solidFill>
                            <a:srgbClr val="000000"/>
                          </a:solidFill>
                          <a:effectLst/>
                          <a:latin typeface="Trebuchet MS" panose="020B0603020202020204" pitchFamily="34" charset="0"/>
                        </a:rPr>
                        <a:t>CLASS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852768"/>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PRB0057001 | Intermittent Slowness due to Purge Job in Servicing Portal</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Kavita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Dominic, Roshini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PRB</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N</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850" b="0" i="0" u="none" strike="noStrike">
                          <a:solidFill>
                            <a:srgbClr val="000000"/>
                          </a:solidFill>
                          <a:effectLst/>
                          <a:latin typeface="Trebuchet MS" panose="020B0603020202020204" pitchFamily="34" charset="0"/>
                        </a:rPr>
                        <a:t>mMortgage</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51503554"/>
                  </a:ext>
                </a:extLst>
              </a:tr>
              <a:tr h="148619">
                <a:tc>
                  <a:txBody>
                    <a:bodyPr/>
                    <a:lstStyle/>
                    <a:p>
                      <a:pPr algn="l" fontAlgn="ctr">
                        <a:buNone/>
                      </a:pPr>
                      <a:r>
                        <a:rPr lang="sv-SE" sz="850" b="0" i="0" u="none" strike="noStrike">
                          <a:solidFill>
                            <a:srgbClr val="000000"/>
                          </a:solidFill>
                          <a:effectLst/>
                          <a:latin typeface="Trebuchet MS" panose="020B0603020202020204" pitchFamily="34" charset="0"/>
                        </a:rPr>
                        <a:t>3504 | Risk AMS Triad/TAD infra Upgrade</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Sumit</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CCR</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AMS, CLASS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2135747"/>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2800 | IDP MVP3 - CRs and Defect fixes</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Aleksandra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Panagiotoglou, Fred</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MNT</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FFFFFF"/>
                          </a:solidFill>
                          <a:effectLst/>
                          <a:latin typeface="Trebuchet MS" panose="020B0603020202020204" pitchFamily="34" charset="0"/>
                        </a:rPr>
                        <a:t>G</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850" b="0" i="0" u="none" strike="noStrike">
                          <a:solidFill>
                            <a:srgbClr val="000000"/>
                          </a:solidFill>
                          <a:effectLst/>
                          <a:latin typeface="Trebuchet MS" panose="020B0603020202020204" pitchFamily="34" charset="0"/>
                        </a:rPr>
                        <a:t>mMortgage, LCMS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8757056"/>
                  </a:ext>
                </a:extLst>
              </a:tr>
              <a:tr h="148619">
                <a:tc>
                  <a:txBody>
                    <a:bodyPr/>
                    <a:lstStyle/>
                    <a:p>
                      <a:pPr algn="l" fontAlgn="ctr">
                        <a:buNone/>
                      </a:pPr>
                      <a:r>
                        <a:rPr lang="en-US" sz="850" b="0" i="0" u="none" strike="noStrike">
                          <a:solidFill>
                            <a:srgbClr val="000000"/>
                          </a:solidFill>
                          <a:effectLst/>
                          <a:latin typeface="Trebuchet MS" panose="020B0603020202020204" pitchFamily="34" charset="0"/>
                        </a:rPr>
                        <a:t>PCABASE54 | PCABASE54</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Majinder</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Power, Christopher</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MNT</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OO</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50" b="0" i="0" u="none" strike="noStrike">
                          <a:solidFill>
                            <a:srgbClr val="000000"/>
                          </a:solidFill>
                          <a:effectLst/>
                          <a:latin typeface="Trebuchet MS" panose="020B0603020202020204" pitchFamily="34" charset="0"/>
                        </a:rPr>
                        <a:t>PCA/SAV</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2443385"/>
                  </a:ext>
                </a:extLst>
              </a:tr>
              <a:tr h="148619">
                <a:tc>
                  <a:txBody>
                    <a:bodyPr/>
                    <a:lstStyle/>
                    <a:p>
                      <a:pPr algn="l" fontAlgn="ctr">
                        <a:buNone/>
                      </a:pPr>
                      <a:r>
                        <a:rPr lang="en-CA" sz="850" b="0" i="0" u="none" strike="noStrike">
                          <a:solidFill>
                            <a:srgbClr val="000000"/>
                          </a:solidFill>
                          <a:effectLst/>
                          <a:latin typeface="Trebuchet MS" panose="020B0603020202020204" pitchFamily="34" charset="0"/>
                        </a:rPr>
                        <a:t>24025 | Non Business Days Update for year 2026</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Subaleka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Gupta, Suniti</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OR</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OO</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50" b="0" i="0" u="none" strike="noStrike">
                          <a:solidFill>
                            <a:srgbClr val="000000"/>
                          </a:solidFill>
                          <a:effectLst/>
                          <a:latin typeface="Trebuchet MS" panose="020B0603020202020204" pitchFamily="34" charset="0"/>
                        </a:rPr>
                        <a:t>Excalibur</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5010308"/>
                  </a:ext>
                </a:extLst>
              </a:tr>
              <a:tr h="148619">
                <a:tc>
                  <a:txBody>
                    <a:bodyPr/>
                    <a:lstStyle/>
                    <a:p>
                      <a:pPr algn="l" fontAlgn="ctr">
                        <a:buNone/>
                      </a:pPr>
                      <a:r>
                        <a:rPr lang="en-US" sz="850" b="0" i="0" u="none" strike="noStrike">
                          <a:solidFill>
                            <a:srgbClr val="000000"/>
                          </a:solidFill>
                          <a:effectLst/>
                          <a:latin typeface="Trebuchet MS" panose="020B0603020202020204" pitchFamily="34" charset="0"/>
                        </a:rPr>
                        <a:t>22345 | Mortgage Discharge Collatoral Update</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Naveen</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OO</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50" b="0" i="0" u="none" strike="noStrike">
                          <a:solidFill>
                            <a:srgbClr val="000000"/>
                          </a:solidFill>
                          <a:effectLst/>
                          <a:latin typeface="Trebuchet MS" panose="020B0603020202020204" pitchFamily="34" charset="0"/>
                        </a:rPr>
                        <a:t>ENVOY, DDGS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4893852"/>
                  </a:ext>
                </a:extLst>
              </a:tr>
              <a:tr h="148619">
                <a:tc>
                  <a:txBody>
                    <a:bodyPr/>
                    <a:lstStyle/>
                    <a:p>
                      <a:pPr algn="l" fontAlgn="ctr">
                        <a:buNone/>
                      </a:pPr>
                      <a:r>
                        <a:rPr lang="en-US" sz="850" b="0" i="0" u="none" strike="noStrike">
                          <a:solidFill>
                            <a:srgbClr val="000000"/>
                          </a:solidFill>
                          <a:effectLst/>
                          <a:latin typeface="Trebuchet MS" panose="020B0603020202020204" pitchFamily="34" charset="0"/>
                        </a:rPr>
                        <a:t>22958 | PBBT-22958 Update Form 13057 </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Naveen</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50" b="0" i="0" u="none" strike="noStrike">
                          <a:solidFill>
                            <a:srgbClr val="000000"/>
                          </a:solidFill>
                          <a:effectLst/>
                          <a:latin typeface="Trebuchet MS" panose="020B0603020202020204" pitchFamily="34" charset="0"/>
                        </a:rPr>
                        <a:t>DDGS</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 </a:t>
                      </a: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8015874"/>
                  </a:ext>
                </a:extLst>
              </a:tr>
              <a:tr h="148619">
                <a:tc>
                  <a:txBody>
                    <a:bodyPr/>
                    <a:lstStyle/>
                    <a:p>
                      <a:pPr algn="l" fontAlgn="ctr">
                        <a:buNone/>
                      </a:pPr>
                      <a:r>
                        <a:rPr lang="en-US" sz="850" b="0" i="0" u="none" strike="noStrike">
                          <a:solidFill>
                            <a:srgbClr val="000000"/>
                          </a:solidFill>
                          <a:effectLst/>
                          <a:latin typeface="Trebuchet MS" panose="020B0603020202020204" pitchFamily="34" charset="0"/>
                        </a:rPr>
                        <a:t>24287 | PBBt-24287 Update Form 3958 BIL (Wires T&amp;C)</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CA" sz="850" b="0" i="0" u="none" strike="noStrike">
                          <a:solidFill>
                            <a:srgbClr val="000000"/>
                          </a:solidFill>
                          <a:effectLst/>
                          <a:latin typeface="Trebuchet MS" panose="020B0603020202020204" pitchFamily="34" charset="0"/>
                        </a:rPr>
                        <a:t>Ganesh</a:t>
                      </a:r>
                      <a:endParaRPr lang="en-US" sz="850" b="0" i="0" u="none" strike="noStrike">
                        <a:solidFill>
                          <a:srgbClr val="000000"/>
                        </a:solidFill>
                        <a:effectLst/>
                        <a:latin typeface="Trebuchet MS" panose="020B0603020202020204" pitchFamily="34" charset="0"/>
                      </a:endParaRP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50" b="0" i="0" u="none" strike="noStrike">
                          <a:solidFill>
                            <a:srgbClr val="000000"/>
                          </a:solidFill>
                          <a:effectLst/>
                          <a:latin typeface="Trebuchet MS" panose="020B0603020202020204" pitchFamily="34" charset="0"/>
                        </a:rPr>
                        <a:t>Sahni, Rachna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CA" sz="850" b="0" i="0" u="none" strike="noStrike">
                          <a:solidFill>
                            <a:srgbClr val="000000"/>
                          </a:solidFill>
                          <a:effectLst/>
                          <a:latin typeface="Trebuchet MS" panose="020B0603020202020204" pitchFamily="34" charset="0"/>
                        </a:rPr>
                        <a:t>MOP</a:t>
                      </a:r>
                      <a:endParaRPr lang="en-US" sz="850" b="0" i="0" u="none" strike="noStrike">
                        <a:solidFill>
                          <a:srgbClr val="000000"/>
                        </a:solidFill>
                        <a:effectLst/>
                        <a:latin typeface="Trebuchet MS" panose="020B0603020202020204" pitchFamily="34" charset="0"/>
                      </a:endParaRP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CA" sz="850" b="0" i="0" u="none" strike="noStrike">
                          <a:solidFill>
                            <a:srgbClr val="000000"/>
                          </a:solidFill>
                          <a:effectLst/>
                          <a:latin typeface="Trebuchet MS" panose="020B0603020202020204" pitchFamily="34" charset="0"/>
                        </a:rPr>
                        <a:t>-</a:t>
                      </a: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CA" sz="850" b="0" i="0" u="none" strike="noStrike">
                          <a:solidFill>
                            <a:srgbClr val="000000"/>
                          </a:solidFill>
                          <a:effectLst/>
                          <a:latin typeface="Trebuchet MS" panose="020B0603020202020204" pitchFamily="34" charset="0"/>
                        </a:rPr>
                        <a:t>-</a:t>
                      </a: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CA" sz="850" b="0" i="0" u="none" strike="noStrike">
                          <a:solidFill>
                            <a:srgbClr val="000000"/>
                          </a:solidFill>
                          <a:effectLst/>
                          <a:latin typeface="Trebuchet MS" panose="020B0603020202020204" pitchFamily="34" charset="0"/>
                        </a:rPr>
                        <a:t>DDGS</a:t>
                      </a: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7485824"/>
                  </a:ext>
                </a:extLst>
              </a:tr>
              <a:tr h="148619">
                <a:tc>
                  <a:txBody>
                    <a:bodyPr/>
                    <a:lstStyle/>
                    <a:p>
                      <a:pPr algn="l" fontAlgn="ctr">
                        <a:buNone/>
                      </a:pPr>
                      <a:r>
                        <a:rPr lang="en-US" sz="850" b="0" i="0" u="none" strike="noStrike">
                          <a:solidFill>
                            <a:srgbClr val="000000"/>
                          </a:solidFill>
                          <a:effectLst/>
                          <a:latin typeface="Trebuchet MS" panose="020B0603020202020204" pitchFamily="34" charset="0"/>
                        </a:rPr>
                        <a:t>PBBT-16444 | IPS Data Request</a:t>
                      </a:r>
                    </a:p>
                  </a:txBody>
                  <a:tcPr marL="956" marR="956" marT="95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Onkar</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Sahni, Rachna</a:t>
                      </a:r>
                    </a:p>
                  </a:txBody>
                  <a:tcPr marL="956" marR="956" marT="95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MOP</a:t>
                      </a:r>
                    </a:p>
                  </a:txBody>
                  <a:tcPr marL="956" marR="956" marT="95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CA" sz="850" b="0" i="0" u="none" strike="noStrike">
                          <a:solidFill>
                            <a:srgbClr val="000000"/>
                          </a:solidFill>
                          <a:effectLst/>
                          <a:latin typeface="Trebuchet MS" panose="020B0603020202020204" pitchFamily="34" charset="0"/>
                        </a:rPr>
                        <a:t>-</a:t>
                      </a: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CA" sz="850" b="0" i="0" u="none" strike="noStrike">
                          <a:solidFill>
                            <a:srgbClr val="000000"/>
                          </a:solidFill>
                          <a:effectLst/>
                          <a:latin typeface="Trebuchet MS" panose="020B0603020202020204" pitchFamily="34" charset="0"/>
                        </a:rPr>
                        <a:t>-</a:t>
                      </a: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CA" sz="850" b="0" i="0" u="none" strike="noStrike">
                          <a:solidFill>
                            <a:srgbClr val="000000"/>
                          </a:solidFill>
                          <a:effectLst/>
                          <a:latin typeface="Trebuchet MS" panose="020B0603020202020204" pitchFamily="34" charset="0"/>
                        </a:rPr>
                        <a:t>IPS</a:t>
                      </a: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850" b="0" i="0" u="none" strike="noStrike">
                        <a:solidFill>
                          <a:srgbClr val="000000"/>
                        </a:solidFill>
                        <a:effectLst/>
                        <a:latin typeface="Trebuchet MS" panose="020B0603020202020204" pitchFamily="34" charset="0"/>
                      </a:endParaRPr>
                    </a:p>
                  </a:txBody>
                  <a:tcPr marL="956" marR="956" marT="9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1139388"/>
                  </a:ext>
                </a:extLst>
              </a:tr>
            </a:tbl>
          </a:graphicData>
        </a:graphic>
      </p:graphicFrame>
    </p:spTree>
    <p:extLst>
      <p:ext uri="{BB962C8B-B14F-4D97-AF65-F5344CB8AC3E}">
        <p14:creationId xmlns:p14="http://schemas.microsoft.com/office/powerpoint/2010/main" val="2719458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63B66-B632-D886-FFCC-0DB8B45A657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228F1DC-71C2-B9D1-B622-679566433774}"/>
              </a:ext>
            </a:extLst>
          </p:cNvPr>
          <p:cNvSpPr txBox="1">
            <a:spLocks/>
          </p:cNvSpPr>
          <p:nvPr/>
        </p:nvSpPr>
        <p:spPr>
          <a:xfrm>
            <a:off x="117632" y="150313"/>
            <a:ext cx="11610079"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lvl="0">
              <a:defRPr/>
            </a:pPr>
            <a:r>
              <a:rPr lang="en-CA" sz="2800"/>
              <a:t>November 16</a:t>
            </a:r>
            <a:r>
              <a:rPr lang="en-CA" sz="2800" baseline="30000"/>
              <a:t>th</a:t>
            </a:r>
            <a:r>
              <a:rPr lang="en-CA" sz="2800"/>
              <a:t> Release </a:t>
            </a:r>
            <a:r>
              <a:rPr kumimoji="0" lang="en-CA" sz="2800" b="1" i="0" u="none" strike="noStrike" kern="1200" cap="none" spc="0" normalizeH="0" baseline="0" noProof="0">
                <a:ln>
                  <a:noFill/>
                </a:ln>
                <a:solidFill>
                  <a:srgbClr val="D40139"/>
                </a:solidFill>
                <a:effectLst/>
                <a:uLnTx/>
                <a:uFillTx/>
                <a:latin typeface="Trebuchet MS"/>
                <a:ea typeface="+mj-ea"/>
                <a:cs typeface="+mj-cs"/>
              </a:rPr>
              <a:t>Project SIT, UAT, &amp; PAT Timelines </a:t>
            </a:r>
          </a:p>
        </p:txBody>
      </p:sp>
      <p:graphicFrame>
        <p:nvGraphicFramePr>
          <p:cNvPr id="9" name="Table 8">
            <a:extLst>
              <a:ext uri="{FF2B5EF4-FFF2-40B4-BE49-F238E27FC236}">
                <a16:creationId xmlns:a16="http://schemas.microsoft.com/office/drawing/2014/main" id="{B6B26D5E-2ADF-215C-F15E-6BF92A851694}"/>
              </a:ext>
            </a:extLst>
          </p:cNvPr>
          <p:cNvGraphicFramePr>
            <a:graphicFrameLocks noGrp="1"/>
          </p:cNvGraphicFramePr>
          <p:nvPr>
            <p:extLst>
              <p:ext uri="{D42A27DB-BD31-4B8C-83A1-F6EECF244321}">
                <p14:modId xmlns:p14="http://schemas.microsoft.com/office/powerpoint/2010/main" val="2551951271"/>
              </p:ext>
            </p:extLst>
          </p:nvPr>
        </p:nvGraphicFramePr>
        <p:xfrm>
          <a:off x="117632" y="753161"/>
          <a:ext cx="11610075" cy="5726016"/>
        </p:xfrm>
        <a:graphic>
          <a:graphicData uri="http://schemas.openxmlformats.org/drawingml/2006/table">
            <a:tbl>
              <a:tblPr/>
              <a:tblGrid>
                <a:gridCol w="1012265">
                  <a:extLst>
                    <a:ext uri="{9D8B030D-6E8A-4147-A177-3AD203B41FA5}">
                      <a16:colId xmlns:a16="http://schemas.microsoft.com/office/drawing/2014/main" val="4028647111"/>
                    </a:ext>
                  </a:extLst>
                </a:gridCol>
                <a:gridCol w="2117496">
                  <a:extLst>
                    <a:ext uri="{9D8B030D-6E8A-4147-A177-3AD203B41FA5}">
                      <a16:colId xmlns:a16="http://schemas.microsoft.com/office/drawing/2014/main" val="1231336353"/>
                    </a:ext>
                  </a:extLst>
                </a:gridCol>
                <a:gridCol w="568110">
                  <a:extLst>
                    <a:ext uri="{9D8B030D-6E8A-4147-A177-3AD203B41FA5}">
                      <a16:colId xmlns:a16="http://schemas.microsoft.com/office/drawing/2014/main" val="421257627"/>
                    </a:ext>
                  </a:extLst>
                </a:gridCol>
                <a:gridCol w="371853">
                  <a:extLst>
                    <a:ext uri="{9D8B030D-6E8A-4147-A177-3AD203B41FA5}">
                      <a16:colId xmlns:a16="http://schemas.microsoft.com/office/drawing/2014/main" val="2212344150"/>
                    </a:ext>
                  </a:extLst>
                </a:gridCol>
                <a:gridCol w="578438">
                  <a:extLst>
                    <a:ext uri="{9D8B030D-6E8A-4147-A177-3AD203B41FA5}">
                      <a16:colId xmlns:a16="http://schemas.microsoft.com/office/drawing/2014/main" val="3160024168"/>
                    </a:ext>
                  </a:extLst>
                </a:gridCol>
                <a:gridCol w="578438">
                  <a:extLst>
                    <a:ext uri="{9D8B030D-6E8A-4147-A177-3AD203B41FA5}">
                      <a16:colId xmlns:a16="http://schemas.microsoft.com/office/drawing/2014/main" val="3838390053"/>
                    </a:ext>
                  </a:extLst>
                </a:gridCol>
                <a:gridCol w="154940">
                  <a:extLst>
                    <a:ext uri="{9D8B030D-6E8A-4147-A177-3AD203B41FA5}">
                      <a16:colId xmlns:a16="http://schemas.microsoft.com/office/drawing/2014/main" val="825240528"/>
                    </a:ext>
                  </a:extLst>
                </a:gridCol>
                <a:gridCol w="123951">
                  <a:extLst>
                    <a:ext uri="{9D8B030D-6E8A-4147-A177-3AD203B41FA5}">
                      <a16:colId xmlns:a16="http://schemas.microsoft.com/office/drawing/2014/main" val="157059321"/>
                    </a:ext>
                  </a:extLst>
                </a:gridCol>
                <a:gridCol w="144608">
                  <a:extLst>
                    <a:ext uri="{9D8B030D-6E8A-4147-A177-3AD203B41FA5}">
                      <a16:colId xmlns:a16="http://schemas.microsoft.com/office/drawing/2014/main" val="1545389653"/>
                    </a:ext>
                  </a:extLst>
                </a:gridCol>
                <a:gridCol w="165268">
                  <a:extLst>
                    <a:ext uri="{9D8B030D-6E8A-4147-A177-3AD203B41FA5}">
                      <a16:colId xmlns:a16="http://schemas.microsoft.com/office/drawing/2014/main" val="613648160"/>
                    </a:ext>
                  </a:extLst>
                </a:gridCol>
                <a:gridCol w="165268">
                  <a:extLst>
                    <a:ext uri="{9D8B030D-6E8A-4147-A177-3AD203B41FA5}">
                      <a16:colId xmlns:a16="http://schemas.microsoft.com/office/drawing/2014/main" val="4078788603"/>
                    </a:ext>
                  </a:extLst>
                </a:gridCol>
                <a:gridCol w="165268">
                  <a:extLst>
                    <a:ext uri="{9D8B030D-6E8A-4147-A177-3AD203B41FA5}">
                      <a16:colId xmlns:a16="http://schemas.microsoft.com/office/drawing/2014/main" val="617821401"/>
                    </a:ext>
                  </a:extLst>
                </a:gridCol>
                <a:gridCol w="165268">
                  <a:extLst>
                    <a:ext uri="{9D8B030D-6E8A-4147-A177-3AD203B41FA5}">
                      <a16:colId xmlns:a16="http://schemas.microsoft.com/office/drawing/2014/main" val="3766368187"/>
                    </a:ext>
                  </a:extLst>
                </a:gridCol>
                <a:gridCol w="165268">
                  <a:extLst>
                    <a:ext uri="{9D8B030D-6E8A-4147-A177-3AD203B41FA5}">
                      <a16:colId xmlns:a16="http://schemas.microsoft.com/office/drawing/2014/main" val="886212736"/>
                    </a:ext>
                  </a:extLst>
                </a:gridCol>
                <a:gridCol w="165268">
                  <a:extLst>
                    <a:ext uri="{9D8B030D-6E8A-4147-A177-3AD203B41FA5}">
                      <a16:colId xmlns:a16="http://schemas.microsoft.com/office/drawing/2014/main" val="2428016292"/>
                    </a:ext>
                  </a:extLst>
                </a:gridCol>
                <a:gridCol w="165268">
                  <a:extLst>
                    <a:ext uri="{9D8B030D-6E8A-4147-A177-3AD203B41FA5}">
                      <a16:colId xmlns:a16="http://schemas.microsoft.com/office/drawing/2014/main" val="1515811524"/>
                    </a:ext>
                  </a:extLst>
                </a:gridCol>
                <a:gridCol w="165268">
                  <a:extLst>
                    <a:ext uri="{9D8B030D-6E8A-4147-A177-3AD203B41FA5}">
                      <a16:colId xmlns:a16="http://schemas.microsoft.com/office/drawing/2014/main" val="1487834116"/>
                    </a:ext>
                  </a:extLst>
                </a:gridCol>
                <a:gridCol w="165268">
                  <a:extLst>
                    <a:ext uri="{9D8B030D-6E8A-4147-A177-3AD203B41FA5}">
                      <a16:colId xmlns:a16="http://schemas.microsoft.com/office/drawing/2014/main" val="2767890900"/>
                    </a:ext>
                  </a:extLst>
                </a:gridCol>
                <a:gridCol w="165268">
                  <a:extLst>
                    <a:ext uri="{9D8B030D-6E8A-4147-A177-3AD203B41FA5}">
                      <a16:colId xmlns:a16="http://schemas.microsoft.com/office/drawing/2014/main" val="1399163556"/>
                    </a:ext>
                  </a:extLst>
                </a:gridCol>
                <a:gridCol w="165268">
                  <a:extLst>
                    <a:ext uri="{9D8B030D-6E8A-4147-A177-3AD203B41FA5}">
                      <a16:colId xmlns:a16="http://schemas.microsoft.com/office/drawing/2014/main" val="2290119620"/>
                    </a:ext>
                  </a:extLst>
                </a:gridCol>
                <a:gridCol w="165268">
                  <a:extLst>
                    <a:ext uri="{9D8B030D-6E8A-4147-A177-3AD203B41FA5}">
                      <a16:colId xmlns:a16="http://schemas.microsoft.com/office/drawing/2014/main" val="3524218558"/>
                    </a:ext>
                  </a:extLst>
                </a:gridCol>
                <a:gridCol w="165268">
                  <a:extLst>
                    <a:ext uri="{9D8B030D-6E8A-4147-A177-3AD203B41FA5}">
                      <a16:colId xmlns:a16="http://schemas.microsoft.com/office/drawing/2014/main" val="2512257719"/>
                    </a:ext>
                  </a:extLst>
                </a:gridCol>
                <a:gridCol w="165268">
                  <a:extLst>
                    <a:ext uri="{9D8B030D-6E8A-4147-A177-3AD203B41FA5}">
                      <a16:colId xmlns:a16="http://schemas.microsoft.com/office/drawing/2014/main" val="1093448778"/>
                    </a:ext>
                  </a:extLst>
                </a:gridCol>
                <a:gridCol w="165268">
                  <a:extLst>
                    <a:ext uri="{9D8B030D-6E8A-4147-A177-3AD203B41FA5}">
                      <a16:colId xmlns:a16="http://schemas.microsoft.com/office/drawing/2014/main" val="1441937571"/>
                    </a:ext>
                  </a:extLst>
                </a:gridCol>
                <a:gridCol w="165268">
                  <a:extLst>
                    <a:ext uri="{9D8B030D-6E8A-4147-A177-3AD203B41FA5}">
                      <a16:colId xmlns:a16="http://schemas.microsoft.com/office/drawing/2014/main" val="2057941618"/>
                    </a:ext>
                  </a:extLst>
                </a:gridCol>
                <a:gridCol w="175596">
                  <a:extLst>
                    <a:ext uri="{9D8B030D-6E8A-4147-A177-3AD203B41FA5}">
                      <a16:colId xmlns:a16="http://schemas.microsoft.com/office/drawing/2014/main" val="54128276"/>
                    </a:ext>
                  </a:extLst>
                </a:gridCol>
                <a:gridCol w="165268">
                  <a:extLst>
                    <a:ext uri="{9D8B030D-6E8A-4147-A177-3AD203B41FA5}">
                      <a16:colId xmlns:a16="http://schemas.microsoft.com/office/drawing/2014/main" val="3066544136"/>
                    </a:ext>
                  </a:extLst>
                </a:gridCol>
                <a:gridCol w="165268">
                  <a:extLst>
                    <a:ext uri="{9D8B030D-6E8A-4147-A177-3AD203B41FA5}">
                      <a16:colId xmlns:a16="http://schemas.microsoft.com/office/drawing/2014/main" val="4024678021"/>
                    </a:ext>
                  </a:extLst>
                </a:gridCol>
                <a:gridCol w="165268">
                  <a:extLst>
                    <a:ext uri="{9D8B030D-6E8A-4147-A177-3AD203B41FA5}">
                      <a16:colId xmlns:a16="http://schemas.microsoft.com/office/drawing/2014/main" val="3463673695"/>
                    </a:ext>
                  </a:extLst>
                </a:gridCol>
                <a:gridCol w="165268">
                  <a:extLst>
                    <a:ext uri="{9D8B030D-6E8A-4147-A177-3AD203B41FA5}">
                      <a16:colId xmlns:a16="http://schemas.microsoft.com/office/drawing/2014/main" val="1038717805"/>
                    </a:ext>
                  </a:extLst>
                </a:gridCol>
                <a:gridCol w="165268">
                  <a:extLst>
                    <a:ext uri="{9D8B030D-6E8A-4147-A177-3AD203B41FA5}">
                      <a16:colId xmlns:a16="http://schemas.microsoft.com/office/drawing/2014/main" val="2208131594"/>
                    </a:ext>
                  </a:extLst>
                </a:gridCol>
                <a:gridCol w="165268">
                  <a:extLst>
                    <a:ext uri="{9D8B030D-6E8A-4147-A177-3AD203B41FA5}">
                      <a16:colId xmlns:a16="http://schemas.microsoft.com/office/drawing/2014/main" val="4137577634"/>
                    </a:ext>
                  </a:extLst>
                </a:gridCol>
                <a:gridCol w="165268">
                  <a:extLst>
                    <a:ext uri="{9D8B030D-6E8A-4147-A177-3AD203B41FA5}">
                      <a16:colId xmlns:a16="http://schemas.microsoft.com/office/drawing/2014/main" val="624453123"/>
                    </a:ext>
                  </a:extLst>
                </a:gridCol>
                <a:gridCol w="165268">
                  <a:extLst>
                    <a:ext uri="{9D8B030D-6E8A-4147-A177-3AD203B41FA5}">
                      <a16:colId xmlns:a16="http://schemas.microsoft.com/office/drawing/2014/main" val="512224461"/>
                    </a:ext>
                  </a:extLst>
                </a:gridCol>
                <a:gridCol w="165268">
                  <a:extLst>
                    <a:ext uri="{9D8B030D-6E8A-4147-A177-3AD203B41FA5}">
                      <a16:colId xmlns:a16="http://schemas.microsoft.com/office/drawing/2014/main" val="1221857730"/>
                    </a:ext>
                  </a:extLst>
                </a:gridCol>
                <a:gridCol w="165268">
                  <a:extLst>
                    <a:ext uri="{9D8B030D-6E8A-4147-A177-3AD203B41FA5}">
                      <a16:colId xmlns:a16="http://schemas.microsoft.com/office/drawing/2014/main" val="3470467832"/>
                    </a:ext>
                  </a:extLst>
                </a:gridCol>
                <a:gridCol w="165268">
                  <a:extLst>
                    <a:ext uri="{9D8B030D-6E8A-4147-A177-3AD203B41FA5}">
                      <a16:colId xmlns:a16="http://schemas.microsoft.com/office/drawing/2014/main" val="2541556041"/>
                    </a:ext>
                  </a:extLst>
                </a:gridCol>
                <a:gridCol w="165268">
                  <a:extLst>
                    <a:ext uri="{9D8B030D-6E8A-4147-A177-3AD203B41FA5}">
                      <a16:colId xmlns:a16="http://schemas.microsoft.com/office/drawing/2014/main" val="1885479197"/>
                    </a:ext>
                  </a:extLst>
                </a:gridCol>
                <a:gridCol w="165268">
                  <a:extLst>
                    <a:ext uri="{9D8B030D-6E8A-4147-A177-3AD203B41FA5}">
                      <a16:colId xmlns:a16="http://schemas.microsoft.com/office/drawing/2014/main" val="3932851652"/>
                    </a:ext>
                  </a:extLst>
                </a:gridCol>
                <a:gridCol w="165268">
                  <a:extLst>
                    <a:ext uri="{9D8B030D-6E8A-4147-A177-3AD203B41FA5}">
                      <a16:colId xmlns:a16="http://schemas.microsoft.com/office/drawing/2014/main" val="3740958184"/>
                    </a:ext>
                  </a:extLst>
                </a:gridCol>
                <a:gridCol w="165268">
                  <a:extLst>
                    <a:ext uri="{9D8B030D-6E8A-4147-A177-3AD203B41FA5}">
                      <a16:colId xmlns:a16="http://schemas.microsoft.com/office/drawing/2014/main" val="1909962407"/>
                    </a:ext>
                  </a:extLst>
                </a:gridCol>
                <a:gridCol w="165268">
                  <a:extLst>
                    <a:ext uri="{9D8B030D-6E8A-4147-A177-3AD203B41FA5}">
                      <a16:colId xmlns:a16="http://schemas.microsoft.com/office/drawing/2014/main" val="3137218260"/>
                    </a:ext>
                  </a:extLst>
                </a:gridCol>
                <a:gridCol w="165268">
                  <a:extLst>
                    <a:ext uri="{9D8B030D-6E8A-4147-A177-3AD203B41FA5}">
                      <a16:colId xmlns:a16="http://schemas.microsoft.com/office/drawing/2014/main" val="4031545435"/>
                    </a:ext>
                  </a:extLst>
                </a:gridCol>
                <a:gridCol w="165268">
                  <a:extLst>
                    <a:ext uri="{9D8B030D-6E8A-4147-A177-3AD203B41FA5}">
                      <a16:colId xmlns:a16="http://schemas.microsoft.com/office/drawing/2014/main" val="4160971425"/>
                    </a:ext>
                  </a:extLst>
                </a:gridCol>
                <a:gridCol w="165268">
                  <a:extLst>
                    <a:ext uri="{9D8B030D-6E8A-4147-A177-3AD203B41FA5}">
                      <a16:colId xmlns:a16="http://schemas.microsoft.com/office/drawing/2014/main" val="1840400996"/>
                    </a:ext>
                  </a:extLst>
                </a:gridCol>
              </a:tblGrid>
              <a:tr h="358872">
                <a:tc>
                  <a:txBody>
                    <a:bodyPr/>
                    <a:lstStyle/>
                    <a:p>
                      <a:pPr algn="ctr" fontAlgn="ctr">
                        <a:buNone/>
                      </a:pPr>
                      <a:r>
                        <a:rPr lang="en-US" sz="850" b="1" i="0" u="none" strike="noStrike">
                          <a:solidFill>
                            <a:srgbClr val="000000"/>
                          </a:solidFill>
                          <a:effectLst/>
                          <a:latin typeface="Trebuchet MS" panose="020B0603020202020204" pitchFamily="34" charset="0"/>
                        </a:rPr>
                        <a:t> </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Name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Impl Date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Phase</a:t>
                      </a:r>
                    </a:p>
                  </a:txBody>
                  <a:tcPr marL="1436" marR="1436" marT="1436"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START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END</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11-Jul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14-Jul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18-Jul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21-Jul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25-Jul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28-Jul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4-Aug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8-Aug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11-Aug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15-Aug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18-Aug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22-Aug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25-Aug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29-Aug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5-Sep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8-Sep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12-Sep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15-Sep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19-Sep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22-Sep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26-Sep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29-Sep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6-Oct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13-Oct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20-Oct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27-Oct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3-Nov</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10-Nov</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14-Nov</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7102972"/>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3745</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 Project JEDI</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15-Sep-25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2820226313"/>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15-Sep-25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738453397"/>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2616</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Renewal Due Diligence </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3-Sep-25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051009239"/>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248977886"/>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3291</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Client Level Pricing</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6-Aug-25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26-Sep-25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754254039"/>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29-Sep-25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241916999"/>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3517</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Property Insurance Cancellation</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7-Aug-25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19-Sep-25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48511947"/>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22-Sep-25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317702683"/>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3503</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CIPS Tranche-3 Ph2</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606853122"/>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401909491"/>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3796</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CLD and Repricing Letters - Imaging in ECM</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3-Sep-25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732824036"/>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530629551"/>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4356</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Credit Bureau Online Services Enhancements - Add Telco Trades &amp; IDX Score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22-Sep-25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541846708"/>
                  </a:ext>
                </a:extLst>
              </a:tr>
              <a:tr h="25652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255186264"/>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3069</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Guardian</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4-Aug-25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26-Sep-25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655454418"/>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29-Sep-25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043774745"/>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4313</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Digital Use Cases: Reverse Franchising</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15-Sep-25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972037216"/>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157517034"/>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4149</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NSOD Forms Update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11-Aug-25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29-Aug-25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947183764"/>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22-Sep-25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135396509"/>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17774</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AMS 2025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15-Sep-25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386701969"/>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827439321"/>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22379</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Risk Issue 7308 - RESL 2.0. Values to Populate CLASS 2012 to Current Data</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29-Sep-25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784229274"/>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214580444"/>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22425</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MVP16 CR65 Excalibur LFA to Appraised Value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29-Sep-25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939152403"/>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79943182"/>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23266</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Ingestion Error Fix - MVP 1 </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15-Sep-25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522965547"/>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840643834"/>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22623</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Eliminate IMDS (Infoprint) dependency for DDGS letters</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432133545"/>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782666602"/>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4105</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Client at Risk</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22-Sep-25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211908971"/>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201391772"/>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23365</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LCMS Funding Condition Issues</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15-Sep-25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971041201"/>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247503286"/>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23552</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Excalibur to RCDW Month End Interest Calculation Update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29-Sep-25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808186797"/>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524444254"/>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23725</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AML CDCC Sustainment Project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222387826"/>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418866064"/>
                  </a:ext>
                </a:extLst>
              </a:tr>
              <a:tr h="129683">
                <a:tc rowSpan="2">
                  <a:txBody>
                    <a:bodyPr/>
                    <a:lstStyle/>
                    <a:p>
                      <a:pPr algn="ctr" fontAlgn="ctr">
                        <a:buNone/>
                      </a:pPr>
                      <a:r>
                        <a:rPr lang="en-US" sz="850" b="1" i="0" u="none" strike="noStrike">
                          <a:solidFill>
                            <a:schemeClr val="tx1"/>
                          </a:solidFill>
                          <a:effectLst/>
                          <a:latin typeface="Trebuchet MS" panose="020B0603020202020204" pitchFamily="34" charset="0"/>
                        </a:rPr>
                        <a:t>3504</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l" fontAlgn="ctr">
                        <a:buNone/>
                      </a:pPr>
                      <a:br>
                        <a:rPr lang="sv-SE" sz="850" b="0" i="0" u="none" strike="noStrike">
                          <a:solidFill>
                            <a:srgbClr val="000000"/>
                          </a:solidFill>
                          <a:effectLst/>
                          <a:latin typeface="Trebuchet MS" panose="020B0603020202020204" pitchFamily="34" charset="0"/>
                        </a:rPr>
                      </a:br>
                      <a:r>
                        <a:rPr lang="sv-SE" sz="850" b="0" i="0" u="none" strike="noStrike">
                          <a:solidFill>
                            <a:srgbClr val="000000"/>
                          </a:solidFill>
                          <a:effectLst/>
                          <a:latin typeface="Trebuchet MS" panose="020B0603020202020204" pitchFamily="34" charset="0"/>
                        </a:rPr>
                        <a:t>Risk AMS Triad/TAD infra Upgrade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14-Jul-25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8-Aug-25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58992999"/>
                  </a:ext>
                </a:extLst>
              </a:tr>
              <a:tr h="1296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11-Aug-25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649614062"/>
                  </a:ext>
                </a:extLst>
              </a:tr>
            </a:tbl>
          </a:graphicData>
        </a:graphic>
      </p:graphicFrame>
    </p:spTree>
    <p:extLst>
      <p:ext uri="{BB962C8B-B14F-4D97-AF65-F5344CB8AC3E}">
        <p14:creationId xmlns:p14="http://schemas.microsoft.com/office/powerpoint/2010/main" val="1467987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3B5D-F25C-0635-E613-D200CF487D0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88C5FBD-BA2A-85E5-6FB5-6D5562683D46}"/>
              </a:ext>
            </a:extLst>
          </p:cNvPr>
          <p:cNvSpPr txBox="1">
            <a:spLocks/>
          </p:cNvSpPr>
          <p:nvPr/>
        </p:nvSpPr>
        <p:spPr>
          <a:xfrm>
            <a:off x="117632" y="150313"/>
            <a:ext cx="11610079"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lvl="0">
              <a:defRPr/>
            </a:pPr>
            <a:r>
              <a:rPr lang="en-CA" sz="2800"/>
              <a:t>November 16</a:t>
            </a:r>
            <a:r>
              <a:rPr lang="en-CA" sz="2800" baseline="30000"/>
              <a:t>th</a:t>
            </a:r>
            <a:r>
              <a:rPr lang="en-CA" sz="2800"/>
              <a:t> Release </a:t>
            </a:r>
            <a:r>
              <a:rPr kumimoji="0" lang="en-CA" sz="2800" b="1" i="0" u="none" strike="noStrike" kern="1200" cap="none" spc="0" normalizeH="0" baseline="0" noProof="0">
                <a:ln>
                  <a:noFill/>
                </a:ln>
                <a:solidFill>
                  <a:srgbClr val="D40139"/>
                </a:solidFill>
                <a:effectLst/>
                <a:uLnTx/>
                <a:uFillTx/>
                <a:latin typeface="Trebuchet MS"/>
                <a:ea typeface="+mj-ea"/>
                <a:cs typeface="+mj-cs"/>
              </a:rPr>
              <a:t>Project SIT, UAT, &amp; PAT Timelines </a:t>
            </a:r>
          </a:p>
        </p:txBody>
      </p:sp>
      <p:graphicFrame>
        <p:nvGraphicFramePr>
          <p:cNvPr id="13" name="Table 12">
            <a:extLst>
              <a:ext uri="{FF2B5EF4-FFF2-40B4-BE49-F238E27FC236}">
                <a16:creationId xmlns:a16="http://schemas.microsoft.com/office/drawing/2014/main" id="{8EAEC7E8-68E5-1683-0473-AEBA68B469D5}"/>
              </a:ext>
            </a:extLst>
          </p:cNvPr>
          <p:cNvGraphicFramePr>
            <a:graphicFrameLocks noGrp="1"/>
          </p:cNvGraphicFramePr>
          <p:nvPr>
            <p:extLst>
              <p:ext uri="{D42A27DB-BD31-4B8C-83A1-F6EECF244321}">
                <p14:modId xmlns:p14="http://schemas.microsoft.com/office/powerpoint/2010/main" val="1550446594"/>
              </p:ext>
            </p:extLst>
          </p:nvPr>
        </p:nvGraphicFramePr>
        <p:xfrm>
          <a:off x="159499" y="753159"/>
          <a:ext cx="11610069" cy="5728286"/>
        </p:xfrm>
        <a:graphic>
          <a:graphicData uri="http://schemas.openxmlformats.org/drawingml/2006/table">
            <a:tbl>
              <a:tblPr/>
              <a:tblGrid>
                <a:gridCol w="820215">
                  <a:extLst>
                    <a:ext uri="{9D8B030D-6E8A-4147-A177-3AD203B41FA5}">
                      <a16:colId xmlns:a16="http://schemas.microsoft.com/office/drawing/2014/main" val="2871677629"/>
                    </a:ext>
                  </a:extLst>
                </a:gridCol>
                <a:gridCol w="2394857">
                  <a:extLst>
                    <a:ext uri="{9D8B030D-6E8A-4147-A177-3AD203B41FA5}">
                      <a16:colId xmlns:a16="http://schemas.microsoft.com/office/drawing/2014/main" val="1614265201"/>
                    </a:ext>
                  </a:extLst>
                </a:gridCol>
                <a:gridCol w="482796">
                  <a:extLst>
                    <a:ext uri="{9D8B030D-6E8A-4147-A177-3AD203B41FA5}">
                      <a16:colId xmlns:a16="http://schemas.microsoft.com/office/drawing/2014/main" val="744761681"/>
                    </a:ext>
                  </a:extLst>
                </a:gridCol>
                <a:gridCol w="371855">
                  <a:extLst>
                    <a:ext uri="{9D8B030D-6E8A-4147-A177-3AD203B41FA5}">
                      <a16:colId xmlns:a16="http://schemas.microsoft.com/office/drawing/2014/main" val="999319676"/>
                    </a:ext>
                  </a:extLst>
                </a:gridCol>
                <a:gridCol w="578437">
                  <a:extLst>
                    <a:ext uri="{9D8B030D-6E8A-4147-A177-3AD203B41FA5}">
                      <a16:colId xmlns:a16="http://schemas.microsoft.com/office/drawing/2014/main" val="566651507"/>
                    </a:ext>
                  </a:extLst>
                </a:gridCol>
                <a:gridCol w="578437">
                  <a:extLst>
                    <a:ext uri="{9D8B030D-6E8A-4147-A177-3AD203B41FA5}">
                      <a16:colId xmlns:a16="http://schemas.microsoft.com/office/drawing/2014/main" val="1596767428"/>
                    </a:ext>
                  </a:extLst>
                </a:gridCol>
                <a:gridCol w="154937">
                  <a:extLst>
                    <a:ext uri="{9D8B030D-6E8A-4147-A177-3AD203B41FA5}">
                      <a16:colId xmlns:a16="http://schemas.microsoft.com/office/drawing/2014/main" val="3921368697"/>
                    </a:ext>
                  </a:extLst>
                </a:gridCol>
                <a:gridCol w="123950">
                  <a:extLst>
                    <a:ext uri="{9D8B030D-6E8A-4147-A177-3AD203B41FA5}">
                      <a16:colId xmlns:a16="http://schemas.microsoft.com/office/drawing/2014/main" val="2069417626"/>
                    </a:ext>
                  </a:extLst>
                </a:gridCol>
                <a:gridCol w="144609">
                  <a:extLst>
                    <a:ext uri="{9D8B030D-6E8A-4147-A177-3AD203B41FA5}">
                      <a16:colId xmlns:a16="http://schemas.microsoft.com/office/drawing/2014/main" val="4152272630"/>
                    </a:ext>
                  </a:extLst>
                </a:gridCol>
                <a:gridCol w="165268">
                  <a:extLst>
                    <a:ext uri="{9D8B030D-6E8A-4147-A177-3AD203B41FA5}">
                      <a16:colId xmlns:a16="http://schemas.microsoft.com/office/drawing/2014/main" val="3297101159"/>
                    </a:ext>
                  </a:extLst>
                </a:gridCol>
                <a:gridCol w="165268">
                  <a:extLst>
                    <a:ext uri="{9D8B030D-6E8A-4147-A177-3AD203B41FA5}">
                      <a16:colId xmlns:a16="http://schemas.microsoft.com/office/drawing/2014/main" val="1850221063"/>
                    </a:ext>
                  </a:extLst>
                </a:gridCol>
                <a:gridCol w="165268">
                  <a:extLst>
                    <a:ext uri="{9D8B030D-6E8A-4147-A177-3AD203B41FA5}">
                      <a16:colId xmlns:a16="http://schemas.microsoft.com/office/drawing/2014/main" val="1678879028"/>
                    </a:ext>
                  </a:extLst>
                </a:gridCol>
                <a:gridCol w="165268">
                  <a:extLst>
                    <a:ext uri="{9D8B030D-6E8A-4147-A177-3AD203B41FA5}">
                      <a16:colId xmlns:a16="http://schemas.microsoft.com/office/drawing/2014/main" val="3022320564"/>
                    </a:ext>
                  </a:extLst>
                </a:gridCol>
                <a:gridCol w="165268">
                  <a:extLst>
                    <a:ext uri="{9D8B030D-6E8A-4147-A177-3AD203B41FA5}">
                      <a16:colId xmlns:a16="http://schemas.microsoft.com/office/drawing/2014/main" val="2045610103"/>
                    </a:ext>
                  </a:extLst>
                </a:gridCol>
                <a:gridCol w="165268">
                  <a:extLst>
                    <a:ext uri="{9D8B030D-6E8A-4147-A177-3AD203B41FA5}">
                      <a16:colId xmlns:a16="http://schemas.microsoft.com/office/drawing/2014/main" val="2402387328"/>
                    </a:ext>
                  </a:extLst>
                </a:gridCol>
                <a:gridCol w="165268">
                  <a:extLst>
                    <a:ext uri="{9D8B030D-6E8A-4147-A177-3AD203B41FA5}">
                      <a16:colId xmlns:a16="http://schemas.microsoft.com/office/drawing/2014/main" val="2275799902"/>
                    </a:ext>
                  </a:extLst>
                </a:gridCol>
                <a:gridCol w="165268">
                  <a:extLst>
                    <a:ext uri="{9D8B030D-6E8A-4147-A177-3AD203B41FA5}">
                      <a16:colId xmlns:a16="http://schemas.microsoft.com/office/drawing/2014/main" val="3614291224"/>
                    </a:ext>
                  </a:extLst>
                </a:gridCol>
                <a:gridCol w="165268">
                  <a:extLst>
                    <a:ext uri="{9D8B030D-6E8A-4147-A177-3AD203B41FA5}">
                      <a16:colId xmlns:a16="http://schemas.microsoft.com/office/drawing/2014/main" val="2215523418"/>
                    </a:ext>
                  </a:extLst>
                </a:gridCol>
                <a:gridCol w="165268">
                  <a:extLst>
                    <a:ext uri="{9D8B030D-6E8A-4147-A177-3AD203B41FA5}">
                      <a16:colId xmlns:a16="http://schemas.microsoft.com/office/drawing/2014/main" val="3221041172"/>
                    </a:ext>
                  </a:extLst>
                </a:gridCol>
                <a:gridCol w="165268">
                  <a:extLst>
                    <a:ext uri="{9D8B030D-6E8A-4147-A177-3AD203B41FA5}">
                      <a16:colId xmlns:a16="http://schemas.microsoft.com/office/drawing/2014/main" val="653189493"/>
                    </a:ext>
                  </a:extLst>
                </a:gridCol>
                <a:gridCol w="165268">
                  <a:extLst>
                    <a:ext uri="{9D8B030D-6E8A-4147-A177-3AD203B41FA5}">
                      <a16:colId xmlns:a16="http://schemas.microsoft.com/office/drawing/2014/main" val="1440324828"/>
                    </a:ext>
                  </a:extLst>
                </a:gridCol>
                <a:gridCol w="165268">
                  <a:extLst>
                    <a:ext uri="{9D8B030D-6E8A-4147-A177-3AD203B41FA5}">
                      <a16:colId xmlns:a16="http://schemas.microsoft.com/office/drawing/2014/main" val="3623534205"/>
                    </a:ext>
                  </a:extLst>
                </a:gridCol>
                <a:gridCol w="165268">
                  <a:extLst>
                    <a:ext uri="{9D8B030D-6E8A-4147-A177-3AD203B41FA5}">
                      <a16:colId xmlns:a16="http://schemas.microsoft.com/office/drawing/2014/main" val="2852383200"/>
                    </a:ext>
                  </a:extLst>
                </a:gridCol>
                <a:gridCol w="165268">
                  <a:extLst>
                    <a:ext uri="{9D8B030D-6E8A-4147-A177-3AD203B41FA5}">
                      <a16:colId xmlns:a16="http://schemas.microsoft.com/office/drawing/2014/main" val="597103219"/>
                    </a:ext>
                  </a:extLst>
                </a:gridCol>
                <a:gridCol w="165268">
                  <a:extLst>
                    <a:ext uri="{9D8B030D-6E8A-4147-A177-3AD203B41FA5}">
                      <a16:colId xmlns:a16="http://schemas.microsoft.com/office/drawing/2014/main" val="45837969"/>
                    </a:ext>
                  </a:extLst>
                </a:gridCol>
                <a:gridCol w="175596">
                  <a:extLst>
                    <a:ext uri="{9D8B030D-6E8A-4147-A177-3AD203B41FA5}">
                      <a16:colId xmlns:a16="http://schemas.microsoft.com/office/drawing/2014/main" val="4234597669"/>
                    </a:ext>
                  </a:extLst>
                </a:gridCol>
                <a:gridCol w="165268">
                  <a:extLst>
                    <a:ext uri="{9D8B030D-6E8A-4147-A177-3AD203B41FA5}">
                      <a16:colId xmlns:a16="http://schemas.microsoft.com/office/drawing/2014/main" val="4290307756"/>
                    </a:ext>
                  </a:extLst>
                </a:gridCol>
                <a:gridCol w="165268">
                  <a:extLst>
                    <a:ext uri="{9D8B030D-6E8A-4147-A177-3AD203B41FA5}">
                      <a16:colId xmlns:a16="http://schemas.microsoft.com/office/drawing/2014/main" val="43553574"/>
                    </a:ext>
                  </a:extLst>
                </a:gridCol>
                <a:gridCol w="165268">
                  <a:extLst>
                    <a:ext uri="{9D8B030D-6E8A-4147-A177-3AD203B41FA5}">
                      <a16:colId xmlns:a16="http://schemas.microsoft.com/office/drawing/2014/main" val="1840943466"/>
                    </a:ext>
                  </a:extLst>
                </a:gridCol>
                <a:gridCol w="165268">
                  <a:extLst>
                    <a:ext uri="{9D8B030D-6E8A-4147-A177-3AD203B41FA5}">
                      <a16:colId xmlns:a16="http://schemas.microsoft.com/office/drawing/2014/main" val="1031343448"/>
                    </a:ext>
                  </a:extLst>
                </a:gridCol>
                <a:gridCol w="165268">
                  <a:extLst>
                    <a:ext uri="{9D8B030D-6E8A-4147-A177-3AD203B41FA5}">
                      <a16:colId xmlns:a16="http://schemas.microsoft.com/office/drawing/2014/main" val="1364630979"/>
                    </a:ext>
                  </a:extLst>
                </a:gridCol>
                <a:gridCol w="165268">
                  <a:extLst>
                    <a:ext uri="{9D8B030D-6E8A-4147-A177-3AD203B41FA5}">
                      <a16:colId xmlns:a16="http://schemas.microsoft.com/office/drawing/2014/main" val="3608670765"/>
                    </a:ext>
                  </a:extLst>
                </a:gridCol>
                <a:gridCol w="165268">
                  <a:extLst>
                    <a:ext uri="{9D8B030D-6E8A-4147-A177-3AD203B41FA5}">
                      <a16:colId xmlns:a16="http://schemas.microsoft.com/office/drawing/2014/main" val="1022426716"/>
                    </a:ext>
                  </a:extLst>
                </a:gridCol>
                <a:gridCol w="165268">
                  <a:extLst>
                    <a:ext uri="{9D8B030D-6E8A-4147-A177-3AD203B41FA5}">
                      <a16:colId xmlns:a16="http://schemas.microsoft.com/office/drawing/2014/main" val="1468054095"/>
                    </a:ext>
                  </a:extLst>
                </a:gridCol>
                <a:gridCol w="165268">
                  <a:extLst>
                    <a:ext uri="{9D8B030D-6E8A-4147-A177-3AD203B41FA5}">
                      <a16:colId xmlns:a16="http://schemas.microsoft.com/office/drawing/2014/main" val="4059719961"/>
                    </a:ext>
                  </a:extLst>
                </a:gridCol>
                <a:gridCol w="165268">
                  <a:extLst>
                    <a:ext uri="{9D8B030D-6E8A-4147-A177-3AD203B41FA5}">
                      <a16:colId xmlns:a16="http://schemas.microsoft.com/office/drawing/2014/main" val="686338680"/>
                    </a:ext>
                  </a:extLst>
                </a:gridCol>
                <a:gridCol w="165268">
                  <a:extLst>
                    <a:ext uri="{9D8B030D-6E8A-4147-A177-3AD203B41FA5}">
                      <a16:colId xmlns:a16="http://schemas.microsoft.com/office/drawing/2014/main" val="780569460"/>
                    </a:ext>
                  </a:extLst>
                </a:gridCol>
                <a:gridCol w="165268">
                  <a:extLst>
                    <a:ext uri="{9D8B030D-6E8A-4147-A177-3AD203B41FA5}">
                      <a16:colId xmlns:a16="http://schemas.microsoft.com/office/drawing/2014/main" val="976479032"/>
                    </a:ext>
                  </a:extLst>
                </a:gridCol>
                <a:gridCol w="165268">
                  <a:extLst>
                    <a:ext uri="{9D8B030D-6E8A-4147-A177-3AD203B41FA5}">
                      <a16:colId xmlns:a16="http://schemas.microsoft.com/office/drawing/2014/main" val="3117674471"/>
                    </a:ext>
                  </a:extLst>
                </a:gridCol>
                <a:gridCol w="165268">
                  <a:extLst>
                    <a:ext uri="{9D8B030D-6E8A-4147-A177-3AD203B41FA5}">
                      <a16:colId xmlns:a16="http://schemas.microsoft.com/office/drawing/2014/main" val="1120787019"/>
                    </a:ext>
                  </a:extLst>
                </a:gridCol>
                <a:gridCol w="165268">
                  <a:extLst>
                    <a:ext uri="{9D8B030D-6E8A-4147-A177-3AD203B41FA5}">
                      <a16:colId xmlns:a16="http://schemas.microsoft.com/office/drawing/2014/main" val="713730131"/>
                    </a:ext>
                  </a:extLst>
                </a:gridCol>
                <a:gridCol w="165268">
                  <a:extLst>
                    <a:ext uri="{9D8B030D-6E8A-4147-A177-3AD203B41FA5}">
                      <a16:colId xmlns:a16="http://schemas.microsoft.com/office/drawing/2014/main" val="1919081185"/>
                    </a:ext>
                  </a:extLst>
                </a:gridCol>
                <a:gridCol w="165268">
                  <a:extLst>
                    <a:ext uri="{9D8B030D-6E8A-4147-A177-3AD203B41FA5}">
                      <a16:colId xmlns:a16="http://schemas.microsoft.com/office/drawing/2014/main" val="977511389"/>
                    </a:ext>
                  </a:extLst>
                </a:gridCol>
                <a:gridCol w="165268">
                  <a:extLst>
                    <a:ext uri="{9D8B030D-6E8A-4147-A177-3AD203B41FA5}">
                      <a16:colId xmlns:a16="http://schemas.microsoft.com/office/drawing/2014/main" val="3075747817"/>
                    </a:ext>
                  </a:extLst>
                </a:gridCol>
                <a:gridCol w="165268">
                  <a:extLst>
                    <a:ext uri="{9D8B030D-6E8A-4147-A177-3AD203B41FA5}">
                      <a16:colId xmlns:a16="http://schemas.microsoft.com/office/drawing/2014/main" val="3173136730"/>
                    </a:ext>
                  </a:extLst>
                </a:gridCol>
              </a:tblGrid>
              <a:tr h="357368">
                <a:tc>
                  <a:txBody>
                    <a:bodyPr/>
                    <a:lstStyle/>
                    <a:p>
                      <a:pPr algn="ctr" fontAlgn="ctr">
                        <a:buNone/>
                      </a:pPr>
                      <a:r>
                        <a:rPr lang="en-US" sz="850" b="1" i="0" u="none" strike="noStrike">
                          <a:solidFill>
                            <a:srgbClr val="000000"/>
                          </a:solidFill>
                          <a:effectLst/>
                          <a:latin typeface="Trebuchet MS" panose="020B0603020202020204" pitchFamily="34" charset="0"/>
                        </a:rPr>
                        <a:t> </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Name</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Impl Date</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Phase</a:t>
                      </a:r>
                    </a:p>
                  </a:txBody>
                  <a:tcPr marL="1422" marR="1422" marT="1422"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START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END</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7-Jul</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11-Jul</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14-Jul</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18-Jul</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21-Jul</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25-Jul</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28-Jul</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1-Aug</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4-Aug</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8-Aug</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11-Aug</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15-Aug</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18-Aug</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22-Aug</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25-Aug</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29-Aug</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1-Sep</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5-Sep</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8-Sep</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12-Sep</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15-Sep</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19-Sep</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22-Sep</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26-Sep</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29-Sep</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3-Oct</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6-Oct</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13-Oct</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20-Oct</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27-Oct</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3-Nov</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10-Nov</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14-Nov</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766577514"/>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PRB0032177</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E37 External Table Upload issue</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2284757082"/>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944893364"/>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PRB0032598</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Excalibur – Remaining amortization issue on renewal confirmation letter for VRM mortgages</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065989634"/>
                  </a:ext>
                </a:extLst>
              </a:tr>
              <a:tr h="21851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472110298"/>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PRB0032484</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Issue with BRUL20703 - Deferred Income Indicator</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785590783"/>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014726777"/>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PRB0057001</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Intermittent Slowness due to Purge Job in Servicing Portal</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029588031"/>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080989574"/>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PRB0032734</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Excalibur – Incorrect Prepayment calculation for multiple prepayment reversal &gt;= 50K with same posting date &amp; transaction</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583128256"/>
                  </a:ext>
                </a:extLst>
              </a:tr>
              <a:tr h="32777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857548655"/>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PRB0032456</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Unassigned files with User ID-Shortage workgroup on LCMS LP</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851254949"/>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72715588"/>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PRB0032685</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Issue with BRUL20853 Do not Decline Refer</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320786359"/>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678373768"/>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PRB0032489</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Real Time Data issue at LCMS end for create date  field</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056347750"/>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744289612"/>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PRB0032788</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Fix shell script to prevent external upload job failure</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123557998"/>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482189753"/>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PRB0032791</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Pentest Fixes 2025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288853229"/>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981182933"/>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PRB0032654 </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Defect 4171 - Deal originated from mMTG with Variable product having any promotional offers we could see Approval/Condit...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297635627"/>
                  </a:ext>
                </a:extLst>
              </a:tr>
              <a:tr h="32777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041206704"/>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PRB0032826</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LCMS Glossary French Description</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855607537"/>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566200383"/>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PRB0032786</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GVS FAIL recd from DM not reflecting on MMTG, system retained GVS PASS incorrectly.</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696035365"/>
                  </a:ext>
                </a:extLst>
              </a:tr>
              <a:tr h="21851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239122881"/>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PRB0032846 </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Log file increase for the MMTG CP API</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872551198"/>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387517206"/>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PRB0032849</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br>
                        <a:rPr lang="en-CA" sz="850" b="0" i="0" u="none" strike="noStrike">
                          <a:solidFill>
                            <a:srgbClr val="000000"/>
                          </a:solidFill>
                          <a:effectLst/>
                          <a:latin typeface="Trebuchet MS" panose="020B0603020202020204" pitchFamily="34" charset="0"/>
                        </a:rPr>
                      </a:br>
                      <a:r>
                        <a:rPr lang="en-CA" sz="850" b="0" i="0" u="none" strike="noStrike">
                          <a:solidFill>
                            <a:srgbClr val="000000"/>
                          </a:solidFill>
                          <a:effectLst/>
                          <a:latin typeface="Trebuchet MS" panose="020B0603020202020204" pitchFamily="34" charset="0"/>
                        </a:rPr>
                        <a:t>To fix GL mapping for FLM PREPY transactions</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873092897"/>
                  </a:ext>
                </a:extLst>
              </a:tr>
              <a:tr h="21851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458867317"/>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PCABASE54</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PCABASE54</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168259235"/>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412932497"/>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PRB0032867</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TBD Funding method</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947742240"/>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375783018"/>
                  </a:ext>
                </a:extLst>
              </a:tr>
              <a:tr h="129063">
                <a:tc rowSpan="2">
                  <a:txBody>
                    <a:bodyPr/>
                    <a:lstStyle/>
                    <a:p>
                      <a:pPr algn="ctr" fontAlgn="ctr">
                        <a:buNone/>
                      </a:pPr>
                      <a:r>
                        <a:rPr lang="en-US" sz="850" b="1" i="0" u="none" strike="noStrike">
                          <a:solidFill>
                            <a:schemeClr val="tx1"/>
                          </a:solidFill>
                          <a:effectLst/>
                          <a:latin typeface="Trebuchet MS" panose="020B0603020202020204" pitchFamily="34" charset="0"/>
                        </a:rPr>
                        <a:t>PRB0032862</a:t>
                      </a:r>
                    </a:p>
                  </a:txBody>
                  <a:tcPr marL="1422" marR="1422" marT="142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Fortify Security Scan Issues</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339686646"/>
                  </a:ext>
                </a:extLst>
              </a:tr>
              <a:tr h="1290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22" marR="1422" marT="14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22" marR="1422" marT="142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22" marR="1422" marT="1422"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a:noFill/>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22" marR="1422" marT="14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317889342"/>
                  </a:ext>
                </a:extLst>
              </a:tr>
            </a:tbl>
          </a:graphicData>
        </a:graphic>
      </p:graphicFrame>
    </p:spTree>
    <p:extLst>
      <p:ext uri="{BB962C8B-B14F-4D97-AF65-F5344CB8AC3E}">
        <p14:creationId xmlns:p14="http://schemas.microsoft.com/office/powerpoint/2010/main" val="517369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2B3C3-AD96-74FA-799D-561B62E77110}"/>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733E5D9-28E1-7C9A-E1FE-BC7BC79ED015}"/>
              </a:ext>
            </a:extLst>
          </p:cNvPr>
          <p:cNvSpPr txBox="1">
            <a:spLocks/>
          </p:cNvSpPr>
          <p:nvPr/>
        </p:nvSpPr>
        <p:spPr>
          <a:xfrm>
            <a:off x="117632" y="150313"/>
            <a:ext cx="11610079"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lvl="0">
              <a:defRPr/>
            </a:pPr>
            <a:r>
              <a:rPr lang="en-CA" sz="2800"/>
              <a:t>November 16</a:t>
            </a:r>
            <a:r>
              <a:rPr lang="en-CA" sz="2800" baseline="30000"/>
              <a:t>th</a:t>
            </a:r>
            <a:r>
              <a:rPr lang="en-CA" sz="2800"/>
              <a:t> Release </a:t>
            </a:r>
            <a:r>
              <a:rPr kumimoji="0" lang="en-CA" sz="2800" b="1" i="0" u="none" strike="noStrike" kern="1200" cap="none" spc="0" normalizeH="0" baseline="0" noProof="0">
                <a:ln>
                  <a:noFill/>
                </a:ln>
                <a:solidFill>
                  <a:srgbClr val="D40139"/>
                </a:solidFill>
                <a:effectLst/>
                <a:uLnTx/>
                <a:uFillTx/>
                <a:latin typeface="Trebuchet MS"/>
                <a:ea typeface="+mj-ea"/>
                <a:cs typeface="+mj-cs"/>
              </a:rPr>
              <a:t>Project SIT, UAT, &amp; PAT Timelines </a:t>
            </a:r>
          </a:p>
        </p:txBody>
      </p:sp>
      <p:graphicFrame>
        <p:nvGraphicFramePr>
          <p:cNvPr id="5" name="Table 4">
            <a:extLst>
              <a:ext uri="{FF2B5EF4-FFF2-40B4-BE49-F238E27FC236}">
                <a16:creationId xmlns:a16="http://schemas.microsoft.com/office/drawing/2014/main" id="{AB8826EE-D327-03C3-6B59-D671AB395286}"/>
              </a:ext>
            </a:extLst>
          </p:cNvPr>
          <p:cNvGraphicFramePr>
            <a:graphicFrameLocks noGrp="1"/>
          </p:cNvGraphicFramePr>
          <p:nvPr>
            <p:extLst>
              <p:ext uri="{D42A27DB-BD31-4B8C-83A1-F6EECF244321}">
                <p14:modId xmlns:p14="http://schemas.microsoft.com/office/powerpoint/2010/main" val="1868532843"/>
              </p:ext>
            </p:extLst>
          </p:nvPr>
        </p:nvGraphicFramePr>
        <p:xfrm>
          <a:off x="117631" y="753159"/>
          <a:ext cx="11610075" cy="5729626"/>
        </p:xfrm>
        <a:graphic>
          <a:graphicData uri="http://schemas.openxmlformats.org/drawingml/2006/table">
            <a:tbl>
              <a:tblPr/>
              <a:tblGrid>
                <a:gridCol w="1012265">
                  <a:extLst>
                    <a:ext uri="{9D8B030D-6E8A-4147-A177-3AD203B41FA5}">
                      <a16:colId xmlns:a16="http://schemas.microsoft.com/office/drawing/2014/main" val="910873439"/>
                    </a:ext>
                  </a:extLst>
                </a:gridCol>
                <a:gridCol w="2117496">
                  <a:extLst>
                    <a:ext uri="{9D8B030D-6E8A-4147-A177-3AD203B41FA5}">
                      <a16:colId xmlns:a16="http://schemas.microsoft.com/office/drawing/2014/main" val="1441174120"/>
                    </a:ext>
                  </a:extLst>
                </a:gridCol>
                <a:gridCol w="568110">
                  <a:extLst>
                    <a:ext uri="{9D8B030D-6E8A-4147-A177-3AD203B41FA5}">
                      <a16:colId xmlns:a16="http://schemas.microsoft.com/office/drawing/2014/main" val="895157286"/>
                    </a:ext>
                  </a:extLst>
                </a:gridCol>
                <a:gridCol w="371853">
                  <a:extLst>
                    <a:ext uri="{9D8B030D-6E8A-4147-A177-3AD203B41FA5}">
                      <a16:colId xmlns:a16="http://schemas.microsoft.com/office/drawing/2014/main" val="3353069445"/>
                    </a:ext>
                  </a:extLst>
                </a:gridCol>
                <a:gridCol w="578438">
                  <a:extLst>
                    <a:ext uri="{9D8B030D-6E8A-4147-A177-3AD203B41FA5}">
                      <a16:colId xmlns:a16="http://schemas.microsoft.com/office/drawing/2014/main" val="2150847014"/>
                    </a:ext>
                  </a:extLst>
                </a:gridCol>
                <a:gridCol w="578438">
                  <a:extLst>
                    <a:ext uri="{9D8B030D-6E8A-4147-A177-3AD203B41FA5}">
                      <a16:colId xmlns:a16="http://schemas.microsoft.com/office/drawing/2014/main" val="4031817969"/>
                    </a:ext>
                  </a:extLst>
                </a:gridCol>
                <a:gridCol w="154940">
                  <a:extLst>
                    <a:ext uri="{9D8B030D-6E8A-4147-A177-3AD203B41FA5}">
                      <a16:colId xmlns:a16="http://schemas.microsoft.com/office/drawing/2014/main" val="1678401701"/>
                    </a:ext>
                  </a:extLst>
                </a:gridCol>
                <a:gridCol w="123951">
                  <a:extLst>
                    <a:ext uri="{9D8B030D-6E8A-4147-A177-3AD203B41FA5}">
                      <a16:colId xmlns:a16="http://schemas.microsoft.com/office/drawing/2014/main" val="2936721573"/>
                    </a:ext>
                  </a:extLst>
                </a:gridCol>
                <a:gridCol w="144608">
                  <a:extLst>
                    <a:ext uri="{9D8B030D-6E8A-4147-A177-3AD203B41FA5}">
                      <a16:colId xmlns:a16="http://schemas.microsoft.com/office/drawing/2014/main" val="1963382152"/>
                    </a:ext>
                  </a:extLst>
                </a:gridCol>
                <a:gridCol w="165268">
                  <a:extLst>
                    <a:ext uri="{9D8B030D-6E8A-4147-A177-3AD203B41FA5}">
                      <a16:colId xmlns:a16="http://schemas.microsoft.com/office/drawing/2014/main" val="1000847062"/>
                    </a:ext>
                  </a:extLst>
                </a:gridCol>
                <a:gridCol w="165268">
                  <a:extLst>
                    <a:ext uri="{9D8B030D-6E8A-4147-A177-3AD203B41FA5}">
                      <a16:colId xmlns:a16="http://schemas.microsoft.com/office/drawing/2014/main" val="1703381275"/>
                    </a:ext>
                  </a:extLst>
                </a:gridCol>
                <a:gridCol w="165268">
                  <a:extLst>
                    <a:ext uri="{9D8B030D-6E8A-4147-A177-3AD203B41FA5}">
                      <a16:colId xmlns:a16="http://schemas.microsoft.com/office/drawing/2014/main" val="581333788"/>
                    </a:ext>
                  </a:extLst>
                </a:gridCol>
                <a:gridCol w="165268">
                  <a:extLst>
                    <a:ext uri="{9D8B030D-6E8A-4147-A177-3AD203B41FA5}">
                      <a16:colId xmlns:a16="http://schemas.microsoft.com/office/drawing/2014/main" val="1770131565"/>
                    </a:ext>
                  </a:extLst>
                </a:gridCol>
                <a:gridCol w="165268">
                  <a:extLst>
                    <a:ext uri="{9D8B030D-6E8A-4147-A177-3AD203B41FA5}">
                      <a16:colId xmlns:a16="http://schemas.microsoft.com/office/drawing/2014/main" val="38963414"/>
                    </a:ext>
                  </a:extLst>
                </a:gridCol>
                <a:gridCol w="165268">
                  <a:extLst>
                    <a:ext uri="{9D8B030D-6E8A-4147-A177-3AD203B41FA5}">
                      <a16:colId xmlns:a16="http://schemas.microsoft.com/office/drawing/2014/main" val="835803736"/>
                    </a:ext>
                  </a:extLst>
                </a:gridCol>
                <a:gridCol w="165268">
                  <a:extLst>
                    <a:ext uri="{9D8B030D-6E8A-4147-A177-3AD203B41FA5}">
                      <a16:colId xmlns:a16="http://schemas.microsoft.com/office/drawing/2014/main" val="1729785"/>
                    </a:ext>
                  </a:extLst>
                </a:gridCol>
                <a:gridCol w="165268">
                  <a:extLst>
                    <a:ext uri="{9D8B030D-6E8A-4147-A177-3AD203B41FA5}">
                      <a16:colId xmlns:a16="http://schemas.microsoft.com/office/drawing/2014/main" val="4209455565"/>
                    </a:ext>
                  </a:extLst>
                </a:gridCol>
                <a:gridCol w="165268">
                  <a:extLst>
                    <a:ext uri="{9D8B030D-6E8A-4147-A177-3AD203B41FA5}">
                      <a16:colId xmlns:a16="http://schemas.microsoft.com/office/drawing/2014/main" val="2362792744"/>
                    </a:ext>
                  </a:extLst>
                </a:gridCol>
                <a:gridCol w="165268">
                  <a:extLst>
                    <a:ext uri="{9D8B030D-6E8A-4147-A177-3AD203B41FA5}">
                      <a16:colId xmlns:a16="http://schemas.microsoft.com/office/drawing/2014/main" val="3642982632"/>
                    </a:ext>
                  </a:extLst>
                </a:gridCol>
                <a:gridCol w="165268">
                  <a:extLst>
                    <a:ext uri="{9D8B030D-6E8A-4147-A177-3AD203B41FA5}">
                      <a16:colId xmlns:a16="http://schemas.microsoft.com/office/drawing/2014/main" val="1453948467"/>
                    </a:ext>
                  </a:extLst>
                </a:gridCol>
                <a:gridCol w="165268">
                  <a:extLst>
                    <a:ext uri="{9D8B030D-6E8A-4147-A177-3AD203B41FA5}">
                      <a16:colId xmlns:a16="http://schemas.microsoft.com/office/drawing/2014/main" val="3831934748"/>
                    </a:ext>
                  </a:extLst>
                </a:gridCol>
                <a:gridCol w="165268">
                  <a:extLst>
                    <a:ext uri="{9D8B030D-6E8A-4147-A177-3AD203B41FA5}">
                      <a16:colId xmlns:a16="http://schemas.microsoft.com/office/drawing/2014/main" val="565866627"/>
                    </a:ext>
                  </a:extLst>
                </a:gridCol>
                <a:gridCol w="165268">
                  <a:extLst>
                    <a:ext uri="{9D8B030D-6E8A-4147-A177-3AD203B41FA5}">
                      <a16:colId xmlns:a16="http://schemas.microsoft.com/office/drawing/2014/main" val="597362039"/>
                    </a:ext>
                  </a:extLst>
                </a:gridCol>
                <a:gridCol w="165268">
                  <a:extLst>
                    <a:ext uri="{9D8B030D-6E8A-4147-A177-3AD203B41FA5}">
                      <a16:colId xmlns:a16="http://schemas.microsoft.com/office/drawing/2014/main" val="4278783645"/>
                    </a:ext>
                  </a:extLst>
                </a:gridCol>
                <a:gridCol w="165268">
                  <a:extLst>
                    <a:ext uri="{9D8B030D-6E8A-4147-A177-3AD203B41FA5}">
                      <a16:colId xmlns:a16="http://schemas.microsoft.com/office/drawing/2014/main" val="4179432450"/>
                    </a:ext>
                  </a:extLst>
                </a:gridCol>
                <a:gridCol w="175596">
                  <a:extLst>
                    <a:ext uri="{9D8B030D-6E8A-4147-A177-3AD203B41FA5}">
                      <a16:colId xmlns:a16="http://schemas.microsoft.com/office/drawing/2014/main" val="848025309"/>
                    </a:ext>
                  </a:extLst>
                </a:gridCol>
                <a:gridCol w="165268">
                  <a:extLst>
                    <a:ext uri="{9D8B030D-6E8A-4147-A177-3AD203B41FA5}">
                      <a16:colId xmlns:a16="http://schemas.microsoft.com/office/drawing/2014/main" val="2664977606"/>
                    </a:ext>
                  </a:extLst>
                </a:gridCol>
                <a:gridCol w="165268">
                  <a:extLst>
                    <a:ext uri="{9D8B030D-6E8A-4147-A177-3AD203B41FA5}">
                      <a16:colId xmlns:a16="http://schemas.microsoft.com/office/drawing/2014/main" val="454665897"/>
                    </a:ext>
                  </a:extLst>
                </a:gridCol>
                <a:gridCol w="165268">
                  <a:extLst>
                    <a:ext uri="{9D8B030D-6E8A-4147-A177-3AD203B41FA5}">
                      <a16:colId xmlns:a16="http://schemas.microsoft.com/office/drawing/2014/main" val="209237528"/>
                    </a:ext>
                  </a:extLst>
                </a:gridCol>
                <a:gridCol w="165268">
                  <a:extLst>
                    <a:ext uri="{9D8B030D-6E8A-4147-A177-3AD203B41FA5}">
                      <a16:colId xmlns:a16="http://schemas.microsoft.com/office/drawing/2014/main" val="3936807498"/>
                    </a:ext>
                  </a:extLst>
                </a:gridCol>
                <a:gridCol w="165268">
                  <a:extLst>
                    <a:ext uri="{9D8B030D-6E8A-4147-A177-3AD203B41FA5}">
                      <a16:colId xmlns:a16="http://schemas.microsoft.com/office/drawing/2014/main" val="1193901092"/>
                    </a:ext>
                  </a:extLst>
                </a:gridCol>
                <a:gridCol w="165268">
                  <a:extLst>
                    <a:ext uri="{9D8B030D-6E8A-4147-A177-3AD203B41FA5}">
                      <a16:colId xmlns:a16="http://schemas.microsoft.com/office/drawing/2014/main" val="191369001"/>
                    </a:ext>
                  </a:extLst>
                </a:gridCol>
                <a:gridCol w="165268">
                  <a:extLst>
                    <a:ext uri="{9D8B030D-6E8A-4147-A177-3AD203B41FA5}">
                      <a16:colId xmlns:a16="http://schemas.microsoft.com/office/drawing/2014/main" val="3693921742"/>
                    </a:ext>
                  </a:extLst>
                </a:gridCol>
                <a:gridCol w="165268">
                  <a:extLst>
                    <a:ext uri="{9D8B030D-6E8A-4147-A177-3AD203B41FA5}">
                      <a16:colId xmlns:a16="http://schemas.microsoft.com/office/drawing/2014/main" val="1758974184"/>
                    </a:ext>
                  </a:extLst>
                </a:gridCol>
                <a:gridCol w="165268">
                  <a:extLst>
                    <a:ext uri="{9D8B030D-6E8A-4147-A177-3AD203B41FA5}">
                      <a16:colId xmlns:a16="http://schemas.microsoft.com/office/drawing/2014/main" val="1846208163"/>
                    </a:ext>
                  </a:extLst>
                </a:gridCol>
                <a:gridCol w="165268">
                  <a:extLst>
                    <a:ext uri="{9D8B030D-6E8A-4147-A177-3AD203B41FA5}">
                      <a16:colId xmlns:a16="http://schemas.microsoft.com/office/drawing/2014/main" val="2818631426"/>
                    </a:ext>
                  </a:extLst>
                </a:gridCol>
                <a:gridCol w="165268">
                  <a:extLst>
                    <a:ext uri="{9D8B030D-6E8A-4147-A177-3AD203B41FA5}">
                      <a16:colId xmlns:a16="http://schemas.microsoft.com/office/drawing/2014/main" val="4111201779"/>
                    </a:ext>
                  </a:extLst>
                </a:gridCol>
                <a:gridCol w="165268">
                  <a:extLst>
                    <a:ext uri="{9D8B030D-6E8A-4147-A177-3AD203B41FA5}">
                      <a16:colId xmlns:a16="http://schemas.microsoft.com/office/drawing/2014/main" val="2579350938"/>
                    </a:ext>
                  </a:extLst>
                </a:gridCol>
                <a:gridCol w="165268">
                  <a:extLst>
                    <a:ext uri="{9D8B030D-6E8A-4147-A177-3AD203B41FA5}">
                      <a16:colId xmlns:a16="http://schemas.microsoft.com/office/drawing/2014/main" val="3160428953"/>
                    </a:ext>
                  </a:extLst>
                </a:gridCol>
                <a:gridCol w="165268">
                  <a:extLst>
                    <a:ext uri="{9D8B030D-6E8A-4147-A177-3AD203B41FA5}">
                      <a16:colId xmlns:a16="http://schemas.microsoft.com/office/drawing/2014/main" val="2833189156"/>
                    </a:ext>
                  </a:extLst>
                </a:gridCol>
                <a:gridCol w="165268">
                  <a:extLst>
                    <a:ext uri="{9D8B030D-6E8A-4147-A177-3AD203B41FA5}">
                      <a16:colId xmlns:a16="http://schemas.microsoft.com/office/drawing/2014/main" val="1243314693"/>
                    </a:ext>
                  </a:extLst>
                </a:gridCol>
                <a:gridCol w="165268">
                  <a:extLst>
                    <a:ext uri="{9D8B030D-6E8A-4147-A177-3AD203B41FA5}">
                      <a16:colId xmlns:a16="http://schemas.microsoft.com/office/drawing/2014/main" val="533011663"/>
                    </a:ext>
                  </a:extLst>
                </a:gridCol>
                <a:gridCol w="165268">
                  <a:extLst>
                    <a:ext uri="{9D8B030D-6E8A-4147-A177-3AD203B41FA5}">
                      <a16:colId xmlns:a16="http://schemas.microsoft.com/office/drawing/2014/main" val="2756853050"/>
                    </a:ext>
                  </a:extLst>
                </a:gridCol>
                <a:gridCol w="165268">
                  <a:extLst>
                    <a:ext uri="{9D8B030D-6E8A-4147-A177-3AD203B41FA5}">
                      <a16:colId xmlns:a16="http://schemas.microsoft.com/office/drawing/2014/main" val="1570612395"/>
                    </a:ext>
                  </a:extLst>
                </a:gridCol>
                <a:gridCol w="165268">
                  <a:extLst>
                    <a:ext uri="{9D8B030D-6E8A-4147-A177-3AD203B41FA5}">
                      <a16:colId xmlns:a16="http://schemas.microsoft.com/office/drawing/2014/main" val="3373111685"/>
                    </a:ext>
                  </a:extLst>
                </a:gridCol>
              </a:tblGrid>
              <a:tr h="490586">
                <a:tc>
                  <a:txBody>
                    <a:bodyPr/>
                    <a:lstStyle/>
                    <a:p>
                      <a:pPr algn="ctr" fontAlgn="ctr">
                        <a:buNone/>
                      </a:pPr>
                      <a:r>
                        <a:rPr lang="en-US" sz="850" b="1" i="0" u="none" strike="noStrike">
                          <a:solidFill>
                            <a:srgbClr val="000000"/>
                          </a:solidFill>
                          <a:effectLst/>
                          <a:latin typeface="Trebuchet MS" panose="020B0603020202020204" pitchFamily="34" charset="0"/>
                        </a:rPr>
                        <a:t> </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Name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Impl Date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Phase</a:t>
                      </a:r>
                    </a:p>
                  </a:txBody>
                  <a:tcPr marL="1436" marR="1436" marT="1436"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START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END</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11-Jul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14-Jul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18-Jul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21-Jul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25-Jul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28-Jul</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4-Aug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8-Aug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11-Aug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15-Aug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18-Aug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22-Aug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25-Aug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29-Aug</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5-Sep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8-Sep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12-Sep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15-Sep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19-Sep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22-Sep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26-Sep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29-Sep</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6-Oct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13-Oct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20-Oct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27-Oct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3-Nov</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10-Nov</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14-Nov</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779475789"/>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PRB0032894</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HPP Mtge Attachment Issue Fix</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3122315068"/>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156497268"/>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PRB0032895</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Subject Property issue fix LFA</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267334527"/>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087774265"/>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PRB0032891</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Create new job for Simplii ECM drop1</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435861121"/>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887688427"/>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23978</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Include Simplii Accounts in DM Global Unsecured Debt Calculation</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22-Oct-25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533792013"/>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006354028"/>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23572</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MOD POD - RESL POD Shift Left Nov Release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8-Sep-25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32550923"/>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641571926"/>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13832/4409</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DM Relationships 4,5,6,7 to be Excluded from Auto-Approval </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22-Sep-25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180792813"/>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594607883"/>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PBBT-23538</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LAS Feed - AML-TMS (Map-585) - Decommission (TO2025000894 - SR054809)</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116512834"/>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025343977"/>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16718</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RAF Program Expansion</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15-Sep-25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724524562"/>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15-Sep-25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628816591"/>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13920</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Deferred Interest Renewal Package Generation - CMC Mortgages</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15-Sep-25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26-Sep-25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971211782"/>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29-Sep-25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689003118"/>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13812</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mMortgage Property Details Updates</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22-Sep-25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877967015"/>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744699568"/>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23113</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Unclaimed Balances Records transfer from NAS to ECM</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22-Sep-25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339987328"/>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203263782"/>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23515</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Update Creditor Insurance Product Summarys for Fax Number</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411158404"/>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51170089"/>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16355</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Bill 72 COPS Monthly Flat Fee (Nov - CRs)</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22-Sep-25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41173505"/>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039756544"/>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PRB0032836</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COINS STB ATDF Fix</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2-Sep-25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26-Sep-25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796177709"/>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7-Oct-25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22-Oct-25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670073803"/>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PRB0032939</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Cancellation At the time of invocation target exception</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103488201"/>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846958168"/>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22958</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PBBT-22958 Update Form 13057 </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751105906"/>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811737006"/>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22345</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850" b="0" i="0" u="none" strike="noStrike">
                          <a:solidFill>
                            <a:srgbClr val="000000"/>
                          </a:solidFill>
                          <a:effectLst/>
                          <a:latin typeface="Trebuchet MS" panose="020B0603020202020204" pitchFamily="34" charset="0"/>
                        </a:rPr>
                        <a:t>Mortgage Discharge Collatoral Update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967895370"/>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929109041"/>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24025</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Non Business Days Update for year 2026</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06256595"/>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804057970"/>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2800</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IDP MVP3 - CRs and Defect fixes</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509182541"/>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20-Oct-25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566198446"/>
                  </a:ext>
                </a:extLst>
              </a:tr>
              <a:tr h="127294">
                <a:tc rowSpan="2">
                  <a:txBody>
                    <a:bodyPr/>
                    <a:lstStyle/>
                    <a:p>
                      <a:pPr algn="ctr" fontAlgn="ctr">
                        <a:buNone/>
                      </a:pPr>
                      <a:r>
                        <a:rPr lang="en-US" sz="850" b="1" i="0" u="none" strike="noStrike">
                          <a:solidFill>
                            <a:schemeClr val="tx1"/>
                          </a:solidFill>
                          <a:effectLst/>
                          <a:latin typeface="Trebuchet MS" panose="020B0603020202020204" pitchFamily="34" charset="0"/>
                        </a:rPr>
                        <a:t>16393</a:t>
                      </a:r>
                    </a:p>
                  </a:txBody>
                  <a:tcPr marL="1436" marR="1436" marT="143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l" fontAlgn="ctr">
                        <a:buNone/>
                      </a:pPr>
                      <a:r>
                        <a:rPr lang="en-CA" sz="850" b="0" i="0" u="none" strike="noStrike">
                          <a:solidFill>
                            <a:srgbClr val="000000"/>
                          </a:solidFill>
                          <a:effectLst/>
                          <a:latin typeface="Trebuchet MS" panose="020B0603020202020204" pitchFamily="34" charset="0"/>
                        </a:rPr>
                        <a:t>Credit Maintenance Platform - Nov Release</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SIT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6-Oct-25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361040033"/>
                  </a:ext>
                </a:extLst>
              </a:tr>
              <a:tr h="12729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50" b="1" i="0" u="none" strike="noStrike">
                          <a:solidFill>
                            <a:srgbClr val="000000"/>
                          </a:solidFill>
                          <a:effectLst/>
                          <a:latin typeface="Trebuchet MS" panose="020B0603020202020204" pitchFamily="34" charset="0"/>
                        </a:rPr>
                        <a:t>UAT</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6B0A"/>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27-Oct-25</a:t>
                      </a:r>
                    </a:p>
                  </a:txBody>
                  <a:tcPr marL="1436" marR="1436" marT="1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31-Oct-25</a:t>
                      </a:r>
                    </a:p>
                  </a:txBody>
                  <a:tcPr marL="1436" marR="1436" marT="143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6B0A"/>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1436" marR="1436" marT="1436"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a:noFill/>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1436" marR="1436" marT="143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910741113"/>
                  </a:ext>
                </a:extLst>
              </a:tr>
            </a:tbl>
          </a:graphicData>
        </a:graphic>
      </p:graphicFrame>
    </p:spTree>
    <p:extLst>
      <p:ext uri="{BB962C8B-B14F-4D97-AF65-F5344CB8AC3E}">
        <p14:creationId xmlns:p14="http://schemas.microsoft.com/office/powerpoint/2010/main" val="3359923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F78D4-7209-8208-80F4-C8FF8417906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25EA5F0-9D31-E19E-5DF0-1B32348D39AD}"/>
              </a:ext>
            </a:extLst>
          </p:cNvPr>
          <p:cNvSpPr txBox="1">
            <a:spLocks/>
          </p:cNvSpPr>
          <p:nvPr/>
        </p:nvSpPr>
        <p:spPr>
          <a:xfrm>
            <a:off x="117632" y="150313"/>
            <a:ext cx="11610079"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lvl="0">
              <a:defRPr/>
            </a:pPr>
            <a:r>
              <a:rPr lang="en-CA" sz="2800"/>
              <a:t>November 16</a:t>
            </a:r>
            <a:r>
              <a:rPr lang="en-CA" sz="2800" baseline="30000"/>
              <a:t>th</a:t>
            </a:r>
            <a:r>
              <a:rPr lang="en-CA" sz="2800"/>
              <a:t> Release </a:t>
            </a:r>
            <a:r>
              <a:rPr kumimoji="0" lang="en-CA" sz="2800" b="1" i="0" u="none" strike="noStrike" kern="1200" cap="none" spc="0" normalizeH="0" baseline="0" noProof="0">
                <a:ln>
                  <a:noFill/>
                </a:ln>
                <a:solidFill>
                  <a:srgbClr val="D40139"/>
                </a:solidFill>
                <a:effectLst/>
                <a:uLnTx/>
                <a:uFillTx/>
                <a:latin typeface="Trebuchet MS"/>
                <a:ea typeface="+mj-ea"/>
                <a:cs typeface="+mj-cs"/>
              </a:rPr>
              <a:t>Project SIT, UAT, &amp; PAT Timelines </a:t>
            </a:r>
          </a:p>
        </p:txBody>
      </p:sp>
      <p:graphicFrame>
        <p:nvGraphicFramePr>
          <p:cNvPr id="6" name="Table 5">
            <a:extLst>
              <a:ext uri="{FF2B5EF4-FFF2-40B4-BE49-F238E27FC236}">
                <a16:creationId xmlns:a16="http://schemas.microsoft.com/office/drawing/2014/main" id="{D33BAAEC-AC8C-B7A8-E154-B6D072B56D8C}"/>
              </a:ext>
            </a:extLst>
          </p:cNvPr>
          <p:cNvGraphicFramePr>
            <a:graphicFrameLocks noGrp="1"/>
          </p:cNvGraphicFramePr>
          <p:nvPr>
            <p:extLst>
              <p:ext uri="{D42A27DB-BD31-4B8C-83A1-F6EECF244321}">
                <p14:modId xmlns:p14="http://schemas.microsoft.com/office/powerpoint/2010/main" val="2723632385"/>
              </p:ext>
            </p:extLst>
          </p:nvPr>
        </p:nvGraphicFramePr>
        <p:xfrm>
          <a:off x="117632" y="753158"/>
          <a:ext cx="11610083" cy="3296324"/>
        </p:xfrm>
        <a:graphic>
          <a:graphicData uri="http://schemas.openxmlformats.org/drawingml/2006/table">
            <a:tbl>
              <a:tblPr/>
              <a:tblGrid>
                <a:gridCol w="1012267">
                  <a:extLst>
                    <a:ext uri="{9D8B030D-6E8A-4147-A177-3AD203B41FA5}">
                      <a16:colId xmlns:a16="http://schemas.microsoft.com/office/drawing/2014/main" val="468548858"/>
                    </a:ext>
                  </a:extLst>
                </a:gridCol>
                <a:gridCol w="2117498">
                  <a:extLst>
                    <a:ext uri="{9D8B030D-6E8A-4147-A177-3AD203B41FA5}">
                      <a16:colId xmlns:a16="http://schemas.microsoft.com/office/drawing/2014/main" val="2821909554"/>
                    </a:ext>
                  </a:extLst>
                </a:gridCol>
                <a:gridCol w="568110">
                  <a:extLst>
                    <a:ext uri="{9D8B030D-6E8A-4147-A177-3AD203B41FA5}">
                      <a16:colId xmlns:a16="http://schemas.microsoft.com/office/drawing/2014/main" val="1391086408"/>
                    </a:ext>
                  </a:extLst>
                </a:gridCol>
                <a:gridCol w="371854">
                  <a:extLst>
                    <a:ext uri="{9D8B030D-6E8A-4147-A177-3AD203B41FA5}">
                      <a16:colId xmlns:a16="http://schemas.microsoft.com/office/drawing/2014/main" val="1310045229"/>
                    </a:ext>
                  </a:extLst>
                </a:gridCol>
                <a:gridCol w="578438">
                  <a:extLst>
                    <a:ext uri="{9D8B030D-6E8A-4147-A177-3AD203B41FA5}">
                      <a16:colId xmlns:a16="http://schemas.microsoft.com/office/drawing/2014/main" val="1752891431"/>
                    </a:ext>
                  </a:extLst>
                </a:gridCol>
                <a:gridCol w="578438">
                  <a:extLst>
                    <a:ext uri="{9D8B030D-6E8A-4147-A177-3AD203B41FA5}">
                      <a16:colId xmlns:a16="http://schemas.microsoft.com/office/drawing/2014/main" val="1050569149"/>
                    </a:ext>
                  </a:extLst>
                </a:gridCol>
                <a:gridCol w="154939">
                  <a:extLst>
                    <a:ext uri="{9D8B030D-6E8A-4147-A177-3AD203B41FA5}">
                      <a16:colId xmlns:a16="http://schemas.microsoft.com/office/drawing/2014/main" val="2785453300"/>
                    </a:ext>
                  </a:extLst>
                </a:gridCol>
                <a:gridCol w="123951">
                  <a:extLst>
                    <a:ext uri="{9D8B030D-6E8A-4147-A177-3AD203B41FA5}">
                      <a16:colId xmlns:a16="http://schemas.microsoft.com/office/drawing/2014/main" val="657055012"/>
                    </a:ext>
                  </a:extLst>
                </a:gridCol>
                <a:gridCol w="144610">
                  <a:extLst>
                    <a:ext uri="{9D8B030D-6E8A-4147-A177-3AD203B41FA5}">
                      <a16:colId xmlns:a16="http://schemas.microsoft.com/office/drawing/2014/main" val="1458539302"/>
                    </a:ext>
                  </a:extLst>
                </a:gridCol>
                <a:gridCol w="165268">
                  <a:extLst>
                    <a:ext uri="{9D8B030D-6E8A-4147-A177-3AD203B41FA5}">
                      <a16:colId xmlns:a16="http://schemas.microsoft.com/office/drawing/2014/main" val="2022890929"/>
                    </a:ext>
                  </a:extLst>
                </a:gridCol>
                <a:gridCol w="165268">
                  <a:extLst>
                    <a:ext uri="{9D8B030D-6E8A-4147-A177-3AD203B41FA5}">
                      <a16:colId xmlns:a16="http://schemas.microsoft.com/office/drawing/2014/main" val="1073264136"/>
                    </a:ext>
                  </a:extLst>
                </a:gridCol>
                <a:gridCol w="165268">
                  <a:extLst>
                    <a:ext uri="{9D8B030D-6E8A-4147-A177-3AD203B41FA5}">
                      <a16:colId xmlns:a16="http://schemas.microsoft.com/office/drawing/2014/main" val="1302256459"/>
                    </a:ext>
                  </a:extLst>
                </a:gridCol>
                <a:gridCol w="165268">
                  <a:extLst>
                    <a:ext uri="{9D8B030D-6E8A-4147-A177-3AD203B41FA5}">
                      <a16:colId xmlns:a16="http://schemas.microsoft.com/office/drawing/2014/main" val="2079563649"/>
                    </a:ext>
                  </a:extLst>
                </a:gridCol>
                <a:gridCol w="165268">
                  <a:extLst>
                    <a:ext uri="{9D8B030D-6E8A-4147-A177-3AD203B41FA5}">
                      <a16:colId xmlns:a16="http://schemas.microsoft.com/office/drawing/2014/main" val="765486654"/>
                    </a:ext>
                  </a:extLst>
                </a:gridCol>
                <a:gridCol w="165268">
                  <a:extLst>
                    <a:ext uri="{9D8B030D-6E8A-4147-A177-3AD203B41FA5}">
                      <a16:colId xmlns:a16="http://schemas.microsoft.com/office/drawing/2014/main" val="1556120080"/>
                    </a:ext>
                  </a:extLst>
                </a:gridCol>
                <a:gridCol w="165268">
                  <a:extLst>
                    <a:ext uri="{9D8B030D-6E8A-4147-A177-3AD203B41FA5}">
                      <a16:colId xmlns:a16="http://schemas.microsoft.com/office/drawing/2014/main" val="3108376607"/>
                    </a:ext>
                  </a:extLst>
                </a:gridCol>
                <a:gridCol w="165268">
                  <a:extLst>
                    <a:ext uri="{9D8B030D-6E8A-4147-A177-3AD203B41FA5}">
                      <a16:colId xmlns:a16="http://schemas.microsoft.com/office/drawing/2014/main" val="2849995598"/>
                    </a:ext>
                  </a:extLst>
                </a:gridCol>
                <a:gridCol w="165268">
                  <a:extLst>
                    <a:ext uri="{9D8B030D-6E8A-4147-A177-3AD203B41FA5}">
                      <a16:colId xmlns:a16="http://schemas.microsoft.com/office/drawing/2014/main" val="980929757"/>
                    </a:ext>
                  </a:extLst>
                </a:gridCol>
                <a:gridCol w="165268">
                  <a:extLst>
                    <a:ext uri="{9D8B030D-6E8A-4147-A177-3AD203B41FA5}">
                      <a16:colId xmlns:a16="http://schemas.microsoft.com/office/drawing/2014/main" val="894171889"/>
                    </a:ext>
                  </a:extLst>
                </a:gridCol>
                <a:gridCol w="165268">
                  <a:extLst>
                    <a:ext uri="{9D8B030D-6E8A-4147-A177-3AD203B41FA5}">
                      <a16:colId xmlns:a16="http://schemas.microsoft.com/office/drawing/2014/main" val="2113967164"/>
                    </a:ext>
                  </a:extLst>
                </a:gridCol>
                <a:gridCol w="165268">
                  <a:extLst>
                    <a:ext uri="{9D8B030D-6E8A-4147-A177-3AD203B41FA5}">
                      <a16:colId xmlns:a16="http://schemas.microsoft.com/office/drawing/2014/main" val="1108441198"/>
                    </a:ext>
                  </a:extLst>
                </a:gridCol>
                <a:gridCol w="165268">
                  <a:extLst>
                    <a:ext uri="{9D8B030D-6E8A-4147-A177-3AD203B41FA5}">
                      <a16:colId xmlns:a16="http://schemas.microsoft.com/office/drawing/2014/main" val="1728997786"/>
                    </a:ext>
                  </a:extLst>
                </a:gridCol>
                <a:gridCol w="165268">
                  <a:extLst>
                    <a:ext uri="{9D8B030D-6E8A-4147-A177-3AD203B41FA5}">
                      <a16:colId xmlns:a16="http://schemas.microsoft.com/office/drawing/2014/main" val="503401668"/>
                    </a:ext>
                  </a:extLst>
                </a:gridCol>
                <a:gridCol w="165268">
                  <a:extLst>
                    <a:ext uri="{9D8B030D-6E8A-4147-A177-3AD203B41FA5}">
                      <a16:colId xmlns:a16="http://schemas.microsoft.com/office/drawing/2014/main" val="2125620512"/>
                    </a:ext>
                  </a:extLst>
                </a:gridCol>
                <a:gridCol w="165268">
                  <a:extLst>
                    <a:ext uri="{9D8B030D-6E8A-4147-A177-3AD203B41FA5}">
                      <a16:colId xmlns:a16="http://schemas.microsoft.com/office/drawing/2014/main" val="3426369268"/>
                    </a:ext>
                  </a:extLst>
                </a:gridCol>
                <a:gridCol w="175598">
                  <a:extLst>
                    <a:ext uri="{9D8B030D-6E8A-4147-A177-3AD203B41FA5}">
                      <a16:colId xmlns:a16="http://schemas.microsoft.com/office/drawing/2014/main" val="1637328365"/>
                    </a:ext>
                  </a:extLst>
                </a:gridCol>
                <a:gridCol w="165268">
                  <a:extLst>
                    <a:ext uri="{9D8B030D-6E8A-4147-A177-3AD203B41FA5}">
                      <a16:colId xmlns:a16="http://schemas.microsoft.com/office/drawing/2014/main" val="2535547962"/>
                    </a:ext>
                  </a:extLst>
                </a:gridCol>
                <a:gridCol w="165268">
                  <a:extLst>
                    <a:ext uri="{9D8B030D-6E8A-4147-A177-3AD203B41FA5}">
                      <a16:colId xmlns:a16="http://schemas.microsoft.com/office/drawing/2014/main" val="1173799837"/>
                    </a:ext>
                  </a:extLst>
                </a:gridCol>
                <a:gridCol w="165268">
                  <a:extLst>
                    <a:ext uri="{9D8B030D-6E8A-4147-A177-3AD203B41FA5}">
                      <a16:colId xmlns:a16="http://schemas.microsoft.com/office/drawing/2014/main" val="1411425380"/>
                    </a:ext>
                  </a:extLst>
                </a:gridCol>
                <a:gridCol w="165268">
                  <a:extLst>
                    <a:ext uri="{9D8B030D-6E8A-4147-A177-3AD203B41FA5}">
                      <a16:colId xmlns:a16="http://schemas.microsoft.com/office/drawing/2014/main" val="3260762789"/>
                    </a:ext>
                  </a:extLst>
                </a:gridCol>
                <a:gridCol w="165268">
                  <a:extLst>
                    <a:ext uri="{9D8B030D-6E8A-4147-A177-3AD203B41FA5}">
                      <a16:colId xmlns:a16="http://schemas.microsoft.com/office/drawing/2014/main" val="1760701950"/>
                    </a:ext>
                  </a:extLst>
                </a:gridCol>
                <a:gridCol w="165268">
                  <a:extLst>
                    <a:ext uri="{9D8B030D-6E8A-4147-A177-3AD203B41FA5}">
                      <a16:colId xmlns:a16="http://schemas.microsoft.com/office/drawing/2014/main" val="3255124017"/>
                    </a:ext>
                  </a:extLst>
                </a:gridCol>
                <a:gridCol w="165268">
                  <a:extLst>
                    <a:ext uri="{9D8B030D-6E8A-4147-A177-3AD203B41FA5}">
                      <a16:colId xmlns:a16="http://schemas.microsoft.com/office/drawing/2014/main" val="2998250968"/>
                    </a:ext>
                  </a:extLst>
                </a:gridCol>
                <a:gridCol w="165268">
                  <a:extLst>
                    <a:ext uri="{9D8B030D-6E8A-4147-A177-3AD203B41FA5}">
                      <a16:colId xmlns:a16="http://schemas.microsoft.com/office/drawing/2014/main" val="4113679552"/>
                    </a:ext>
                  </a:extLst>
                </a:gridCol>
                <a:gridCol w="165268">
                  <a:extLst>
                    <a:ext uri="{9D8B030D-6E8A-4147-A177-3AD203B41FA5}">
                      <a16:colId xmlns:a16="http://schemas.microsoft.com/office/drawing/2014/main" val="815127318"/>
                    </a:ext>
                  </a:extLst>
                </a:gridCol>
                <a:gridCol w="165268">
                  <a:extLst>
                    <a:ext uri="{9D8B030D-6E8A-4147-A177-3AD203B41FA5}">
                      <a16:colId xmlns:a16="http://schemas.microsoft.com/office/drawing/2014/main" val="1595357748"/>
                    </a:ext>
                  </a:extLst>
                </a:gridCol>
                <a:gridCol w="165268">
                  <a:extLst>
                    <a:ext uri="{9D8B030D-6E8A-4147-A177-3AD203B41FA5}">
                      <a16:colId xmlns:a16="http://schemas.microsoft.com/office/drawing/2014/main" val="4249836248"/>
                    </a:ext>
                  </a:extLst>
                </a:gridCol>
                <a:gridCol w="165268">
                  <a:extLst>
                    <a:ext uri="{9D8B030D-6E8A-4147-A177-3AD203B41FA5}">
                      <a16:colId xmlns:a16="http://schemas.microsoft.com/office/drawing/2014/main" val="2737467441"/>
                    </a:ext>
                  </a:extLst>
                </a:gridCol>
                <a:gridCol w="165268">
                  <a:extLst>
                    <a:ext uri="{9D8B030D-6E8A-4147-A177-3AD203B41FA5}">
                      <a16:colId xmlns:a16="http://schemas.microsoft.com/office/drawing/2014/main" val="1644522555"/>
                    </a:ext>
                  </a:extLst>
                </a:gridCol>
                <a:gridCol w="165268">
                  <a:extLst>
                    <a:ext uri="{9D8B030D-6E8A-4147-A177-3AD203B41FA5}">
                      <a16:colId xmlns:a16="http://schemas.microsoft.com/office/drawing/2014/main" val="2804842895"/>
                    </a:ext>
                  </a:extLst>
                </a:gridCol>
                <a:gridCol w="165268">
                  <a:extLst>
                    <a:ext uri="{9D8B030D-6E8A-4147-A177-3AD203B41FA5}">
                      <a16:colId xmlns:a16="http://schemas.microsoft.com/office/drawing/2014/main" val="3870678402"/>
                    </a:ext>
                  </a:extLst>
                </a:gridCol>
                <a:gridCol w="165268">
                  <a:extLst>
                    <a:ext uri="{9D8B030D-6E8A-4147-A177-3AD203B41FA5}">
                      <a16:colId xmlns:a16="http://schemas.microsoft.com/office/drawing/2014/main" val="4023227262"/>
                    </a:ext>
                  </a:extLst>
                </a:gridCol>
                <a:gridCol w="165268">
                  <a:extLst>
                    <a:ext uri="{9D8B030D-6E8A-4147-A177-3AD203B41FA5}">
                      <a16:colId xmlns:a16="http://schemas.microsoft.com/office/drawing/2014/main" val="2068072541"/>
                    </a:ext>
                  </a:extLst>
                </a:gridCol>
                <a:gridCol w="165268">
                  <a:extLst>
                    <a:ext uri="{9D8B030D-6E8A-4147-A177-3AD203B41FA5}">
                      <a16:colId xmlns:a16="http://schemas.microsoft.com/office/drawing/2014/main" val="2503683131"/>
                    </a:ext>
                  </a:extLst>
                </a:gridCol>
                <a:gridCol w="165268">
                  <a:extLst>
                    <a:ext uri="{9D8B030D-6E8A-4147-A177-3AD203B41FA5}">
                      <a16:colId xmlns:a16="http://schemas.microsoft.com/office/drawing/2014/main" val="1523344405"/>
                    </a:ext>
                  </a:extLst>
                </a:gridCol>
              </a:tblGrid>
              <a:tr h="1407206">
                <a:tc>
                  <a:txBody>
                    <a:bodyPr/>
                    <a:lstStyle/>
                    <a:p>
                      <a:pPr algn="ctr" fontAlgn="ctr">
                        <a:buNone/>
                      </a:pPr>
                      <a:r>
                        <a:rPr lang="en-US" sz="850" b="1" i="0" u="none" strike="noStrike">
                          <a:solidFill>
                            <a:srgbClr val="000000"/>
                          </a:solidFill>
                          <a:effectLst/>
                          <a:latin typeface="Trebuchet MS" panose="020B0603020202020204" pitchFamily="34" charset="0"/>
                        </a:rPr>
                        <a:t> </a:t>
                      </a:r>
                    </a:p>
                  </a:txBody>
                  <a:tcPr marL="5024" marR="5024" marT="502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Name</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Impl Date</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Phase</a:t>
                      </a:r>
                    </a:p>
                  </a:txBody>
                  <a:tcPr marL="5024" marR="5024" marT="5024"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START</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END</a:t>
                      </a:r>
                    </a:p>
                  </a:txBody>
                  <a:tcPr marL="5024" marR="5024" marT="502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7-Jul</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11-Jul</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14-Jul</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18-Jul</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21-Jul</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25-Jul</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28-Jul</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1-Aug</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4-Aug</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8-Aug</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11-Aug</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15-Aug</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18-Aug</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22-Aug</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25-Aug</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29-Aug</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1-Sep</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5-Sep</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8-Sep</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12-Sep</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15-Sep</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19-Sep</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22-Sep</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26-Sep</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29-Sep</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3-Oct</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6-Oct</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10-Oct</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13-Oct</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17-Oct</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20-Oct</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24-Oct</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27-Oct</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31-Oct</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3-Nov</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10-Nov</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14-Nov</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5024" marR="5024" marT="5024"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555245608"/>
                  </a:ext>
                </a:extLst>
              </a:tr>
              <a:tr h="269874">
                <a:tc gridSpan="2">
                  <a:txBody>
                    <a:bodyPr/>
                    <a:lstStyle/>
                    <a:p>
                      <a:pPr algn="ctr" fontAlgn="ctr">
                        <a:buNone/>
                      </a:pPr>
                      <a:r>
                        <a:rPr lang="en-US" sz="850" b="1" i="0" u="none" strike="noStrike">
                          <a:solidFill>
                            <a:srgbClr val="000000"/>
                          </a:solidFill>
                          <a:effectLst/>
                          <a:latin typeface="Trebuchet MS" panose="020B0603020202020204" pitchFamily="34" charset="0"/>
                        </a:rPr>
                        <a:t>CBPT Applications </a:t>
                      </a:r>
                    </a:p>
                  </a:txBody>
                  <a:tcPr marL="5024" marR="5024" marT="5024"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gridSpan="4">
                  <a:txBody>
                    <a:bodyPr/>
                    <a:lstStyle/>
                    <a:p>
                      <a:pPr algn="ctr" fontAlgn="ctr">
                        <a:buNone/>
                      </a:pPr>
                      <a:r>
                        <a:rPr lang="en-US" sz="850" b="1" i="0" u="none" strike="noStrike">
                          <a:solidFill>
                            <a:srgbClr val="000000"/>
                          </a:solidFill>
                          <a:effectLst/>
                          <a:latin typeface="Trebuchet MS" panose="020B0603020202020204" pitchFamily="34" charset="0"/>
                        </a:rPr>
                        <a:t> </a:t>
                      </a:r>
                    </a:p>
                  </a:txBody>
                  <a:tcPr marL="5024" marR="5024" marT="5024"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231280203"/>
                  </a:ext>
                </a:extLst>
              </a:tr>
              <a:tr h="269874">
                <a:tc gridSpan="2">
                  <a:txBody>
                    <a:bodyPr/>
                    <a:lstStyle/>
                    <a:p>
                      <a:pPr algn="ctr" fontAlgn="b">
                        <a:buNone/>
                      </a:pPr>
                      <a:r>
                        <a:rPr lang="en-US" sz="850" b="0" i="0" u="none" strike="noStrike">
                          <a:solidFill>
                            <a:srgbClr val="000000"/>
                          </a:solidFill>
                          <a:effectLst/>
                          <a:latin typeface="Trebuchet MS" panose="020B0603020202020204" pitchFamily="34" charset="0"/>
                        </a:rPr>
                        <a:t>Lending API</a:t>
                      </a:r>
                    </a:p>
                  </a:txBody>
                  <a:tcPr marL="5024" marR="5024" marT="50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PAT</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5024" marR="5024" marT="502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2752064012"/>
                  </a:ext>
                </a:extLst>
              </a:tr>
              <a:tr h="269874">
                <a:tc gridSpan="2">
                  <a:txBody>
                    <a:bodyPr/>
                    <a:lstStyle/>
                    <a:p>
                      <a:pPr algn="ctr" fontAlgn="b">
                        <a:buNone/>
                      </a:pPr>
                      <a:r>
                        <a:rPr lang="en-US" sz="850" b="0" i="0" u="none" strike="noStrike">
                          <a:solidFill>
                            <a:srgbClr val="000000"/>
                          </a:solidFill>
                          <a:effectLst/>
                          <a:latin typeface="Trebuchet MS" panose="020B0603020202020204" pitchFamily="34" charset="0"/>
                        </a:rPr>
                        <a:t>DDGS</a:t>
                      </a:r>
                    </a:p>
                  </a:txBody>
                  <a:tcPr marL="5024" marR="5024" marT="50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PAT</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5024" marR="5024" marT="502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853113060"/>
                  </a:ext>
                </a:extLst>
              </a:tr>
              <a:tr h="269874">
                <a:tc gridSpan="2">
                  <a:txBody>
                    <a:bodyPr/>
                    <a:lstStyle/>
                    <a:p>
                      <a:pPr algn="ctr" fontAlgn="b">
                        <a:buNone/>
                      </a:pPr>
                      <a:r>
                        <a:rPr lang="en-US" sz="850" b="0" i="0" u="none" strike="noStrike">
                          <a:solidFill>
                            <a:srgbClr val="000000"/>
                          </a:solidFill>
                          <a:effectLst/>
                          <a:latin typeface="Trebuchet MS" panose="020B0603020202020204" pitchFamily="34" charset="0"/>
                        </a:rPr>
                        <a:t>DM &amp; LCMS</a:t>
                      </a:r>
                    </a:p>
                  </a:txBody>
                  <a:tcPr marL="5024" marR="5024" marT="50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PAT</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5024" marR="5024" marT="502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716306111"/>
                  </a:ext>
                </a:extLst>
              </a:tr>
              <a:tr h="269874">
                <a:tc gridSpan="2">
                  <a:txBody>
                    <a:bodyPr/>
                    <a:lstStyle/>
                    <a:p>
                      <a:pPr algn="ctr" fontAlgn="b">
                        <a:buNone/>
                      </a:pPr>
                      <a:r>
                        <a:rPr lang="en-US" sz="850" b="0" i="0" u="none" strike="noStrike">
                          <a:solidFill>
                            <a:srgbClr val="000000"/>
                          </a:solidFill>
                          <a:effectLst/>
                          <a:latin typeface="Trebuchet MS" panose="020B0603020202020204" pitchFamily="34" charset="0"/>
                        </a:rPr>
                        <a:t>Envoy &amp; RPE</a:t>
                      </a:r>
                    </a:p>
                  </a:txBody>
                  <a:tcPr marL="5024" marR="5024" marT="50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PAT</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5024" marR="5024" marT="502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793200001"/>
                  </a:ext>
                </a:extLst>
              </a:tr>
              <a:tr h="269874">
                <a:tc gridSpan="2">
                  <a:txBody>
                    <a:bodyPr/>
                    <a:lstStyle/>
                    <a:p>
                      <a:pPr algn="ctr" fontAlgn="b">
                        <a:buNone/>
                      </a:pPr>
                      <a:r>
                        <a:rPr lang="en-US" sz="850" b="0" i="0" u="none" strike="noStrike">
                          <a:solidFill>
                            <a:srgbClr val="000000"/>
                          </a:solidFill>
                          <a:effectLst/>
                          <a:latin typeface="Trebuchet MS" panose="020B0603020202020204" pitchFamily="34" charset="0"/>
                        </a:rPr>
                        <a:t>Excalibur</a:t>
                      </a:r>
                    </a:p>
                  </a:txBody>
                  <a:tcPr marL="5024" marR="5024" marT="50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PAT</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5024" marR="5024" marT="502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850" b="0" i="0" u="none" strike="noStrike">
                        <a:solidFill>
                          <a:srgbClr val="000000"/>
                        </a:solidFill>
                        <a:effectLst/>
                        <a:latin typeface="Trebuchet MS" panose="020B0603020202020204" pitchFamily="34" charset="0"/>
                      </a:endParaRPr>
                    </a:p>
                  </a:txBody>
                  <a:tcPr marL="5024" marR="5024" marT="5024"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86668416"/>
                  </a:ext>
                </a:extLst>
              </a:tr>
              <a:tr h="269874">
                <a:tc gridSpan="2">
                  <a:txBody>
                    <a:bodyPr/>
                    <a:lstStyle/>
                    <a:p>
                      <a:pPr algn="ctr" fontAlgn="b">
                        <a:buNone/>
                      </a:pPr>
                      <a:r>
                        <a:rPr lang="en-US" sz="850" b="0" i="0" u="none" strike="noStrike">
                          <a:solidFill>
                            <a:srgbClr val="000000"/>
                          </a:solidFill>
                          <a:effectLst/>
                          <a:latin typeface="Trebuchet MS" panose="020B0603020202020204" pitchFamily="34" charset="0"/>
                        </a:rPr>
                        <a:t>TABS</a:t>
                      </a:r>
                    </a:p>
                  </a:txBody>
                  <a:tcPr marL="5024" marR="5024" marT="50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850" b="0" i="0" u="none" strike="noStrike">
                          <a:solidFill>
                            <a:srgbClr val="000000"/>
                          </a:solidFill>
                          <a:effectLst/>
                          <a:latin typeface="Trebuchet MS" panose="020B0603020202020204" pitchFamily="34" charset="0"/>
                        </a:rPr>
                        <a:t>16-Nov</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850" b="1" i="0" u="none" strike="noStrike">
                          <a:solidFill>
                            <a:srgbClr val="000000"/>
                          </a:solidFill>
                          <a:effectLst/>
                          <a:latin typeface="Trebuchet MS" panose="020B0603020202020204" pitchFamily="34" charset="0"/>
                        </a:rPr>
                        <a:t>PAT</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a:txBody>
                    <a:bodyPr/>
                    <a:lstStyle/>
                    <a:p>
                      <a:pPr algn="ctr" fontAlgn="ctr">
                        <a:buNone/>
                      </a:pPr>
                      <a:r>
                        <a:rPr lang="en-US" sz="850" b="0" i="0" u="none" strike="noStrike">
                          <a:solidFill>
                            <a:srgbClr val="000000"/>
                          </a:solidFill>
                          <a:effectLst/>
                          <a:latin typeface="Trebuchet MS" panose="020B0603020202020204" pitchFamily="34" charset="0"/>
                        </a:rPr>
                        <a:t>13-Oct-25</a:t>
                      </a:r>
                    </a:p>
                  </a:txBody>
                  <a:tcPr marL="5024" marR="5024" marT="5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850" b="0" i="0" u="none" strike="noStrike">
                          <a:solidFill>
                            <a:srgbClr val="000000"/>
                          </a:solidFill>
                          <a:effectLst/>
                          <a:latin typeface="Trebuchet MS" panose="020B0603020202020204" pitchFamily="34" charset="0"/>
                        </a:rPr>
                        <a:t>7-Nov-25</a:t>
                      </a:r>
                    </a:p>
                  </a:txBody>
                  <a:tcPr marL="5024" marR="5024" marT="502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99CCFF"/>
                    </a:solid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850" b="0" i="0" u="none" strike="noStrike">
                          <a:solidFill>
                            <a:srgbClr val="000000"/>
                          </a:solidFill>
                          <a:effectLst/>
                          <a:latin typeface="Trebuchet MS" panose="020B0603020202020204" pitchFamily="34" charset="0"/>
                        </a:rPr>
                        <a:t> </a:t>
                      </a:r>
                    </a:p>
                  </a:txBody>
                  <a:tcPr marL="5024" marR="5024" marT="502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266394679"/>
                  </a:ext>
                </a:extLst>
              </a:tr>
            </a:tbl>
          </a:graphicData>
        </a:graphic>
      </p:graphicFrame>
    </p:spTree>
    <p:extLst>
      <p:ext uri="{BB962C8B-B14F-4D97-AF65-F5344CB8AC3E}">
        <p14:creationId xmlns:p14="http://schemas.microsoft.com/office/powerpoint/2010/main" val="1409431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E66A-FE19-B10F-2F2C-197E139CF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40097-26CA-11BB-0ED1-86637CAC5808}"/>
              </a:ext>
            </a:extLst>
          </p:cNvPr>
          <p:cNvSpPr>
            <a:spLocks noGrp="1"/>
          </p:cNvSpPr>
          <p:nvPr>
            <p:ph type="title"/>
          </p:nvPr>
        </p:nvSpPr>
        <p:spPr>
          <a:xfrm>
            <a:off x="210502" y="179072"/>
            <a:ext cx="10933748" cy="569073"/>
          </a:xfrm>
        </p:spPr>
        <p:txBody>
          <a:bodyPr/>
          <a:lstStyle/>
          <a:p>
            <a:r>
              <a:rPr lang="en-CA" sz="2800"/>
              <a:t>November 16</a:t>
            </a:r>
            <a:r>
              <a:rPr lang="en-CA" sz="2800" baseline="30000"/>
              <a:t>th</a:t>
            </a:r>
            <a:r>
              <a:rPr lang="en-CA" sz="2800"/>
              <a:t> Release Infrastructure Dependencies </a:t>
            </a:r>
            <a:endParaRPr lang="en-US" sz="2800"/>
          </a:p>
        </p:txBody>
      </p:sp>
      <p:graphicFrame>
        <p:nvGraphicFramePr>
          <p:cNvPr id="3" name="Table 2">
            <a:extLst>
              <a:ext uri="{FF2B5EF4-FFF2-40B4-BE49-F238E27FC236}">
                <a16:creationId xmlns:a16="http://schemas.microsoft.com/office/drawing/2014/main" id="{9E18BD14-1A3E-78B8-1B44-19255E1BFFDB}"/>
              </a:ext>
            </a:extLst>
          </p:cNvPr>
          <p:cNvGraphicFramePr>
            <a:graphicFrameLocks noGrp="1"/>
          </p:cNvGraphicFramePr>
          <p:nvPr>
            <p:extLst>
              <p:ext uri="{D42A27DB-BD31-4B8C-83A1-F6EECF244321}">
                <p14:modId xmlns:p14="http://schemas.microsoft.com/office/powerpoint/2010/main" val="2209008056"/>
              </p:ext>
            </p:extLst>
          </p:nvPr>
        </p:nvGraphicFramePr>
        <p:xfrm>
          <a:off x="109755" y="748145"/>
          <a:ext cx="11667691" cy="2165096"/>
        </p:xfrm>
        <a:graphic>
          <a:graphicData uri="http://schemas.openxmlformats.org/drawingml/2006/table">
            <a:tbl>
              <a:tblPr firstRow="1" bandRow="1">
                <a:tableStyleId>{2D5ABB26-0587-4C30-8999-92F81FD0307C}</a:tableStyleId>
              </a:tblPr>
              <a:tblGrid>
                <a:gridCol w="263144">
                  <a:extLst>
                    <a:ext uri="{9D8B030D-6E8A-4147-A177-3AD203B41FA5}">
                      <a16:colId xmlns:a16="http://schemas.microsoft.com/office/drawing/2014/main" val="20000"/>
                    </a:ext>
                  </a:extLst>
                </a:gridCol>
                <a:gridCol w="1475084">
                  <a:extLst>
                    <a:ext uri="{9D8B030D-6E8A-4147-A177-3AD203B41FA5}">
                      <a16:colId xmlns:a16="http://schemas.microsoft.com/office/drawing/2014/main" val="20001"/>
                    </a:ext>
                  </a:extLst>
                </a:gridCol>
                <a:gridCol w="2939768">
                  <a:extLst>
                    <a:ext uri="{9D8B030D-6E8A-4147-A177-3AD203B41FA5}">
                      <a16:colId xmlns:a16="http://schemas.microsoft.com/office/drawing/2014/main" val="338062114"/>
                    </a:ext>
                  </a:extLst>
                </a:gridCol>
                <a:gridCol w="936775">
                  <a:extLst>
                    <a:ext uri="{9D8B030D-6E8A-4147-A177-3AD203B41FA5}">
                      <a16:colId xmlns:a16="http://schemas.microsoft.com/office/drawing/2014/main" val="20003"/>
                    </a:ext>
                  </a:extLst>
                </a:gridCol>
                <a:gridCol w="708024">
                  <a:extLst>
                    <a:ext uri="{9D8B030D-6E8A-4147-A177-3AD203B41FA5}">
                      <a16:colId xmlns:a16="http://schemas.microsoft.com/office/drawing/2014/main" val="20004"/>
                    </a:ext>
                  </a:extLst>
                </a:gridCol>
                <a:gridCol w="1117600">
                  <a:extLst>
                    <a:ext uri="{9D8B030D-6E8A-4147-A177-3AD203B41FA5}">
                      <a16:colId xmlns:a16="http://schemas.microsoft.com/office/drawing/2014/main" val="20005"/>
                    </a:ext>
                  </a:extLst>
                </a:gridCol>
                <a:gridCol w="1308100">
                  <a:extLst>
                    <a:ext uri="{9D8B030D-6E8A-4147-A177-3AD203B41FA5}">
                      <a16:colId xmlns:a16="http://schemas.microsoft.com/office/drawing/2014/main" val="20006"/>
                    </a:ext>
                  </a:extLst>
                </a:gridCol>
                <a:gridCol w="1531405">
                  <a:extLst>
                    <a:ext uri="{9D8B030D-6E8A-4147-A177-3AD203B41FA5}">
                      <a16:colId xmlns:a16="http://schemas.microsoft.com/office/drawing/2014/main" val="20007"/>
                    </a:ext>
                  </a:extLst>
                </a:gridCol>
                <a:gridCol w="1387791">
                  <a:extLst>
                    <a:ext uri="{9D8B030D-6E8A-4147-A177-3AD203B41FA5}">
                      <a16:colId xmlns:a16="http://schemas.microsoft.com/office/drawing/2014/main" val="20011"/>
                    </a:ext>
                  </a:extLst>
                </a:gridCol>
              </a:tblGrid>
              <a:tr h="445710">
                <a:tc>
                  <a:txBody>
                    <a:bodyPr/>
                    <a:lstStyle/>
                    <a:p>
                      <a:pPr algn="ctr">
                        <a:spcBef>
                          <a:spcPts val="100"/>
                        </a:spcBef>
                        <a:spcAft>
                          <a:spcPts val="100"/>
                        </a:spcAft>
                      </a:pPr>
                      <a:r>
                        <a:rPr lang="en-US" sz="1100" b="1">
                          <a:latin typeface="+mn-lt"/>
                        </a:rPr>
                        <a:t>#</a:t>
                      </a:r>
                      <a:endParaRPr lang="en-CA" sz="1100" b="1">
                        <a:latin typeface="+mn-lt"/>
                      </a:endParaRPr>
                    </a:p>
                  </a:txBody>
                  <a:tcPr marL="118872" marR="11887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algn="l">
                        <a:spcBef>
                          <a:spcPts val="100"/>
                        </a:spcBef>
                        <a:spcAft>
                          <a:spcPts val="100"/>
                        </a:spcAft>
                      </a:pPr>
                      <a:r>
                        <a:rPr lang="en-CA" sz="1100" b="1">
                          <a:latin typeface="+mn-lt"/>
                        </a:rPr>
                        <a:t>Project</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algn="ctr">
                        <a:spcBef>
                          <a:spcPts val="100"/>
                        </a:spcBef>
                        <a:spcAft>
                          <a:spcPts val="100"/>
                        </a:spcAft>
                      </a:pPr>
                      <a:r>
                        <a:rPr lang="en-CA" sz="1100" b="1">
                          <a:latin typeface="+mn-lt"/>
                        </a:rPr>
                        <a:t>Short Description</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algn="ctr">
                        <a:spcBef>
                          <a:spcPts val="100"/>
                        </a:spcBef>
                        <a:spcAft>
                          <a:spcPts val="100"/>
                        </a:spcAft>
                      </a:pPr>
                      <a:r>
                        <a:rPr lang="en-CA" sz="1100" b="1">
                          <a:latin typeface="+mn-lt"/>
                        </a:rPr>
                        <a:t>Apps</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Owner</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TO CIS #</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TO/DXC</a:t>
                      </a:r>
                      <a:r>
                        <a:rPr lang="en-CA" sz="1100" b="1" baseline="0">
                          <a:latin typeface="+mn-lt"/>
                        </a:rPr>
                        <a:t> PM</a:t>
                      </a:r>
                      <a:endParaRPr lang="en-CA" sz="1100" b="1">
                        <a:latin typeface="+mn-lt"/>
                      </a:endParaRP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Target Date</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Comments/</a:t>
                      </a:r>
                    </a:p>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Status</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rgbClr val="E7E7E7"/>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extLst>
                  <a:ext uri="{0D108BD9-81ED-4DB2-BD59-A6C34878D82A}">
                    <a16:rowId xmlns:a16="http://schemas.microsoft.com/office/drawing/2014/main" val="10001"/>
                  </a:ext>
                </a:extLst>
              </a:tr>
              <a:tr h="794327">
                <a:tc>
                  <a:txBody>
                    <a:bodyPr/>
                    <a:lstStyle/>
                    <a:p>
                      <a:pPr algn="ctr" rtl="0" fontAlgn="ctr"/>
                      <a:r>
                        <a:rPr lang="en-CA" sz="900" b="0" i="0" u="none" strike="noStrike">
                          <a:solidFill>
                            <a:schemeClr val="tx1"/>
                          </a:solidFill>
                          <a:effectLst/>
                          <a:latin typeface="+mn-lt"/>
                        </a:rPr>
                        <a:t>1</a:t>
                      </a:r>
                      <a:endParaRPr lang="en-US" sz="900" b="0" i="0" u="none" strike="noStrike">
                        <a:solidFill>
                          <a:schemeClr val="tx1"/>
                        </a:solidFill>
                        <a:effectLst/>
                        <a:latin typeface="+mn-lt"/>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l" defTabSz="914400" rtl="0" eaLnBrk="1" fontAlgn="base" latinLnBrk="0" hangingPunct="1">
                        <a:lnSpc>
                          <a:spcPts val="1200"/>
                        </a:lnSpc>
                        <a:spcBef>
                          <a:spcPts val="0"/>
                        </a:spcBef>
                        <a:spcAft>
                          <a:spcPts val="0"/>
                        </a:spcAft>
                        <a:buClrTx/>
                        <a:buSzTx/>
                        <a:buFontTx/>
                        <a:buNone/>
                        <a:tabLst/>
                        <a:defRPr/>
                      </a:pPr>
                      <a:r>
                        <a:rPr lang="sv-SE" sz="1000" b="0" i="0" u="none" strike="noStrike">
                          <a:solidFill>
                            <a:srgbClr val="000000"/>
                          </a:solidFill>
                          <a:effectLst/>
                          <a:latin typeface="Trebuchet MS" panose="020B0603020202020204" pitchFamily="34" charset="0"/>
                        </a:rPr>
                        <a:t>3504 | Risk AMS Triad/TAD infra Upgrade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CA" sz="1000" b="0" i="0" u="none" strike="noStrike" kern="1200">
                          <a:solidFill>
                            <a:schemeClr val="tx1"/>
                          </a:solidFill>
                          <a:effectLst/>
                          <a:latin typeface="+mn-lt"/>
                          <a:ea typeface="+mn-ea"/>
                          <a:cs typeface="+mn-cs"/>
                        </a:rPr>
                        <a:t>1. Upgrade Linux servers to higher version (6.1 to 7.9)</a:t>
                      </a:r>
                    </a:p>
                    <a:p>
                      <a:pPr marL="0" marR="0" lvl="0" indent="0" algn="l" defTabSz="914400" rtl="0" eaLnBrk="1" fontAlgn="ctr" latinLnBrk="0" hangingPunct="1">
                        <a:lnSpc>
                          <a:spcPct val="100000"/>
                        </a:lnSpc>
                        <a:spcBef>
                          <a:spcPts val="0"/>
                        </a:spcBef>
                        <a:spcAft>
                          <a:spcPts val="0"/>
                        </a:spcAft>
                        <a:buClrTx/>
                        <a:buSzTx/>
                        <a:buFontTx/>
                        <a:buNone/>
                        <a:tabLst/>
                        <a:defRPr/>
                      </a:pPr>
                      <a:r>
                        <a:rPr lang="en-CA" sz="1000" b="0" i="0" u="none" strike="noStrike" kern="1200">
                          <a:solidFill>
                            <a:schemeClr val="tx1"/>
                          </a:solidFill>
                          <a:effectLst/>
                          <a:latin typeface="+mn-lt"/>
                          <a:ea typeface="+mn-ea"/>
                          <a:cs typeface="+mn-cs"/>
                        </a:rPr>
                        <a:t>2. Upgrade WebSphere and JBOSS to higher version</a:t>
                      </a:r>
                    </a:p>
                    <a:p>
                      <a:pPr marL="0" marR="0" lvl="0" indent="0" algn="l" defTabSz="914400" rtl="0" eaLnBrk="1" fontAlgn="ctr" latinLnBrk="0" hangingPunct="1">
                        <a:lnSpc>
                          <a:spcPct val="100000"/>
                        </a:lnSpc>
                        <a:spcBef>
                          <a:spcPts val="0"/>
                        </a:spcBef>
                        <a:spcAft>
                          <a:spcPts val="0"/>
                        </a:spcAft>
                        <a:buClrTx/>
                        <a:buSzTx/>
                        <a:buFontTx/>
                        <a:buNone/>
                        <a:tabLst/>
                        <a:defRPr/>
                      </a:pPr>
                      <a:r>
                        <a:rPr lang="en-CA" sz="1000" b="0" i="0" u="none" strike="noStrike" kern="1200">
                          <a:solidFill>
                            <a:schemeClr val="tx1"/>
                          </a:solidFill>
                          <a:effectLst/>
                          <a:latin typeface="+mn-lt"/>
                          <a:ea typeface="+mn-ea"/>
                          <a:cs typeface="+mn-cs"/>
                        </a:rPr>
                        <a:t>3. Upgrade windows server from 2012 to higher version</a:t>
                      </a:r>
                    </a:p>
                    <a:p>
                      <a:pPr marL="0" marR="0" lvl="0" indent="0" algn="l" defTabSz="914400" rtl="0" eaLnBrk="1" fontAlgn="ctr" latinLnBrk="0" hangingPunct="1">
                        <a:lnSpc>
                          <a:spcPct val="100000"/>
                        </a:lnSpc>
                        <a:spcBef>
                          <a:spcPts val="0"/>
                        </a:spcBef>
                        <a:spcAft>
                          <a:spcPts val="0"/>
                        </a:spcAft>
                        <a:buClrTx/>
                        <a:buSzTx/>
                        <a:buFontTx/>
                        <a:buNone/>
                        <a:tabLst/>
                        <a:defRPr/>
                      </a:pPr>
                      <a:r>
                        <a:rPr lang="en-CA" sz="1000" b="0" i="0" u="none" strike="noStrike" kern="1200">
                          <a:solidFill>
                            <a:schemeClr val="tx1"/>
                          </a:solidFill>
                          <a:effectLst/>
                          <a:latin typeface="+mn-lt"/>
                          <a:ea typeface="+mn-ea"/>
                          <a:cs typeface="+mn-cs"/>
                        </a:rPr>
                        <a:t>4. Upgrade SQL DB to higher version</a:t>
                      </a:r>
                      <a:endParaRPr lang="en-US" sz="1000" b="0" i="0" u="none" strike="noStrike" kern="1200">
                        <a:solidFill>
                          <a:schemeClr val="tx1"/>
                        </a:solidFill>
                        <a:effectLst/>
                        <a:latin typeface="+mn-lt"/>
                        <a:ea typeface="+mn-ea"/>
                        <a:cs typeface="+mn-cs"/>
                      </a:endParaRP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CA" sz="1000" b="0" i="0" u="none" strike="noStrike" kern="1200">
                          <a:solidFill>
                            <a:schemeClr val="tx1"/>
                          </a:solidFill>
                          <a:effectLst/>
                          <a:latin typeface="+mn-lt"/>
                          <a:ea typeface="+mn-ea"/>
                          <a:cs typeface="+mn-cs"/>
                        </a:rPr>
                        <a:t>CLASS, AMS</a:t>
                      </a: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CA" sz="1000" b="0" i="0" u="none" strike="noStrike" kern="1200">
                          <a:solidFill>
                            <a:schemeClr val="tx1"/>
                          </a:solidFill>
                          <a:effectLst/>
                          <a:latin typeface="+mn-lt"/>
                          <a:ea typeface="+mn-ea"/>
                          <a:cs typeface="+mn-cs"/>
                        </a:rPr>
                        <a:t>Sumit</a:t>
                      </a: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b="0" i="0" u="none" strike="noStrike" kern="1200">
                          <a:solidFill>
                            <a:schemeClr val="tx1"/>
                          </a:solidFill>
                          <a:effectLst/>
                          <a:latin typeface="+mn-lt"/>
                          <a:ea typeface="+mn-ea"/>
                          <a:cs typeface="+mn-cs"/>
                        </a:rPr>
                        <a:t>TO2025000651 / SR054634</a:t>
                      </a: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1000" b="0" i="0" u="none" strike="noStrike" kern="1200" cap="none" spc="0" normalizeH="0" baseline="0" noProof="0">
                          <a:ln>
                            <a:noFill/>
                          </a:ln>
                          <a:solidFill>
                            <a:prstClr val="black"/>
                          </a:solidFill>
                          <a:effectLst/>
                          <a:uLnTx/>
                          <a:uFillTx/>
                          <a:latin typeface="+mn-lt"/>
                          <a:ea typeface="+mn-ea"/>
                          <a:cs typeface="+mn-cs"/>
                        </a:rPr>
                        <a:t>Ireland, Kevin</a:t>
                      </a: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0" i="0" u="none" strike="noStrike" kern="1200">
                          <a:solidFill>
                            <a:schemeClr val="tx1"/>
                          </a:solidFill>
                          <a:effectLst/>
                          <a:latin typeface="+mn-lt"/>
                          <a:ea typeface="+mn-ea"/>
                          <a:cs typeface="+mn-cs"/>
                        </a:rPr>
                        <a:t>Nov 09: (Backup: Nov 11/12 as applicable) Pre prod activity + Data Migration with AMS CHG record.</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000" b="0" i="0" u="none" strike="noStrike" kern="1200">
                          <a:solidFill>
                            <a:schemeClr val="tx1"/>
                          </a:solidFill>
                          <a:effectLst/>
                          <a:latin typeface="+mn-lt"/>
                          <a:ea typeface="+mn-ea"/>
                          <a:cs typeface="+mn-cs"/>
                        </a:rPr>
                        <a:t>Nov 16: AMS – DNS pointing from Old server to new server. CLASS – Batch changes with code promotion to change the length of a file.</a:t>
                      </a: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algn="ctr" defTabSz="914400" rtl="0" eaLnBrk="1" latinLnBrk="0" hangingPunct="1">
                        <a:spcBef>
                          <a:spcPts val="0"/>
                        </a:spcBef>
                        <a:spcAft>
                          <a:spcPts val="0"/>
                        </a:spcAft>
                        <a:buNone/>
                      </a:pPr>
                      <a:r>
                        <a:rPr lang="sv-SE" sz="1000" b="0" i="0" u="none" strike="noStrike" kern="1200">
                          <a:solidFill>
                            <a:schemeClr val="tx1"/>
                          </a:solidFill>
                          <a:effectLst/>
                          <a:latin typeface="+mn-lt"/>
                          <a:ea typeface="+mn-ea"/>
                          <a:cs typeface="+mn-cs"/>
                        </a:rPr>
                        <a:t>In Progress</a:t>
                      </a: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rgbClr val="E7E7E7"/>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extLst>
                  <a:ext uri="{0D108BD9-81ED-4DB2-BD59-A6C34878D82A}">
                    <a16:rowId xmlns:a16="http://schemas.microsoft.com/office/drawing/2014/main" val="1163387385"/>
                  </a:ext>
                </a:extLst>
              </a:tr>
            </a:tbl>
          </a:graphicData>
        </a:graphic>
      </p:graphicFrame>
    </p:spTree>
    <p:extLst>
      <p:ext uri="{BB962C8B-B14F-4D97-AF65-F5344CB8AC3E}">
        <p14:creationId xmlns:p14="http://schemas.microsoft.com/office/powerpoint/2010/main" val="1435124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3E76F3-05A8-6BE2-3442-2C871F421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C8775-DFEE-B66F-7DE9-D29D14E56D2F}"/>
              </a:ext>
            </a:extLst>
          </p:cNvPr>
          <p:cNvSpPr>
            <a:spLocks noGrp="1"/>
          </p:cNvSpPr>
          <p:nvPr>
            <p:ph type="title"/>
          </p:nvPr>
        </p:nvSpPr>
        <p:spPr>
          <a:xfrm>
            <a:off x="297179" y="-2302"/>
            <a:ext cx="10933748" cy="841248"/>
          </a:xfrm>
        </p:spPr>
        <p:txBody>
          <a:bodyPr/>
          <a:lstStyle/>
          <a:p>
            <a:r>
              <a:rPr lang="en-CA"/>
              <a:t>November 16</a:t>
            </a:r>
            <a:r>
              <a:rPr lang="en-CA" baseline="30000"/>
              <a:t>th</a:t>
            </a:r>
            <a:r>
              <a:rPr lang="en-CA"/>
              <a:t> Release PIV – Initiatives with PIV</a:t>
            </a:r>
          </a:p>
        </p:txBody>
      </p:sp>
      <p:sp>
        <p:nvSpPr>
          <p:cNvPr id="3" name="Footer Placeholder 2">
            <a:extLst>
              <a:ext uri="{FF2B5EF4-FFF2-40B4-BE49-F238E27FC236}">
                <a16:creationId xmlns:a16="http://schemas.microsoft.com/office/drawing/2014/main" id="{93A38DCF-EB1C-F906-D664-A2A0F5E226E0}"/>
              </a:ext>
            </a:extLst>
          </p:cNvPr>
          <p:cNvSpPr>
            <a:spLocks noGrp="1"/>
          </p:cNvSpPr>
          <p:nvPr>
            <p:ph type="ftr" sz="quarter" idx="3"/>
          </p:nvPr>
        </p:nvSpPr>
        <p:spPr/>
        <p:txBody>
          <a:bodyPr/>
          <a:lstStyle/>
          <a:p>
            <a:pPr algn="ctr"/>
            <a:r>
              <a:rPr lang="en-US"/>
              <a:t>INTERNAL</a:t>
            </a:r>
          </a:p>
        </p:txBody>
      </p:sp>
      <p:graphicFrame>
        <p:nvGraphicFramePr>
          <p:cNvPr id="9" name="Table 8">
            <a:extLst>
              <a:ext uri="{FF2B5EF4-FFF2-40B4-BE49-F238E27FC236}">
                <a16:creationId xmlns:a16="http://schemas.microsoft.com/office/drawing/2014/main" id="{45652A63-ABA0-63C8-0A24-CF111AB58AF8}"/>
              </a:ext>
            </a:extLst>
          </p:cNvPr>
          <p:cNvGraphicFramePr>
            <a:graphicFrameLocks noGrp="1"/>
          </p:cNvGraphicFramePr>
          <p:nvPr/>
        </p:nvGraphicFramePr>
        <p:xfrm>
          <a:off x="297179" y="838946"/>
          <a:ext cx="3644900" cy="723900"/>
        </p:xfrm>
        <a:graphic>
          <a:graphicData uri="http://schemas.openxmlformats.org/drawingml/2006/table">
            <a:tbl>
              <a:tblPr/>
              <a:tblGrid>
                <a:gridCol w="3175000">
                  <a:extLst>
                    <a:ext uri="{9D8B030D-6E8A-4147-A177-3AD203B41FA5}">
                      <a16:colId xmlns:a16="http://schemas.microsoft.com/office/drawing/2014/main" val="2148849341"/>
                    </a:ext>
                  </a:extLst>
                </a:gridCol>
                <a:gridCol w="215900">
                  <a:extLst>
                    <a:ext uri="{9D8B030D-6E8A-4147-A177-3AD203B41FA5}">
                      <a16:colId xmlns:a16="http://schemas.microsoft.com/office/drawing/2014/main" val="109520089"/>
                    </a:ext>
                  </a:extLst>
                </a:gridCol>
                <a:gridCol w="254000">
                  <a:extLst>
                    <a:ext uri="{9D8B030D-6E8A-4147-A177-3AD203B41FA5}">
                      <a16:colId xmlns:a16="http://schemas.microsoft.com/office/drawing/2014/main" val="3915147585"/>
                    </a:ext>
                  </a:extLst>
                </a:gridCol>
              </a:tblGrid>
              <a:tr h="190500">
                <a:tc>
                  <a:txBody>
                    <a:bodyPr/>
                    <a:lstStyle/>
                    <a:p>
                      <a:pPr algn="l" fontAlgn="b"/>
                      <a:r>
                        <a:rPr lang="en-CA" sz="1100" b="0" i="0" u="none" strike="noStrike">
                          <a:solidFill>
                            <a:srgbClr val="000000"/>
                          </a:solidFill>
                          <a:effectLst/>
                          <a:latin typeface="Arial" panose="020B0604020202020204" pitchFamily="34" charset="0"/>
                        </a:rPr>
                        <a:t>Initiatives Performing PIV</a:t>
                      </a:r>
                    </a:p>
                  </a:txBody>
                  <a:tcPr marL="6350" marR="6350" marT="6350" marB="0" anchor="b">
                    <a:lnL>
                      <a:noFill/>
                    </a:lnL>
                    <a:lnR>
                      <a:noFill/>
                    </a:lnR>
                    <a:lnT>
                      <a:noFill/>
                    </a:lnT>
                    <a:lnB>
                      <a:noFill/>
                    </a:lnB>
                    <a:solidFill>
                      <a:srgbClr val="A9D08E"/>
                    </a:solidFill>
                  </a:tcPr>
                </a:tc>
                <a:tc>
                  <a:txBody>
                    <a:bodyPr/>
                    <a:lstStyle/>
                    <a:p>
                      <a:pPr algn="r"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solidFill>
                      <a:srgbClr val="E2EFDA"/>
                    </a:solidFill>
                  </a:tcPr>
                </a:tc>
                <a:tc>
                  <a:txBody>
                    <a:bodyPr/>
                    <a:lstStyle/>
                    <a:p>
                      <a:pPr algn="l"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2521021991"/>
                  </a:ext>
                </a:extLst>
              </a:tr>
              <a:tr h="177800">
                <a:tc>
                  <a:txBody>
                    <a:bodyPr/>
                    <a:lstStyle/>
                    <a:p>
                      <a:pPr algn="l" fontAlgn="b"/>
                      <a:r>
                        <a:rPr lang="en-CA" sz="1100" b="0" i="0" u="none" strike="noStrike">
                          <a:solidFill>
                            <a:srgbClr val="000000"/>
                          </a:solidFill>
                          <a:effectLst/>
                          <a:latin typeface="Arial" panose="020B0604020202020204" pitchFamily="34" charset="0"/>
                        </a:rPr>
                        <a:t>Initiatives with PIV ON Implementation Day</a:t>
                      </a:r>
                    </a:p>
                  </a:txBody>
                  <a:tcPr marL="6350" marR="6350" marT="6350" marB="0" anchor="b">
                    <a:lnL>
                      <a:noFill/>
                    </a:lnL>
                    <a:lnR>
                      <a:noFill/>
                    </a:lnR>
                    <a:lnT>
                      <a:noFill/>
                    </a:lnT>
                    <a:lnB>
                      <a:noFill/>
                    </a:lnB>
                    <a:solidFill>
                      <a:srgbClr val="A9D08E"/>
                    </a:solidFill>
                  </a:tcPr>
                </a:tc>
                <a:tc>
                  <a:txBody>
                    <a:bodyPr/>
                    <a:lstStyle/>
                    <a:p>
                      <a:pPr algn="r"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solidFill>
                      <a:srgbClr val="E2EFDA"/>
                    </a:solidFill>
                  </a:tcPr>
                </a:tc>
                <a:tc>
                  <a:txBody>
                    <a:bodyPr/>
                    <a:lstStyle/>
                    <a:p>
                      <a:pPr algn="l"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1940030271"/>
                  </a:ext>
                </a:extLst>
              </a:tr>
              <a:tr h="177800">
                <a:tc>
                  <a:txBody>
                    <a:bodyPr/>
                    <a:lstStyle/>
                    <a:p>
                      <a:pPr algn="l" fontAlgn="b"/>
                      <a:r>
                        <a:rPr lang="en-CA" sz="1100" b="0" i="0" u="none" strike="noStrike">
                          <a:solidFill>
                            <a:srgbClr val="000000"/>
                          </a:solidFill>
                          <a:effectLst/>
                          <a:latin typeface="Arial" panose="020B0604020202020204" pitchFamily="34" charset="0"/>
                        </a:rPr>
                        <a:t>Initiatives Performing HC ON Implementation Day</a:t>
                      </a:r>
                    </a:p>
                  </a:txBody>
                  <a:tcPr marL="6350" marR="6350" marT="6350" marB="0" anchor="b">
                    <a:lnL>
                      <a:noFill/>
                    </a:lnL>
                    <a:lnR>
                      <a:noFill/>
                    </a:lnR>
                    <a:lnT>
                      <a:noFill/>
                    </a:lnT>
                    <a:lnB>
                      <a:noFill/>
                    </a:lnB>
                    <a:solidFill>
                      <a:srgbClr val="A9D08E"/>
                    </a:solidFill>
                  </a:tcPr>
                </a:tc>
                <a:tc>
                  <a:txBody>
                    <a:bodyPr/>
                    <a:lstStyle/>
                    <a:p>
                      <a:pPr algn="r"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solidFill>
                      <a:srgbClr val="E2EFDA"/>
                    </a:solidFill>
                  </a:tcPr>
                </a:tc>
                <a:tc>
                  <a:txBody>
                    <a:bodyPr/>
                    <a:lstStyle/>
                    <a:p>
                      <a:pPr algn="l"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25906154"/>
                  </a:ext>
                </a:extLst>
              </a:tr>
              <a:tr h="177800">
                <a:tc>
                  <a:txBody>
                    <a:bodyPr/>
                    <a:lstStyle/>
                    <a:p>
                      <a:pPr algn="l" fontAlgn="b"/>
                      <a:r>
                        <a:rPr lang="en-CA" sz="1100" b="0" i="0" u="none" strike="noStrike">
                          <a:solidFill>
                            <a:srgbClr val="000000"/>
                          </a:solidFill>
                          <a:effectLst/>
                          <a:latin typeface="Arial" panose="020B0604020202020204" pitchFamily="34" charset="0"/>
                        </a:rPr>
                        <a:t>Initiatives with PIV AFTER Implementation Day</a:t>
                      </a:r>
                    </a:p>
                  </a:txBody>
                  <a:tcPr marL="6350" marR="6350" marT="6350" marB="0" anchor="b">
                    <a:lnL>
                      <a:noFill/>
                    </a:lnL>
                    <a:lnR>
                      <a:noFill/>
                    </a:lnR>
                    <a:lnT>
                      <a:noFill/>
                    </a:lnT>
                    <a:lnB>
                      <a:noFill/>
                    </a:lnB>
                    <a:solidFill>
                      <a:srgbClr val="A9D08E"/>
                    </a:solidFill>
                  </a:tcPr>
                </a:tc>
                <a:tc>
                  <a:txBody>
                    <a:bodyPr/>
                    <a:lstStyle/>
                    <a:p>
                      <a:pPr algn="r"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solidFill>
                      <a:srgbClr val="E2EFDA"/>
                    </a:solidFill>
                  </a:tcPr>
                </a:tc>
                <a:tc>
                  <a:txBody>
                    <a:bodyPr/>
                    <a:lstStyle/>
                    <a:p>
                      <a:pPr algn="l"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3681588155"/>
                  </a:ext>
                </a:extLst>
              </a:tr>
            </a:tbl>
          </a:graphicData>
        </a:graphic>
      </p:graphicFrame>
      <p:graphicFrame>
        <p:nvGraphicFramePr>
          <p:cNvPr id="6" name="Table 5">
            <a:extLst>
              <a:ext uri="{FF2B5EF4-FFF2-40B4-BE49-F238E27FC236}">
                <a16:creationId xmlns:a16="http://schemas.microsoft.com/office/drawing/2014/main" id="{01016785-A104-3029-6309-A9D938C8A86A}"/>
              </a:ext>
            </a:extLst>
          </p:cNvPr>
          <p:cNvGraphicFramePr>
            <a:graphicFrameLocks noGrp="1"/>
          </p:cNvGraphicFramePr>
          <p:nvPr/>
        </p:nvGraphicFramePr>
        <p:xfrm>
          <a:off x="404701" y="1793091"/>
          <a:ext cx="11077798" cy="3365500"/>
        </p:xfrm>
        <a:graphic>
          <a:graphicData uri="http://schemas.openxmlformats.org/drawingml/2006/table">
            <a:tbl>
              <a:tblPr/>
              <a:tblGrid>
                <a:gridCol w="1105414">
                  <a:extLst>
                    <a:ext uri="{9D8B030D-6E8A-4147-A177-3AD203B41FA5}">
                      <a16:colId xmlns:a16="http://schemas.microsoft.com/office/drawing/2014/main" val="884843960"/>
                    </a:ext>
                  </a:extLst>
                </a:gridCol>
                <a:gridCol w="2258889">
                  <a:extLst>
                    <a:ext uri="{9D8B030D-6E8A-4147-A177-3AD203B41FA5}">
                      <a16:colId xmlns:a16="http://schemas.microsoft.com/office/drawing/2014/main" val="1312000671"/>
                    </a:ext>
                  </a:extLst>
                </a:gridCol>
                <a:gridCol w="704902">
                  <a:extLst>
                    <a:ext uri="{9D8B030D-6E8A-4147-A177-3AD203B41FA5}">
                      <a16:colId xmlns:a16="http://schemas.microsoft.com/office/drawing/2014/main" val="2908759758"/>
                    </a:ext>
                  </a:extLst>
                </a:gridCol>
                <a:gridCol w="1153475">
                  <a:extLst>
                    <a:ext uri="{9D8B030D-6E8A-4147-A177-3AD203B41FA5}">
                      <a16:colId xmlns:a16="http://schemas.microsoft.com/office/drawing/2014/main" val="782932203"/>
                    </a:ext>
                  </a:extLst>
                </a:gridCol>
                <a:gridCol w="688881">
                  <a:extLst>
                    <a:ext uri="{9D8B030D-6E8A-4147-A177-3AD203B41FA5}">
                      <a16:colId xmlns:a16="http://schemas.microsoft.com/office/drawing/2014/main" val="273675226"/>
                    </a:ext>
                  </a:extLst>
                </a:gridCol>
                <a:gridCol w="1041332">
                  <a:extLst>
                    <a:ext uri="{9D8B030D-6E8A-4147-A177-3AD203B41FA5}">
                      <a16:colId xmlns:a16="http://schemas.microsoft.com/office/drawing/2014/main" val="2003801422"/>
                    </a:ext>
                  </a:extLst>
                </a:gridCol>
                <a:gridCol w="833065">
                  <a:extLst>
                    <a:ext uri="{9D8B030D-6E8A-4147-A177-3AD203B41FA5}">
                      <a16:colId xmlns:a16="http://schemas.microsoft.com/office/drawing/2014/main" val="2106546877"/>
                    </a:ext>
                  </a:extLst>
                </a:gridCol>
                <a:gridCol w="822960">
                  <a:extLst>
                    <a:ext uri="{9D8B030D-6E8A-4147-A177-3AD203B41FA5}">
                      <a16:colId xmlns:a16="http://schemas.microsoft.com/office/drawing/2014/main" val="1694415915"/>
                    </a:ext>
                  </a:extLst>
                </a:gridCol>
                <a:gridCol w="822960">
                  <a:extLst>
                    <a:ext uri="{9D8B030D-6E8A-4147-A177-3AD203B41FA5}">
                      <a16:colId xmlns:a16="http://schemas.microsoft.com/office/drawing/2014/main" val="973860091"/>
                    </a:ext>
                  </a:extLst>
                </a:gridCol>
                <a:gridCol w="822960">
                  <a:extLst>
                    <a:ext uri="{9D8B030D-6E8A-4147-A177-3AD203B41FA5}">
                      <a16:colId xmlns:a16="http://schemas.microsoft.com/office/drawing/2014/main" val="4131764320"/>
                    </a:ext>
                  </a:extLst>
                </a:gridCol>
                <a:gridCol w="822960">
                  <a:extLst>
                    <a:ext uri="{9D8B030D-6E8A-4147-A177-3AD203B41FA5}">
                      <a16:colId xmlns:a16="http://schemas.microsoft.com/office/drawing/2014/main" val="1999155900"/>
                    </a:ext>
                  </a:extLst>
                </a:gridCol>
              </a:tblGrid>
              <a:tr h="425450">
                <a:tc>
                  <a:txBody>
                    <a:bodyPr/>
                    <a:lstStyle/>
                    <a:p>
                      <a:pPr algn="l" rtl="0" fontAlgn="b"/>
                      <a:r>
                        <a:rPr lang="en-US" sz="850" b="1" i="0" u="none" strike="noStrike">
                          <a:solidFill>
                            <a:schemeClr val="tx1"/>
                          </a:solidFill>
                          <a:effectLst/>
                          <a:latin typeface="Arial" panose="020B0604020202020204" pitchFamily="34" charset="0"/>
                        </a:rPr>
                        <a:t>Intake #</a:t>
                      </a:r>
                    </a:p>
                  </a:txBody>
                  <a:tcPr marL="6350" marR="6350" marT="6350" marB="0" anchor="b">
                    <a:lnL w="6350" cap="flat" cmpd="sng" algn="ctr">
                      <a:solidFill>
                        <a:srgbClr val="92D050"/>
                      </a:solidFill>
                      <a:prstDash val="solid"/>
                      <a:round/>
                      <a:headEnd type="none" w="med" len="med"/>
                      <a:tailEnd type="none" w="med" len="med"/>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l" rtl="0" fontAlgn="b"/>
                      <a:r>
                        <a:rPr lang="en-US" sz="850" b="1" i="0" u="none" strike="noStrike">
                          <a:solidFill>
                            <a:schemeClr val="tx1"/>
                          </a:solidFill>
                          <a:effectLst/>
                          <a:latin typeface="Arial" panose="020B0604020202020204" pitchFamily="34" charset="0"/>
                        </a:rPr>
                        <a:t>Initiative Name</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PM</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Change Type</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Required</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Planning</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Test Case Status</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Planning ETA</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on Imp. Date</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Business Health Check on Imp. day</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After Imp. Date</a:t>
                      </a:r>
                    </a:p>
                  </a:txBody>
                  <a:tcPr marL="6350" marR="6350" marT="6350" marB="0" anchor="b">
                    <a:lnL>
                      <a:noFill/>
                    </a:lnL>
                    <a:lnR w="6350" cap="flat" cmpd="sng" algn="ctr">
                      <a:solidFill>
                        <a:srgbClr val="92D050"/>
                      </a:solidFill>
                      <a:prstDash val="solid"/>
                      <a:round/>
                      <a:headEnd type="none" w="med" len="med"/>
                      <a:tailEnd type="none" w="med" len="med"/>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extLst>
                  <a:ext uri="{0D108BD9-81ED-4DB2-BD59-A6C34878D82A}">
                    <a16:rowId xmlns:a16="http://schemas.microsoft.com/office/drawing/2014/main" val="1886818980"/>
                  </a:ext>
                </a:extLst>
              </a:tr>
              <a:tr h="17780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2393184830"/>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225582742"/>
                  </a:ext>
                </a:extLst>
              </a:tr>
              <a:tr h="184150">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1494724420"/>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1373093126"/>
                  </a:ext>
                </a:extLst>
              </a:tr>
              <a:tr h="184150">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1175150748"/>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2364154437"/>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4250975602"/>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4039158968"/>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fr-FR"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1736133538"/>
                  </a:ext>
                </a:extLst>
              </a:tr>
              <a:tr h="184150">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2137288610"/>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607654778"/>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799689630"/>
                  </a:ext>
                </a:extLst>
              </a:tr>
              <a:tr h="184150">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909217915"/>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154189316"/>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425028568"/>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extLst>
                  <a:ext uri="{0D108BD9-81ED-4DB2-BD59-A6C34878D82A}">
                    <a16:rowId xmlns:a16="http://schemas.microsoft.com/office/drawing/2014/main" val="3220877491"/>
                  </a:ext>
                </a:extLst>
              </a:tr>
            </a:tbl>
          </a:graphicData>
        </a:graphic>
      </p:graphicFrame>
    </p:spTree>
    <p:extLst>
      <p:ext uri="{BB962C8B-B14F-4D97-AF65-F5344CB8AC3E}">
        <p14:creationId xmlns:p14="http://schemas.microsoft.com/office/powerpoint/2010/main" val="4199669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17C1FBC-068C-A59C-F65D-44E67E565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DA012-A897-513B-1998-16132AE94A59}"/>
              </a:ext>
            </a:extLst>
          </p:cNvPr>
          <p:cNvSpPr>
            <a:spLocks noGrp="1"/>
          </p:cNvSpPr>
          <p:nvPr>
            <p:ph type="title"/>
          </p:nvPr>
        </p:nvSpPr>
        <p:spPr>
          <a:xfrm>
            <a:off x="297179" y="0"/>
            <a:ext cx="10933748" cy="841248"/>
          </a:xfrm>
        </p:spPr>
        <p:txBody>
          <a:bodyPr/>
          <a:lstStyle/>
          <a:p>
            <a:r>
              <a:rPr lang="en-CA"/>
              <a:t>November 16</a:t>
            </a:r>
            <a:r>
              <a:rPr lang="en-CA" baseline="30000"/>
              <a:t>th</a:t>
            </a:r>
            <a:r>
              <a:rPr lang="en-CA"/>
              <a:t> Release PIV – Initiatives without PIV</a:t>
            </a:r>
          </a:p>
        </p:txBody>
      </p:sp>
      <p:sp>
        <p:nvSpPr>
          <p:cNvPr id="3" name="Footer Placeholder 2">
            <a:extLst>
              <a:ext uri="{FF2B5EF4-FFF2-40B4-BE49-F238E27FC236}">
                <a16:creationId xmlns:a16="http://schemas.microsoft.com/office/drawing/2014/main" id="{130BE722-CA6A-EEE7-EA4F-21821CFA1013}"/>
              </a:ext>
            </a:extLst>
          </p:cNvPr>
          <p:cNvSpPr>
            <a:spLocks noGrp="1"/>
          </p:cNvSpPr>
          <p:nvPr>
            <p:ph type="ftr" sz="quarter" idx="3"/>
          </p:nvPr>
        </p:nvSpPr>
        <p:spPr/>
        <p:txBody>
          <a:bodyPr/>
          <a:lstStyle/>
          <a:p>
            <a:pPr algn="ctr"/>
            <a:r>
              <a:rPr lang="en-US"/>
              <a:t>INTERNAL</a:t>
            </a:r>
          </a:p>
        </p:txBody>
      </p:sp>
      <p:graphicFrame>
        <p:nvGraphicFramePr>
          <p:cNvPr id="4" name="Table 3">
            <a:extLst>
              <a:ext uri="{FF2B5EF4-FFF2-40B4-BE49-F238E27FC236}">
                <a16:creationId xmlns:a16="http://schemas.microsoft.com/office/drawing/2014/main" id="{EF95947D-1FDC-81C3-AE22-D6010D5BD859}"/>
              </a:ext>
            </a:extLst>
          </p:cNvPr>
          <p:cNvGraphicFramePr>
            <a:graphicFrameLocks noGrp="1"/>
          </p:cNvGraphicFramePr>
          <p:nvPr>
            <p:extLst>
              <p:ext uri="{D42A27DB-BD31-4B8C-83A1-F6EECF244321}">
                <p14:modId xmlns:p14="http://schemas.microsoft.com/office/powerpoint/2010/main" val="1796762643"/>
              </p:ext>
            </p:extLst>
          </p:nvPr>
        </p:nvGraphicFramePr>
        <p:xfrm>
          <a:off x="297179" y="1188412"/>
          <a:ext cx="10578923" cy="2599252"/>
        </p:xfrm>
        <a:graphic>
          <a:graphicData uri="http://schemas.openxmlformats.org/drawingml/2006/table">
            <a:tbl>
              <a:tblPr/>
              <a:tblGrid>
                <a:gridCol w="1019803">
                  <a:extLst>
                    <a:ext uri="{9D8B030D-6E8A-4147-A177-3AD203B41FA5}">
                      <a16:colId xmlns:a16="http://schemas.microsoft.com/office/drawing/2014/main" val="167540110"/>
                    </a:ext>
                  </a:extLst>
                </a:gridCol>
                <a:gridCol w="2083948">
                  <a:extLst>
                    <a:ext uri="{9D8B030D-6E8A-4147-A177-3AD203B41FA5}">
                      <a16:colId xmlns:a16="http://schemas.microsoft.com/office/drawing/2014/main" val="1968712390"/>
                    </a:ext>
                  </a:extLst>
                </a:gridCol>
                <a:gridCol w="650309">
                  <a:extLst>
                    <a:ext uri="{9D8B030D-6E8A-4147-A177-3AD203B41FA5}">
                      <a16:colId xmlns:a16="http://schemas.microsoft.com/office/drawing/2014/main" val="3876996284"/>
                    </a:ext>
                  </a:extLst>
                </a:gridCol>
                <a:gridCol w="1064143">
                  <a:extLst>
                    <a:ext uri="{9D8B030D-6E8A-4147-A177-3AD203B41FA5}">
                      <a16:colId xmlns:a16="http://schemas.microsoft.com/office/drawing/2014/main" val="138188574"/>
                    </a:ext>
                  </a:extLst>
                </a:gridCol>
                <a:gridCol w="822960">
                  <a:extLst>
                    <a:ext uri="{9D8B030D-6E8A-4147-A177-3AD203B41FA5}">
                      <a16:colId xmlns:a16="http://schemas.microsoft.com/office/drawing/2014/main" val="1359075812"/>
                    </a:ext>
                  </a:extLst>
                </a:gridCol>
                <a:gridCol w="822960">
                  <a:extLst>
                    <a:ext uri="{9D8B030D-6E8A-4147-A177-3AD203B41FA5}">
                      <a16:colId xmlns:a16="http://schemas.microsoft.com/office/drawing/2014/main" val="513563013"/>
                    </a:ext>
                  </a:extLst>
                </a:gridCol>
                <a:gridCol w="822960">
                  <a:extLst>
                    <a:ext uri="{9D8B030D-6E8A-4147-A177-3AD203B41FA5}">
                      <a16:colId xmlns:a16="http://schemas.microsoft.com/office/drawing/2014/main" val="954168545"/>
                    </a:ext>
                  </a:extLst>
                </a:gridCol>
                <a:gridCol w="822960">
                  <a:extLst>
                    <a:ext uri="{9D8B030D-6E8A-4147-A177-3AD203B41FA5}">
                      <a16:colId xmlns:a16="http://schemas.microsoft.com/office/drawing/2014/main" val="2458853652"/>
                    </a:ext>
                  </a:extLst>
                </a:gridCol>
                <a:gridCol w="822960">
                  <a:extLst>
                    <a:ext uri="{9D8B030D-6E8A-4147-A177-3AD203B41FA5}">
                      <a16:colId xmlns:a16="http://schemas.microsoft.com/office/drawing/2014/main" val="32498498"/>
                    </a:ext>
                  </a:extLst>
                </a:gridCol>
                <a:gridCol w="822960">
                  <a:extLst>
                    <a:ext uri="{9D8B030D-6E8A-4147-A177-3AD203B41FA5}">
                      <a16:colId xmlns:a16="http://schemas.microsoft.com/office/drawing/2014/main" val="3077213623"/>
                    </a:ext>
                  </a:extLst>
                </a:gridCol>
                <a:gridCol w="822960">
                  <a:extLst>
                    <a:ext uri="{9D8B030D-6E8A-4147-A177-3AD203B41FA5}">
                      <a16:colId xmlns:a16="http://schemas.microsoft.com/office/drawing/2014/main" val="4293976387"/>
                    </a:ext>
                  </a:extLst>
                </a:gridCol>
              </a:tblGrid>
              <a:tr h="338583">
                <a:tc>
                  <a:txBody>
                    <a:bodyPr/>
                    <a:lstStyle/>
                    <a:p>
                      <a:pPr algn="l" rtl="0" fontAlgn="b"/>
                      <a:r>
                        <a:rPr lang="en-US" sz="900" b="1" i="0" u="none" strike="noStrike">
                          <a:solidFill>
                            <a:srgbClr val="FFFFFF"/>
                          </a:solidFill>
                          <a:effectLst/>
                          <a:latin typeface="Arial" panose="020B0604020202020204" pitchFamily="34" charset="0"/>
                        </a:rPr>
                        <a:t>Intake #</a:t>
                      </a:r>
                    </a:p>
                  </a:txBody>
                  <a:tcPr marL="4841" marR="4841" marT="4841" marB="0" anchor="b">
                    <a:lnL w="12700" cap="flat" cmpd="sng" algn="ctr">
                      <a:solidFill>
                        <a:srgbClr val="ACCB99"/>
                      </a:solidFill>
                      <a:prstDash val="solid"/>
                      <a:round/>
                      <a:headEnd type="none" w="med" len="med"/>
                      <a:tailEnd type="none" w="med" len="med"/>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l" rtl="0" fontAlgn="b"/>
                      <a:r>
                        <a:rPr lang="en-US" sz="900" b="1" i="0" u="none" strike="noStrike">
                          <a:solidFill>
                            <a:srgbClr val="FFFFFF"/>
                          </a:solidFill>
                          <a:effectLst/>
                          <a:latin typeface="Arial" panose="020B0604020202020204" pitchFamily="34" charset="0"/>
                        </a:rPr>
                        <a:t>Initiative Name</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PM</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Change Type</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Required</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Planning</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Test Case Status</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Planning ETA</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on Imp. Date</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Business Health Check on Imp. day</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After Imp. Date</a:t>
                      </a:r>
                    </a:p>
                  </a:txBody>
                  <a:tcPr marL="4841" marR="4841" marT="4841" marB="0" anchor="b">
                    <a:lnL>
                      <a:noFill/>
                    </a:lnL>
                    <a:lnR w="12700" cap="flat" cmpd="sng" algn="ctr">
                      <a:solidFill>
                        <a:srgbClr val="ACCB99"/>
                      </a:solidFill>
                      <a:prstDash val="solid"/>
                      <a:round/>
                      <a:headEnd type="none" w="med" len="med"/>
                      <a:tailEnd type="none" w="med" len="med"/>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extLst>
                  <a:ext uri="{0D108BD9-81ED-4DB2-BD59-A6C34878D82A}">
                    <a16:rowId xmlns:a16="http://schemas.microsoft.com/office/drawing/2014/main" val="1733642584"/>
                  </a:ext>
                </a:extLst>
              </a:tr>
              <a:tr h="703170">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129380003"/>
                  </a:ext>
                </a:extLst>
              </a:tr>
              <a:tr h="419100">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2245574869"/>
                  </a:ext>
                </a:extLst>
              </a:tr>
              <a:tr h="249330">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s-E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013996431"/>
                  </a:ext>
                </a:extLst>
              </a:tr>
              <a:tr h="241300">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2258158039"/>
                  </a:ext>
                </a:extLst>
              </a:tr>
              <a:tr h="228600">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736421376"/>
                  </a:ext>
                </a:extLst>
              </a:tr>
              <a:tr h="341431">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592563313"/>
                  </a:ext>
                </a:extLst>
              </a:tr>
            </a:tbl>
          </a:graphicData>
        </a:graphic>
      </p:graphicFrame>
      <p:graphicFrame>
        <p:nvGraphicFramePr>
          <p:cNvPr id="7" name="Table 6">
            <a:extLst>
              <a:ext uri="{FF2B5EF4-FFF2-40B4-BE49-F238E27FC236}">
                <a16:creationId xmlns:a16="http://schemas.microsoft.com/office/drawing/2014/main" id="{8E798275-3042-4656-2EFA-C097CFEA381A}"/>
              </a:ext>
            </a:extLst>
          </p:cNvPr>
          <p:cNvGraphicFramePr>
            <a:graphicFrameLocks noGrp="1"/>
          </p:cNvGraphicFramePr>
          <p:nvPr>
            <p:extLst>
              <p:ext uri="{D42A27DB-BD31-4B8C-83A1-F6EECF244321}">
                <p14:modId xmlns:p14="http://schemas.microsoft.com/office/powerpoint/2010/main" val="4054662246"/>
              </p:ext>
            </p:extLst>
          </p:nvPr>
        </p:nvGraphicFramePr>
        <p:xfrm>
          <a:off x="297179" y="838946"/>
          <a:ext cx="3644900" cy="190500"/>
        </p:xfrm>
        <a:graphic>
          <a:graphicData uri="http://schemas.openxmlformats.org/drawingml/2006/table">
            <a:tbl>
              <a:tblPr/>
              <a:tblGrid>
                <a:gridCol w="3175000">
                  <a:extLst>
                    <a:ext uri="{9D8B030D-6E8A-4147-A177-3AD203B41FA5}">
                      <a16:colId xmlns:a16="http://schemas.microsoft.com/office/drawing/2014/main" val="2148849341"/>
                    </a:ext>
                  </a:extLst>
                </a:gridCol>
                <a:gridCol w="215900">
                  <a:extLst>
                    <a:ext uri="{9D8B030D-6E8A-4147-A177-3AD203B41FA5}">
                      <a16:colId xmlns:a16="http://schemas.microsoft.com/office/drawing/2014/main" val="109520089"/>
                    </a:ext>
                  </a:extLst>
                </a:gridCol>
                <a:gridCol w="254000">
                  <a:extLst>
                    <a:ext uri="{9D8B030D-6E8A-4147-A177-3AD203B41FA5}">
                      <a16:colId xmlns:a16="http://schemas.microsoft.com/office/drawing/2014/main" val="3915147585"/>
                    </a:ext>
                  </a:extLst>
                </a:gridCol>
              </a:tblGrid>
              <a:tr h="190500">
                <a:tc>
                  <a:txBody>
                    <a:bodyPr/>
                    <a:lstStyle/>
                    <a:p>
                      <a:pPr algn="l" fontAlgn="b"/>
                      <a:r>
                        <a:rPr lang="en-CA" sz="1100" b="0" i="0" u="none" strike="noStrike">
                          <a:solidFill>
                            <a:srgbClr val="000000"/>
                          </a:solidFill>
                          <a:effectLst/>
                          <a:latin typeface="Arial" panose="020B0604020202020204" pitchFamily="34" charset="0"/>
                        </a:rPr>
                        <a:t>Initiatives without PIV</a:t>
                      </a:r>
                    </a:p>
                  </a:txBody>
                  <a:tcPr marL="6350" marR="6350" marT="6350" marB="0" anchor="b">
                    <a:lnL>
                      <a:noFill/>
                    </a:lnL>
                    <a:lnR>
                      <a:noFill/>
                    </a:lnR>
                    <a:lnT>
                      <a:noFill/>
                    </a:lnT>
                    <a:lnB>
                      <a:noFill/>
                    </a:lnB>
                    <a:solidFill>
                      <a:srgbClr val="A9D08E"/>
                    </a:solidFill>
                  </a:tcPr>
                </a:tc>
                <a:tc>
                  <a:txBody>
                    <a:bodyPr/>
                    <a:lstStyle/>
                    <a:p>
                      <a:pPr algn="r" fontAlgn="b"/>
                      <a:r>
                        <a:rPr lang="en-CA" sz="1000" b="0" i="0" u="none" strike="noStrike">
                          <a:solidFill>
                            <a:srgbClr val="000000"/>
                          </a:solidFill>
                          <a:effectLst/>
                          <a:latin typeface="Arial" panose="020B0604020202020204" pitchFamily="34" charset="0"/>
                        </a:rPr>
                        <a:t>17</a:t>
                      </a:r>
                    </a:p>
                  </a:txBody>
                  <a:tcPr marL="6350" marR="6350" marT="6350" marB="0" anchor="b">
                    <a:lnL>
                      <a:noFill/>
                    </a:lnL>
                    <a:lnR>
                      <a:noFill/>
                    </a:lnR>
                    <a:lnT>
                      <a:noFill/>
                    </a:lnT>
                    <a:lnB>
                      <a:noFill/>
                    </a:lnB>
                    <a:solidFill>
                      <a:srgbClr val="E2EFDA"/>
                    </a:solidFill>
                  </a:tcPr>
                </a:tc>
                <a:tc>
                  <a:txBody>
                    <a:bodyPr/>
                    <a:lstStyle/>
                    <a:p>
                      <a:pPr algn="l"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2521021991"/>
                  </a:ext>
                </a:extLst>
              </a:tr>
            </a:tbl>
          </a:graphicData>
        </a:graphic>
      </p:graphicFrame>
    </p:spTree>
    <p:extLst>
      <p:ext uri="{BB962C8B-B14F-4D97-AF65-F5344CB8AC3E}">
        <p14:creationId xmlns:p14="http://schemas.microsoft.com/office/powerpoint/2010/main" val="1251180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0FA3C-0D2E-9494-84F1-4FFD6D1D1E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95FA8F6-7280-18A8-B42C-CA0C55C65CB6}"/>
              </a:ext>
            </a:extLst>
          </p:cNvPr>
          <p:cNvSpPr/>
          <p:nvPr/>
        </p:nvSpPr>
        <p:spPr>
          <a:xfrm>
            <a:off x="6556248" y="0"/>
            <a:ext cx="5330953" cy="1202926"/>
          </a:xfrm>
          <a:prstGeom prst="rect">
            <a:avLst/>
          </a:prstGeom>
          <a:solidFill>
            <a:schemeClr val="bg1"/>
          </a:solidFill>
        </p:spPr>
        <p:txBody>
          <a:bodyPr wrap="square" rtlCol="0" anchor="ctr">
            <a:spAutoFit/>
          </a:bodyPr>
          <a:lstStyle/>
          <a:p>
            <a:pPr algn="ctr"/>
            <a:endParaRPr lang="en-US" sz="1100"/>
          </a:p>
        </p:txBody>
      </p:sp>
      <p:graphicFrame>
        <p:nvGraphicFramePr>
          <p:cNvPr id="7" name="Table 2">
            <a:extLst>
              <a:ext uri="{FF2B5EF4-FFF2-40B4-BE49-F238E27FC236}">
                <a16:creationId xmlns:a16="http://schemas.microsoft.com/office/drawing/2014/main" id="{C50B47E6-32CC-F7CB-3BFB-FE4AEAC7D1C0}"/>
              </a:ext>
            </a:extLst>
          </p:cNvPr>
          <p:cNvGraphicFramePr>
            <a:graphicFrameLocks noGrp="1"/>
          </p:cNvGraphicFramePr>
          <p:nvPr/>
        </p:nvGraphicFramePr>
        <p:xfrm>
          <a:off x="6786872" y="282198"/>
          <a:ext cx="5100328" cy="274320"/>
        </p:xfrm>
        <a:graphic>
          <a:graphicData uri="http://schemas.openxmlformats.org/drawingml/2006/table">
            <a:tbl>
              <a:tblPr firstRow="1" bandRow="1">
                <a:tableStyleId>{5940675A-B579-460E-94D1-54222C63F5DA}</a:tableStyleId>
              </a:tblPr>
              <a:tblGrid>
                <a:gridCol w="235223">
                  <a:extLst>
                    <a:ext uri="{9D8B030D-6E8A-4147-A177-3AD203B41FA5}">
                      <a16:colId xmlns:a16="http://schemas.microsoft.com/office/drawing/2014/main" val="2552748061"/>
                    </a:ext>
                  </a:extLst>
                </a:gridCol>
                <a:gridCol w="619612">
                  <a:extLst>
                    <a:ext uri="{9D8B030D-6E8A-4147-A177-3AD203B41FA5}">
                      <a16:colId xmlns:a16="http://schemas.microsoft.com/office/drawing/2014/main" val="2949818358"/>
                    </a:ext>
                  </a:extLst>
                </a:gridCol>
                <a:gridCol w="235223">
                  <a:extLst>
                    <a:ext uri="{9D8B030D-6E8A-4147-A177-3AD203B41FA5}">
                      <a16:colId xmlns:a16="http://schemas.microsoft.com/office/drawing/2014/main" val="3768384043"/>
                    </a:ext>
                  </a:extLst>
                </a:gridCol>
                <a:gridCol w="929419">
                  <a:extLst>
                    <a:ext uri="{9D8B030D-6E8A-4147-A177-3AD203B41FA5}">
                      <a16:colId xmlns:a16="http://schemas.microsoft.com/office/drawing/2014/main" val="3673821677"/>
                    </a:ext>
                  </a:extLst>
                </a:gridCol>
                <a:gridCol w="235223">
                  <a:extLst>
                    <a:ext uri="{9D8B030D-6E8A-4147-A177-3AD203B41FA5}">
                      <a16:colId xmlns:a16="http://schemas.microsoft.com/office/drawing/2014/main" val="1380191459"/>
                    </a:ext>
                  </a:extLst>
                </a:gridCol>
                <a:gridCol w="929419">
                  <a:extLst>
                    <a:ext uri="{9D8B030D-6E8A-4147-A177-3AD203B41FA5}">
                      <a16:colId xmlns:a16="http://schemas.microsoft.com/office/drawing/2014/main" val="2784429797"/>
                    </a:ext>
                  </a:extLst>
                </a:gridCol>
                <a:gridCol w="235223">
                  <a:extLst>
                    <a:ext uri="{9D8B030D-6E8A-4147-A177-3AD203B41FA5}">
                      <a16:colId xmlns:a16="http://schemas.microsoft.com/office/drawing/2014/main" val="906539283"/>
                    </a:ext>
                  </a:extLst>
                </a:gridCol>
                <a:gridCol w="929419">
                  <a:extLst>
                    <a:ext uri="{9D8B030D-6E8A-4147-A177-3AD203B41FA5}">
                      <a16:colId xmlns:a16="http://schemas.microsoft.com/office/drawing/2014/main" val="2265317318"/>
                    </a:ext>
                  </a:extLst>
                </a:gridCol>
                <a:gridCol w="235223">
                  <a:extLst>
                    <a:ext uri="{9D8B030D-6E8A-4147-A177-3AD203B41FA5}">
                      <a16:colId xmlns:a16="http://schemas.microsoft.com/office/drawing/2014/main" val="4095293917"/>
                    </a:ext>
                  </a:extLst>
                </a:gridCol>
                <a:gridCol w="516344">
                  <a:extLst>
                    <a:ext uri="{9D8B030D-6E8A-4147-A177-3AD203B41FA5}">
                      <a16:colId xmlns:a16="http://schemas.microsoft.com/office/drawing/2014/main" val="2870471116"/>
                    </a:ext>
                  </a:extLst>
                </a:gridCol>
              </a:tblGrid>
              <a:tr h="182880">
                <a:tc>
                  <a:txBody>
                    <a:bodyPr/>
                    <a:lstStyle/>
                    <a:p>
                      <a:pPr algn="ctr"/>
                      <a:r>
                        <a:rPr lang="en-CA" sz="600" b="1">
                          <a:solidFill>
                            <a:schemeClr val="bg1"/>
                          </a:solidFill>
                        </a:rPr>
                        <a:t>N</a:t>
                      </a:r>
                      <a:endParaRPr lang="en-US" sz="6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l"/>
                      <a:r>
                        <a:rPr lang="en-CA" sz="600">
                          <a:solidFill>
                            <a:schemeClr val="tx1"/>
                          </a:solidFill>
                        </a:rPr>
                        <a:t>Not Started</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solidFill>
                            <a:schemeClr val="bg1"/>
                          </a:solidFill>
                        </a:rPr>
                        <a:t>G</a:t>
                      </a:r>
                      <a:endParaRPr lang="en-US" sz="6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l"/>
                      <a:r>
                        <a:rPr lang="en-CA" sz="600">
                          <a:solidFill>
                            <a:schemeClr val="tx1"/>
                          </a:solidFill>
                        </a:rPr>
                        <a:t>In Progress/</a:t>
                      </a:r>
                    </a:p>
                    <a:p>
                      <a:pPr algn="l"/>
                      <a:r>
                        <a:rPr lang="en-CA" sz="600">
                          <a:solidFill>
                            <a:schemeClr val="tx1"/>
                          </a:solidFill>
                        </a:rPr>
                        <a:t>On Track</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t>Y</a:t>
                      </a:r>
                      <a:endParaRPr lang="en-US" sz="6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l"/>
                      <a:r>
                        <a:rPr lang="en-CA" sz="600">
                          <a:solidFill>
                            <a:schemeClr val="tx1"/>
                          </a:solidFill>
                        </a:rPr>
                        <a:t>May Miss Target Date</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solidFill>
                            <a:schemeClr val="bg1"/>
                          </a:solidFill>
                        </a:rPr>
                        <a:t>R</a:t>
                      </a:r>
                      <a:endParaRPr lang="en-US" sz="6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l"/>
                      <a:r>
                        <a:rPr lang="en-CA" sz="600">
                          <a:solidFill>
                            <a:schemeClr val="tx1"/>
                          </a:solidFill>
                        </a:rPr>
                        <a:t>Will Miss Target End</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t>C</a:t>
                      </a:r>
                      <a:endParaRPr lang="en-US" sz="6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600">
                          <a:solidFill>
                            <a:schemeClr val="tx1"/>
                          </a:solidFill>
                        </a:rPr>
                        <a:t>Complete</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sp>
        <p:nvSpPr>
          <p:cNvPr id="2" name="Title 1">
            <a:extLst>
              <a:ext uri="{FF2B5EF4-FFF2-40B4-BE49-F238E27FC236}">
                <a16:creationId xmlns:a16="http://schemas.microsoft.com/office/drawing/2014/main" id="{682B2F83-0AF3-1E42-F536-D9404E0D6FCE}"/>
              </a:ext>
            </a:extLst>
          </p:cNvPr>
          <p:cNvSpPr>
            <a:spLocks noGrp="1"/>
          </p:cNvSpPr>
          <p:nvPr>
            <p:ph type="title"/>
          </p:nvPr>
        </p:nvSpPr>
        <p:spPr>
          <a:xfrm>
            <a:off x="353830" y="260322"/>
            <a:ext cx="10660404" cy="554846"/>
          </a:xfrm>
        </p:spPr>
        <p:txBody>
          <a:bodyPr/>
          <a:lstStyle/>
          <a:p>
            <a:r>
              <a:rPr lang="en-CA" sz="2800"/>
              <a:t>November 16</a:t>
            </a:r>
            <a:r>
              <a:rPr lang="en-CA" sz="2800" baseline="30000"/>
              <a:t>th</a:t>
            </a:r>
            <a:r>
              <a:rPr lang="en-CA" sz="2800"/>
              <a:t> Release Readiness</a:t>
            </a:r>
            <a:endParaRPr lang="en-US" sz="2800"/>
          </a:p>
        </p:txBody>
      </p:sp>
      <p:sp>
        <p:nvSpPr>
          <p:cNvPr id="3" name="TextBox 2">
            <a:extLst>
              <a:ext uri="{FF2B5EF4-FFF2-40B4-BE49-F238E27FC236}">
                <a16:creationId xmlns:a16="http://schemas.microsoft.com/office/drawing/2014/main" id="{E9D3397C-E1BF-8C68-F1C5-8BD0B344B2A6}"/>
              </a:ext>
            </a:extLst>
          </p:cNvPr>
          <p:cNvSpPr txBox="1"/>
          <p:nvPr/>
        </p:nvSpPr>
        <p:spPr>
          <a:xfrm rot="16200000">
            <a:off x="-190828" y="2078721"/>
            <a:ext cx="912499" cy="307778"/>
          </a:xfrm>
          <a:prstGeom prst="rect">
            <a:avLst/>
          </a:prstGeom>
          <a:solidFill>
            <a:schemeClr val="bg1">
              <a:lumMod val="50000"/>
            </a:schemeClr>
          </a:solidFill>
        </p:spPr>
        <p:txBody>
          <a:bodyPr wrap="square" rtlCol="0">
            <a:spAutoFit/>
          </a:bodyPr>
          <a:lstStyle/>
          <a:p>
            <a:pPr algn="ctr" defTabSz="757746" eaLnBrk="0" fontAlgn="base" hangingPunct="0">
              <a:spcBef>
                <a:spcPct val="0"/>
              </a:spcBef>
              <a:spcAft>
                <a:spcPct val="0"/>
              </a:spcAft>
              <a:defRPr/>
            </a:pPr>
            <a:r>
              <a:rPr lang="en-US" sz="1400" b="1">
                <a:solidFill>
                  <a:prstClr val="white"/>
                </a:solidFill>
                <a:cs typeface="Segoe UI" panose="020B0502040204020203" pitchFamily="34" charset="0"/>
              </a:rPr>
              <a:t>SCOPE</a:t>
            </a:r>
          </a:p>
        </p:txBody>
      </p:sp>
      <p:graphicFrame>
        <p:nvGraphicFramePr>
          <p:cNvPr id="4" name="Table 3">
            <a:extLst>
              <a:ext uri="{FF2B5EF4-FFF2-40B4-BE49-F238E27FC236}">
                <a16:creationId xmlns:a16="http://schemas.microsoft.com/office/drawing/2014/main" id="{8AAEDE82-9194-E770-96D5-23288C5D1F43}"/>
              </a:ext>
            </a:extLst>
          </p:cNvPr>
          <p:cNvGraphicFramePr>
            <a:graphicFrameLocks noGrp="1"/>
          </p:cNvGraphicFramePr>
          <p:nvPr>
            <p:extLst>
              <p:ext uri="{D42A27DB-BD31-4B8C-83A1-F6EECF244321}">
                <p14:modId xmlns:p14="http://schemas.microsoft.com/office/powerpoint/2010/main" val="3249695616"/>
              </p:ext>
            </p:extLst>
          </p:nvPr>
        </p:nvGraphicFramePr>
        <p:xfrm>
          <a:off x="462970" y="1776360"/>
          <a:ext cx="5350096" cy="912500"/>
        </p:xfrm>
        <a:graphic>
          <a:graphicData uri="http://schemas.openxmlformats.org/drawingml/2006/table">
            <a:tbl>
              <a:tblPr firstRow="1" bandRow="1"/>
              <a:tblGrid>
                <a:gridCol w="899926">
                  <a:extLst>
                    <a:ext uri="{9D8B030D-6E8A-4147-A177-3AD203B41FA5}">
                      <a16:colId xmlns:a16="http://schemas.microsoft.com/office/drawing/2014/main" val="20000"/>
                    </a:ext>
                  </a:extLst>
                </a:gridCol>
                <a:gridCol w="906302">
                  <a:extLst>
                    <a:ext uri="{9D8B030D-6E8A-4147-A177-3AD203B41FA5}">
                      <a16:colId xmlns:a16="http://schemas.microsoft.com/office/drawing/2014/main" val="20001"/>
                    </a:ext>
                  </a:extLst>
                </a:gridCol>
                <a:gridCol w="897153">
                  <a:extLst>
                    <a:ext uri="{9D8B030D-6E8A-4147-A177-3AD203B41FA5}">
                      <a16:colId xmlns:a16="http://schemas.microsoft.com/office/drawing/2014/main" val="20002"/>
                    </a:ext>
                  </a:extLst>
                </a:gridCol>
                <a:gridCol w="839569">
                  <a:extLst>
                    <a:ext uri="{9D8B030D-6E8A-4147-A177-3AD203B41FA5}">
                      <a16:colId xmlns:a16="http://schemas.microsoft.com/office/drawing/2014/main" val="20003"/>
                    </a:ext>
                  </a:extLst>
                </a:gridCol>
                <a:gridCol w="903573">
                  <a:extLst>
                    <a:ext uri="{9D8B030D-6E8A-4147-A177-3AD203B41FA5}">
                      <a16:colId xmlns:a16="http://schemas.microsoft.com/office/drawing/2014/main" val="20004"/>
                    </a:ext>
                  </a:extLst>
                </a:gridCol>
                <a:gridCol w="903573">
                  <a:extLst>
                    <a:ext uri="{9D8B030D-6E8A-4147-A177-3AD203B41FA5}">
                      <a16:colId xmlns:a16="http://schemas.microsoft.com/office/drawing/2014/main" val="20005"/>
                    </a:ext>
                  </a:extLst>
                </a:gridCol>
              </a:tblGrid>
              <a:tr h="522169">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algn="ctr"/>
                      <a:r>
                        <a:rPr lang="en-US" sz="1000" b="1">
                          <a:solidFill>
                            <a:schemeClr val="bg1"/>
                          </a:solidFill>
                          <a:latin typeface="+mn-lt"/>
                          <a:ea typeface="Tahoma" panose="020B0604030504040204" pitchFamily="34" charset="0"/>
                          <a:cs typeface="Segoe UI" panose="020B0502040204020203" pitchFamily="34" charset="0"/>
                        </a:rPr>
                        <a:t>Project/</a:t>
                      </a:r>
                    </a:p>
                    <a:p>
                      <a:pPr algn="ctr"/>
                      <a:r>
                        <a:rPr lang="en-US" sz="1000" b="1">
                          <a:solidFill>
                            <a:schemeClr val="bg1"/>
                          </a:solidFill>
                          <a:latin typeface="+mn-lt"/>
                          <a:ea typeface="Tahoma" panose="020B0604030504040204" pitchFamily="34" charset="0"/>
                          <a:cs typeface="Segoe UI" panose="020B0502040204020203" pitchFamily="34" charset="0"/>
                        </a:rPr>
                        <a:t>MOPS</a:t>
                      </a:r>
                    </a:p>
                  </a:txBody>
                  <a:tcPr marL="117349" marR="117349" marT="45135" marB="45135"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OR/</a:t>
                      </a:r>
                    </a:p>
                    <a:p>
                      <a:pPr algn="ctr"/>
                      <a:r>
                        <a:rPr lang="en-US" sz="1000" b="1">
                          <a:solidFill>
                            <a:schemeClr val="bg1"/>
                          </a:solidFill>
                          <a:latin typeface="+mn-lt"/>
                          <a:ea typeface="Tahoma" panose="020B0604030504040204" pitchFamily="34" charset="0"/>
                          <a:cs typeface="Segoe UI" panose="020B0502040204020203" pitchFamily="34" charset="0"/>
                        </a:rPr>
                        <a:t>Campaigns / </a:t>
                      </a:r>
                      <a:r>
                        <a:rPr lang="en-US" sz="1000" b="1" err="1">
                          <a:solidFill>
                            <a:schemeClr val="bg1"/>
                          </a:solidFill>
                          <a:latin typeface="+mn-lt"/>
                          <a:ea typeface="Tahoma" panose="020B0604030504040204" pitchFamily="34" charset="0"/>
                          <a:cs typeface="Segoe UI" panose="020B0502040204020203" pitchFamily="34" charset="0"/>
                        </a:rPr>
                        <a:t>Maint</a:t>
                      </a:r>
                      <a:r>
                        <a:rPr lang="en-US" sz="1000" b="1">
                          <a:solidFill>
                            <a:schemeClr val="bg1"/>
                          </a:solidFill>
                          <a:latin typeface="+mn-lt"/>
                          <a:ea typeface="Tahoma" panose="020B0604030504040204" pitchFamily="34" charset="0"/>
                          <a:cs typeface="Segoe UI" panose="020B0502040204020203" pitchFamily="34" charset="0"/>
                        </a:rPr>
                        <a:t>.</a:t>
                      </a:r>
                    </a:p>
                  </a:txBody>
                  <a:tcPr marL="117349" marR="117349" marT="45135" marB="45135" anchor="ctr" anchorCtr="1">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Incidents/</a:t>
                      </a:r>
                      <a:r>
                        <a:rPr lang="en-US" sz="1000" b="1" baseline="0">
                          <a:solidFill>
                            <a:schemeClr val="bg1"/>
                          </a:solidFill>
                          <a:latin typeface="+mn-lt"/>
                          <a:ea typeface="Tahoma" panose="020B0604030504040204" pitchFamily="34" charset="0"/>
                          <a:cs typeface="Segoe UI" panose="020B0502040204020203" pitchFamily="34" charset="0"/>
                        </a:rPr>
                        <a:t> PRB Records</a:t>
                      </a:r>
                      <a:endParaRPr lang="en-US" sz="1000" b="1">
                        <a:solidFill>
                          <a:schemeClr val="bg1"/>
                        </a:solidFill>
                        <a:latin typeface="+mn-lt"/>
                        <a:ea typeface="Tahoma" panose="020B0604030504040204" pitchFamily="34" charset="0"/>
                        <a:cs typeface="Segoe UI" panose="020B0502040204020203" pitchFamily="34" charset="0"/>
                      </a:endParaRP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CCR</a:t>
                      </a: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Others</a:t>
                      </a: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Total</a:t>
                      </a:r>
                    </a:p>
                  </a:txBody>
                  <a:tcPr marL="117349" marR="117349" marT="45135" marB="45135" anchor="ctr" anchorCtr="1">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365030">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0">
                          <a:solidFill>
                            <a:schemeClr val="tx1"/>
                          </a:solidFill>
                          <a:effectLst/>
                          <a:latin typeface="+mn-lt"/>
                          <a:ea typeface="Tahoma" panose="020B0604030504040204" pitchFamily="34" charset="0"/>
                          <a:cs typeface="Tahoma" panose="020B0604030504040204" pitchFamily="34" charset="0"/>
                        </a:rPr>
                        <a:t>31</a:t>
                      </a:r>
                      <a:endParaRPr lang="en-US" sz="1400" b="0">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0">
                          <a:solidFill>
                            <a:schemeClr val="tx1"/>
                          </a:solidFill>
                          <a:effectLst/>
                          <a:latin typeface="+mn-lt"/>
                          <a:ea typeface="Tahoma" panose="020B0604030504040204" pitchFamily="34" charset="0"/>
                          <a:cs typeface="Tahoma" panose="020B0604030504040204" pitchFamily="34" charset="0"/>
                        </a:rPr>
                        <a:t>3</a:t>
                      </a:r>
                      <a:endParaRPr lang="en-US" sz="1400" b="0">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0">
                          <a:solidFill>
                            <a:schemeClr val="tx1"/>
                          </a:solidFill>
                          <a:effectLst/>
                          <a:latin typeface="+mn-lt"/>
                          <a:ea typeface="Tahoma" panose="020B0604030504040204" pitchFamily="34" charset="0"/>
                          <a:cs typeface="Tahoma" panose="020B0604030504040204" pitchFamily="34" charset="0"/>
                        </a:rPr>
                        <a:t>23</a:t>
                      </a:r>
                      <a:endParaRPr lang="en-US" sz="1400" b="0">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0">
                          <a:solidFill>
                            <a:schemeClr val="tx1"/>
                          </a:solidFill>
                          <a:effectLst/>
                          <a:latin typeface="+mn-lt"/>
                          <a:ea typeface="Tahoma" panose="020B0604030504040204" pitchFamily="34" charset="0"/>
                          <a:cs typeface="Tahoma" panose="020B0604030504040204" pitchFamily="34" charset="0"/>
                        </a:rPr>
                        <a:t>1</a:t>
                      </a:r>
                      <a:endParaRPr lang="en-US" sz="1400" b="0">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0">
                          <a:solidFill>
                            <a:schemeClr val="tx1"/>
                          </a:solidFill>
                          <a:effectLst/>
                          <a:latin typeface="+mn-lt"/>
                          <a:ea typeface="Tahoma" panose="020B0604030504040204" pitchFamily="34" charset="0"/>
                          <a:cs typeface="Tahoma" panose="020B0604030504040204" pitchFamily="34" charset="0"/>
                        </a:rPr>
                        <a:t>-</a:t>
                      </a:r>
                      <a:endParaRPr lang="en-US" sz="1400" b="0">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a:solidFill>
                            <a:schemeClr val="tx1"/>
                          </a:solidFill>
                          <a:effectLst/>
                          <a:latin typeface="+mn-lt"/>
                          <a:ea typeface="Tahoma" panose="020B0604030504040204" pitchFamily="34" charset="0"/>
                          <a:cs typeface="Tahoma" panose="020B0604030504040204" pitchFamily="34" charset="0"/>
                        </a:rPr>
                        <a:t>58</a:t>
                      </a:r>
                      <a:endParaRPr lang="en-US" sz="1400" b="1">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30249177"/>
                  </a:ext>
                </a:extLst>
              </a:tr>
            </a:tbl>
          </a:graphicData>
        </a:graphic>
      </p:graphicFrame>
      <p:graphicFrame>
        <p:nvGraphicFramePr>
          <p:cNvPr id="9" name="Table 8">
            <a:extLst>
              <a:ext uri="{FF2B5EF4-FFF2-40B4-BE49-F238E27FC236}">
                <a16:creationId xmlns:a16="http://schemas.microsoft.com/office/drawing/2014/main" id="{818E2A21-A352-1B16-A6CB-E85A0F765D37}"/>
              </a:ext>
            </a:extLst>
          </p:cNvPr>
          <p:cNvGraphicFramePr>
            <a:graphicFrameLocks noGrp="1"/>
          </p:cNvGraphicFramePr>
          <p:nvPr>
            <p:extLst>
              <p:ext uri="{D42A27DB-BD31-4B8C-83A1-F6EECF244321}">
                <p14:modId xmlns:p14="http://schemas.microsoft.com/office/powerpoint/2010/main" val="1695204280"/>
              </p:ext>
            </p:extLst>
          </p:nvPr>
        </p:nvGraphicFramePr>
        <p:xfrm>
          <a:off x="96143" y="826705"/>
          <a:ext cx="5720296" cy="887198"/>
        </p:xfrm>
        <a:graphic>
          <a:graphicData uri="http://schemas.openxmlformats.org/drawingml/2006/table">
            <a:tbl>
              <a:tblPr firstRow="1" bandRow="1"/>
              <a:tblGrid>
                <a:gridCol w="823171">
                  <a:extLst>
                    <a:ext uri="{9D8B030D-6E8A-4147-A177-3AD203B41FA5}">
                      <a16:colId xmlns:a16="http://schemas.microsoft.com/office/drawing/2014/main" val="20000"/>
                    </a:ext>
                  </a:extLst>
                </a:gridCol>
                <a:gridCol w="829004">
                  <a:extLst>
                    <a:ext uri="{9D8B030D-6E8A-4147-A177-3AD203B41FA5}">
                      <a16:colId xmlns:a16="http://schemas.microsoft.com/office/drawing/2014/main" val="20001"/>
                    </a:ext>
                  </a:extLst>
                </a:gridCol>
                <a:gridCol w="820635">
                  <a:extLst>
                    <a:ext uri="{9D8B030D-6E8A-4147-A177-3AD203B41FA5}">
                      <a16:colId xmlns:a16="http://schemas.microsoft.com/office/drawing/2014/main" val="20002"/>
                    </a:ext>
                  </a:extLst>
                </a:gridCol>
                <a:gridCol w="767963">
                  <a:extLst>
                    <a:ext uri="{9D8B030D-6E8A-4147-A177-3AD203B41FA5}">
                      <a16:colId xmlns:a16="http://schemas.microsoft.com/office/drawing/2014/main" val="20003"/>
                    </a:ext>
                  </a:extLst>
                </a:gridCol>
                <a:gridCol w="826508">
                  <a:extLst>
                    <a:ext uri="{9D8B030D-6E8A-4147-A177-3AD203B41FA5}">
                      <a16:colId xmlns:a16="http://schemas.microsoft.com/office/drawing/2014/main" val="20004"/>
                    </a:ext>
                  </a:extLst>
                </a:gridCol>
                <a:gridCol w="714757">
                  <a:extLst>
                    <a:ext uri="{9D8B030D-6E8A-4147-A177-3AD203B41FA5}">
                      <a16:colId xmlns:a16="http://schemas.microsoft.com/office/drawing/2014/main" val="533329812"/>
                    </a:ext>
                  </a:extLst>
                </a:gridCol>
                <a:gridCol w="938258">
                  <a:extLst>
                    <a:ext uri="{9D8B030D-6E8A-4147-A177-3AD203B41FA5}">
                      <a16:colId xmlns:a16="http://schemas.microsoft.com/office/drawing/2014/main" val="20005"/>
                    </a:ext>
                  </a:extLst>
                </a:gridCol>
              </a:tblGrid>
              <a:tr h="495777">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algn="ctr"/>
                      <a:r>
                        <a:rPr lang="en-CA" sz="1000" b="1">
                          <a:solidFill>
                            <a:schemeClr val="bg1"/>
                          </a:solidFill>
                          <a:latin typeface="+mn-lt"/>
                          <a:ea typeface="Tahoma" panose="020B0604030504040204" pitchFamily="34" charset="0"/>
                          <a:cs typeface="Segoe UI" panose="020B0502040204020203" pitchFamily="34" charset="0"/>
                        </a:rPr>
                        <a:t>S</a:t>
                      </a:r>
                      <a:r>
                        <a:rPr lang="en-US" sz="1000" b="1">
                          <a:solidFill>
                            <a:schemeClr val="bg1"/>
                          </a:solidFill>
                          <a:latin typeface="+mn-lt"/>
                          <a:ea typeface="Tahoma" panose="020B0604030504040204" pitchFamily="34" charset="0"/>
                          <a:cs typeface="Segoe UI" panose="020B0502040204020203" pitchFamily="34" charset="0"/>
                        </a:rPr>
                        <a:t>cope</a:t>
                      </a:r>
                    </a:p>
                  </a:txBody>
                  <a:tcPr marL="117349" marR="117349" marT="45135" marB="45135"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Schedule</a:t>
                      </a:r>
                    </a:p>
                  </a:txBody>
                  <a:tcPr marL="117349" marR="117349" marT="45135" marB="45135" anchor="ctr" anchorCtr="1">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 </a:t>
                      </a:r>
                      <a:r>
                        <a:rPr lang="en-US" sz="1000" b="1" err="1">
                          <a:solidFill>
                            <a:schemeClr val="bg1"/>
                          </a:solidFill>
                          <a:latin typeface="+mn-lt"/>
                          <a:ea typeface="Tahoma" panose="020B0604030504040204" pitchFamily="34" charset="0"/>
                          <a:cs typeface="Segoe UI" panose="020B0502040204020203" pitchFamily="34" charset="0"/>
                        </a:rPr>
                        <a:t>Funct</a:t>
                      </a:r>
                      <a:r>
                        <a:rPr lang="en-US" sz="1000" b="1">
                          <a:solidFill>
                            <a:schemeClr val="bg1"/>
                          </a:solidFill>
                          <a:latin typeface="+mn-lt"/>
                          <a:ea typeface="Tahoma" panose="020B0604030504040204" pitchFamily="34" charset="0"/>
                          <a:cs typeface="Segoe UI" panose="020B0502040204020203" pitchFamily="34" charset="0"/>
                        </a:rPr>
                        <a:t>. Testing</a:t>
                      </a: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Env.</a:t>
                      </a: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CA" sz="1000" b="1">
                          <a:solidFill>
                            <a:schemeClr val="bg1"/>
                          </a:solidFill>
                          <a:latin typeface="+mn-lt"/>
                          <a:ea typeface="Tahoma" panose="020B0604030504040204" pitchFamily="34" charset="0"/>
                          <a:cs typeface="Segoe UI" panose="020B0502040204020203" pitchFamily="34" charset="0"/>
                        </a:rPr>
                        <a:t>Rel. R</a:t>
                      </a:r>
                      <a:r>
                        <a:rPr lang="en-US" sz="1000" b="1" err="1">
                          <a:solidFill>
                            <a:schemeClr val="bg1"/>
                          </a:solidFill>
                          <a:latin typeface="+mn-lt"/>
                          <a:ea typeface="Tahoma" panose="020B0604030504040204" pitchFamily="34" charset="0"/>
                          <a:cs typeface="Segoe UI" panose="020B0502040204020203" pitchFamily="34" charset="0"/>
                        </a:rPr>
                        <a:t>eadiness</a:t>
                      </a:r>
                      <a:endParaRPr lang="en-US" sz="1000" b="1">
                        <a:solidFill>
                          <a:schemeClr val="bg1"/>
                        </a:solidFill>
                        <a:latin typeface="+mn-lt"/>
                        <a:ea typeface="Tahoma" panose="020B0604030504040204" pitchFamily="34" charset="0"/>
                        <a:cs typeface="Segoe UI" panose="020B0502040204020203" pitchFamily="34" charset="0"/>
                      </a:endParaRP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Code Freeze </a:t>
                      </a: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CA" sz="1000" b="1">
                          <a:solidFill>
                            <a:schemeClr val="bg1"/>
                          </a:solidFill>
                          <a:latin typeface="+mn-lt"/>
                          <a:ea typeface="Tahoma" panose="020B0604030504040204" pitchFamily="34" charset="0"/>
                          <a:cs typeface="Segoe UI" panose="020B0502040204020203" pitchFamily="34" charset="0"/>
                        </a:rPr>
                        <a:t>Overall Status</a:t>
                      </a:r>
                      <a:endParaRPr lang="en-US" sz="1000" b="1">
                        <a:solidFill>
                          <a:schemeClr val="bg1"/>
                        </a:solidFill>
                        <a:latin typeface="+mn-lt"/>
                        <a:ea typeface="Tahoma" panose="020B0604030504040204" pitchFamily="34" charset="0"/>
                        <a:cs typeface="Segoe UI" panose="020B0502040204020203" pitchFamily="34" charset="0"/>
                      </a:endParaRPr>
                    </a:p>
                  </a:txBody>
                  <a:tcPr marL="117349" marR="117349" marT="45135" marB="45135" anchor="ctr" anchorCtr="1">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391421">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a:solidFill>
                            <a:schemeClr val="bg1"/>
                          </a:solidFill>
                          <a:effectLst/>
                          <a:latin typeface="+mn-lt"/>
                          <a:ea typeface="Tahoma" panose="020B0604030504040204" pitchFamily="34" charset="0"/>
                          <a:cs typeface="Tahoma" panose="020B0604030504040204" pitchFamily="34" charset="0"/>
                        </a:rPr>
                        <a:t>G</a:t>
                      </a:r>
                      <a:endParaRPr lang="en-US" sz="1400" b="1">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a:solidFill>
                            <a:schemeClr val="bg1"/>
                          </a:solidFill>
                          <a:effectLst/>
                          <a:latin typeface="+mn-lt"/>
                          <a:ea typeface="Tahoma" panose="020B0604030504040204" pitchFamily="34" charset="0"/>
                          <a:cs typeface="Tahoma" panose="020B0604030504040204" pitchFamily="34" charset="0"/>
                        </a:rPr>
                        <a:t>G</a:t>
                      </a:r>
                      <a:endParaRPr lang="en-US" sz="1400" b="1">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kern="1200">
                          <a:solidFill>
                            <a:schemeClr val="bg1"/>
                          </a:solidFill>
                          <a:effectLst/>
                          <a:latin typeface="+mn-lt"/>
                          <a:ea typeface="Tahoma" panose="020B0604030504040204" pitchFamily="34" charset="0"/>
                          <a:cs typeface="Tahoma" panose="020B0604030504040204" pitchFamily="34" charset="0"/>
                        </a:rPr>
                        <a:t>R</a:t>
                      </a:r>
                      <a:endParaRPr lang="en-US" sz="1400" b="1" kern="1200">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kern="1200">
                          <a:solidFill>
                            <a:schemeClr val="bg1"/>
                          </a:solidFill>
                          <a:effectLst/>
                          <a:latin typeface="+mn-lt"/>
                          <a:ea typeface="Tahoma" panose="020B0604030504040204" pitchFamily="34" charset="0"/>
                          <a:cs typeface="Tahoma" panose="020B0604030504040204" pitchFamily="34" charset="0"/>
                        </a:rPr>
                        <a:t>G</a:t>
                      </a:r>
                      <a:endParaRPr lang="en-US" sz="1400" b="1" kern="1200">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kern="1200">
                          <a:solidFill>
                            <a:schemeClr val="bg1"/>
                          </a:solidFill>
                          <a:effectLst/>
                          <a:latin typeface="+mn-lt"/>
                          <a:ea typeface="Tahoma" panose="020B0604030504040204" pitchFamily="34" charset="0"/>
                          <a:cs typeface="Tahoma" panose="020B0604030504040204" pitchFamily="34" charset="0"/>
                        </a:rPr>
                        <a:t>G</a:t>
                      </a:r>
                      <a:endParaRPr lang="en-US" sz="1400" b="1" kern="1200">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kern="1200">
                          <a:solidFill>
                            <a:schemeClr val="bg1"/>
                          </a:solidFill>
                          <a:effectLst/>
                          <a:latin typeface="+mn-lt"/>
                          <a:ea typeface="Tahoma" panose="020B0604030504040204" pitchFamily="34" charset="0"/>
                          <a:cs typeface="Tahoma" panose="020B0604030504040204" pitchFamily="34" charset="0"/>
                        </a:rPr>
                        <a:t>G</a:t>
                      </a:r>
                      <a:endParaRPr lang="en-US" sz="1400" b="1" kern="1200">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kern="1200">
                          <a:solidFill>
                            <a:schemeClr val="bg1"/>
                          </a:solidFill>
                          <a:effectLst/>
                          <a:latin typeface="+mn-lt"/>
                          <a:ea typeface="Tahoma" panose="020B0604030504040204" pitchFamily="34" charset="0"/>
                          <a:cs typeface="Tahoma" panose="020B0604030504040204" pitchFamily="34" charset="0"/>
                        </a:rPr>
                        <a:t>R</a:t>
                      </a:r>
                      <a:endParaRPr lang="en-US" sz="1400" b="1" kern="1200">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430249177"/>
                  </a:ext>
                </a:extLst>
              </a:tr>
            </a:tbl>
          </a:graphicData>
        </a:graphic>
      </p:graphicFrame>
      <p:graphicFrame>
        <p:nvGraphicFramePr>
          <p:cNvPr id="11" name="Table 10">
            <a:extLst>
              <a:ext uri="{FF2B5EF4-FFF2-40B4-BE49-F238E27FC236}">
                <a16:creationId xmlns:a16="http://schemas.microsoft.com/office/drawing/2014/main" id="{B525A82C-4902-0286-1423-153F579E7666}"/>
              </a:ext>
            </a:extLst>
          </p:cNvPr>
          <p:cNvGraphicFramePr>
            <a:graphicFrameLocks noGrp="1"/>
          </p:cNvGraphicFramePr>
          <p:nvPr>
            <p:extLst>
              <p:ext uri="{D42A27DB-BD31-4B8C-83A1-F6EECF244321}">
                <p14:modId xmlns:p14="http://schemas.microsoft.com/office/powerpoint/2010/main" val="4110605673"/>
              </p:ext>
            </p:extLst>
          </p:nvPr>
        </p:nvGraphicFramePr>
        <p:xfrm>
          <a:off x="5927974" y="817965"/>
          <a:ext cx="5777958" cy="5972910"/>
        </p:xfrm>
        <a:graphic>
          <a:graphicData uri="http://schemas.openxmlformats.org/drawingml/2006/table">
            <a:tbl>
              <a:tblPr firstRow="1" bandRow="1">
                <a:tableStyleId>{5C22544A-7EE6-4342-B048-85BDC9FD1C3A}</a:tableStyleId>
              </a:tblPr>
              <a:tblGrid>
                <a:gridCol w="840198">
                  <a:extLst>
                    <a:ext uri="{9D8B030D-6E8A-4147-A177-3AD203B41FA5}">
                      <a16:colId xmlns:a16="http://schemas.microsoft.com/office/drawing/2014/main" val="3940713770"/>
                    </a:ext>
                  </a:extLst>
                </a:gridCol>
                <a:gridCol w="3474720">
                  <a:extLst>
                    <a:ext uri="{9D8B030D-6E8A-4147-A177-3AD203B41FA5}">
                      <a16:colId xmlns:a16="http://schemas.microsoft.com/office/drawing/2014/main" val="1678557957"/>
                    </a:ext>
                  </a:extLst>
                </a:gridCol>
                <a:gridCol w="457200">
                  <a:extLst>
                    <a:ext uri="{9D8B030D-6E8A-4147-A177-3AD203B41FA5}">
                      <a16:colId xmlns:a16="http://schemas.microsoft.com/office/drawing/2014/main" val="2654559020"/>
                    </a:ext>
                  </a:extLst>
                </a:gridCol>
                <a:gridCol w="457200">
                  <a:extLst>
                    <a:ext uri="{9D8B030D-6E8A-4147-A177-3AD203B41FA5}">
                      <a16:colId xmlns:a16="http://schemas.microsoft.com/office/drawing/2014/main" val="1781440560"/>
                    </a:ext>
                  </a:extLst>
                </a:gridCol>
                <a:gridCol w="548640">
                  <a:extLst>
                    <a:ext uri="{9D8B030D-6E8A-4147-A177-3AD203B41FA5}">
                      <a16:colId xmlns:a16="http://schemas.microsoft.com/office/drawing/2014/main" val="330516256"/>
                    </a:ext>
                  </a:extLst>
                </a:gridCol>
              </a:tblGrid>
              <a:tr h="319615">
                <a:tc>
                  <a:txBody>
                    <a:bodyPr/>
                    <a:lstStyle/>
                    <a:p>
                      <a:pPr algn="ctr"/>
                      <a:r>
                        <a:rPr lang="en-CA" sz="1000" b="1" i="0" u="none" strike="noStrike" kern="1200">
                          <a:solidFill>
                            <a:srgbClr val="FFFFFF"/>
                          </a:solidFill>
                          <a:effectLst/>
                          <a:latin typeface="+mn-lt"/>
                          <a:ea typeface="+mn-ea"/>
                          <a:cs typeface="+mn-cs"/>
                        </a:rPr>
                        <a:t>ACTIVITY</a:t>
                      </a:r>
                      <a:endParaRPr lang="en-US" sz="1000" b="1" i="0" u="none" strike="noStrike" kern="1200">
                        <a:solidFill>
                          <a:srgbClr val="FFFFFF"/>
                        </a:solidFill>
                        <a:effectLst/>
                        <a:latin typeface="+mn-lt"/>
                        <a:ea typeface="+mn-ea"/>
                        <a:cs typeface="+mn-cs"/>
                      </a:endParaRPr>
                    </a:p>
                  </a:txBody>
                  <a:tcPr marL="90268" marR="90268" marT="45135" marB="45135" anchor="ctr">
                    <a:solidFill>
                      <a:schemeClr val="bg1">
                        <a:lumMod val="50000"/>
                      </a:schemeClr>
                    </a:solidFill>
                  </a:tcPr>
                </a:tc>
                <a:tc>
                  <a:txBody>
                    <a:bodyPr/>
                    <a:lstStyle/>
                    <a:p>
                      <a:pPr algn="ctr"/>
                      <a:r>
                        <a:rPr lang="en-CA" sz="1000" b="1" i="0" u="none" strike="noStrike" kern="1200">
                          <a:solidFill>
                            <a:srgbClr val="FFFFFF"/>
                          </a:solidFill>
                          <a:effectLst/>
                          <a:latin typeface="+mn-lt"/>
                          <a:ea typeface="+mn-ea"/>
                          <a:cs typeface="+mn-cs"/>
                        </a:rPr>
                        <a:t>DETAILS</a:t>
                      </a:r>
                      <a:endParaRPr lang="en-US" sz="1000" b="1" i="0" u="none" strike="noStrike" kern="1200">
                        <a:solidFill>
                          <a:srgbClr val="FFFFFF"/>
                        </a:solidFill>
                        <a:effectLst/>
                        <a:latin typeface="+mn-lt"/>
                        <a:ea typeface="+mn-ea"/>
                        <a:cs typeface="+mn-cs"/>
                      </a:endParaRPr>
                    </a:p>
                  </a:txBody>
                  <a:tcPr marL="90268" marR="90268" marT="45135" marB="45135" anchor="ctr">
                    <a:solidFill>
                      <a:schemeClr val="bg1">
                        <a:lumMod val="50000"/>
                      </a:schemeClr>
                    </a:solidFill>
                  </a:tcPr>
                </a:tc>
                <a:tc>
                  <a:txBody>
                    <a:bodyPr/>
                    <a:lstStyle/>
                    <a:p>
                      <a:pPr marL="0" algn="ctr" defTabSz="871865" rtl="0" eaLnBrk="1" latinLnBrk="0" hangingPunct="1"/>
                      <a:r>
                        <a:rPr lang="en-CA" sz="1000" b="1" i="0" u="none" strike="noStrike" kern="1200">
                          <a:solidFill>
                            <a:srgbClr val="FFFFFF"/>
                          </a:solidFill>
                          <a:effectLst/>
                          <a:latin typeface="+mn-lt"/>
                          <a:ea typeface="+mn-ea"/>
                          <a:cs typeface="+mn-cs"/>
                        </a:rPr>
                        <a:t>TARGET</a:t>
                      </a:r>
                      <a:endParaRPr lang="en-US" sz="1000" b="1" i="0" u="none" strike="noStrike" kern="1200">
                        <a:solidFill>
                          <a:srgbClr val="FFFFFF"/>
                        </a:solidFill>
                        <a:effectLst/>
                        <a:latin typeface="+mn-lt"/>
                        <a:ea typeface="+mn-ea"/>
                        <a:cs typeface="+mn-cs"/>
                      </a:endParaRPr>
                    </a:p>
                  </a:txBody>
                  <a:tcPr marL="90268" marR="90268" marT="45135" marB="45135" anchor="ctr">
                    <a:solidFill>
                      <a:schemeClr val="bg1">
                        <a:lumMod val="50000"/>
                      </a:schemeClr>
                    </a:solidFill>
                  </a:tcPr>
                </a:tc>
                <a:tc>
                  <a:txBody>
                    <a:bodyPr/>
                    <a:lstStyle/>
                    <a:p>
                      <a:pPr marL="0" algn="ctr" defTabSz="871865" rtl="0" eaLnBrk="1" latinLnBrk="0" hangingPunct="1"/>
                      <a:r>
                        <a:rPr lang="en-CA" sz="1000" b="1" i="0" u="none" strike="noStrike" kern="1200">
                          <a:solidFill>
                            <a:srgbClr val="FFFFFF"/>
                          </a:solidFill>
                          <a:effectLst/>
                          <a:latin typeface="+mn-lt"/>
                          <a:ea typeface="+mn-ea"/>
                          <a:cs typeface="+mn-cs"/>
                        </a:rPr>
                        <a:t>ETA</a:t>
                      </a:r>
                      <a:endParaRPr lang="en-US" sz="1000" b="1" i="0" u="none" strike="noStrike" kern="1200">
                        <a:solidFill>
                          <a:srgbClr val="FFFFFF"/>
                        </a:solidFill>
                        <a:effectLst/>
                        <a:latin typeface="+mn-lt"/>
                        <a:ea typeface="+mn-ea"/>
                        <a:cs typeface="+mn-cs"/>
                      </a:endParaRPr>
                    </a:p>
                  </a:txBody>
                  <a:tcPr marL="90268" marR="90268" marT="45135" marB="45135" anchor="ctr">
                    <a:solidFill>
                      <a:schemeClr val="bg1">
                        <a:lumMod val="50000"/>
                      </a:schemeClr>
                    </a:solidFill>
                  </a:tcPr>
                </a:tc>
                <a:tc>
                  <a:txBody>
                    <a:bodyPr/>
                    <a:lstStyle/>
                    <a:p>
                      <a:pPr marL="0" algn="ctr" defTabSz="871865" rtl="0" eaLnBrk="1" latinLnBrk="0" hangingPunct="1"/>
                      <a:r>
                        <a:rPr lang="en-CA" sz="1000" b="1" i="0" u="none" strike="noStrike" kern="1200">
                          <a:solidFill>
                            <a:srgbClr val="FFFFFF"/>
                          </a:solidFill>
                          <a:effectLst/>
                          <a:latin typeface="+mn-lt"/>
                          <a:ea typeface="+mn-ea"/>
                          <a:cs typeface="+mn-cs"/>
                        </a:rPr>
                        <a:t>%</a:t>
                      </a:r>
                      <a:endParaRPr lang="en-US" sz="1000" b="1" i="0" u="none" strike="noStrike" kern="1200">
                        <a:solidFill>
                          <a:srgbClr val="FFFFFF"/>
                        </a:solidFill>
                        <a:effectLst/>
                        <a:latin typeface="+mn-lt"/>
                        <a:ea typeface="+mn-ea"/>
                        <a:cs typeface="+mn-cs"/>
                      </a:endParaRPr>
                    </a:p>
                  </a:txBody>
                  <a:tcPr marL="90268" marR="90268" marT="45135" marB="45135" anchor="ctr">
                    <a:solidFill>
                      <a:schemeClr val="bg1">
                        <a:lumMod val="50000"/>
                      </a:schemeClr>
                    </a:solidFill>
                  </a:tcPr>
                </a:tc>
                <a:extLst>
                  <a:ext uri="{0D108BD9-81ED-4DB2-BD59-A6C34878D82A}">
                    <a16:rowId xmlns:a16="http://schemas.microsoft.com/office/drawing/2014/main" val="232394825"/>
                  </a:ext>
                </a:extLst>
              </a:tr>
              <a:tr h="0">
                <a:tc>
                  <a:txBody>
                    <a:bodyPr/>
                    <a:lstStyle/>
                    <a:p>
                      <a:r>
                        <a:rPr lang="en-CA" sz="800" b="1" i="0" u="none" strike="noStrike" kern="1200">
                          <a:solidFill>
                            <a:srgbClr val="000000"/>
                          </a:solidFill>
                          <a:effectLst/>
                          <a:latin typeface="Trebuchet MS" panose="020B0603020202020204" pitchFamily="34" charset="0"/>
                          <a:ea typeface="Tahoma"/>
                          <a:cs typeface="Tahoma"/>
                        </a:rPr>
                        <a:t>Design Review</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i="0" u="none" strike="noStrike" kern="1200">
                          <a:solidFill>
                            <a:srgbClr val="000000"/>
                          </a:solidFill>
                          <a:effectLst/>
                          <a:latin typeface="Trebuchet MS" panose="020B0603020202020204" pitchFamily="34" charset="0"/>
                          <a:ea typeface="Tahoma"/>
                          <a:cs typeface="Tahoma"/>
                        </a:rPr>
                        <a:t>In Progress:	</a:t>
                      </a:r>
                      <a:r>
                        <a:rPr lang="en-US" sz="800"/>
                        <a:t>AMS | API Lending | CAAP | COLT | DDGS | EDTS | 	ENVOY | FirstLine.com | LCMS | mMortgage | RPE | 	TABS | Target | CLASS | Excalibur | LAS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t>Completed:</a:t>
                      </a:r>
                      <a:r>
                        <a:rPr lang="en-US" sz="800"/>
                        <a:t>	CI | DM | FX | PCA/SAV | STB</a:t>
                      </a:r>
                    </a:p>
                  </a:txBody>
                  <a:tcPr marL="90268" marR="90268">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21 Sep</a:t>
                      </a:r>
                    </a:p>
                  </a:txBody>
                  <a:tcPr marL="90268" marR="90268">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17 Oct</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27%</a:t>
                      </a:r>
                    </a:p>
                  </a:txBody>
                  <a:tcPr marL="90268" marR="90268">
                    <a:solidFill>
                      <a:srgbClr val="F2F2F2"/>
                    </a:solidFill>
                  </a:tcPr>
                </a:tc>
                <a:extLst>
                  <a:ext uri="{0D108BD9-81ED-4DB2-BD59-A6C34878D82A}">
                    <a16:rowId xmlns:a16="http://schemas.microsoft.com/office/drawing/2014/main" val="1370953055"/>
                  </a:ext>
                </a:extLst>
              </a:tr>
              <a:tr h="0">
                <a:tc>
                  <a:txBody>
                    <a:bodyPr/>
                    <a:lstStyle/>
                    <a:p>
                      <a:r>
                        <a:rPr lang="en-CA" sz="800" b="1" i="0" u="none" strike="noStrike" kern="1200">
                          <a:solidFill>
                            <a:srgbClr val="000000"/>
                          </a:solidFill>
                          <a:effectLst/>
                          <a:latin typeface="Trebuchet MS" panose="020B0603020202020204" pitchFamily="34" charset="0"/>
                          <a:ea typeface="Tahoma"/>
                          <a:cs typeface="Tahoma"/>
                        </a:rPr>
                        <a:t>Code Review</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i="0" u="none" strike="noStrike" kern="1200">
                          <a:solidFill>
                            <a:srgbClr val="000000"/>
                          </a:solidFill>
                          <a:effectLst/>
                          <a:latin typeface="Trebuchet MS" panose="020B0603020202020204" pitchFamily="34" charset="0"/>
                          <a:ea typeface="Tahoma"/>
                          <a:cs typeface="Tahoma"/>
                        </a:rPr>
                        <a:t>In Progress:	</a:t>
                      </a:r>
                      <a:r>
                        <a:rPr lang="en-US" sz="800"/>
                        <a:t>AMS | API Lending | CAAP | CLASS | COLT | DDGS | 	EDTS | ENVOY | Excalibur | FirstLine.com | LAS | 	LCMS | mMortgage | RPE | TABS | Target | DM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t>Completed:</a:t>
                      </a:r>
                      <a:r>
                        <a:rPr lang="en-US" sz="800"/>
                        <a:t>	CI | FX | PCA/SAV | STB</a:t>
                      </a:r>
                    </a:p>
                  </a:txBody>
                  <a:tcPr marL="90268" marR="90268">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21 Sep</a:t>
                      </a:r>
                    </a:p>
                  </a:txBody>
                  <a:tcPr marL="90268" marR="90268">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17 Oct</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Trebuchet MS" panose="020B0603020202020204" pitchFamily="34" charset="0"/>
                          <a:ea typeface="Tahoma" panose="020B0604030504040204" pitchFamily="34" charset="0"/>
                          <a:cs typeface="Tahoma" panose="020B0604030504040204" pitchFamily="34" charset="0"/>
                        </a:rPr>
                        <a:t>12%</a:t>
                      </a:r>
                    </a:p>
                  </a:txBody>
                  <a:tcPr marL="90268" marR="90268">
                    <a:solidFill>
                      <a:srgbClr val="F2F2F2"/>
                    </a:solidFill>
                  </a:tcPr>
                </a:tc>
                <a:extLst>
                  <a:ext uri="{0D108BD9-81ED-4DB2-BD59-A6C34878D82A}">
                    <a16:rowId xmlns:a16="http://schemas.microsoft.com/office/drawing/2014/main" val="2352501163"/>
                  </a:ext>
                </a:extLst>
              </a:tr>
              <a:tr h="0">
                <a:tc>
                  <a:txBody>
                    <a:bodyPr/>
                    <a:lstStyle/>
                    <a:p>
                      <a:r>
                        <a:rPr lang="en-CA" sz="800" b="1" i="0" u="none" strike="noStrike" kern="1200">
                          <a:solidFill>
                            <a:srgbClr val="000000"/>
                          </a:solidFill>
                          <a:effectLst/>
                          <a:latin typeface="Trebuchet MS" panose="020B0603020202020204" pitchFamily="34" charset="0"/>
                          <a:ea typeface="Tahoma"/>
                          <a:cs typeface="Tahoma"/>
                        </a:rPr>
                        <a:t>Diff Report Review (SIT)</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i="0" u="none" strike="noStrike" kern="1200">
                          <a:solidFill>
                            <a:srgbClr val="000000"/>
                          </a:solidFill>
                          <a:effectLst/>
                          <a:latin typeface="Trebuchet MS" panose="020B0603020202020204" pitchFamily="34" charset="0"/>
                          <a:ea typeface="Tahoma"/>
                          <a:cs typeface="Tahoma"/>
                        </a:rPr>
                        <a:t>In Progress:	</a:t>
                      </a:r>
                      <a:r>
                        <a:rPr lang="en-US" sz="800"/>
                        <a:t>AMS | API Lending | CAAP | CLASS | COLT | DDGS | 	DM | EDTS | ENVOY | Excalibur | FirstLine.com | 	LAS | LCMS | mMortgage | RPE | TABS | Target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t>Completed:</a:t>
                      </a:r>
                      <a:r>
                        <a:rPr lang="en-US" sz="800"/>
                        <a:t>	CI | FX | PCA/SAV | STB</a:t>
                      </a:r>
                    </a:p>
                  </a:txBody>
                  <a:tcPr marL="90268" marR="90268">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21 Sep</a:t>
                      </a:r>
                    </a:p>
                  </a:txBody>
                  <a:tcPr marL="90268" marR="90268">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17 Oct</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Trebuchet MS" panose="020B0603020202020204" pitchFamily="34" charset="0"/>
                          <a:ea typeface="Tahoma" panose="020B0604030504040204" pitchFamily="34" charset="0"/>
                          <a:cs typeface="Tahoma" panose="020B0604030504040204" pitchFamily="34" charset="0"/>
                        </a:rPr>
                        <a:t>7%</a:t>
                      </a:r>
                    </a:p>
                  </a:txBody>
                  <a:tcPr marL="90268" marR="90268">
                    <a:solidFill>
                      <a:srgbClr val="F2F2F2"/>
                    </a:solidFill>
                  </a:tcPr>
                </a:tc>
                <a:extLst>
                  <a:ext uri="{0D108BD9-81ED-4DB2-BD59-A6C34878D82A}">
                    <a16:rowId xmlns:a16="http://schemas.microsoft.com/office/drawing/2014/main" val="1762979797"/>
                  </a:ext>
                </a:extLst>
              </a:tr>
              <a:tr h="337652">
                <a:tc>
                  <a:txBody>
                    <a:bodyPr/>
                    <a:lstStyle/>
                    <a:p>
                      <a:r>
                        <a:rPr lang="en-US" sz="800" b="1" kern="1200">
                          <a:latin typeface="+mn-lt"/>
                          <a:ea typeface="Tahoma"/>
                          <a:cs typeface="Tahoma"/>
                        </a:rPr>
                        <a:t>Infra Readiness Status</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sv-SE" sz="800" b="1" i="0" u="none" strike="noStrike">
                          <a:solidFill>
                            <a:srgbClr val="000000"/>
                          </a:solidFill>
                          <a:effectLst/>
                          <a:latin typeface="Trebuchet MS" panose="020B0603020202020204" pitchFamily="34" charset="0"/>
                        </a:rPr>
                        <a:t>3504 | Risk AMS Triad/TAD infra Upgrade</a:t>
                      </a:r>
                      <a:r>
                        <a:rPr lang="en-CA" sz="800" b="1" i="0" u="none" strike="noStrike" kern="1200">
                          <a:solidFill>
                            <a:schemeClr val="tx1"/>
                          </a:solidFill>
                          <a:effectLst/>
                          <a:latin typeface="+mn-lt"/>
                          <a:ea typeface="+mn-ea"/>
                          <a:cs typeface="+mn-cs"/>
                        </a:rPr>
                        <a:t>:</a:t>
                      </a:r>
                    </a:p>
                    <a:p>
                      <a:pPr marL="0" marR="0" lvl="0" indent="0" algn="l" defTabSz="914400" rtl="0" eaLnBrk="1" fontAlgn="ctr" latinLnBrk="0" hangingPunct="1">
                        <a:lnSpc>
                          <a:spcPct val="100000"/>
                        </a:lnSpc>
                        <a:spcBef>
                          <a:spcPts val="0"/>
                        </a:spcBef>
                        <a:spcAft>
                          <a:spcPts val="0"/>
                        </a:spcAft>
                        <a:buClrTx/>
                        <a:buSzTx/>
                        <a:buFontTx/>
                        <a:buNone/>
                        <a:tabLst/>
                        <a:defRPr/>
                      </a:pPr>
                      <a:r>
                        <a:rPr lang="en-CA" sz="800" b="0" i="0" u="none" strike="noStrike" kern="1200">
                          <a:solidFill>
                            <a:schemeClr val="tx1"/>
                          </a:solidFill>
                          <a:effectLst/>
                          <a:latin typeface="+mn-lt"/>
                          <a:ea typeface="+mn-ea"/>
                          <a:cs typeface="+mn-cs"/>
                        </a:rPr>
                        <a:t>Upgrade of Linux servers, WebSphere, JBOSS, Windows server and SQL DB to higher version.</a:t>
                      </a:r>
                      <a:endParaRPr lang="en-US" sz="800" b="0" i="0" u="none" strike="noStrike" kern="1200">
                        <a:solidFill>
                          <a:schemeClr val="tx1"/>
                        </a:solidFill>
                        <a:effectLst/>
                        <a:latin typeface="+mn-lt"/>
                        <a:ea typeface="+mn-ea"/>
                        <a:cs typeface="+mn-cs"/>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CA" sz="800" b="1" i="0" u="none" strike="noStrike" kern="1200">
                          <a:solidFill>
                            <a:schemeClr val="tx1"/>
                          </a:solidFill>
                          <a:effectLst/>
                          <a:latin typeface="+mn-lt"/>
                          <a:ea typeface="+mn-ea"/>
                          <a:cs typeface="+mn-cs"/>
                        </a:rPr>
                        <a:t>ETA: </a:t>
                      </a:r>
                      <a:r>
                        <a:rPr lang="en-CA" sz="800" b="0" i="0" u="none" strike="noStrike" kern="1200">
                          <a:solidFill>
                            <a:schemeClr val="tx1"/>
                          </a:solidFill>
                          <a:effectLst/>
                          <a:latin typeface="+mn-lt"/>
                          <a:ea typeface="+mn-ea"/>
                          <a:cs typeface="+mn-cs"/>
                        </a:rPr>
                        <a:t>9</a:t>
                      </a:r>
                      <a:r>
                        <a:rPr lang="en-CA" sz="800" b="0" i="0" u="none" strike="noStrike" kern="1200" baseline="30000">
                          <a:solidFill>
                            <a:schemeClr val="tx1"/>
                          </a:solidFill>
                          <a:effectLst/>
                          <a:latin typeface="+mn-lt"/>
                          <a:ea typeface="+mn-ea"/>
                          <a:cs typeface="+mn-cs"/>
                        </a:rPr>
                        <a:t>th</a:t>
                      </a:r>
                      <a:r>
                        <a:rPr lang="en-CA" sz="800" b="0" i="0" u="none" strike="noStrike" kern="1200">
                          <a:solidFill>
                            <a:schemeClr val="tx1"/>
                          </a:solidFill>
                          <a:effectLst/>
                          <a:latin typeface="+mn-lt"/>
                          <a:ea typeface="+mn-ea"/>
                          <a:cs typeface="+mn-cs"/>
                        </a:rPr>
                        <a:t> Nov, 2025</a:t>
                      </a:r>
                    </a:p>
                  </a:txBody>
                  <a:tcPr marL="112836" marR="112836">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bg1"/>
                          </a:solidFill>
                          <a:effectLst/>
                          <a:uLnTx/>
                          <a:uFillTx/>
                          <a:latin typeface="Trebuchet MS" panose="020B0603020202020204" pitchFamily="34" charset="0"/>
                          <a:ea typeface="Tahoma" panose="020B0604030504040204" pitchFamily="34" charset="0"/>
                          <a:cs typeface="Tahoma" panose="020B0604030504040204" pitchFamily="34" charset="0"/>
                        </a:rPr>
                        <a:t>9 Nov</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000" b="1" i="0" u="none" strike="noStrike" kern="1200" cap="none" spc="0" normalizeH="0" baseline="0" noProof="0">
                        <a:ln>
                          <a:noFill/>
                        </a:ln>
                        <a:solidFill>
                          <a:schemeClr val="bg1"/>
                        </a:solidFill>
                        <a:effectLst/>
                        <a:uLnTx/>
                        <a:uFillTx/>
                        <a:latin typeface="Trebuchet MS" panose="020B0603020202020204" pitchFamily="34" charset="0"/>
                        <a:ea typeface="Tahoma" panose="020B0604030504040204" pitchFamily="34" charset="0"/>
                        <a:cs typeface="Tahoma" panose="020B0604030504040204" pitchFamily="34" charset="0"/>
                      </a:endParaRPr>
                    </a:p>
                  </a:txBody>
                  <a:tcPr marL="90268" marR="90268">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9 Nov</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Trebuchet MS" panose="020B0603020202020204" pitchFamily="34" charset="0"/>
                          <a:ea typeface="Tahoma" panose="020B0604030504040204" pitchFamily="34" charset="0"/>
                          <a:cs typeface="Tahoma" panose="020B0604030504040204" pitchFamily="34" charset="0"/>
                        </a:rPr>
                        <a:t>0%</a:t>
                      </a:r>
                    </a:p>
                  </a:txBody>
                  <a:tcPr marL="90268" marR="90268">
                    <a:solidFill>
                      <a:srgbClr val="F2F2F2"/>
                    </a:solidFill>
                  </a:tcPr>
                </a:tc>
                <a:extLst>
                  <a:ext uri="{0D108BD9-81ED-4DB2-BD59-A6C34878D82A}">
                    <a16:rowId xmlns:a16="http://schemas.microsoft.com/office/drawing/2014/main" val="253893901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kern="1200">
                          <a:solidFill>
                            <a:schemeClr val="dk1"/>
                          </a:solidFill>
                          <a:latin typeface="Trebuchet MS" panose="020B0603020202020204" pitchFamily="34" charset="0"/>
                          <a:ea typeface="Tahoma"/>
                          <a:cs typeface="Tahoma"/>
                        </a:rPr>
                        <a:t>ADM External Review</a:t>
                      </a:r>
                      <a:endParaRPr lang="en-US" sz="800" b="1" i="0" u="none" strike="noStrike" kern="1200">
                        <a:solidFill>
                          <a:srgbClr val="000000"/>
                        </a:solidFill>
                        <a:effectLst/>
                        <a:latin typeface="Trebuchet MS" panose="020B0603020202020204" pitchFamily="34" charset="0"/>
                        <a:ea typeface="Tahoma"/>
                        <a:cs typeface="Tahoma"/>
                      </a:endParaRPr>
                    </a:p>
                  </a:txBody>
                  <a:tcPr marL="90268" marR="90268">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i="0" u="none" strike="noStrike" kern="1200">
                          <a:solidFill>
                            <a:srgbClr val="000000"/>
                          </a:solidFill>
                          <a:effectLst/>
                          <a:latin typeface="Trebuchet MS" panose="020B0603020202020204" pitchFamily="34" charset="0"/>
                          <a:ea typeface="Tahoma"/>
                          <a:cs typeface="Tahoma"/>
                        </a:rPr>
                        <a:t>In Progress:	</a:t>
                      </a:r>
                      <a:r>
                        <a:rPr lang="en-US" sz="800"/>
                        <a:t>AMS | API Lending | CAAP | CI | CLASS | COLT | 	DDGS | EDTS | ENVOY | FirstLine.com | FX | LAS | 	LCMS | mMortgage | RPE | STB | TABS | Target | 	DM | Excalibur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t>Completed:</a:t>
                      </a:r>
                      <a:r>
                        <a:rPr lang="en-US" sz="800"/>
                        <a:t>	PCA/SAV</a:t>
                      </a:r>
                    </a:p>
                  </a:txBody>
                  <a:tcPr marL="112836" marR="112836">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19 Oct</a:t>
                      </a:r>
                    </a:p>
                  </a:txBody>
                  <a:tcPr marL="90268" marR="90268">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19 Oct</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13%</a:t>
                      </a:r>
                    </a:p>
                  </a:txBody>
                  <a:tcPr marL="90268" marR="90268">
                    <a:solidFill>
                      <a:srgbClr val="F2F2F2"/>
                    </a:solidFill>
                  </a:tcPr>
                </a:tc>
                <a:extLst>
                  <a:ext uri="{0D108BD9-81ED-4DB2-BD59-A6C34878D82A}">
                    <a16:rowId xmlns:a16="http://schemas.microsoft.com/office/drawing/2014/main" val="13849786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a:solidFill>
                            <a:schemeClr val="dk1"/>
                          </a:solidFill>
                          <a:latin typeface="Trebuchet MS" panose="020B0603020202020204" pitchFamily="34" charset="0"/>
                          <a:ea typeface="Tahoma"/>
                          <a:cs typeface="Tahoma"/>
                        </a:rPr>
                        <a:t>ADM Operational Review</a:t>
                      </a:r>
                    </a:p>
                  </a:txBody>
                  <a:tcPr marL="90268" marR="90268">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i="0" u="none" strike="noStrike" kern="1200">
                          <a:solidFill>
                            <a:srgbClr val="000000"/>
                          </a:solidFill>
                          <a:effectLst/>
                          <a:latin typeface="Trebuchet MS" panose="020B0603020202020204" pitchFamily="34" charset="0"/>
                          <a:ea typeface="Tahoma"/>
                          <a:cs typeface="Tahoma"/>
                        </a:rPr>
                        <a:t>In Progress:	A</a:t>
                      </a:r>
                      <a:r>
                        <a:rPr lang="en-US" sz="800"/>
                        <a:t>MS | API Lending | CAAP | CLASS | COLT | DDGS 	| DM | EDTS | ENVOY | FirstLine.com | LAS | LCMS 	| mMortgage | RPE | TABS | Target | Excalibur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t>Completed:</a:t>
                      </a:r>
                      <a:r>
                        <a:rPr lang="en-US" sz="800"/>
                        <a:t>	CI | FX | PCA/SAV | STB </a:t>
                      </a:r>
                    </a:p>
                  </a:txBody>
                  <a:tcPr marL="112836" marR="112836">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19 Oct</a:t>
                      </a:r>
                    </a:p>
                  </a:txBody>
                  <a:tcPr marL="90268" marR="90268">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19 Oct</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13%</a:t>
                      </a:r>
                    </a:p>
                  </a:txBody>
                  <a:tcPr marL="90268" marR="90268">
                    <a:solidFill>
                      <a:srgbClr val="F2F2F2"/>
                    </a:solidFill>
                  </a:tcPr>
                </a:tc>
                <a:extLst>
                  <a:ext uri="{0D108BD9-81ED-4DB2-BD59-A6C34878D82A}">
                    <a16:rowId xmlns:a16="http://schemas.microsoft.com/office/drawing/2014/main" val="1267491756"/>
                  </a:ext>
                </a:extLst>
              </a:tr>
              <a:tr h="3857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kern="1200">
                          <a:solidFill>
                            <a:schemeClr val="dk1"/>
                          </a:solidFill>
                          <a:latin typeface="Trebuchet MS" panose="020B0603020202020204" pitchFamily="34" charset="0"/>
                          <a:ea typeface="Tahoma"/>
                          <a:cs typeface="Tahoma"/>
                        </a:rPr>
                        <a:t>QA Regression and External Review</a:t>
                      </a:r>
                      <a:endParaRPr lang="en-US" sz="800" b="1" kern="1200">
                        <a:solidFill>
                          <a:schemeClr val="dk1"/>
                        </a:solidFill>
                        <a:latin typeface="Trebuchet MS" panose="020B0603020202020204" pitchFamily="34" charset="0"/>
                        <a:ea typeface="Tahoma"/>
                        <a:cs typeface="Tahoma"/>
                      </a:endParaRPr>
                    </a:p>
                  </a:txBody>
                  <a:tcPr marL="90268" marR="90268">
                    <a:solidFill>
                      <a:schemeClr val="bg1">
                        <a:lumMod val="95000"/>
                      </a:schemeClr>
                    </a:solidFill>
                  </a:tcPr>
                </a:tc>
                <a:tc>
                  <a:txBody>
                    <a:bodyPr/>
                    <a:lstStyle/>
                    <a:p>
                      <a:pPr marL="0" marR="0" lvl="0" indent="0" algn="l">
                        <a:spcBef>
                          <a:spcPts val="0"/>
                        </a:spcBef>
                        <a:spcAft>
                          <a:spcPts val="0"/>
                        </a:spcAft>
                        <a:buFont typeface="Symbol" panose="05050102010706020507" pitchFamily="18" charset="2"/>
                        <a:buNone/>
                      </a:pPr>
                      <a:r>
                        <a:rPr lang="en-CA" sz="800" b="1" kern="1200">
                          <a:solidFill>
                            <a:schemeClr val="dk1"/>
                          </a:solidFill>
                          <a:latin typeface="Trebuchet MS" panose="020B0603020202020204" pitchFamily="34" charset="0"/>
                          <a:ea typeface="Tahoma"/>
                          <a:cs typeface="Tahoma"/>
                        </a:rPr>
                        <a:t>QA Regression Testing</a:t>
                      </a:r>
                      <a:r>
                        <a:rPr lang="en-CA" sz="800" b="0" kern="1200">
                          <a:solidFill>
                            <a:schemeClr val="dk1"/>
                          </a:solidFill>
                          <a:latin typeface="Trebuchet MS" panose="020B0603020202020204" pitchFamily="34" charset="0"/>
                          <a:ea typeface="Tahoma"/>
                          <a:cs typeface="Tahoma"/>
                        </a:rPr>
                        <a:t> – 1828 / 8808 TC’s</a:t>
                      </a:r>
                    </a:p>
                    <a:p>
                      <a:pPr marL="0" marR="0" lvl="0" indent="0" algn="l">
                        <a:spcBef>
                          <a:spcPts val="0"/>
                        </a:spcBef>
                        <a:spcAft>
                          <a:spcPts val="0"/>
                        </a:spcAft>
                        <a:buFont typeface="Symbol" panose="05050102010706020507" pitchFamily="18" charset="2"/>
                        <a:buNone/>
                      </a:pPr>
                      <a:endParaRPr lang="en-CA" sz="800" b="0" kern="1200">
                        <a:solidFill>
                          <a:schemeClr val="dk1"/>
                        </a:solidFill>
                        <a:latin typeface="Trebuchet MS" panose="020B0603020202020204" pitchFamily="34" charset="0"/>
                        <a:ea typeface="Tahoma"/>
                        <a:cs typeface="Tahoma"/>
                      </a:endParaRPr>
                    </a:p>
                    <a:p>
                      <a:pPr marL="0" marR="0" lvl="0" indent="0" algn="l">
                        <a:spcBef>
                          <a:spcPts val="0"/>
                        </a:spcBef>
                        <a:spcAft>
                          <a:spcPts val="0"/>
                        </a:spcAft>
                        <a:buFont typeface="Symbol" panose="05050102010706020507" pitchFamily="18" charset="2"/>
                        <a:buNone/>
                      </a:pPr>
                      <a:r>
                        <a:rPr lang="en-CA" sz="800" b="1" kern="1200">
                          <a:solidFill>
                            <a:schemeClr val="dk1"/>
                          </a:solidFill>
                          <a:latin typeface="Trebuchet MS" panose="020B0603020202020204" pitchFamily="34" charset="0"/>
                          <a:ea typeface="Tahoma"/>
                          <a:cs typeface="Tahoma"/>
                        </a:rPr>
                        <a:t>QA External Review</a:t>
                      </a:r>
                      <a:r>
                        <a:rPr lang="en-CA" sz="800" b="0" kern="1200">
                          <a:solidFill>
                            <a:schemeClr val="dk1"/>
                          </a:solidFill>
                          <a:latin typeface="Trebuchet MS" panose="020B0603020202020204" pitchFamily="34" charset="0"/>
                          <a:ea typeface="Tahoma"/>
                          <a:cs typeface="Tahoma"/>
                        </a:rPr>
                        <a:t> – 0 / 58 projects</a:t>
                      </a:r>
                    </a:p>
                  </a:txBody>
                  <a:tcPr marL="112836" marR="112836">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bg1"/>
                          </a:solidFill>
                          <a:effectLst/>
                          <a:uLnTx/>
                          <a:uFillTx/>
                          <a:latin typeface="Trebuchet MS" panose="020B0603020202020204" pitchFamily="34" charset="0"/>
                          <a:ea typeface="Tahoma" panose="020B0604030504040204" pitchFamily="34" charset="0"/>
                          <a:cs typeface="Tahoma" panose="020B0604030504040204" pitchFamily="34" charset="0"/>
                        </a:rPr>
                        <a:t>7 Nov</a:t>
                      </a:r>
                    </a:p>
                  </a:txBody>
                  <a:tcPr marL="90268" marR="90268">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Trebuchet MS" panose="020B0603020202020204" pitchFamily="34" charset="0"/>
                          <a:ea typeface="Tahoma" panose="020B0604030504040204" pitchFamily="34" charset="0"/>
                          <a:cs typeface="Tahoma" panose="020B0604030504040204" pitchFamily="34" charset="0"/>
                        </a:rPr>
                        <a:t>7 Nov</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10%</a:t>
                      </a:r>
                    </a:p>
                  </a:txBody>
                  <a:tcPr marL="90268" marR="90268">
                    <a:solidFill>
                      <a:srgbClr val="F2F2F2"/>
                    </a:solidFill>
                  </a:tcPr>
                </a:tc>
                <a:extLst>
                  <a:ext uri="{0D108BD9-81ED-4DB2-BD59-A6C34878D82A}">
                    <a16:rowId xmlns:a16="http://schemas.microsoft.com/office/drawing/2014/main" val="458042284"/>
                  </a:ext>
                </a:extLst>
              </a:tr>
              <a:tr h="457200">
                <a:tc>
                  <a:txBody>
                    <a:bodyPr/>
                    <a:lstStyle/>
                    <a:p>
                      <a:pPr marL="0" marR="0" lvl="0" indent="0" algn="l" defTabSz="1149256" rtl="0" eaLnBrk="1" fontAlgn="auto" latinLnBrk="0" hangingPunct="1">
                        <a:lnSpc>
                          <a:spcPct val="100000"/>
                        </a:lnSpc>
                        <a:spcBef>
                          <a:spcPts val="0"/>
                        </a:spcBef>
                        <a:spcAft>
                          <a:spcPts val="0"/>
                        </a:spcAft>
                        <a:buClrTx/>
                        <a:buSzTx/>
                        <a:buFontTx/>
                        <a:buNone/>
                        <a:tabLst/>
                        <a:defRPr/>
                      </a:pPr>
                      <a:r>
                        <a:rPr lang="en-US" sz="800" b="1" kern="1200">
                          <a:latin typeface="+mn-lt"/>
                          <a:ea typeface="Tahoma"/>
                          <a:cs typeface="Tahoma"/>
                        </a:rPr>
                        <a:t>PIV Planning</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0" marR="0" lvl="0" indent="0" algn="l" defTabSz="1149256" rtl="0" eaLnBrk="1" fontAlgn="auto" latinLnBrk="0" hangingPunct="1">
                        <a:lnSpc>
                          <a:spcPct val="100000"/>
                        </a:lnSpc>
                        <a:spcBef>
                          <a:spcPts val="0"/>
                        </a:spcBef>
                        <a:spcAft>
                          <a:spcPts val="0"/>
                        </a:spcAft>
                        <a:buClrTx/>
                        <a:buSzTx/>
                        <a:buFontTx/>
                        <a:buNone/>
                        <a:tabLst/>
                        <a:defRPr/>
                      </a:pPr>
                      <a:r>
                        <a:rPr lang="en-CA" sz="800" b="1" kern="1200">
                          <a:solidFill>
                            <a:schemeClr val="dk1"/>
                          </a:solidFill>
                          <a:latin typeface="Trebuchet MS" panose="020B0603020202020204" pitchFamily="34" charset="0"/>
                          <a:ea typeface="Tahoma"/>
                          <a:cs typeface="Tahoma"/>
                        </a:rPr>
                        <a:t>PIV TC’s Execution in Test Env</a:t>
                      </a:r>
                      <a:r>
                        <a:rPr lang="en-CA" sz="800" b="0" kern="1200">
                          <a:solidFill>
                            <a:schemeClr val="dk1"/>
                          </a:solidFill>
                          <a:latin typeface="Trebuchet MS" panose="020B0603020202020204" pitchFamily="34" charset="0"/>
                          <a:ea typeface="Tahoma"/>
                          <a:cs typeface="Tahoma"/>
                        </a:rPr>
                        <a:t> – </a:t>
                      </a:r>
                      <a:r>
                        <a:rPr lang="en-US" sz="800" b="0" kern="1200">
                          <a:solidFill>
                            <a:schemeClr val="dk1"/>
                          </a:solidFill>
                          <a:latin typeface="Trebuchet MS" panose="020B0603020202020204" pitchFamily="34" charset="0"/>
                          <a:ea typeface="Tahoma"/>
                          <a:cs typeface="Tahoma"/>
                        </a:rPr>
                        <a:t>Not Started</a:t>
                      </a:r>
                      <a:endParaRPr lang="en-CA" sz="800" b="0" kern="1200">
                        <a:solidFill>
                          <a:schemeClr val="dk1"/>
                        </a:solidFill>
                        <a:latin typeface="Trebuchet MS" panose="020B0603020202020204" pitchFamily="34" charset="0"/>
                        <a:ea typeface="Tahoma"/>
                        <a:cs typeface="Tahoma"/>
                      </a:endParaRPr>
                    </a:p>
                    <a:p>
                      <a:pPr marL="0" marR="0" lvl="0" indent="0" algn="l" defTabSz="1149256" rtl="0" eaLnBrk="1" fontAlgn="auto" latinLnBrk="0" hangingPunct="1">
                        <a:lnSpc>
                          <a:spcPct val="100000"/>
                        </a:lnSpc>
                        <a:spcBef>
                          <a:spcPts val="0"/>
                        </a:spcBef>
                        <a:spcAft>
                          <a:spcPts val="0"/>
                        </a:spcAft>
                        <a:buClrTx/>
                        <a:buSzTx/>
                        <a:buFontTx/>
                        <a:buNone/>
                        <a:tabLst/>
                        <a:defRPr/>
                      </a:pPr>
                      <a:r>
                        <a:rPr lang="en-CA" sz="800" b="1" kern="1200">
                          <a:solidFill>
                            <a:schemeClr val="dk1"/>
                          </a:solidFill>
                          <a:latin typeface="Trebuchet MS" panose="020B0603020202020204" pitchFamily="34" charset="0"/>
                          <a:ea typeface="Tahoma"/>
                          <a:cs typeface="Tahoma"/>
                        </a:rPr>
                        <a:t>PIV Users confirmation</a:t>
                      </a:r>
                      <a:r>
                        <a:rPr lang="en-CA" sz="800" b="0" kern="1200">
                          <a:solidFill>
                            <a:schemeClr val="dk1"/>
                          </a:solidFill>
                          <a:latin typeface="Trebuchet MS" panose="020B0603020202020204" pitchFamily="34" charset="0"/>
                          <a:ea typeface="Tahoma"/>
                          <a:cs typeface="Tahoma"/>
                        </a:rPr>
                        <a:t> – </a:t>
                      </a:r>
                      <a:r>
                        <a:rPr lang="en-US" sz="800" b="0" kern="1200">
                          <a:solidFill>
                            <a:schemeClr val="dk1"/>
                          </a:solidFill>
                          <a:latin typeface="Trebuchet MS" panose="020B0603020202020204" pitchFamily="34" charset="0"/>
                          <a:ea typeface="Tahoma"/>
                          <a:cs typeface="Tahoma"/>
                        </a:rPr>
                        <a:t>Not Started</a:t>
                      </a:r>
                      <a:endParaRPr lang="en-CA" sz="800" b="0" kern="1200">
                        <a:solidFill>
                          <a:schemeClr val="dk1"/>
                        </a:solidFill>
                        <a:latin typeface="Trebuchet MS" panose="020B0603020202020204" pitchFamily="34" charset="0"/>
                        <a:ea typeface="Tahoma"/>
                        <a:cs typeface="Tahoma"/>
                      </a:endParaRPr>
                    </a:p>
                    <a:p>
                      <a:pPr marL="0" marR="0" lvl="0" indent="0" algn="l" defTabSz="1149256" rtl="0" eaLnBrk="1" fontAlgn="auto" latinLnBrk="0" hangingPunct="1">
                        <a:lnSpc>
                          <a:spcPct val="100000"/>
                        </a:lnSpc>
                        <a:spcBef>
                          <a:spcPts val="0"/>
                        </a:spcBef>
                        <a:spcAft>
                          <a:spcPts val="0"/>
                        </a:spcAft>
                        <a:buClrTx/>
                        <a:buSzTx/>
                        <a:buFontTx/>
                        <a:buNone/>
                        <a:tabLst/>
                        <a:defRPr/>
                      </a:pPr>
                      <a:r>
                        <a:rPr lang="en-CA" sz="800" b="1" kern="1200">
                          <a:solidFill>
                            <a:schemeClr val="dk1"/>
                          </a:solidFill>
                          <a:latin typeface="Trebuchet MS" panose="020B0603020202020204" pitchFamily="34" charset="0"/>
                          <a:ea typeface="Tahoma"/>
                          <a:cs typeface="Tahoma"/>
                        </a:rPr>
                        <a:t>ADM/QC support for PIV</a:t>
                      </a:r>
                      <a:r>
                        <a:rPr lang="en-CA" sz="800" b="0" kern="1200">
                          <a:solidFill>
                            <a:schemeClr val="dk1"/>
                          </a:solidFill>
                          <a:latin typeface="Trebuchet MS" panose="020B0603020202020204" pitchFamily="34" charset="0"/>
                          <a:ea typeface="Tahoma"/>
                          <a:cs typeface="Tahoma"/>
                        </a:rPr>
                        <a:t> – </a:t>
                      </a:r>
                      <a:r>
                        <a:rPr lang="en-US" sz="800" b="0" kern="1200">
                          <a:solidFill>
                            <a:schemeClr val="dk1"/>
                          </a:solidFill>
                          <a:latin typeface="Trebuchet MS" panose="020B0603020202020204" pitchFamily="34" charset="0"/>
                          <a:ea typeface="Tahoma"/>
                          <a:cs typeface="Tahoma"/>
                        </a:rPr>
                        <a:t>Not Started</a:t>
                      </a:r>
                      <a:endParaRPr lang="en-CA" sz="800" b="0" kern="1200">
                        <a:solidFill>
                          <a:schemeClr val="dk1"/>
                        </a:solidFill>
                        <a:latin typeface="Trebuchet MS" panose="020B0603020202020204" pitchFamily="34" charset="0"/>
                        <a:ea typeface="Tahoma"/>
                        <a:cs typeface="Tahoma"/>
                      </a:endParaRPr>
                    </a:p>
                  </a:txBody>
                  <a:tcPr marL="112836" marR="112836">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bg1"/>
                          </a:solidFill>
                          <a:effectLst/>
                          <a:uLnTx/>
                          <a:uFillTx/>
                          <a:latin typeface="Trebuchet MS" panose="020B0603020202020204" pitchFamily="34" charset="0"/>
                          <a:ea typeface="Tahoma" panose="020B0604030504040204" pitchFamily="34" charset="0"/>
                          <a:cs typeface="Tahoma" panose="020B0604030504040204" pitchFamily="34" charset="0"/>
                        </a:rPr>
                        <a:t>7 Nov</a:t>
                      </a:r>
                    </a:p>
                  </a:txBody>
                  <a:tcPr marL="90268" marR="90268">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7 Nov</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0%</a:t>
                      </a:r>
                    </a:p>
                  </a:txBody>
                  <a:tcPr marL="90268" marR="90268">
                    <a:solidFill>
                      <a:srgbClr val="F2F2F2"/>
                    </a:solidFill>
                  </a:tcPr>
                </a:tc>
                <a:extLst>
                  <a:ext uri="{0D108BD9-81ED-4DB2-BD59-A6C34878D82A}">
                    <a16:rowId xmlns:a16="http://schemas.microsoft.com/office/drawing/2014/main" val="174280950"/>
                  </a:ext>
                </a:extLst>
              </a:tr>
              <a:tr h="914400">
                <a:tc>
                  <a:txBody>
                    <a:bodyPr/>
                    <a:lstStyle/>
                    <a:p>
                      <a:r>
                        <a:rPr lang="en-CA" sz="800" b="1" kern="1200">
                          <a:latin typeface="+mn-lt"/>
                          <a:ea typeface="Tahoma"/>
                          <a:cs typeface="Tahoma"/>
                        </a:rPr>
                        <a:t>Impl Readiness</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kern="1200">
                          <a:solidFill>
                            <a:schemeClr val="dk1"/>
                          </a:solidFill>
                          <a:latin typeface="Trebuchet MS" panose="020B0603020202020204" pitchFamily="34" charset="0"/>
                          <a:ea typeface="Tahoma"/>
                          <a:cs typeface="Tahoma"/>
                        </a:rPr>
                        <a:t>Backout Matrix review – In Progress</a:t>
                      </a: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kern="1200">
                          <a:solidFill>
                            <a:schemeClr val="dk1"/>
                          </a:solidFill>
                          <a:latin typeface="Trebuchet MS" panose="020B0603020202020204" pitchFamily="34" charset="0"/>
                          <a:ea typeface="Tahoma"/>
                          <a:cs typeface="Tahoma"/>
                        </a:rPr>
                        <a:t>Backout testing scenario walkthrough and Testing – Not Started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kern="1200">
                          <a:solidFill>
                            <a:schemeClr val="dk1"/>
                          </a:solidFill>
                          <a:latin typeface="Trebuchet MS" panose="020B0603020202020204" pitchFamily="34" charset="0"/>
                          <a:ea typeface="Tahoma"/>
                          <a:cs typeface="Tahoma"/>
                        </a:rPr>
                        <a:t>MIP walkthrough and Sign Off – Not Started</a:t>
                      </a: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800" b="0" kern="1200">
                          <a:solidFill>
                            <a:schemeClr val="dk1"/>
                          </a:solidFill>
                          <a:latin typeface="Trebuchet MS" panose="020B0603020202020204" pitchFamily="34" charset="0"/>
                          <a:ea typeface="Tahoma"/>
                          <a:cs typeface="Tahoma"/>
                        </a:rPr>
                        <a:t>Change Records and Resource Alignment – </a:t>
                      </a:r>
                      <a:r>
                        <a:rPr lang="en-US" sz="800" b="0" kern="1200">
                          <a:solidFill>
                            <a:schemeClr val="dk1"/>
                          </a:solidFill>
                          <a:latin typeface="Trebuchet MS" panose="020B0603020202020204" pitchFamily="34" charset="0"/>
                          <a:ea typeface="Tahoma"/>
                          <a:cs typeface="Tahoma"/>
                        </a:rPr>
                        <a:t>Not Started</a:t>
                      </a:r>
                      <a:endParaRPr lang="en-CA" sz="800" b="0" kern="1200">
                        <a:solidFill>
                          <a:schemeClr val="dk1"/>
                        </a:solidFill>
                        <a:latin typeface="Trebuchet MS" panose="020B0603020202020204" pitchFamily="34" charset="0"/>
                        <a:ea typeface="Tahoma"/>
                        <a:cs typeface="Tahoma"/>
                      </a:endParaRP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800" b="0" kern="1200">
                          <a:solidFill>
                            <a:schemeClr val="dk1"/>
                          </a:solidFill>
                          <a:latin typeface="Trebuchet MS" panose="020B0603020202020204" pitchFamily="34" charset="0"/>
                          <a:ea typeface="Tahoma"/>
                          <a:cs typeface="Tahoma"/>
                        </a:rPr>
                        <a:t>SCM – </a:t>
                      </a:r>
                      <a:r>
                        <a:rPr lang="en-US" sz="800" b="0" kern="1200">
                          <a:solidFill>
                            <a:schemeClr val="dk1"/>
                          </a:solidFill>
                          <a:latin typeface="Trebuchet MS" panose="020B0603020202020204" pitchFamily="34" charset="0"/>
                          <a:ea typeface="Tahoma"/>
                          <a:cs typeface="Tahoma"/>
                        </a:rPr>
                        <a:t>In Progress</a:t>
                      </a: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800" b="0" kern="1200">
                          <a:solidFill>
                            <a:schemeClr val="dk1"/>
                          </a:solidFill>
                          <a:latin typeface="Trebuchet MS" panose="020B0603020202020204" pitchFamily="34" charset="0"/>
                          <a:ea typeface="Tahoma"/>
                          <a:cs typeface="Tahoma"/>
                        </a:rPr>
                        <a:t>ACP – </a:t>
                      </a:r>
                      <a:r>
                        <a:rPr lang="en-US" sz="800" b="0" kern="1200">
                          <a:solidFill>
                            <a:schemeClr val="dk1"/>
                          </a:solidFill>
                          <a:latin typeface="Trebuchet MS" panose="020B0603020202020204" pitchFamily="34" charset="0"/>
                          <a:ea typeface="Tahoma"/>
                          <a:cs typeface="Tahoma"/>
                        </a:rPr>
                        <a:t>In Progress</a:t>
                      </a: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800" b="0" kern="1200">
                          <a:solidFill>
                            <a:schemeClr val="dk1"/>
                          </a:solidFill>
                          <a:latin typeface="Trebuchet MS" panose="020B0603020202020204" pitchFamily="34" charset="0"/>
                          <a:ea typeface="Tahoma"/>
                          <a:cs typeface="Tahoma"/>
                        </a:rPr>
                        <a:t>OP Docs – In Progress</a:t>
                      </a:r>
                    </a:p>
                  </a:txBody>
                  <a:tcPr marL="112836" marR="112836">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bg1"/>
                          </a:solidFill>
                          <a:effectLst/>
                          <a:uLnTx/>
                          <a:uFillTx/>
                          <a:latin typeface="Trebuchet MS" panose="020B0603020202020204" pitchFamily="34" charset="0"/>
                          <a:ea typeface="Tahoma" panose="020B0604030504040204" pitchFamily="34" charset="0"/>
                          <a:cs typeface="Tahoma" panose="020B0604030504040204" pitchFamily="34" charset="0"/>
                        </a:rPr>
                        <a:t>7 Nov</a:t>
                      </a:r>
                    </a:p>
                  </a:txBody>
                  <a:tcPr marL="90268" marR="90268">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7 Nov</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11%</a:t>
                      </a:r>
                    </a:p>
                  </a:txBody>
                  <a:tcPr marL="90268" marR="90268">
                    <a:solidFill>
                      <a:srgbClr val="F2F2F2"/>
                    </a:solidFill>
                  </a:tcPr>
                </a:tc>
                <a:extLst>
                  <a:ext uri="{0D108BD9-81ED-4DB2-BD59-A6C34878D82A}">
                    <a16:rowId xmlns:a16="http://schemas.microsoft.com/office/drawing/2014/main" val="1625735921"/>
                  </a:ext>
                </a:extLst>
              </a:tr>
            </a:tbl>
          </a:graphicData>
        </a:graphic>
      </p:graphicFrame>
      <p:sp>
        <p:nvSpPr>
          <p:cNvPr id="12" name="TextBox 11">
            <a:extLst>
              <a:ext uri="{FF2B5EF4-FFF2-40B4-BE49-F238E27FC236}">
                <a16:creationId xmlns:a16="http://schemas.microsoft.com/office/drawing/2014/main" id="{47906BDC-FCD5-5871-246D-C8A164C7F0C6}"/>
              </a:ext>
            </a:extLst>
          </p:cNvPr>
          <p:cNvSpPr txBox="1"/>
          <p:nvPr/>
        </p:nvSpPr>
        <p:spPr>
          <a:xfrm rot="16200000">
            <a:off x="-854706" y="3717557"/>
            <a:ext cx="2240259" cy="307779"/>
          </a:xfrm>
          <a:prstGeom prst="rect">
            <a:avLst/>
          </a:prstGeom>
          <a:solidFill>
            <a:schemeClr val="bg1">
              <a:lumMod val="50000"/>
            </a:schemeClr>
          </a:solidFill>
        </p:spPr>
        <p:txBody>
          <a:bodyPr wrap="square" rtlCol="0">
            <a:spAutoFit/>
          </a:bodyPr>
          <a:lstStyle/>
          <a:p>
            <a:pPr algn="ctr" defTabSz="757746" eaLnBrk="0" fontAlgn="base" hangingPunct="0">
              <a:spcBef>
                <a:spcPct val="0"/>
              </a:spcBef>
              <a:spcAft>
                <a:spcPct val="0"/>
              </a:spcAft>
              <a:defRPr/>
            </a:pPr>
            <a:r>
              <a:rPr lang="en-US" sz="1400" b="1">
                <a:solidFill>
                  <a:prstClr val="white"/>
                </a:solidFill>
                <a:cs typeface="Segoe UI" panose="020B0502040204020203" pitchFamily="34" charset="0"/>
              </a:rPr>
              <a:t>FOCUS</a:t>
            </a:r>
          </a:p>
        </p:txBody>
      </p:sp>
      <p:sp>
        <p:nvSpPr>
          <p:cNvPr id="13" name="TextBox 12">
            <a:extLst>
              <a:ext uri="{FF2B5EF4-FFF2-40B4-BE49-F238E27FC236}">
                <a16:creationId xmlns:a16="http://schemas.microsoft.com/office/drawing/2014/main" id="{8ABB62DA-6CFA-74FB-E750-6CB8A17EA5B3}"/>
              </a:ext>
            </a:extLst>
          </p:cNvPr>
          <p:cNvSpPr txBox="1"/>
          <p:nvPr/>
        </p:nvSpPr>
        <p:spPr>
          <a:xfrm rot="16200000">
            <a:off x="-367562" y="5525451"/>
            <a:ext cx="1265975" cy="307776"/>
          </a:xfrm>
          <a:prstGeom prst="rect">
            <a:avLst/>
          </a:prstGeom>
          <a:solidFill>
            <a:schemeClr val="bg1">
              <a:lumMod val="50000"/>
            </a:schemeClr>
          </a:solidFill>
        </p:spPr>
        <p:txBody>
          <a:bodyPr wrap="square" rtlCol="0">
            <a:spAutoFit/>
          </a:bodyPr>
          <a:lstStyle/>
          <a:p>
            <a:pPr algn="ctr" defTabSz="757746" eaLnBrk="0" fontAlgn="base" hangingPunct="0">
              <a:spcBef>
                <a:spcPct val="0"/>
              </a:spcBef>
              <a:spcAft>
                <a:spcPct val="0"/>
              </a:spcAft>
              <a:defRPr/>
            </a:pPr>
            <a:r>
              <a:rPr lang="en-US" sz="1400" b="1">
                <a:solidFill>
                  <a:prstClr val="white"/>
                </a:solidFill>
                <a:cs typeface="Segoe UI" panose="020B0502040204020203" pitchFamily="34" charset="0"/>
              </a:rPr>
              <a:t>ISSUES</a:t>
            </a:r>
          </a:p>
        </p:txBody>
      </p:sp>
      <p:graphicFrame>
        <p:nvGraphicFramePr>
          <p:cNvPr id="6" name="Table 5">
            <a:extLst>
              <a:ext uri="{FF2B5EF4-FFF2-40B4-BE49-F238E27FC236}">
                <a16:creationId xmlns:a16="http://schemas.microsoft.com/office/drawing/2014/main" id="{E99AFB35-0B30-E5BE-9837-8C149BCF8349}"/>
              </a:ext>
            </a:extLst>
          </p:cNvPr>
          <p:cNvGraphicFramePr>
            <a:graphicFrameLocks noGrp="1"/>
          </p:cNvGraphicFramePr>
          <p:nvPr>
            <p:extLst>
              <p:ext uri="{D42A27DB-BD31-4B8C-83A1-F6EECF244321}">
                <p14:modId xmlns:p14="http://schemas.microsoft.com/office/powerpoint/2010/main" val="1811354508"/>
              </p:ext>
            </p:extLst>
          </p:nvPr>
        </p:nvGraphicFramePr>
        <p:xfrm>
          <a:off x="462971" y="2751754"/>
          <a:ext cx="5350095" cy="2240255"/>
        </p:xfrm>
        <a:graphic>
          <a:graphicData uri="http://schemas.openxmlformats.org/drawingml/2006/table">
            <a:tbl>
              <a:tblPr firstRow="1" bandRow="1"/>
              <a:tblGrid>
                <a:gridCol w="4139539">
                  <a:extLst>
                    <a:ext uri="{9D8B030D-6E8A-4147-A177-3AD203B41FA5}">
                      <a16:colId xmlns:a16="http://schemas.microsoft.com/office/drawing/2014/main" val="3485863420"/>
                    </a:ext>
                  </a:extLst>
                </a:gridCol>
                <a:gridCol w="1210556">
                  <a:extLst>
                    <a:ext uri="{9D8B030D-6E8A-4147-A177-3AD203B41FA5}">
                      <a16:colId xmlns:a16="http://schemas.microsoft.com/office/drawing/2014/main" val="2322899994"/>
                    </a:ext>
                  </a:extLst>
                </a:gridCol>
              </a:tblGrid>
              <a:tr h="299855">
                <a:tc>
                  <a:txBody>
                    <a:bodyPr/>
                    <a:lstStyle/>
                    <a:p>
                      <a:pPr algn="ctr" rtl="0" fontAlgn="ctr"/>
                      <a:r>
                        <a:rPr lang="en-CA" sz="1000" b="1" i="0" u="none" strike="noStrike">
                          <a:solidFill>
                            <a:srgbClr val="FFFFFF"/>
                          </a:solidFill>
                          <a:effectLst/>
                          <a:latin typeface="+mn-lt"/>
                        </a:rPr>
                        <a:t>KEY INITIATIVES</a:t>
                      </a:r>
                      <a:endParaRPr lang="en-US" sz="1000" b="1" i="0" u="none" strike="noStrike">
                        <a:solidFill>
                          <a:srgbClr val="FFFFFF"/>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50000"/>
                      </a:schemeClr>
                    </a:solidFill>
                  </a:tcPr>
                </a:tc>
                <a:tc>
                  <a:txBody>
                    <a:bodyPr/>
                    <a:lstStyle/>
                    <a:p>
                      <a:pPr algn="ctr" rtl="0" fontAlgn="ctr"/>
                      <a:r>
                        <a:rPr lang="en-US" sz="1000" b="1" i="0" u="none" strike="noStrike">
                          <a:solidFill>
                            <a:srgbClr val="FFFFFF"/>
                          </a:solidFill>
                          <a:effectLst/>
                          <a:latin typeface="+mn-lt"/>
                        </a:rPr>
                        <a:t>APPS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04787489"/>
                  </a:ext>
                </a:extLst>
              </a:tr>
              <a:tr h="1940400">
                <a:tc>
                  <a:txBody>
                    <a:bodyPr/>
                    <a:lstStyle/>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16355  | Bill 72 COPS Monthly Flat Fee (Nov - CRs)</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23572 | RESL POD Shift Left - Nov Release</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2616 | Renewal Due Diligence MVP 2.2</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3069 | Guardian</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3291 | Client Level Pricing</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3517 | Property Insurance Cancellation</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3745 | Project JEDI</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3796 | CLD and Repricing Letters - Imaging in ECM</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4313 | Digital Use Cases: Reverse Franchising</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4356 | Credit Bureau Online Services Enhancements - Add Telco Trades &amp; IDX Score</a:t>
                      </a:r>
                    </a:p>
                  </a:txBody>
                  <a:tcPr marL="72214" marR="72214"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rtl="0" fontAlgn="ctr"/>
                      <a:r>
                        <a:rPr lang="en-US" sz="1000" b="0" i="0" u="none" strike="noStrike">
                          <a:solidFill>
                            <a:srgbClr val="000000"/>
                          </a:solidFill>
                          <a:effectLst/>
                          <a:latin typeface="Trebuchet MS" panose="020B0603020202020204" pitchFamily="34" charset="0"/>
                          <a:ea typeface="Tahoma" panose="020B0604030504040204" pitchFamily="34" charset="0"/>
                          <a:cs typeface="Tahoma" panose="020B0604030504040204" pitchFamily="34" charset="0"/>
                        </a:rPr>
                        <a:t>CBPT: 26</a:t>
                      </a:r>
                    </a:p>
                    <a:p>
                      <a:pPr algn="l" rtl="0" fontAlgn="ctr"/>
                      <a:r>
                        <a:rPr lang="en-US" sz="1000" b="0" i="0" u="none" strike="noStrike">
                          <a:solidFill>
                            <a:srgbClr val="000000"/>
                          </a:solidFill>
                          <a:effectLst/>
                          <a:latin typeface="Trebuchet MS" panose="020B0603020202020204" pitchFamily="34" charset="0"/>
                          <a:ea typeface="Tahoma" panose="020B0604030504040204" pitchFamily="34" charset="0"/>
                          <a:cs typeface="Tahoma" panose="020B0604030504040204" pitchFamily="34" charset="0"/>
                        </a:rPr>
                        <a:t>Non CBPT: 6</a:t>
                      </a:r>
                    </a:p>
                  </a:txBody>
                  <a:tcPr marL="72214" marR="72214"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32368190"/>
                  </a:ext>
                </a:extLst>
              </a:tr>
            </a:tbl>
          </a:graphicData>
        </a:graphic>
      </p:graphicFrame>
      <p:graphicFrame>
        <p:nvGraphicFramePr>
          <p:cNvPr id="8" name="Table 7">
            <a:extLst>
              <a:ext uri="{FF2B5EF4-FFF2-40B4-BE49-F238E27FC236}">
                <a16:creationId xmlns:a16="http://schemas.microsoft.com/office/drawing/2014/main" id="{2321E869-5A94-2F49-4914-FFF4DDD4DBFA}"/>
              </a:ext>
            </a:extLst>
          </p:cNvPr>
          <p:cNvGraphicFramePr>
            <a:graphicFrameLocks noGrp="1"/>
          </p:cNvGraphicFramePr>
          <p:nvPr>
            <p:extLst>
              <p:ext uri="{D42A27DB-BD31-4B8C-83A1-F6EECF244321}">
                <p14:modId xmlns:p14="http://schemas.microsoft.com/office/powerpoint/2010/main" val="1381655884"/>
              </p:ext>
            </p:extLst>
          </p:nvPr>
        </p:nvGraphicFramePr>
        <p:xfrm>
          <a:off x="462971" y="5054035"/>
          <a:ext cx="5350095" cy="1234440"/>
        </p:xfrm>
        <a:graphic>
          <a:graphicData uri="http://schemas.openxmlformats.org/drawingml/2006/table">
            <a:tbl>
              <a:tblPr firstRow="1" bandRow="1">
                <a:tableStyleId>{5940675A-B579-460E-94D1-54222C63F5DA}</a:tableStyleId>
              </a:tblPr>
              <a:tblGrid>
                <a:gridCol w="565741">
                  <a:extLst>
                    <a:ext uri="{9D8B030D-6E8A-4147-A177-3AD203B41FA5}">
                      <a16:colId xmlns:a16="http://schemas.microsoft.com/office/drawing/2014/main" val="3502640996"/>
                    </a:ext>
                  </a:extLst>
                </a:gridCol>
                <a:gridCol w="560460">
                  <a:extLst>
                    <a:ext uri="{9D8B030D-6E8A-4147-A177-3AD203B41FA5}">
                      <a16:colId xmlns:a16="http://schemas.microsoft.com/office/drawing/2014/main" val="2734795740"/>
                    </a:ext>
                  </a:extLst>
                </a:gridCol>
                <a:gridCol w="4223894">
                  <a:extLst>
                    <a:ext uri="{9D8B030D-6E8A-4147-A177-3AD203B41FA5}">
                      <a16:colId xmlns:a16="http://schemas.microsoft.com/office/drawing/2014/main" val="2401932686"/>
                    </a:ext>
                  </a:extLst>
                </a:gridCol>
              </a:tblGrid>
              <a:tr h="0">
                <a:tc>
                  <a:txBody>
                    <a:bodyPr/>
                    <a:lstStyle/>
                    <a:p>
                      <a:pPr algn="ctr"/>
                      <a:r>
                        <a:rPr lang="en-CA" sz="900" b="1">
                          <a:solidFill>
                            <a:schemeClr val="bg1"/>
                          </a:solidFill>
                          <a:latin typeface="+mj-lt"/>
                          <a:cs typeface="Arial" panose="020B0604020202020204" pitchFamily="34" charset="0"/>
                        </a:rPr>
                        <a:t>Status</a:t>
                      </a:r>
                      <a:endParaRPr lang="en-US" sz="900" b="1">
                        <a:solidFill>
                          <a:schemeClr val="bg1"/>
                        </a:solidFill>
                        <a:latin typeface="+mj-lt"/>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a:txBody>
                    <a:bodyPr/>
                    <a:lstStyle/>
                    <a:p>
                      <a:pPr algn="ctr"/>
                      <a:r>
                        <a:rPr lang="en-CA" sz="900" b="1">
                          <a:solidFill>
                            <a:schemeClr val="bg1"/>
                          </a:solidFill>
                          <a:latin typeface="+mj-lt"/>
                          <a:cs typeface="Arial" panose="020B0604020202020204" pitchFamily="34" charset="0"/>
                        </a:rPr>
                        <a:t>Phase</a:t>
                      </a:r>
                      <a:endParaRPr lang="en-US" sz="900" b="1">
                        <a:solidFill>
                          <a:schemeClr val="bg1"/>
                        </a:solidFill>
                        <a:latin typeface="+mj-lt"/>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a:txBody>
                    <a:bodyPr/>
                    <a:lstStyle/>
                    <a:p>
                      <a:pPr algn="ctr"/>
                      <a:r>
                        <a:rPr lang="en-CA" sz="900" b="1">
                          <a:solidFill>
                            <a:schemeClr val="bg1"/>
                          </a:solidFill>
                          <a:latin typeface="+mj-lt"/>
                          <a:cs typeface="Arial" panose="020B0604020202020204" pitchFamily="34" charset="0"/>
                        </a:rPr>
                        <a:t> Item</a:t>
                      </a:r>
                      <a:endParaRPr lang="en-US" sz="900" b="1">
                        <a:solidFill>
                          <a:schemeClr val="bg1"/>
                        </a:solidFill>
                        <a:latin typeface="+mj-lt"/>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extLst>
                  <a:ext uri="{0D108BD9-81ED-4DB2-BD59-A6C34878D82A}">
                    <a16:rowId xmlns:a16="http://schemas.microsoft.com/office/drawing/2014/main" val="20419580"/>
                  </a:ext>
                </a:extLst>
              </a:tr>
              <a:tr h="161619">
                <a:tc>
                  <a:txBody>
                    <a:bodyPr/>
                    <a:lstStyle/>
                    <a:p>
                      <a:pPr algn="ctr"/>
                      <a:r>
                        <a:rPr lang="en-CA" sz="900" b="1">
                          <a:solidFill>
                            <a:schemeClr val="bg1"/>
                          </a:solidFill>
                          <a:latin typeface="+mj-lt"/>
                          <a:cs typeface="Arial" panose="020B0604020202020204" pitchFamily="34" charset="0"/>
                        </a:rPr>
                        <a:t>R</a:t>
                      </a:r>
                      <a:endParaRPr lang="en-US" sz="900" b="1">
                        <a:solidFill>
                          <a:schemeClr val="bg1"/>
                        </a:solidFill>
                        <a:latin typeface="+mj-lt"/>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CA" sz="900" b="1">
                          <a:latin typeface="+mj-lt"/>
                          <a:cs typeface="Arial" panose="020B0604020202020204" pitchFamily="34" charset="0"/>
                        </a:rPr>
                        <a:t>UAT</a:t>
                      </a:r>
                      <a:endParaRPr lang="en-US" sz="900" b="1">
                        <a:latin typeface="+mj-lt"/>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900" b="1" i="0" u="none" strike="noStrike" kern="1200" noProof="0">
                          <a:solidFill>
                            <a:srgbClr val="000000"/>
                          </a:solidFill>
                          <a:effectLst/>
                          <a:latin typeface="+mj-lt"/>
                          <a:ea typeface="+mn-ea"/>
                          <a:cs typeface="+mn-cs"/>
                        </a:rPr>
                        <a:t>3517|Property Insurance Cancellation: </a:t>
                      </a:r>
                      <a:r>
                        <a:rPr lang="en-CA" sz="900" b="0" i="0" u="none" strike="noStrike" kern="1200" noProof="0">
                          <a:solidFill>
                            <a:srgbClr val="000000"/>
                          </a:solidFill>
                          <a:effectLst/>
                          <a:latin typeface="+mj-lt"/>
                          <a:ea typeface="+mn-ea"/>
                          <a:cs typeface="+mn-cs"/>
                        </a:rPr>
                        <a:t>U</a:t>
                      </a:r>
                      <a:r>
                        <a:rPr lang="en-CA" sz="900">
                          <a:effectLst/>
                        </a:rPr>
                        <a:t>nresolved defects, SIT delays, and eight solution gaps. Revised SIT end dates set for October 13.</a:t>
                      </a:r>
                      <a:endParaRPr lang="en-CA" sz="900" b="0" i="0" u="none" strike="noStrike" kern="1200" noProof="0">
                        <a:solidFill>
                          <a:srgbClr val="000000"/>
                        </a:solidFill>
                        <a:effectLst/>
                        <a:latin typeface="+mj-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4134611915"/>
                  </a:ext>
                </a:extLst>
              </a:tr>
              <a:tr h="390451">
                <a:tc>
                  <a:txBody>
                    <a:bodyPr/>
                    <a:lstStyle/>
                    <a:p>
                      <a:pPr algn="ctr"/>
                      <a:r>
                        <a:rPr lang="en-CA" sz="900" b="1">
                          <a:solidFill>
                            <a:schemeClr val="tx1"/>
                          </a:solidFill>
                          <a:latin typeface="+mj-lt"/>
                          <a:cs typeface="Arial" panose="020B0604020202020204" pitchFamily="34" charset="0"/>
                        </a:rPr>
                        <a:t>Y</a:t>
                      </a:r>
                      <a:endParaRPr lang="en-US" sz="900" b="1">
                        <a:solidFill>
                          <a:schemeClr val="tx1"/>
                        </a:solidFill>
                        <a:latin typeface="+mj-lt"/>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CA" sz="900" b="1">
                          <a:latin typeface="+mj-lt"/>
                          <a:cs typeface="Arial" panose="020B0604020202020204" pitchFamily="34" charset="0"/>
                        </a:rPr>
                        <a:t>SIT</a:t>
                      </a:r>
                      <a:endParaRPr lang="en-US" sz="900" b="1">
                        <a:latin typeface="+mj-lt"/>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900" b="1" i="0" u="none" strike="noStrike" kern="1200" noProof="0">
                          <a:solidFill>
                            <a:srgbClr val="000000"/>
                          </a:solidFill>
                          <a:effectLst/>
                          <a:latin typeface="+mn-lt"/>
                          <a:ea typeface="+mn-ea"/>
                          <a:cs typeface="+mn-cs"/>
                        </a:rPr>
                        <a:t>3517|Property Insurance Cancellation: </a:t>
                      </a:r>
                      <a:r>
                        <a:rPr lang="en-CA" sz="900" b="0" i="0" u="none" strike="noStrike" kern="1200" noProof="0">
                          <a:solidFill>
                            <a:srgbClr val="000000"/>
                          </a:solidFill>
                          <a:effectLst/>
                          <a:latin typeface="+mn-lt"/>
                          <a:ea typeface="+mn-ea"/>
                          <a:cs typeface="+mn-cs"/>
                        </a:rPr>
                        <a:t>Extraction issues have been addressed but need better accuracy.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900" b="1" i="0" u="none" strike="noStrike" kern="1200" noProof="0">
                          <a:solidFill>
                            <a:srgbClr val="000000"/>
                          </a:solidFill>
                          <a:effectLst/>
                          <a:latin typeface="+mn-lt"/>
                          <a:ea typeface="+mn-ea"/>
                          <a:cs typeface="+mn-cs"/>
                        </a:rPr>
                        <a:t>4149|NSOD Forms Update: </a:t>
                      </a:r>
                      <a:r>
                        <a:rPr lang="en-CA" sz="900" b="0" i="0" u="none" strike="noStrike" kern="1200" noProof="0">
                          <a:solidFill>
                            <a:srgbClr val="000000"/>
                          </a:solidFill>
                          <a:effectLst/>
                          <a:latin typeface="+mn-lt"/>
                          <a:ea typeface="+mn-ea"/>
                          <a:cs typeface="+mn-cs"/>
                        </a:rPr>
                        <a:t>Envoy UI issue has been resolved and SIT code to be deployed Oct 10, and end-to-end retesting on Oct 13.</a:t>
                      </a:r>
                      <a:endParaRPr lang="en-CA" sz="900" b="1" i="0" u="none" strike="noStrike" kern="1200" noProof="0">
                        <a:solidFill>
                          <a:srgbClr val="000000"/>
                        </a:solidFill>
                        <a:effectLst/>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2511011826"/>
                  </a:ext>
                </a:extLst>
              </a:tr>
            </a:tbl>
          </a:graphicData>
        </a:graphic>
      </p:graphicFrame>
    </p:spTree>
    <p:extLst>
      <p:ext uri="{BB962C8B-B14F-4D97-AF65-F5344CB8AC3E}">
        <p14:creationId xmlns:p14="http://schemas.microsoft.com/office/powerpoint/2010/main" val="592156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B5F2F2-EC56-A95F-D45F-E05A82AA8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D6503-56D1-739C-2A30-B33FDA45075B}"/>
              </a:ext>
            </a:extLst>
          </p:cNvPr>
          <p:cNvSpPr>
            <a:spLocks noGrp="1"/>
          </p:cNvSpPr>
          <p:nvPr>
            <p:ph type="title"/>
          </p:nvPr>
        </p:nvSpPr>
        <p:spPr>
          <a:xfrm>
            <a:off x="353830" y="260322"/>
            <a:ext cx="10660404" cy="554846"/>
          </a:xfrm>
        </p:spPr>
        <p:txBody>
          <a:bodyPr/>
          <a:lstStyle/>
          <a:p>
            <a:r>
              <a:rPr lang="en-CA" sz="2800"/>
              <a:t>November 16</a:t>
            </a:r>
            <a:r>
              <a:rPr lang="en-CA" sz="2800" baseline="30000"/>
              <a:t>th</a:t>
            </a:r>
            <a:r>
              <a:rPr lang="en-CA" sz="2800"/>
              <a:t> Release Project Backout Matrix</a:t>
            </a:r>
            <a:endParaRPr lang="en-US" sz="2800"/>
          </a:p>
        </p:txBody>
      </p:sp>
    </p:spTree>
    <p:extLst>
      <p:ext uri="{BB962C8B-B14F-4D97-AF65-F5344CB8AC3E}">
        <p14:creationId xmlns:p14="http://schemas.microsoft.com/office/powerpoint/2010/main" val="2488282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58459-D71F-874A-3383-74FBF55330D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2722C15-E6DF-1003-3B83-9BAC54588EAA}"/>
              </a:ext>
            </a:extLst>
          </p:cNvPr>
          <p:cNvSpPr>
            <a:spLocks noGrp="1"/>
          </p:cNvSpPr>
          <p:nvPr>
            <p:ph type="title"/>
          </p:nvPr>
        </p:nvSpPr>
        <p:spPr>
          <a:xfrm>
            <a:off x="297179" y="136305"/>
            <a:ext cx="10933748" cy="581983"/>
          </a:xfrm>
        </p:spPr>
        <p:txBody>
          <a:bodyPr/>
          <a:lstStyle/>
          <a:p>
            <a:r>
              <a:rPr lang="en-CA" sz="2800"/>
              <a:t>November 16</a:t>
            </a:r>
            <a:r>
              <a:rPr lang="en-CA" sz="2800" baseline="30000"/>
              <a:t>th</a:t>
            </a:r>
            <a:r>
              <a:rPr lang="en-CA" sz="2800"/>
              <a:t> </a:t>
            </a:r>
            <a:r>
              <a:rPr kumimoji="0" lang="en-CA" sz="2800" b="1" i="0" u="none" strike="noStrike" kern="1200" cap="none" spc="0" normalizeH="0" baseline="0" noProof="0">
                <a:ln>
                  <a:noFill/>
                </a:ln>
                <a:solidFill>
                  <a:srgbClr val="D40139"/>
                </a:solidFill>
                <a:effectLst/>
                <a:uLnTx/>
                <a:uFillTx/>
                <a:latin typeface="Trebuchet MS"/>
                <a:ea typeface="+mj-ea"/>
                <a:cs typeface="+mj-cs"/>
              </a:rPr>
              <a:t>Release </a:t>
            </a:r>
            <a:r>
              <a:rPr lang="en-CA" sz="2800"/>
              <a:t>Out of Release Scope</a:t>
            </a:r>
            <a:endParaRPr lang="en-US" sz="2800"/>
          </a:p>
        </p:txBody>
      </p:sp>
      <p:graphicFrame>
        <p:nvGraphicFramePr>
          <p:cNvPr id="13" name="Table 2">
            <a:extLst>
              <a:ext uri="{FF2B5EF4-FFF2-40B4-BE49-F238E27FC236}">
                <a16:creationId xmlns:a16="http://schemas.microsoft.com/office/drawing/2014/main" id="{F1C8A70C-9ABB-1E17-6F0B-5B357E232D61}"/>
              </a:ext>
            </a:extLst>
          </p:cNvPr>
          <p:cNvGraphicFramePr>
            <a:graphicFrameLocks noGrp="1"/>
          </p:cNvGraphicFramePr>
          <p:nvPr/>
        </p:nvGraphicFramePr>
        <p:xfrm>
          <a:off x="6992189" y="702296"/>
          <a:ext cx="4588193" cy="182880"/>
        </p:xfrm>
        <a:graphic>
          <a:graphicData uri="http://schemas.openxmlformats.org/drawingml/2006/table">
            <a:tbl>
              <a:tblPr firstRow="1" bandRow="1"/>
              <a:tblGrid>
                <a:gridCol w="208280">
                  <a:extLst>
                    <a:ext uri="{9D8B030D-6E8A-4147-A177-3AD203B41FA5}">
                      <a16:colId xmlns:a16="http://schemas.microsoft.com/office/drawing/2014/main" val="2552748061"/>
                    </a:ext>
                  </a:extLst>
                </a:gridCol>
                <a:gridCol w="548640">
                  <a:extLst>
                    <a:ext uri="{9D8B030D-6E8A-4147-A177-3AD203B41FA5}">
                      <a16:colId xmlns:a16="http://schemas.microsoft.com/office/drawing/2014/main" val="2949818358"/>
                    </a:ext>
                  </a:extLst>
                </a:gridCol>
                <a:gridCol w="208280">
                  <a:extLst>
                    <a:ext uri="{9D8B030D-6E8A-4147-A177-3AD203B41FA5}">
                      <a16:colId xmlns:a16="http://schemas.microsoft.com/office/drawing/2014/main" val="3768384043"/>
                    </a:ext>
                  </a:extLst>
                </a:gridCol>
                <a:gridCol w="822960">
                  <a:extLst>
                    <a:ext uri="{9D8B030D-6E8A-4147-A177-3AD203B41FA5}">
                      <a16:colId xmlns:a16="http://schemas.microsoft.com/office/drawing/2014/main" val="3673821677"/>
                    </a:ext>
                  </a:extLst>
                </a:gridCol>
                <a:gridCol w="208280">
                  <a:extLst>
                    <a:ext uri="{9D8B030D-6E8A-4147-A177-3AD203B41FA5}">
                      <a16:colId xmlns:a16="http://schemas.microsoft.com/office/drawing/2014/main" val="1380191459"/>
                    </a:ext>
                  </a:extLst>
                </a:gridCol>
                <a:gridCol w="771843">
                  <a:extLst>
                    <a:ext uri="{9D8B030D-6E8A-4147-A177-3AD203B41FA5}">
                      <a16:colId xmlns:a16="http://schemas.microsoft.com/office/drawing/2014/main" val="2784429797"/>
                    </a:ext>
                  </a:extLst>
                </a:gridCol>
                <a:gridCol w="208280">
                  <a:extLst>
                    <a:ext uri="{9D8B030D-6E8A-4147-A177-3AD203B41FA5}">
                      <a16:colId xmlns:a16="http://schemas.microsoft.com/office/drawing/2014/main" val="906539283"/>
                    </a:ext>
                  </a:extLst>
                </a:gridCol>
                <a:gridCol w="822960">
                  <a:extLst>
                    <a:ext uri="{9D8B030D-6E8A-4147-A177-3AD203B41FA5}">
                      <a16:colId xmlns:a16="http://schemas.microsoft.com/office/drawing/2014/main" val="2265317318"/>
                    </a:ext>
                  </a:extLst>
                </a:gridCol>
                <a:gridCol w="240030">
                  <a:extLst>
                    <a:ext uri="{9D8B030D-6E8A-4147-A177-3AD203B41FA5}">
                      <a16:colId xmlns:a16="http://schemas.microsoft.com/office/drawing/2014/main" val="4285212843"/>
                    </a:ext>
                  </a:extLst>
                </a:gridCol>
                <a:gridCol w="548640">
                  <a:extLst>
                    <a:ext uri="{9D8B030D-6E8A-4147-A177-3AD203B41FA5}">
                      <a16:colId xmlns:a16="http://schemas.microsoft.com/office/drawing/2014/main" val="3048000558"/>
                    </a:ext>
                  </a:extLst>
                </a:gridCol>
              </a:tblGrid>
              <a:tr h="182880">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N</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Not Started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G</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In Progress, On Track</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Y</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May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R</a:t>
                      </a:r>
                      <a:endParaRPr lang="en-US" sz="5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Will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C</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Complete</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sp>
        <p:nvSpPr>
          <p:cNvPr id="6" name="Rectangle 5">
            <a:hlinkClick r:id="rId3" action="ppaction://hlinksldjump"/>
            <a:extLst>
              <a:ext uri="{FF2B5EF4-FFF2-40B4-BE49-F238E27FC236}">
                <a16:creationId xmlns:a16="http://schemas.microsoft.com/office/drawing/2014/main" id="{4933D3F3-A641-F78B-8247-3A899397575F}"/>
              </a:ext>
            </a:extLst>
          </p:cNvPr>
          <p:cNvSpPr/>
          <p:nvPr/>
        </p:nvSpPr>
        <p:spPr>
          <a:xfrm>
            <a:off x="286909" y="1732946"/>
            <a:ext cx="11293473" cy="1892826"/>
          </a:xfrm>
          <a:prstGeom prst="rect">
            <a:avLst/>
          </a:prstGeom>
          <a:ln>
            <a:solidFill>
              <a:schemeClr val="tx1"/>
            </a:solidFill>
          </a:ln>
        </p:spPr>
        <p:txBody>
          <a:bodyPr wrap="square" anchor="t">
            <a:spAutoFit/>
          </a:bodyPr>
          <a:lstStyle/>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Trebuchet MS"/>
                <a:ea typeface="+mn-ea"/>
                <a:cs typeface="+mn-cs"/>
              </a:rPr>
              <a:t>Summary:</a:t>
            </a:r>
            <a:endParaRPr lang="en-US" sz="1200" b="1">
              <a:solidFill>
                <a:srgbClr val="D40139"/>
              </a:solidFill>
              <a:latin typeface="Trebuchet MS"/>
            </a:endParaRP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Trebuchet MS"/>
              </a:rPr>
              <a:t>None</a:t>
            </a:r>
            <a:endParaRPr kumimoji="0" lang="en-US" sz="1200" i="0" u="none" strike="noStrike" kern="1200" cap="none" spc="0" normalizeH="0" baseline="0" noProof="0">
              <a:ln>
                <a:noFill/>
              </a:ln>
              <a:effectLst/>
              <a:uLnTx/>
              <a:uFillTx/>
              <a:latin typeface="Trebuchet MS"/>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Trebuchet MS"/>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Trebuchet MS"/>
                <a:ea typeface="+mn-ea"/>
                <a:cs typeface="+mn-cs"/>
              </a:rPr>
              <a:t>Open Risks / Issues:</a:t>
            </a: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Trebuchet MS"/>
              </a:rPr>
              <a:t>None</a:t>
            </a:r>
            <a:r>
              <a:rPr kumimoji="0" lang="en-US" sz="1200" i="0" u="none" strike="noStrike" kern="1200" cap="none" spc="0" normalizeH="0" baseline="0" noProof="0">
                <a:ln>
                  <a:noFill/>
                </a:ln>
                <a:effectLst/>
                <a:uLnTx/>
                <a:uFillTx/>
                <a:latin typeface="Trebuchet MS"/>
                <a:ea typeface="+mn-ea"/>
                <a:cs typeface="+mn-cs"/>
              </a:rPr>
              <a:t> </a:t>
            </a:r>
            <a:endParaRPr kumimoji="0" lang="en-CA" sz="1200" i="0" u="none" strike="noStrike" kern="1200" cap="none" spc="0" normalizeH="0" baseline="0" noProof="0">
              <a:ln>
                <a:noFill/>
              </a:ln>
              <a:effectLst/>
              <a:uLnTx/>
              <a:uFillTx/>
              <a:latin typeface="Trebuchet MS"/>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CA" sz="1200" b="1" i="0" u="none" strike="noStrike" kern="1200" cap="none" spc="0" normalizeH="0" baseline="0" noProof="0">
              <a:ln>
                <a:noFill/>
              </a:ln>
              <a:solidFill>
                <a:srgbClr val="D40139"/>
              </a:solidFill>
              <a:effectLst/>
              <a:uLnTx/>
              <a:uFillTx/>
              <a:latin typeface="Trebuchet MS"/>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Trebuchet MS"/>
                <a:ea typeface="+mn-ea"/>
                <a:cs typeface="+mn-cs"/>
              </a:rPr>
              <a:t>Awareness:</a:t>
            </a: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Trebuchet MS"/>
              </a:rPr>
              <a:t>None</a:t>
            </a:r>
            <a:endParaRPr kumimoji="0" lang="en-US" sz="1200" i="0" u="none" strike="noStrike" kern="1200" cap="none" spc="0" normalizeH="0" baseline="0" noProof="0">
              <a:ln>
                <a:noFill/>
              </a:ln>
              <a:effectLst/>
              <a:uLnTx/>
              <a:uFillTx/>
              <a:latin typeface="Trebuchet MS"/>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Trebuchet MS"/>
              <a:ea typeface="+mn-ea"/>
              <a:cs typeface="+mn-cs"/>
            </a:endParaRP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900" b="0" i="0" u="none" strike="noStrike" kern="1200" cap="none" spc="0" normalizeH="0" baseline="0" noProof="0">
              <a:ln>
                <a:noFill/>
              </a:ln>
              <a:solidFill>
                <a:prstClr val="black"/>
              </a:solidFill>
              <a:effectLst/>
              <a:uLnTx/>
              <a:uFillTx/>
              <a:latin typeface="Trebuchet MS"/>
              <a:ea typeface="+mn-ea"/>
              <a:cs typeface="+mn-cs"/>
            </a:endParaRPr>
          </a:p>
        </p:txBody>
      </p:sp>
      <p:graphicFrame>
        <p:nvGraphicFramePr>
          <p:cNvPr id="2" name="Table 1">
            <a:extLst>
              <a:ext uri="{FF2B5EF4-FFF2-40B4-BE49-F238E27FC236}">
                <a16:creationId xmlns:a16="http://schemas.microsoft.com/office/drawing/2014/main" id="{36BE13CE-BBB5-1B5E-A2BB-5DB14E32A16C}"/>
              </a:ext>
            </a:extLst>
          </p:cNvPr>
          <p:cNvGraphicFramePr>
            <a:graphicFrameLocks noGrp="1"/>
          </p:cNvGraphicFramePr>
          <p:nvPr/>
        </p:nvGraphicFramePr>
        <p:xfrm>
          <a:off x="286909" y="1026095"/>
          <a:ext cx="11268970" cy="502095"/>
        </p:xfrm>
        <a:graphic>
          <a:graphicData uri="http://schemas.openxmlformats.org/drawingml/2006/table">
            <a:tbl>
              <a:tblPr/>
              <a:tblGrid>
                <a:gridCol w="274320">
                  <a:extLst>
                    <a:ext uri="{9D8B030D-6E8A-4147-A177-3AD203B41FA5}">
                      <a16:colId xmlns:a16="http://schemas.microsoft.com/office/drawing/2014/main" val="2344290904"/>
                    </a:ext>
                  </a:extLst>
                </a:gridCol>
                <a:gridCol w="208280">
                  <a:extLst>
                    <a:ext uri="{9D8B030D-6E8A-4147-A177-3AD203B41FA5}">
                      <a16:colId xmlns:a16="http://schemas.microsoft.com/office/drawing/2014/main" val="1608390335"/>
                    </a:ext>
                  </a:extLst>
                </a:gridCol>
                <a:gridCol w="817594">
                  <a:extLst>
                    <a:ext uri="{9D8B030D-6E8A-4147-A177-3AD203B41FA5}">
                      <a16:colId xmlns:a16="http://schemas.microsoft.com/office/drawing/2014/main" val="2969487447"/>
                    </a:ext>
                  </a:extLst>
                </a:gridCol>
                <a:gridCol w="4480560">
                  <a:extLst>
                    <a:ext uri="{9D8B030D-6E8A-4147-A177-3AD203B41FA5}">
                      <a16:colId xmlns:a16="http://schemas.microsoft.com/office/drawing/2014/main" val="991839446"/>
                    </a:ext>
                  </a:extLst>
                </a:gridCol>
                <a:gridCol w="883377">
                  <a:extLst>
                    <a:ext uri="{9D8B030D-6E8A-4147-A177-3AD203B41FA5}">
                      <a16:colId xmlns:a16="http://schemas.microsoft.com/office/drawing/2014/main" val="2171947543"/>
                    </a:ext>
                  </a:extLst>
                </a:gridCol>
                <a:gridCol w="634821">
                  <a:extLst>
                    <a:ext uri="{9D8B030D-6E8A-4147-A177-3AD203B41FA5}">
                      <a16:colId xmlns:a16="http://schemas.microsoft.com/office/drawing/2014/main" val="3113330620"/>
                    </a:ext>
                  </a:extLst>
                </a:gridCol>
                <a:gridCol w="571500">
                  <a:extLst>
                    <a:ext uri="{9D8B030D-6E8A-4147-A177-3AD203B41FA5}">
                      <a16:colId xmlns:a16="http://schemas.microsoft.com/office/drawing/2014/main" val="4244941905"/>
                    </a:ext>
                  </a:extLst>
                </a:gridCol>
                <a:gridCol w="464924">
                  <a:extLst>
                    <a:ext uri="{9D8B030D-6E8A-4147-A177-3AD203B41FA5}">
                      <a16:colId xmlns:a16="http://schemas.microsoft.com/office/drawing/2014/main" val="1512630808"/>
                    </a:ext>
                  </a:extLst>
                </a:gridCol>
                <a:gridCol w="506626">
                  <a:extLst>
                    <a:ext uri="{9D8B030D-6E8A-4147-A177-3AD203B41FA5}">
                      <a16:colId xmlns:a16="http://schemas.microsoft.com/office/drawing/2014/main" val="178472737"/>
                    </a:ext>
                  </a:extLst>
                </a:gridCol>
                <a:gridCol w="2426968">
                  <a:extLst>
                    <a:ext uri="{9D8B030D-6E8A-4147-A177-3AD203B41FA5}">
                      <a16:colId xmlns:a16="http://schemas.microsoft.com/office/drawing/2014/main" val="3256006816"/>
                    </a:ext>
                  </a:extLst>
                </a:gridCol>
              </a:tblGrid>
              <a:tr h="0">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C</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T</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Imp</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DEBF7"/>
                    </a:solidFill>
                  </a:tcPr>
                </a:tc>
                <a:tc>
                  <a:txBody>
                    <a:bodyPr/>
                    <a:lstStyle/>
                    <a:p>
                      <a:pPr algn="l" fontAlgn="base">
                        <a:lnSpc>
                          <a:spcPts val="1200"/>
                        </a:lnSpc>
                        <a:buNone/>
                      </a:pPr>
                      <a:r>
                        <a:rPr lang="en-CA" sz="1000" b="1" i="0" u="none" strike="noStrike">
                          <a:solidFill>
                            <a:srgbClr val="000000"/>
                          </a:solidFill>
                          <a:effectLst/>
                          <a:latin typeface="Trebuchet MS" panose="020B0603020202020204" pitchFamily="34" charset="0"/>
                        </a:rPr>
                        <a:t>Item</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PM</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Type</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REQ</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DEV</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QA</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DEBF7"/>
                    </a:solidFill>
                  </a:tcPr>
                </a:tc>
                <a:tc>
                  <a:txBody>
                    <a:bodyPr/>
                    <a:lstStyle/>
                    <a:p>
                      <a:pPr algn="l" fontAlgn="base">
                        <a:lnSpc>
                          <a:spcPts val="1200"/>
                        </a:lnSpc>
                        <a:buNone/>
                      </a:pPr>
                      <a:r>
                        <a:rPr lang="en-CA" sz="1000" b="1" i="0" u="none" strike="noStrike">
                          <a:solidFill>
                            <a:srgbClr val="000000"/>
                          </a:solidFill>
                          <a:effectLst/>
                          <a:latin typeface="Trebuchet MS" panose="020B0603020202020204" pitchFamily="34" charset="0"/>
                        </a:rPr>
                        <a:t>Apps</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DEBF7"/>
                    </a:solidFill>
                  </a:tcPr>
                </a:tc>
                <a:extLst>
                  <a:ext uri="{0D108BD9-81ED-4DB2-BD59-A6C34878D82A}">
                    <a16:rowId xmlns:a16="http://schemas.microsoft.com/office/drawing/2014/main" val="123580793"/>
                  </a:ext>
                </a:extLst>
              </a:tr>
              <a:tr h="190500">
                <a:tc>
                  <a:txBody>
                    <a:bodyPr/>
                    <a:lstStyle/>
                    <a:p>
                      <a:pPr algn="ctr" fontAlgn="base">
                        <a:lnSpc>
                          <a:spcPts val="1200"/>
                        </a:lnSpc>
                        <a:buNone/>
                      </a:pP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ase">
                        <a:lnSpc>
                          <a:spcPts val="1200"/>
                        </a:lnSpc>
                        <a:buNone/>
                      </a:pPr>
                      <a:endParaRPr lang="en-CA" b="0" i="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ase">
                        <a:lnSpc>
                          <a:spcPts val="1200"/>
                        </a:lnSpc>
                        <a:buNone/>
                      </a:pPr>
                      <a:endParaRPr lang="en-CA" sz="1000" b="0" i="0" u="none" strike="noStrike" kern="1200">
                        <a:solidFill>
                          <a:srgbClr val="000000"/>
                        </a:solidFill>
                        <a:effectLst/>
                        <a:latin typeface="Trebuchet MS" panose="020B0603020202020204" pitchFamily="34" charset="0"/>
                        <a:ea typeface="+mn-ea"/>
                        <a:cs typeface="+mn-cs"/>
                      </a:endParaRPr>
                    </a:p>
                  </a:txBody>
                  <a:tcPr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ase">
                        <a:lnSpc>
                          <a:spcPts val="1200"/>
                        </a:lnSpc>
                        <a:buNone/>
                      </a:pPr>
                      <a:r>
                        <a:rPr lang="en-US" sz="1000" b="0" i="0" u="none" strike="noStrike" kern="1200">
                          <a:solidFill>
                            <a:srgbClr val="000000"/>
                          </a:solidFill>
                          <a:effectLst/>
                          <a:latin typeface="Trebuchet MS" panose="020B0603020202020204" pitchFamily="34" charset="0"/>
                          <a:ea typeface="+mn-ea"/>
                          <a:cs typeface="+mn-cs"/>
                        </a:rPr>
                        <a:t>None</a:t>
                      </a: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fontAlgn="base" latinLnBrk="0" hangingPunct="1">
                        <a:lnSpc>
                          <a:spcPts val="1200"/>
                        </a:lnSpc>
                        <a:buNone/>
                      </a:pPr>
                      <a:endParaRPr lang="en-CA" sz="1000" b="0" i="0" u="none" strike="noStrike" kern="1200">
                        <a:solidFill>
                          <a:srgbClr val="000000"/>
                        </a:solidFill>
                        <a:effectLst/>
                        <a:latin typeface="Trebuchet MS" panose="020B0603020202020204" pitchFamily="34"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ase" latinLnBrk="0" hangingPunct="1">
                        <a:lnSpc>
                          <a:spcPts val="1200"/>
                        </a:lnSpc>
                        <a:buNone/>
                      </a:pPr>
                      <a:endParaRPr lang="en-CA" sz="1000" b="0" i="0" u="none" strike="noStrike" kern="1200">
                        <a:solidFill>
                          <a:srgbClr val="000000"/>
                        </a:solidFill>
                        <a:effectLst/>
                        <a:latin typeface="Trebuchet MS" panose="020B0603020202020204" pitchFamily="34" charset="0"/>
                        <a:ea typeface="+mn-ea"/>
                        <a:cs typeface="+mn-cs"/>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lnSpc>
                          <a:spcPts val="1200"/>
                        </a:lnSpc>
                        <a:buNone/>
                      </a:pPr>
                      <a:endParaRPr lang="en-CA" b="0" i="0">
                        <a:solidFill>
                          <a:srgbClr val="000000"/>
                        </a:solidFill>
                        <a:effectLst/>
                      </a:endParaRPr>
                    </a:p>
                  </a:txBody>
                  <a:tcPr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ase">
                        <a:lnSpc>
                          <a:spcPts val="1200"/>
                        </a:lnSpc>
                        <a:buNone/>
                      </a:pPr>
                      <a:endParaRPr lang="en-CA" b="0" i="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ase" latinLnBrk="0" hangingPunct="1">
                        <a:lnSpc>
                          <a:spcPts val="1200"/>
                        </a:lnSpc>
                        <a:buNone/>
                      </a:pPr>
                      <a:endParaRPr lang="en-CA" sz="1000" b="1" i="0" u="none" strike="noStrike" kern="1200">
                        <a:solidFill>
                          <a:schemeClr val="bg1"/>
                        </a:solidFill>
                        <a:effectLst/>
                        <a:latin typeface="Trebuchet MS" panose="020B0603020202020204" pitchFamily="34" charset="0"/>
                        <a:ea typeface="+mn-ea"/>
                        <a:cs typeface="+mn-cs"/>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914400" rtl="0" eaLnBrk="1" fontAlgn="base" latinLnBrk="0" hangingPunct="1">
                        <a:lnSpc>
                          <a:spcPts val="1200"/>
                        </a:lnSpc>
                        <a:buNone/>
                      </a:pPr>
                      <a:endParaRPr lang="en-CA" sz="1000" b="0" i="0" u="none" strike="noStrike" kern="1200">
                        <a:solidFill>
                          <a:srgbClr val="000000"/>
                        </a:solidFill>
                        <a:effectLst/>
                        <a:latin typeface="Trebuchet MS" panose="020B0603020202020204" pitchFamily="34" charset="0"/>
                        <a:ea typeface="+mn-ea"/>
                        <a:cs typeface="+mn-cs"/>
                      </a:endParaRPr>
                    </a:p>
                  </a:txBody>
                  <a:tcPr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3295688"/>
                  </a:ext>
                </a:extLst>
              </a:tr>
            </a:tbl>
          </a:graphicData>
        </a:graphic>
      </p:graphicFrame>
      <p:sp>
        <p:nvSpPr>
          <p:cNvPr id="3" name="Rectangle 1">
            <a:extLst>
              <a:ext uri="{FF2B5EF4-FFF2-40B4-BE49-F238E27FC236}">
                <a16:creationId xmlns:a16="http://schemas.microsoft.com/office/drawing/2014/main" id="{1847DB58-CD76-5762-F480-31E6E57B3ABE}"/>
              </a:ext>
            </a:extLst>
          </p:cNvPr>
          <p:cNvSpPr>
            <a:spLocks noChangeArrowheads="1"/>
          </p:cNvSpPr>
          <p:nvPr/>
        </p:nvSpPr>
        <p:spPr bwMode="auto">
          <a:xfrm>
            <a:off x="378643" y="394489"/>
            <a:ext cx="1759237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0043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56B44A-4891-798D-60A9-A54FF9BC4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6B978-8D5F-764E-0C98-B3DA761B1FF9}"/>
              </a:ext>
            </a:extLst>
          </p:cNvPr>
          <p:cNvSpPr>
            <a:spLocks noGrp="1"/>
          </p:cNvSpPr>
          <p:nvPr>
            <p:ph type="title"/>
          </p:nvPr>
        </p:nvSpPr>
        <p:spPr>
          <a:xfrm>
            <a:off x="353830" y="260322"/>
            <a:ext cx="10660404" cy="554846"/>
          </a:xfrm>
        </p:spPr>
        <p:txBody>
          <a:bodyPr/>
          <a:lstStyle/>
          <a:p>
            <a:r>
              <a:rPr lang="en-CA" sz="2800"/>
              <a:t>November 16</a:t>
            </a:r>
            <a:r>
              <a:rPr lang="en-CA" sz="2800" baseline="30000"/>
              <a:t>th</a:t>
            </a:r>
            <a:r>
              <a:rPr lang="en-CA" sz="2800"/>
              <a:t> </a:t>
            </a:r>
            <a:r>
              <a:rPr lang="en-CA" sz="2800">
                <a:solidFill>
                  <a:srgbClr val="D40139"/>
                </a:solidFill>
              </a:rPr>
              <a:t>Release </a:t>
            </a:r>
            <a:r>
              <a:rPr lang="en-CA" sz="2800"/>
              <a:t>Projects Backout Testing </a:t>
            </a:r>
            <a:endParaRPr lang="en-US" sz="2800"/>
          </a:p>
        </p:txBody>
      </p:sp>
    </p:spTree>
    <p:extLst>
      <p:ext uri="{BB962C8B-B14F-4D97-AF65-F5344CB8AC3E}">
        <p14:creationId xmlns:p14="http://schemas.microsoft.com/office/powerpoint/2010/main" val="1950529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68C480-4D14-2C62-D4B6-271CCFCDACF1}"/>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388EBBF2-E497-D5AB-818A-32D65241D0DF}"/>
              </a:ext>
            </a:extLst>
          </p:cNvPr>
          <p:cNvGraphicFramePr>
            <a:graphicFrameLocks noGrp="1"/>
          </p:cNvGraphicFramePr>
          <p:nvPr>
            <p:ph idx="1"/>
            <p:extLst>
              <p:ext uri="{D42A27DB-BD31-4B8C-83A1-F6EECF244321}">
                <p14:modId xmlns:p14="http://schemas.microsoft.com/office/powerpoint/2010/main" val="1127244607"/>
              </p:ext>
            </p:extLst>
          </p:nvPr>
        </p:nvGraphicFramePr>
        <p:xfrm>
          <a:off x="297180" y="755337"/>
          <a:ext cx="11104045" cy="5628528"/>
        </p:xfrm>
        <a:graphic>
          <a:graphicData uri="http://schemas.openxmlformats.org/drawingml/2006/table">
            <a:tbl>
              <a:tblPr firstRow="1" bandRow="1">
                <a:tableStyleId>{2A488322-F2BA-4B5B-9748-0D474271808F}</a:tableStyleId>
              </a:tblPr>
              <a:tblGrid>
                <a:gridCol w="4065834">
                  <a:extLst>
                    <a:ext uri="{9D8B030D-6E8A-4147-A177-3AD203B41FA5}">
                      <a16:colId xmlns:a16="http://schemas.microsoft.com/office/drawing/2014/main" val="1181093207"/>
                    </a:ext>
                  </a:extLst>
                </a:gridCol>
                <a:gridCol w="7038211">
                  <a:extLst>
                    <a:ext uri="{9D8B030D-6E8A-4147-A177-3AD203B41FA5}">
                      <a16:colId xmlns:a16="http://schemas.microsoft.com/office/drawing/2014/main" val="1244493739"/>
                    </a:ext>
                  </a:extLst>
                </a:gridCol>
              </a:tblGrid>
              <a:tr h="374580">
                <a:tc>
                  <a:txBody>
                    <a:bodyPr/>
                    <a:lstStyle/>
                    <a:p>
                      <a:pPr algn="ctr"/>
                      <a:r>
                        <a:rPr lang="en-CA" sz="1200" b="1"/>
                        <a:t>Application</a:t>
                      </a:r>
                      <a:endParaRPr lang="en-US"/>
                    </a:p>
                  </a:txBody>
                  <a:tcPr marT="91440" marB="91440" anchor="ctr"/>
                </a:tc>
                <a:tc>
                  <a:txBody>
                    <a:bodyPr/>
                    <a:lstStyle/>
                    <a:p>
                      <a:pPr marL="0" marR="0" algn="ctr" defTabSz="914400" rtl="0" eaLnBrk="1" latinLnBrk="0" hangingPunct="1">
                        <a:spcBef>
                          <a:spcPts val="0"/>
                        </a:spcBef>
                        <a:spcAft>
                          <a:spcPts val="0"/>
                        </a:spcAft>
                      </a:pPr>
                      <a:r>
                        <a:rPr lang="en-CA" sz="1200" b="1" kern="1200">
                          <a:solidFill>
                            <a:schemeClr val="lt1"/>
                          </a:solidFill>
                        </a:rPr>
                        <a:t>Tech Lead</a:t>
                      </a:r>
                      <a:endParaRPr lang="en-US"/>
                    </a:p>
                  </a:txBody>
                  <a:tcPr marT="91440" marB="91440" anchor="ctr"/>
                </a:tc>
                <a:extLst>
                  <a:ext uri="{0D108BD9-81ED-4DB2-BD59-A6C34878D82A}">
                    <a16:rowId xmlns:a16="http://schemas.microsoft.com/office/drawing/2014/main" val="3957539819"/>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AMS</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Samidi, Shashi</a:t>
                      </a:r>
                    </a:p>
                  </a:txBody>
                  <a:tcPr marL="6350" marR="6350" marT="6350" marB="0" anchor="ctr"/>
                </a:tc>
                <a:extLst>
                  <a:ext uri="{0D108BD9-81ED-4DB2-BD59-A6C34878D82A}">
                    <a16:rowId xmlns:a16="http://schemas.microsoft.com/office/drawing/2014/main" val="2012670244"/>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API Lending</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Shinde, Bhagyashree | Jayakumar, Apsara Malar | Sharma, Vishruth</a:t>
                      </a:r>
                    </a:p>
                  </a:txBody>
                  <a:tcPr marL="6350" marR="6350" marT="6350" marB="0" anchor="ctr"/>
                </a:tc>
                <a:extLst>
                  <a:ext uri="{0D108BD9-81ED-4DB2-BD59-A6C34878D82A}">
                    <a16:rowId xmlns:a16="http://schemas.microsoft.com/office/drawing/2014/main" val="312148132"/>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CAAP</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Vhanmane, Vaibhav Uttam</a:t>
                      </a:r>
                    </a:p>
                  </a:txBody>
                  <a:tcPr marL="6350" marR="6350" marT="6350" marB="0" anchor="ctr"/>
                </a:tc>
                <a:extLst>
                  <a:ext uri="{0D108BD9-81ED-4DB2-BD59-A6C34878D82A}">
                    <a16:rowId xmlns:a16="http://schemas.microsoft.com/office/drawing/2014/main" val="257918542"/>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CI</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Foster, Shannon</a:t>
                      </a:r>
                    </a:p>
                  </a:txBody>
                  <a:tcPr marL="6350" marR="6350" marT="6350" marB="0" anchor="ctr"/>
                </a:tc>
                <a:extLst>
                  <a:ext uri="{0D108BD9-81ED-4DB2-BD59-A6C34878D82A}">
                    <a16:rowId xmlns:a16="http://schemas.microsoft.com/office/drawing/2014/main" val="2329468855"/>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CLASS</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Singh, Madan | Yadav, Kiran | Kulkarni, Ninad Girish</a:t>
                      </a:r>
                    </a:p>
                  </a:txBody>
                  <a:tcPr marL="6350" marR="6350" marT="6350" marB="0" anchor="ctr"/>
                </a:tc>
                <a:extLst>
                  <a:ext uri="{0D108BD9-81ED-4DB2-BD59-A6C34878D82A}">
                    <a16:rowId xmlns:a16="http://schemas.microsoft.com/office/drawing/2014/main" val="3570476607"/>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COLT</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Gonsalves, Mark | Harding, Owen</a:t>
                      </a:r>
                    </a:p>
                  </a:txBody>
                  <a:tcPr marL="6350" marR="6350" marT="6350" marB="0" anchor="ctr"/>
                </a:tc>
                <a:extLst>
                  <a:ext uri="{0D108BD9-81ED-4DB2-BD59-A6C34878D82A}">
                    <a16:rowId xmlns:a16="http://schemas.microsoft.com/office/drawing/2014/main" val="2869312949"/>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DDGS</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Zhang, Cher | Kotni, Prasanna | Desai, Vini Virendra</a:t>
                      </a:r>
                    </a:p>
                  </a:txBody>
                  <a:tcPr marL="6350" marR="6350" marT="6350" marB="0" anchor="ctr"/>
                </a:tc>
                <a:extLst>
                  <a:ext uri="{0D108BD9-81ED-4DB2-BD59-A6C34878D82A}">
                    <a16:rowId xmlns:a16="http://schemas.microsoft.com/office/drawing/2014/main" val="2827576960"/>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DM</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Patel, Rushikesh Himanshubhai | Band, Vaibhav Eknathrao | Bodara, Asav | Soni, Pushpendra</a:t>
                      </a:r>
                    </a:p>
                  </a:txBody>
                  <a:tcPr marL="6350" marR="6350" marT="6350" marB="0" anchor="ctr"/>
                </a:tc>
                <a:extLst>
                  <a:ext uri="{0D108BD9-81ED-4DB2-BD59-A6C34878D82A}">
                    <a16:rowId xmlns:a16="http://schemas.microsoft.com/office/drawing/2014/main" val="3239632124"/>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EDTS</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Raza, Fyma</a:t>
                      </a:r>
                    </a:p>
                  </a:txBody>
                  <a:tcPr marL="6350" marR="6350" marT="6350" marB="0" anchor="ctr"/>
                </a:tc>
                <a:extLst>
                  <a:ext uri="{0D108BD9-81ED-4DB2-BD59-A6C34878D82A}">
                    <a16:rowId xmlns:a16="http://schemas.microsoft.com/office/drawing/2014/main" val="3667299205"/>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ENVOY</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Mandi, Sreenath | Rathore, Pavan | Zhu, Jackson</a:t>
                      </a:r>
                    </a:p>
                  </a:txBody>
                  <a:tcPr marL="6350" marR="6350" marT="6350" marB="0" anchor="ctr"/>
                </a:tc>
                <a:extLst>
                  <a:ext uri="{0D108BD9-81ED-4DB2-BD59-A6C34878D82A}">
                    <a16:rowId xmlns:a16="http://schemas.microsoft.com/office/drawing/2014/main" val="2489261290"/>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Excalibur</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Bugidi, Nagaraju | Jahan, Amreen | Agarwal, Niti</a:t>
                      </a:r>
                    </a:p>
                  </a:txBody>
                  <a:tcPr marL="6350" marR="6350" marT="6350" marB="0" anchor="ctr"/>
                </a:tc>
                <a:extLst>
                  <a:ext uri="{0D108BD9-81ED-4DB2-BD59-A6C34878D82A}">
                    <a16:rowId xmlns:a16="http://schemas.microsoft.com/office/drawing/2014/main" val="3482879388"/>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FirstLine.com</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Shirode, Richa | Verma, Priyanka</a:t>
                      </a:r>
                    </a:p>
                  </a:txBody>
                  <a:tcPr marL="6350" marR="6350" marT="6350" marB="0" anchor="ctr"/>
                </a:tc>
                <a:extLst>
                  <a:ext uri="{0D108BD9-81ED-4DB2-BD59-A6C34878D82A}">
                    <a16:rowId xmlns:a16="http://schemas.microsoft.com/office/drawing/2014/main" val="2265729731"/>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FX</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Foster, Shannon</a:t>
                      </a:r>
                    </a:p>
                  </a:txBody>
                  <a:tcPr marL="6350" marR="6350" marT="6350" marB="0" anchor="ctr"/>
                </a:tc>
                <a:extLst>
                  <a:ext uri="{0D108BD9-81ED-4DB2-BD59-A6C34878D82A}">
                    <a16:rowId xmlns:a16="http://schemas.microsoft.com/office/drawing/2014/main" val="3936136598"/>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LAS</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Yadav, Kiran | Singh, Madan | Kulkarni, Ninad Girish</a:t>
                      </a:r>
                    </a:p>
                  </a:txBody>
                  <a:tcPr marL="6350" marR="6350" marT="6350" marB="0" anchor="ctr"/>
                </a:tc>
                <a:extLst>
                  <a:ext uri="{0D108BD9-81ED-4DB2-BD59-A6C34878D82A}">
                    <a16:rowId xmlns:a16="http://schemas.microsoft.com/office/drawing/2014/main" val="529598291"/>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LCMS</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Nguyen, Anh Tuan | Jain, Neeraj</a:t>
                      </a:r>
                    </a:p>
                  </a:txBody>
                  <a:tcPr marL="6350" marR="6350" marT="6350" marB="0" anchor="ctr"/>
                </a:tc>
                <a:extLst>
                  <a:ext uri="{0D108BD9-81ED-4DB2-BD59-A6C34878D82A}">
                    <a16:rowId xmlns:a16="http://schemas.microsoft.com/office/drawing/2014/main" val="391075533"/>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mMortgage</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Singh, Amit | Chavan, Snehal Anil</a:t>
                      </a:r>
                    </a:p>
                  </a:txBody>
                  <a:tcPr marL="6350" marR="6350" marT="6350" marB="0" anchor="ctr"/>
                </a:tc>
                <a:extLst>
                  <a:ext uri="{0D108BD9-81ED-4DB2-BD59-A6C34878D82A}">
                    <a16:rowId xmlns:a16="http://schemas.microsoft.com/office/drawing/2014/main" val="2466399591"/>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PCA/SAV</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Chamiraju, Sudheera Dattatreya 1 | MacNeil, Natalie</a:t>
                      </a:r>
                    </a:p>
                  </a:txBody>
                  <a:tcPr marL="6350" marR="6350" marT="6350" marB="0" anchor="ctr"/>
                </a:tc>
                <a:extLst>
                  <a:ext uri="{0D108BD9-81ED-4DB2-BD59-A6C34878D82A}">
                    <a16:rowId xmlns:a16="http://schemas.microsoft.com/office/drawing/2014/main" val="3378479865"/>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RPE</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Mandi, Sreenath | Rathore, Pavan | Sahoo, Deepak</a:t>
                      </a:r>
                    </a:p>
                  </a:txBody>
                  <a:tcPr marL="6350" marR="6350" marT="6350" marB="0" anchor="ctr"/>
                </a:tc>
                <a:extLst>
                  <a:ext uri="{0D108BD9-81ED-4DB2-BD59-A6C34878D82A}">
                    <a16:rowId xmlns:a16="http://schemas.microsoft.com/office/drawing/2014/main" val="2340358296"/>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STB</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Foster, Shannon</a:t>
                      </a:r>
                    </a:p>
                  </a:txBody>
                  <a:tcPr marL="6350" marR="6350" marT="6350" marB="0" anchor="ctr"/>
                </a:tc>
                <a:extLst>
                  <a:ext uri="{0D108BD9-81ED-4DB2-BD59-A6C34878D82A}">
                    <a16:rowId xmlns:a16="http://schemas.microsoft.com/office/drawing/2014/main" val="3318437127"/>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TABS</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Amrutkar, Mukul | Kaushik, Rashmi | Patanwar, Tarun</a:t>
                      </a:r>
                    </a:p>
                  </a:txBody>
                  <a:tcPr marL="6350" marR="6350" marT="6350" marB="0" anchor="ctr"/>
                </a:tc>
                <a:extLst>
                  <a:ext uri="{0D108BD9-81ED-4DB2-BD59-A6C34878D82A}">
                    <a16:rowId xmlns:a16="http://schemas.microsoft.com/office/drawing/2014/main" val="1328855294"/>
                  </a:ext>
                </a:extLst>
              </a:tr>
              <a:tr h="250188">
                <a:tc>
                  <a:txBody>
                    <a:bodyPr/>
                    <a:lstStyle/>
                    <a:p>
                      <a:pPr algn="ctr" fontAlgn="b">
                        <a:buNone/>
                      </a:pPr>
                      <a:r>
                        <a:rPr lang="en-US" sz="900" b="0" i="0" u="none" strike="noStrike">
                          <a:solidFill>
                            <a:srgbClr val="000000"/>
                          </a:solidFill>
                          <a:effectLst/>
                          <a:latin typeface="+mn-lt"/>
                          <a:ea typeface="Times New Roman" panose="02020603050405020304" pitchFamily="18" charset="0"/>
                        </a:rPr>
                        <a:t>Target</a:t>
                      </a:r>
                      <a:endParaRPr lang="en-US" sz="900" b="0" i="0" u="none" strike="noStrike">
                        <a:solidFill>
                          <a:srgbClr val="000000"/>
                        </a:solidFill>
                        <a:effectLst/>
                        <a:latin typeface="+mn-lt"/>
                      </a:endParaRPr>
                    </a:p>
                  </a:txBody>
                  <a:tcPr marL="6350" marR="6350" marT="6350" marB="0" anchor="ctr"/>
                </a:tc>
                <a:tc>
                  <a:txBody>
                    <a:bodyPr/>
                    <a:lstStyle/>
                    <a:p>
                      <a:pPr algn="ctr" fontAlgn="b">
                        <a:buNone/>
                      </a:pPr>
                      <a:r>
                        <a:rPr lang="en-US" sz="900" b="0" i="0" u="none" strike="noStrike">
                          <a:solidFill>
                            <a:srgbClr val="000000"/>
                          </a:solidFill>
                          <a:effectLst/>
                          <a:latin typeface="+mn-lt"/>
                        </a:rPr>
                        <a:t>Shirode, Richa | Verma, Priyanka</a:t>
                      </a:r>
                    </a:p>
                  </a:txBody>
                  <a:tcPr marL="6350" marR="6350" marT="6350" marB="0" anchor="ctr"/>
                </a:tc>
                <a:extLst>
                  <a:ext uri="{0D108BD9-81ED-4DB2-BD59-A6C34878D82A}">
                    <a16:rowId xmlns:a16="http://schemas.microsoft.com/office/drawing/2014/main" val="3074957198"/>
                  </a:ext>
                </a:extLst>
              </a:tr>
            </a:tbl>
          </a:graphicData>
        </a:graphic>
      </p:graphicFrame>
      <p:sp>
        <p:nvSpPr>
          <p:cNvPr id="5" name="Title 1">
            <a:extLst>
              <a:ext uri="{FF2B5EF4-FFF2-40B4-BE49-F238E27FC236}">
                <a16:creationId xmlns:a16="http://schemas.microsoft.com/office/drawing/2014/main" id="{8F561A42-8CD2-BE75-821C-34D0D55A6B41}"/>
              </a:ext>
            </a:extLst>
          </p:cNvPr>
          <p:cNvSpPr txBox="1">
            <a:spLocks/>
          </p:cNvSpPr>
          <p:nvPr/>
        </p:nvSpPr>
        <p:spPr>
          <a:xfrm>
            <a:off x="297180" y="115807"/>
            <a:ext cx="10933748" cy="581983"/>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lvl="0">
              <a:defRPr/>
            </a:pPr>
            <a:r>
              <a:rPr lang="en-CA" sz="2800"/>
              <a:t>November 16</a:t>
            </a:r>
            <a:r>
              <a:rPr lang="en-CA" sz="2800" baseline="30000"/>
              <a:t>th</a:t>
            </a:r>
            <a:r>
              <a:rPr lang="en-CA" sz="2800"/>
              <a:t> </a:t>
            </a:r>
            <a:r>
              <a:rPr lang="en-CA" sz="2800">
                <a:solidFill>
                  <a:srgbClr val="D40139"/>
                </a:solidFill>
              </a:rPr>
              <a:t>Release </a:t>
            </a:r>
            <a:r>
              <a:rPr kumimoji="0" lang="en-CA" sz="2800" b="1" i="0" u="none" strike="noStrike" kern="1200" cap="none" spc="0" normalizeH="0" baseline="0" noProof="0">
                <a:ln>
                  <a:noFill/>
                </a:ln>
                <a:solidFill>
                  <a:srgbClr val="D40139"/>
                </a:solidFill>
                <a:effectLst/>
                <a:uLnTx/>
                <a:uFillTx/>
                <a:latin typeface="Trebuchet MS"/>
                <a:ea typeface="+mj-ea"/>
                <a:cs typeface="+mj-cs"/>
              </a:rPr>
              <a:t>ADM Leads (Draft)</a:t>
            </a:r>
            <a:endParaRPr kumimoji="0" lang="en-US" sz="2800" b="1" i="0" u="none" strike="noStrike" kern="1200" cap="none" spc="0" normalizeH="0" baseline="0" noProof="0">
              <a:ln>
                <a:noFill/>
              </a:ln>
              <a:solidFill>
                <a:srgbClr val="D40139"/>
              </a:solidFill>
              <a:effectLst/>
              <a:uLnTx/>
              <a:uFillTx/>
              <a:latin typeface="Trebuchet MS"/>
              <a:ea typeface="+mj-ea"/>
              <a:cs typeface="+mj-cs"/>
            </a:endParaRPr>
          </a:p>
        </p:txBody>
      </p:sp>
    </p:spTree>
    <p:extLst>
      <p:ext uri="{BB962C8B-B14F-4D97-AF65-F5344CB8AC3E}">
        <p14:creationId xmlns:p14="http://schemas.microsoft.com/office/powerpoint/2010/main" val="2992270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C02FCD-4AD4-C1A6-AA12-B796CA8C3A21}"/>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6321D1E-1BFC-ECD8-FB1A-2C9A2B6CA9F5}"/>
              </a:ext>
            </a:extLst>
          </p:cNvPr>
          <p:cNvGraphicFramePr>
            <a:graphicFrameLocks noGrp="1"/>
          </p:cNvGraphicFramePr>
          <p:nvPr>
            <p:ph idx="1"/>
            <p:extLst>
              <p:ext uri="{D42A27DB-BD31-4B8C-83A1-F6EECF244321}">
                <p14:modId xmlns:p14="http://schemas.microsoft.com/office/powerpoint/2010/main" val="3942312516"/>
              </p:ext>
            </p:extLst>
          </p:nvPr>
        </p:nvGraphicFramePr>
        <p:xfrm>
          <a:off x="310570" y="697790"/>
          <a:ext cx="11266060" cy="4438534"/>
        </p:xfrm>
        <a:graphic>
          <a:graphicData uri="http://schemas.openxmlformats.org/drawingml/2006/table">
            <a:tbl>
              <a:tblPr firstRow="1" bandRow="1">
                <a:tableStyleId>{2A488322-F2BA-4B5B-9748-0D474271808F}</a:tableStyleId>
              </a:tblPr>
              <a:tblGrid>
                <a:gridCol w="1119324">
                  <a:extLst>
                    <a:ext uri="{9D8B030D-6E8A-4147-A177-3AD203B41FA5}">
                      <a16:colId xmlns:a16="http://schemas.microsoft.com/office/drawing/2014/main" val="2486246951"/>
                    </a:ext>
                  </a:extLst>
                </a:gridCol>
                <a:gridCol w="1241698">
                  <a:extLst>
                    <a:ext uri="{9D8B030D-6E8A-4147-A177-3AD203B41FA5}">
                      <a16:colId xmlns:a16="http://schemas.microsoft.com/office/drawing/2014/main" val="1707083591"/>
                    </a:ext>
                  </a:extLst>
                </a:gridCol>
                <a:gridCol w="1946590">
                  <a:extLst>
                    <a:ext uri="{9D8B030D-6E8A-4147-A177-3AD203B41FA5}">
                      <a16:colId xmlns:a16="http://schemas.microsoft.com/office/drawing/2014/main" val="3674080757"/>
                    </a:ext>
                  </a:extLst>
                </a:gridCol>
                <a:gridCol w="2429004">
                  <a:extLst>
                    <a:ext uri="{9D8B030D-6E8A-4147-A177-3AD203B41FA5}">
                      <a16:colId xmlns:a16="http://schemas.microsoft.com/office/drawing/2014/main" val="700112739"/>
                    </a:ext>
                  </a:extLst>
                </a:gridCol>
                <a:gridCol w="4529444">
                  <a:extLst>
                    <a:ext uri="{9D8B030D-6E8A-4147-A177-3AD203B41FA5}">
                      <a16:colId xmlns:a16="http://schemas.microsoft.com/office/drawing/2014/main" val="1814946742"/>
                    </a:ext>
                  </a:extLst>
                </a:gridCol>
              </a:tblGrid>
              <a:tr h="221274">
                <a:tc>
                  <a:txBody>
                    <a:bodyPr/>
                    <a:lstStyle/>
                    <a:p>
                      <a:pPr algn="ctr"/>
                      <a:r>
                        <a:rPr lang="en-CA" sz="1100"/>
                        <a:t>App / Group</a:t>
                      </a:r>
                      <a:endParaRPr lang="en-US" sz="1100">
                        <a:latin typeface="+mn-lt"/>
                      </a:endParaRPr>
                    </a:p>
                  </a:txBody>
                  <a:tcPr anchor="ctr"/>
                </a:tc>
                <a:tc>
                  <a:txBody>
                    <a:bodyPr/>
                    <a:lstStyle/>
                    <a:p>
                      <a:pPr algn="ctr"/>
                      <a:r>
                        <a:rPr lang="en-CA" sz="1100"/>
                        <a:t>PM/Lead</a:t>
                      </a:r>
                      <a:endParaRPr lang="en-US" sz="1100">
                        <a:latin typeface="+mn-lt"/>
                      </a:endParaRPr>
                    </a:p>
                  </a:txBody>
                  <a:tcPr anchor="ctr"/>
                </a:tc>
                <a:tc>
                  <a:txBody>
                    <a:bodyPr/>
                    <a:lstStyle/>
                    <a:p>
                      <a:pPr algn="ctr"/>
                      <a:r>
                        <a:rPr lang="en-CA" sz="1100"/>
                        <a:t>Available 5am-12pm</a:t>
                      </a:r>
                      <a:endParaRPr lang="en-CA" sz="1100">
                        <a:latin typeface="+mn-lt"/>
                      </a:endParaRPr>
                    </a:p>
                  </a:txBody>
                  <a:tcPr anchor="ctr"/>
                </a:tc>
                <a:tc>
                  <a:txBody>
                    <a:bodyPr/>
                    <a:lstStyle/>
                    <a:p>
                      <a:pPr algn="ctr"/>
                      <a:r>
                        <a:rPr lang="en-CA" sz="1100"/>
                        <a:t>Changes planned</a:t>
                      </a:r>
                      <a:endParaRPr lang="en-CA" sz="1100">
                        <a:latin typeface="+mn-lt"/>
                      </a:endParaRPr>
                    </a:p>
                  </a:txBody>
                  <a:tcPr anchor="ctr"/>
                </a:tc>
                <a:tc>
                  <a:txBody>
                    <a:bodyPr/>
                    <a:lstStyle/>
                    <a:p>
                      <a:pPr algn="ctr"/>
                      <a:r>
                        <a:rPr lang="en-CA" sz="1100"/>
                        <a:t>Contact Name &amp; Phone Number</a:t>
                      </a:r>
                      <a:endParaRPr lang="en-US" sz="1100">
                        <a:latin typeface="+mn-lt"/>
                      </a:endParaRPr>
                    </a:p>
                  </a:txBody>
                  <a:tcPr anchor="ctr"/>
                </a:tc>
                <a:extLst>
                  <a:ext uri="{0D108BD9-81ED-4DB2-BD59-A6C34878D82A}">
                    <a16:rowId xmlns:a16="http://schemas.microsoft.com/office/drawing/2014/main" val="3571902798"/>
                  </a:ext>
                </a:extLst>
              </a:tr>
              <a:tr h="557894">
                <a:tc>
                  <a:txBody>
                    <a:bodyPr/>
                    <a:lstStyle/>
                    <a:p>
                      <a:pPr algn="l" rtl="0" fontAlgn="ctr"/>
                      <a:r>
                        <a:rPr lang="en-CA" sz="1000" b="0" u="none" strike="noStrike">
                          <a:solidFill>
                            <a:srgbClr val="000000"/>
                          </a:solidFill>
                          <a:effectLst/>
                        </a:rPr>
                        <a:t>ECIF Services</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r>
                        <a:rPr lang="fr-FR" sz="1000" kern="1200">
                          <a:solidFill>
                            <a:schemeClr val="dk1"/>
                          </a:solidFill>
                          <a:effectLst/>
                          <a:latin typeface="+mn-lt"/>
                          <a:ea typeface="+mn-ea"/>
                          <a:cs typeface="+mn-cs"/>
                        </a:rPr>
                        <a:t>a. </a:t>
                      </a:r>
                      <a:r>
                        <a:rPr lang="fr-FR" sz="1000" u="sng" kern="1200">
                          <a:solidFill>
                            <a:schemeClr val="dk1"/>
                          </a:solidFill>
                          <a:effectLst/>
                          <a:latin typeface="+mn-lt"/>
                          <a:ea typeface="+mn-ea"/>
                          <a:cs typeface="+mn-cs"/>
                          <a:hlinkClick r:id="rId3"/>
                        </a:rPr>
                        <a:t>Mailbox.ECIFBaseEssential@cibc.com</a:t>
                      </a:r>
                      <a:r>
                        <a:rPr lang="en-CA" sz="1000" kern="1200">
                          <a:solidFill>
                            <a:schemeClr val="dk1"/>
                          </a:solidFill>
                          <a:effectLst/>
                          <a:latin typeface="+mn-lt"/>
                          <a:ea typeface="+mn-ea"/>
                          <a:cs typeface="+mn-cs"/>
                        </a:rPr>
                        <a:t> </a:t>
                      </a:r>
                      <a:r>
                        <a:rPr lang="fr-FR" sz="1000" kern="1200">
                          <a:solidFill>
                            <a:schemeClr val="dk1"/>
                          </a:solidFill>
                          <a:effectLst/>
                          <a:latin typeface="+mn-lt"/>
                          <a:ea typeface="+mn-ea"/>
                          <a:cs typeface="+mn-cs"/>
                        </a:rPr>
                        <a:t>/ Pager - 416 725 7107 (24*7 Support)​</a:t>
                      </a:r>
                      <a:endParaRPr lang="en-US" sz="1000" kern="1200">
                        <a:solidFill>
                          <a:schemeClr val="dk1"/>
                        </a:solidFill>
                        <a:effectLst/>
                        <a:latin typeface="+mn-lt"/>
                        <a:ea typeface="+mn-ea"/>
                        <a:cs typeface="+mn-cs"/>
                      </a:endParaRPr>
                    </a:p>
                    <a:p>
                      <a:r>
                        <a:rPr lang="fr-FR" sz="1000" kern="1200">
                          <a:solidFill>
                            <a:schemeClr val="dk1"/>
                          </a:solidFill>
                          <a:effectLst/>
                          <a:latin typeface="+mn-lt"/>
                          <a:ea typeface="+mn-ea"/>
                          <a:cs typeface="+mn-cs"/>
                        </a:rPr>
                        <a:t>b. </a:t>
                      </a:r>
                      <a:r>
                        <a:rPr lang="fr-FR" sz="1000" u="sng" kern="1200">
                          <a:solidFill>
                            <a:schemeClr val="dk1"/>
                          </a:solidFill>
                          <a:effectLst/>
                          <a:latin typeface="+mn-lt"/>
                          <a:ea typeface="+mn-ea"/>
                          <a:cs typeface="+mn-cs"/>
                          <a:hlinkClick r:id="rId4"/>
                        </a:rPr>
                        <a:t>harish1.kumar@cibc.com</a:t>
                      </a:r>
                      <a:r>
                        <a:rPr lang="en-US" sz="1000" u="none" strike="noStrike" kern="1200">
                          <a:solidFill>
                            <a:schemeClr val="dk1"/>
                          </a:solidFill>
                          <a:effectLst/>
                          <a:latin typeface="+mn-lt"/>
                          <a:ea typeface="+mn-ea"/>
                          <a:cs typeface="+mn-cs"/>
                        </a:rPr>
                        <a:t> </a:t>
                      </a:r>
                      <a:r>
                        <a:rPr lang="fr-FR" sz="1000" kern="1200">
                          <a:solidFill>
                            <a:schemeClr val="dk1"/>
                          </a:solidFill>
                          <a:effectLst/>
                          <a:latin typeface="+mn-lt"/>
                          <a:ea typeface="+mn-ea"/>
                          <a:cs typeface="+mn-cs"/>
                        </a:rPr>
                        <a:t>|  647-270-2619</a:t>
                      </a:r>
                      <a:endParaRPr lang="en-US" sz="1000" kern="1200">
                        <a:solidFill>
                          <a:schemeClr val="dk1"/>
                        </a:solidFill>
                        <a:effectLst/>
                        <a:latin typeface="+mn-lt"/>
                        <a:ea typeface="+mn-ea"/>
                        <a:cs typeface="+mn-cs"/>
                      </a:endParaRPr>
                    </a:p>
                    <a:p>
                      <a:r>
                        <a:rPr lang="en-US" sz="1000" kern="1200">
                          <a:solidFill>
                            <a:schemeClr val="dk1"/>
                          </a:solidFill>
                          <a:effectLst/>
                          <a:latin typeface="+mn-lt"/>
                          <a:ea typeface="+mn-ea"/>
                          <a:cs typeface="+mn-cs"/>
                        </a:rPr>
                        <a:t>c. </a:t>
                      </a:r>
                      <a:r>
                        <a:rPr lang="en-US" sz="1000" u="sng" kern="1200">
                          <a:solidFill>
                            <a:schemeClr val="dk1"/>
                          </a:solidFill>
                          <a:effectLst/>
                          <a:latin typeface="+mn-lt"/>
                          <a:ea typeface="+mn-ea"/>
                          <a:cs typeface="+mn-cs"/>
                          <a:hlinkClick r:id="rId5"/>
                        </a:rPr>
                        <a:t>AdeshKumar.Bhati@CIBC.com</a:t>
                      </a:r>
                      <a:r>
                        <a:rPr lang="en-US" sz="1000" kern="1200">
                          <a:solidFill>
                            <a:schemeClr val="dk1"/>
                          </a:solidFill>
                          <a:effectLst/>
                          <a:latin typeface="+mn-lt"/>
                          <a:ea typeface="+mn-ea"/>
                          <a:cs typeface="+mn-cs"/>
                        </a:rPr>
                        <a:t> / Adesh Kumar Bhati, (416-272-3493)</a:t>
                      </a:r>
                    </a:p>
                  </a:txBody>
                  <a:tcPr marT="182880" marB="91440" anchor="ctr"/>
                </a:tc>
                <a:extLst>
                  <a:ext uri="{0D108BD9-81ED-4DB2-BD59-A6C34878D82A}">
                    <a16:rowId xmlns:a16="http://schemas.microsoft.com/office/drawing/2014/main" val="1534647818"/>
                  </a:ext>
                </a:extLst>
              </a:tr>
              <a:tr h="342669">
                <a:tc>
                  <a:txBody>
                    <a:bodyPr/>
                    <a:lstStyle/>
                    <a:p>
                      <a:pPr algn="l" rtl="0" fontAlgn="ctr"/>
                      <a:r>
                        <a:rPr lang="en-CA" sz="1000" b="0" u="none" strike="noStrike">
                          <a:solidFill>
                            <a:srgbClr val="000000"/>
                          </a:solidFill>
                          <a:effectLst/>
                        </a:rPr>
                        <a:t>CGMI</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rPr>
                        <a:t>Ken Plowman</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rPr>
                        <a:t>Telephone 416-640-8927 | Cell 416-315-9413</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rPr>
                        <a:t>Toll Free 866-414-9109 x 8927</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hlinkClick r:id="rId6"/>
                        </a:rPr>
                        <a:t>ken.plowman@canadaguaranty.ca</a:t>
                      </a:r>
                      <a:r>
                        <a:rPr lang="en-CA" sz="1000" kern="1200">
                          <a:solidFill>
                            <a:schemeClr val="tx1"/>
                          </a:solidFill>
                          <a:effectLst/>
                          <a:latin typeface="+mn-lt"/>
                          <a:ea typeface="+mn-ea"/>
                          <a:cs typeface="+mn-cs"/>
                        </a:rPr>
                        <a:t> </a:t>
                      </a:r>
                    </a:p>
                  </a:txBody>
                  <a:tcPr marT="182880" marB="91440" anchor="ctr"/>
                </a:tc>
                <a:extLst>
                  <a:ext uri="{0D108BD9-81ED-4DB2-BD59-A6C34878D82A}">
                    <a16:rowId xmlns:a16="http://schemas.microsoft.com/office/drawing/2014/main" val="403363805"/>
                  </a:ext>
                </a:extLst>
              </a:tr>
              <a:tr h="377468">
                <a:tc>
                  <a:txBody>
                    <a:bodyPr/>
                    <a:lstStyle/>
                    <a:p>
                      <a:pPr marL="0" algn="l" defTabSz="914400" rtl="0" eaLnBrk="1" fontAlgn="ctr" latinLnBrk="0" hangingPunct="1"/>
                      <a:r>
                        <a:rPr lang="en-CA" sz="1000" b="0" u="none" strike="noStrike" kern="1200">
                          <a:solidFill>
                            <a:srgbClr val="000000"/>
                          </a:solidFill>
                          <a:effectLst/>
                        </a:rPr>
                        <a:t>CMHC</a:t>
                      </a:r>
                      <a:endParaRPr lang="en-CA" sz="1000" b="0" i="0" u="none" strike="noStrike" kern="1200">
                        <a:solidFill>
                          <a:srgbClr val="000000"/>
                        </a:solidFill>
                        <a:effectLst/>
                        <a:latin typeface="+mn-lt"/>
                        <a:ea typeface="+mn-ea"/>
                        <a:cs typeface="+mn-cs"/>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lvl="0" indent="0">
                        <a:spcBef>
                          <a:spcPts val="0"/>
                        </a:spcBef>
                        <a:spcAft>
                          <a:spcPts val="0"/>
                        </a:spcAft>
                        <a:buFont typeface="+mj-lt"/>
                        <a:buNone/>
                      </a:pPr>
                      <a:r>
                        <a:rPr lang="en-CA" sz="1000" kern="1200">
                          <a:solidFill>
                            <a:schemeClr val="tx1"/>
                          </a:solidFill>
                          <a:effectLst/>
                          <a:latin typeface="+mn-lt"/>
                          <a:ea typeface="+mn-ea"/>
                          <a:cs typeface="+mn-cs"/>
                        </a:rPr>
                        <a:t>On Call: (613) 292-2880</a:t>
                      </a:r>
                    </a:p>
                  </a:txBody>
                  <a:tcPr marT="182880" marB="91440" anchor="ctr"/>
                </a:tc>
                <a:extLst>
                  <a:ext uri="{0D108BD9-81ED-4DB2-BD59-A6C34878D82A}">
                    <a16:rowId xmlns:a16="http://schemas.microsoft.com/office/drawing/2014/main" val="278203015"/>
                  </a:ext>
                </a:extLst>
              </a:tr>
              <a:tr h="377468">
                <a:tc>
                  <a:txBody>
                    <a:bodyPr/>
                    <a:lstStyle/>
                    <a:p>
                      <a:pPr algn="l" rtl="0" fontAlgn="ctr"/>
                      <a:r>
                        <a:rPr lang="en-CA" sz="1000" b="0" u="none" strike="noStrike">
                          <a:solidFill>
                            <a:srgbClr val="000000"/>
                          </a:solidFill>
                          <a:effectLst/>
                        </a:rPr>
                        <a:t>GEMI</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r>
                        <a:rPr lang="en-CA" sz="1000" b="0">
                          <a:effectLst/>
                        </a:rPr>
                        <a:t>Level 1:​​​</a:t>
                      </a:r>
                    </a:p>
                    <a:p>
                      <a:r>
                        <a:rPr lang="en-CA" sz="1000" b="0">
                          <a:effectLst/>
                        </a:rPr>
                        <a:t>productionsupport@sagen.ca </a:t>
                      </a:r>
                    </a:p>
                    <a:p>
                      <a:r>
                        <a:rPr lang="en-CA" sz="1000" b="0">
                          <a:effectLst/>
                        </a:rPr>
                        <a:t>Level 2:​​​</a:t>
                      </a:r>
                    </a:p>
                    <a:p>
                      <a:r>
                        <a:rPr lang="en-CA" sz="1000" b="0">
                          <a:effectLst/>
                          <a:hlinkClick r:id="rId7"/>
                        </a:rPr>
                        <a:t>Sabri.Madaoui@Sagen.ca</a:t>
                      </a:r>
                      <a:r>
                        <a:rPr lang="pt-BR" sz="1000" b="0">
                          <a:effectLst/>
                        </a:rPr>
                        <a:t> | 416-986-7156</a:t>
                      </a:r>
                    </a:p>
                  </a:txBody>
                  <a:tcPr anchor="ctr"/>
                </a:tc>
                <a:extLst>
                  <a:ext uri="{0D108BD9-81ED-4DB2-BD59-A6C34878D82A}">
                    <a16:rowId xmlns:a16="http://schemas.microsoft.com/office/drawing/2014/main" val="3126654484"/>
                  </a:ext>
                </a:extLst>
              </a:tr>
              <a:tr h="430414">
                <a:tc>
                  <a:txBody>
                    <a:bodyPr/>
                    <a:lstStyle/>
                    <a:p>
                      <a:pPr algn="l" rtl="0" fontAlgn="ctr"/>
                      <a:r>
                        <a:rPr lang="en-CA" sz="1000" b="0" u="none" strike="noStrike">
                          <a:solidFill>
                            <a:srgbClr val="000000"/>
                          </a:solidFill>
                          <a:effectLst/>
                        </a:rPr>
                        <a:t>TransUnion</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a:spcBef>
                          <a:spcPts val="0"/>
                        </a:spcBef>
                        <a:spcAft>
                          <a:spcPts val="0"/>
                        </a:spcAft>
                      </a:pPr>
                      <a:r>
                        <a:rPr lang="fr-FR" sz="1000" kern="1200">
                          <a:solidFill>
                            <a:schemeClr val="tx1"/>
                          </a:solidFill>
                          <a:effectLst/>
                          <a:latin typeface="+mn-lt"/>
                          <a:ea typeface="+mn-ea"/>
                          <a:cs typeface="+mn-cs"/>
                          <a:hlinkClick r:id="rId8"/>
                        </a:rPr>
                        <a:t>servicedesk@transunion.ca</a:t>
                      </a:r>
                      <a:r>
                        <a:rPr lang="fr-FR" sz="1000" kern="1200">
                          <a:solidFill>
                            <a:schemeClr val="tx1"/>
                          </a:solidFill>
                          <a:effectLst/>
                          <a:latin typeface="+mn-lt"/>
                          <a:ea typeface="+mn-ea"/>
                          <a:cs typeface="+mn-cs"/>
                        </a:rPr>
                        <a:t> | Support Desk: 905-570-1952</a:t>
                      </a:r>
                      <a:endParaRPr lang="en-CA" sz="1000" kern="1200">
                        <a:solidFill>
                          <a:schemeClr val="tx1"/>
                        </a:solidFill>
                        <a:effectLst/>
                        <a:latin typeface="+mn-lt"/>
                        <a:ea typeface="+mn-ea"/>
                        <a:cs typeface="+mn-cs"/>
                      </a:endParaRPr>
                    </a:p>
                  </a:txBody>
                  <a:tcPr marT="182880" marB="91440" anchor="ctr"/>
                </a:tc>
                <a:extLst>
                  <a:ext uri="{0D108BD9-81ED-4DB2-BD59-A6C34878D82A}">
                    <a16:rowId xmlns:a16="http://schemas.microsoft.com/office/drawing/2014/main" val="3946806855"/>
                  </a:ext>
                </a:extLst>
              </a:tr>
              <a:tr h="377468">
                <a:tc>
                  <a:txBody>
                    <a:bodyPr/>
                    <a:lstStyle/>
                    <a:p>
                      <a:pPr algn="l" rtl="0" fontAlgn="ctr"/>
                      <a:r>
                        <a:rPr lang="en-CA" sz="1000" b="0" u="none" strike="noStrike">
                          <a:solidFill>
                            <a:srgbClr val="000000"/>
                          </a:solidFill>
                          <a:effectLst/>
                        </a:rPr>
                        <a:t>Equifax</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a:solidFill>
                            <a:schemeClr val="tx1"/>
                          </a:solidFill>
                          <a:effectLst/>
                          <a:latin typeface="+mn-lt"/>
                          <a:ea typeface="+mn-ea"/>
                          <a:cs typeface="+mn-cs"/>
                        </a:rPr>
                        <a:t>Support Desk: 1-800-387-9986 </a:t>
                      </a:r>
                    </a:p>
                  </a:txBody>
                  <a:tcPr marT="182880" marB="91440" anchor="ctr"/>
                </a:tc>
                <a:extLst>
                  <a:ext uri="{0D108BD9-81ED-4DB2-BD59-A6C34878D82A}">
                    <a16:rowId xmlns:a16="http://schemas.microsoft.com/office/drawing/2014/main" val="2272077427"/>
                  </a:ext>
                </a:extLst>
              </a:tr>
              <a:tr h="377468">
                <a:tc>
                  <a:txBody>
                    <a:bodyPr/>
                    <a:lstStyle/>
                    <a:p>
                      <a:pPr algn="l" rtl="0" fontAlgn="ctr"/>
                      <a:r>
                        <a:rPr lang="en-CA" sz="1000" b="0" u="none" strike="noStrike">
                          <a:solidFill>
                            <a:srgbClr val="000000"/>
                          </a:solidFill>
                          <a:effectLst/>
                        </a:rPr>
                        <a:t>TEM</a:t>
                      </a:r>
                      <a:endParaRPr lang="en-CA" sz="1000" b="0" i="0" u="none" strike="noStrike">
                        <a:solidFill>
                          <a:srgbClr val="000000"/>
                        </a:solidFill>
                        <a:effectLst/>
                        <a:latin typeface="+mn-lt"/>
                      </a:endParaRPr>
                    </a:p>
                  </a:txBody>
                  <a:tcPr marL="18288" marR="6350" marT="182880" marB="91440" anchor="ctr"/>
                </a:tc>
                <a:tc>
                  <a:txBody>
                    <a:bodyPr/>
                    <a:lstStyle/>
                    <a:p>
                      <a:pPr marL="0" marR="0" algn="ctr" fontAlgn="base">
                        <a:lnSpc>
                          <a:spcPct val="107000"/>
                        </a:lnSpc>
                        <a:spcBef>
                          <a:spcPts val="0"/>
                        </a:spcBef>
                        <a:spcAft>
                          <a:spcPts val="0"/>
                        </a:spcAft>
                      </a:pPr>
                      <a:r>
                        <a:rPr kumimoji="0" lang="en-US" sz="1000" b="0" i="0" u="none" strike="noStrike" kern="1200" cap="none" spc="0" normalizeH="0" baseline="0">
                          <a:ln>
                            <a:noFill/>
                          </a:ln>
                          <a:solidFill>
                            <a:prstClr val="black"/>
                          </a:solidFill>
                          <a:effectLst/>
                          <a:uLnTx/>
                          <a:uFillTx/>
                          <a:latin typeface="+mn-lt"/>
                          <a:ea typeface="+mn-ea"/>
                          <a:cs typeface="+mn-cs"/>
                        </a:rPr>
                        <a:t>Tina Mallick</a:t>
                      </a:r>
                    </a:p>
                  </a:txBody>
                  <a:tcPr marL="0" marR="0" marT="0" marB="0" anchor="ctr"/>
                </a:tc>
                <a:tc>
                  <a:txBody>
                    <a:bodyPr/>
                    <a:lstStyle/>
                    <a:p>
                      <a:pPr marL="0" marR="0" algn="ctr" fontAlgn="base">
                        <a:lnSpc>
                          <a:spcPct val="107000"/>
                        </a:lnSpc>
                        <a:spcBef>
                          <a:spcPts val="0"/>
                        </a:spcBef>
                        <a:spcAft>
                          <a:spcPts val="0"/>
                        </a:spcAft>
                      </a:pPr>
                      <a:endParaRPr kumimoji="0" lang="en-US" sz="1000" b="0" i="0" u="none" strike="noStrike" kern="1200" cap="none" spc="0" normalizeH="0" baseline="0">
                        <a:ln>
                          <a:noFill/>
                        </a:ln>
                        <a:solidFill>
                          <a:prstClr val="black"/>
                        </a:solidFill>
                        <a:effectLst/>
                        <a:uLnTx/>
                        <a:uFillTx/>
                        <a:latin typeface="+mn-lt"/>
                        <a:ea typeface="+mn-ea"/>
                        <a:cs typeface="+mn-cs"/>
                      </a:endParaRPr>
                    </a:p>
                  </a:txBody>
                  <a:tcPr marL="0" marR="0" marT="0" marB="0" anchor="ctr"/>
                </a:tc>
                <a:tc>
                  <a:txBody>
                    <a:bodyPr/>
                    <a:lstStyle/>
                    <a:p>
                      <a:pPr marL="0" marR="0" algn="ctr" fontAlgn="base">
                        <a:lnSpc>
                          <a:spcPct val="107000"/>
                        </a:lnSpc>
                        <a:spcBef>
                          <a:spcPts val="0"/>
                        </a:spcBef>
                        <a:spcAft>
                          <a:spcPts val="0"/>
                        </a:spcAft>
                      </a:pPr>
                      <a:endParaRPr kumimoji="0" lang="en-US" sz="1000" b="0" i="0" u="none" strike="noStrike" kern="1200" cap="none" spc="0" normalizeH="0" baseline="0">
                        <a:ln>
                          <a:noFill/>
                        </a:ln>
                        <a:solidFill>
                          <a:prstClr val="black"/>
                        </a:solidFill>
                        <a:effectLst/>
                        <a:uLnTx/>
                        <a:uFillTx/>
                        <a:latin typeface="+mn-lt"/>
                        <a:ea typeface="+mn-ea"/>
                        <a:cs typeface="+mn-cs"/>
                      </a:endParaRPr>
                    </a:p>
                  </a:txBody>
                  <a:tcPr marL="0" marR="0" marT="0" marB="0" anchor="ctr"/>
                </a:tc>
                <a:tc>
                  <a:txBody>
                    <a:bodyPr/>
                    <a:lstStyle/>
                    <a:p>
                      <a:pPr marL="0" marR="0" fontAlgn="base">
                        <a:lnSpc>
                          <a:spcPct val="107000"/>
                        </a:lnSpc>
                        <a:spcBef>
                          <a:spcPts val="0"/>
                        </a:spcBef>
                        <a:spcAft>
                          <a:spcPts val="0"/>
                        </a:spcAft>
                      </a:pPr>
                      <a:r>
                        <a:rPr kumimoji="0" lang="en-US" sz="1000" b="0" i="0" u="none" strike="noStrike" kern="1200" cap="none" spc="0" normalizeH="0" baseline="0">
                          <a:ln>
                            <a:noFill/>
                          </a:ln>
                          <a:solidFill>
                            <a:prstClr val="black"/>
                          </a:solidFill>
                          <a:effectLst/>
                          <a:uLnTx/>
                          <a:uFillTx/>
                          <a:latin typeface="+mn-lt"/>
                          <a:ea typeface="+mn-ea"/>
                          <a:cs typeface="+mn-cs"/>
                        </a:rPr>
                        <a:t>   P1, T4, (+91 8697310205</a:t>
                      </a:r>
                    </a:p>
                  </a:txBody>
                  <a:tcPr marL="0" marR="0" marT="0" marB="0" anchor="ctr"/>
                </a:tc>
                <a:extLst>
                  <a:ext uri="{0D108BD9-81ED-4DB2-BD59-A6C34878D82A}">
                    <a16:rowId xmlns:a16="http://schemas.microsoft.com/office/drawing/2014/main" val="3347288025"/>
                  </a:ext>
                </a:extLst>
              </a:tr>
            </a:tbl>
          </a:graphicData>
        </a:graphic>
      </p:graphicFrame>
      <p:sp>
        <p:nvSpPr>
          <p:cNvPr id="5" name="Title 1">
            <a:extLst>
              <a:ext uri="{FF2B5EF4-FFF2-40B4-BE49-F238E27FC236}">
                <a16:creationId xmlns:a16="http://schemas.microsoft.com/office/drawing/2014/main" id="{950F497E-2766-DBE4-052E-1554F764E3AD}"/>
              </a:ext>
            </a:extLst>
          </p:cNvPr>
          <p:cNvSpPr txBox="1">
            <a:spLocks/>
          </p:cNvSpPr>
          <p:nvPr/>
        </p:nvSpPr>
        <p:spPr>
          <a:xfrm>
            <a:off x="297180" y="115807"/>
            <a:ext cx="10933748" cy="581983"/>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CA" sz="2800"/>
              <a:t>Sep 21</a:t>
            </a:r>
            <a:r>
              <a:rPr lang="en-CA" sz="2800" baseline="30000"/>
              <a:t>st</a:t>
            </a:r>
            <a:r>
              <a:rPr lang="en-CA" sz="2800"/>
              <a:t> </a:t>
            </a:r>
            <a:r>
              <a:rPr kumimoji="0" lang="en-CA" sz="2800" b="1" i="0" u="none" strike="noStrike" kern="1200" cap="none" spc="0" normalizeH="0" baseline="0" noProof="0">
                <a:ln>
                  <a:noFill/>
                </a:ln>
                <a:solidFill>
                  <a:srgbClr val="D40139"/>
                </a:solidFill>
                <a:effectLst/>
                <a:uLnTx/>
                <a:uFillTx/>
                <a:latin typeface="Trebuchet MS"/>
                <a:ea typeface="+mj-ea"/>
                <a:cs typeface="+mj-cs"/>
              </a:rPr>
              <a:t>Release App Availability </a:t>
            </a:r>
            <a:endParaRPr kumimoji="0" lang="en-US" sz="2800" b="1" i="0" u="none" strike="noStrike" kern="1200" cap="none" spc="0" normalizeH="0" baseline="0" noProof="0">
              <a:ln>
                <a:noFill/>
              </a:ln>
              <a:solidFill>
                <a:srgbClr val="D40139"/>
              </a:solidFill>
              <a:effectLst/>
              <a:uLnTx/>
              <a:uFillTx/>
              <a:latin typeface="Trebuchet MS"/>
              <a:ea typeface="+mj-ea"/>
              <a:cs typeface="+mj-cs"/>
            </a:endParaRPr>
          </a:p>
        </p:txBody>
      </p:sp>
    </p:spTree>
    <p:extLst>
      <p:ext uri="{BB962C8B-B14F-4D97-AF65-F5344CB8AC3E}">
        <p14:creationId xmlns:p14="http://schemas.microsoft.com/office/powerpoint/2010/main" val="1910948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401CC-DE12-80A5-0303-DFF4B8FB0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0BB27-2D7B-805C-D9E0-6ED99A3BA80E}"/>
              </a:ext>
            </a:extLst>
          </p:cNvPr>
          <p:cNvSpPr>
            <a:spLocks noGrp="1"/>
          </p:cNvSpPr>
          <p:nvPr>
            <p:ph type="title"/>
          </p:nvPr>
        </p:nvSpPr>
        <p:spPr>
          <a:xfrm>
            <a:off x="154304" y="68040"/>
            <a:ext cx="10933748" cy="667872"/>
          </a:xfrm>
        </p:spPr>
        <p:txBody>
          <a:bodyPr/>
          <a:lstStyle/>
          <a:p>
            <a:r>
              <a:rPr lang="en-CA"/>
              <a:t>Core Banking Release - Nov 16</a:t>
            </a:r>
            <a:r>
              <a:rPr lang="en-CA" baseline="30000"/>
              <a:t>th</a:t>
            </a:r>
            <a:r>
              <a:rPr lang="en-CA"/>
              <a:t> – Outstanding Items</a:t>
            </a:r>
          </a:p>
        </p:txBody>
      </p:sp>
      <p:sp>
        <p:nvSpPr>
          <p:cNvPr id="3" name="Footer Placeholder 2">
            <a:extLst>
              <a:ext uri="{FF2B5EF4-FFF2-40B4-BE49-F238E27FC236}">
                <a16:creationId xmlns:a16="http://schemas.microsoft.com/office/drawing/2014/main" id="{7E3EAFBC-F618-60B0-F6F0-02ABBFA9FC1F}"/>
              </a:ext>
            </a:extLst>
          </p:cNvPr>
          <p:cNvSpPr>
            <a:spLocks noGrp="1"/>
          </p:cNvSpPr>
          <p:nvPr>
            <p:ph type="ftr" sz="quarter" idx="3"/>
          </p:nvPr>
        </p:nvSpPr>
        <p:spPr/>
        <p:txBody>
          <a:bodyPr/>
          <a:lstStyle/>
          <a:p>
            <a:pPr algn="ctr"/>
            <a:r>
              <a:rPr lang="en-US"/>
              <a:t>INTERNAL</a:t>
            </a:r>
          </a:p>
        </p:txBody>
      </p:sp>
      <p:graphicFrame>
        <p:nvGraphicFramePr>
          <p:cNvPr id="5" name="Table 4">
            <a:extLst>
              <a:ext uri="{FF2B5EF4-FFF2-40B4-BE49-F238E27FC236}">
                <a16:creationId xmlns:a16="http://schemas.microsoft.com/office/drawing/2014/main" id="{7F38B2B4-FDEF-93BD-0E5D-AD26A43C12D3}"/>
              </a:ext>
            </a:extLst>
          </p:cNvPr>
          <p:cNvGraphicFramePr>
            <a:graphicFrameLocks noGrp="1"/>
          </p:cNvGraphicFramePr>
          <p:nvPr>
            <p:extLst>
              <p:ext uri="{D42A27DB-BD31-4B8C-83A1-F6EECF244321}">
                <p14:modId xmlns:p14="http://schemas.microsoft.com/office/powerpoint/2010/main" val="411682716"/>
              </p:ext>
            </p:extLst>
          </p:nvPr>
        </p:nvGraphicFramePr>
        <p:xfrm>
          <a:off x="154304" y="1090238"/>
          <a:ext cx="11590020" cy="2208699"/>
        </p:xfrm>
        <a:graphic>
          <a:graphicData uri="http://schemas.openxmlformats.org/drawingml/2006/table">
            <a:tbl>
              <a:tblPr/>
              <a:tblGrid>
                <a:gridCol w="602835">
                  <a:extLst>
                    <a:ext uri="{9D8B030D-6E8A-4147-A177-3AD203B41FA5}">
                      <a16:colId xmlns:a16="http://schemas.microsoft.com/office/drawing/2014/main" val="2233060804"/>
                    </a:ext>
                  </a:extLst>
                </a:gridCol>
                <a:gridCol w="2681503">
                  <a:extLst>
                    <a:ext uri="{9D8B030D-6E8A-4147-A177-3AD203B41FA5}">
                      <a16:colId xmlns:a16="http://schemas.microsoft.com/office/drawing/2014/main" val="3087656114"/>
                    </a:ext>
                  </a:extLst>
                </a:gridCol>
                <a:gridCol w="816548">
                  <a:extLst>
                    <a:ext uri="{9D8B030D-6E8A-4147-A177-3AD203B41FA5}">
                      <a16:colId xmlns:a16="http://schemas.microsoft.com/office/drawing/2014/main" val="2608845093"/>
                    </a:ext>
                  </a:extLst>
                </a:gridCol>
                <a:gridCol w="806467">
                  <a:extLst>
                    <a:ext uri="{9D8B030D-6E8A-4147-A177-3AD203B41FA5}">
                      <a16:colId xmlns:a16="http://schemas.microsoft.com/office/drawing/2014/main" val="1143513882"/>
                    </a:ext>
                  </a:extLst>
                </a:gridCol>
                <a:gridCol w="1421398">
                  <a:extLst>
                    <a:ext uri="{9D8B030D-6E8A-4147-A177-3AD203B41FA5}">
                      <a16:colId xmlns:a16="http://schemas.microsoft.com/office/drawing/2014/main" val="408013638"/>
                    </a:ext>
                  </a:extLst>
                </a:gridCol>
                <a:gridCol w="841671">
                  <a:extLst>
                    <a:ext uri="{9D8B030D-6E8A-4147-A177-3AD203B41FA5}">
                      <a16:colId xmlns:a16="http://schemas.microsoft.com/office/drawing/2014/main" val="926638160"/>
                    </a:ext>
                  </a:extLst>
                </a:gridCol>
                <a:gridCol w="628650">
                  <a:extLst>
                    <a:ext uri="{9D8B030D-6E8A-4147-A177-3AD203B41FA5}">
                      <a16:colId xmlns:a16="http://schemas.microsoft.com/office/drawing/2014/main" val="1179039653"/>
                    </a:ext>
                  </a:extLst>
                </a:gridCol>
                <a:gridCol w="3790948">
                  <a:extLst>
                    <a:ext uri="{9D8B030D-6E8A-4147-A177-3AD203B41FA5}">
                      <a16:colId xmlns:a16="http://schemas.microsoft.com/office/drawing/2014/main" val="4091756543"/>
                    </a:ext>
                  </a:extLst>
                </a:gridCol>
              </a:tblGrid>
              <a:tr h="245411">
                <a:tc>
                  <a:txBody>
                    <a:bodyPr/>
                    <a:lstStyle/>
                    <a:p>
                      <a:pPr algn="l" rtl="0" fontAlgn="ctr">
                        <a:buNone/>
                      </a:pPr>
                      <a:r>
                        <a:rPr lang="en-US" sz="1000" b="1" i="0" u="none" strike="noStrike">
                          <a:solidFill>
                            <a:srgbClr val="FFFFFF"/>
                          </a:solidFill>
                          <a:effectLst/>
                          <a:latin typeface="Arial" panose="020B0604020202020204" pitchFamily="34" charset="0"/>
                        </a:rPr>
                        <a:t>Intake #</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Initiative Name</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PM</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Director</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CIRA Status</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UAT Status</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ctr" rtl="0" fontAlgn="ctr">
                        <a:buNone/>
                      </a:pPr>
                      <a:r>
                        <a:rPr lang="en-US" sz="1000" b="1" i="0" u="none" strike="noStrike">
                          <a:solidFill>
                            <a:srgbClr val="FFFFFF"/>
                          </a:solidFill>
                          <a:effectLst/>
                          <a:latin typeface="Arial" panose="020B0604020202020204" pitchFamily="34" charset="0"/>
                        </a:rPr>
                        <a:t>Gated</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ctr" rtl="0" fontAlgn="ctr">
                        <a:buNone/>
                      </a:pPr>
                      <a:r>
                        <a:rPr lang="en-US" sz="1000" b="1" i="0" u="none" strike="noStrike">
                          <a:solidFill>
                            <a:srgbClr val="FFFFFF"/>
                          </a:solidFill>
                          <a:effectLst/>
                          <a:latin typeface="Arial" panose="020B0604020202020204" pitchFamily="34" charset="0"/>
                        </a:rPr>
                        <a:t>Notes</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extLst>
                  <a:ext uri="{0D108BD9-81ED-4DB2-BD59-A6C34878D82A}">
                    <a16:rowId xmlns:a16="http://schemas.microsoft.com/office/drawing/2014/main" val="3348718319"/>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4029765276"/>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FF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4253833889"/>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519145842"/>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FF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2024473530"/>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1441183422"/>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2542316970"/>
                  </a:ext>
                </a:extLst>
              </a:tr>
              <a:tr h="245411">
                <a:tc>
                  <a:txBody>
                    <a:bodyPr/>
                    <a:lstStyle/>
                    <a:p>
                      <a:pPr algn="l"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289855460"/>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1916638635"/>
                  </a:ext>
                </a:extLst>
              </a:tr>
            </a:tbl>
          </a:graphicData>
        </a:graphic>
      </p:graphicFrame>
      <p:graphicFrame>
        <p:nvGraphicFramePr>
          <p:cNvPr id="9" name="Table 8">
            <a:extLst>
              <a:ext uri="{FF2B5EF4-FFF2-40B4-BE49-F238E27FC236}">
                <a16:creationId xmlns:a16="http://schemas.microsoft.com/office/drawing/2014/main" id="{DD5D05F1-5AF3-F883-8448-F80095A08721}"/>
              </a:ext>
            </a:extLst>
          </p:cNvPr>
          <p:cNvGraphicFramePr>
            <a:graphicFrameLocks noGrp="1"/>
          </p:cNvGraphicFramePr>
          <p:nvPr>
            <p:extLst>
              <p:ext uri="{D42A27DB-BD31-4B8C-83A1-F6EECF244321}">
                <p14:modId xmlns:p14="http://schemas.microsoft.com/office/powerpoint/2010/main" val="3046092312"/>
              </p:ext>
            </p:extLst>
          </p:nvPr>
        </p:nvGraphicFramePr>
        <p:xfrm>
          <a:off x="1042066" y="4109774"/>
          <a:ext cx="5080255" cy="1293840"/>
        </p:xfrm>
        <a:graphic>
          <a:graphicData uri="http://schemas.openxmlformats.org/drawingml/2006/table">
            <a:tbl>
              <a:tblPr/>
              <a:tblGrid>
                <a:gridCol w="712588">
                  <a:extLst>
                    <a:ext uri="{9D8B030D-6E8A-4147-A177-3AD203B41FA5}">
                      <a16:colId xmlns:a16="http://schemas.microsoft.com/office/drawing/2014/main" val="3347234884"/>
                    </a:ext>
                  </a:extLst>
                </a:gridCol>
                <a:gridCol w="1771650">
                  <a:extLst>
                    <a:ext uri="{9D8B030D-6E8A-4147-A177-3AD203B41FA5}">
                      <a16:colId xmlns:a16="http://schemas.microsoft.com/office/drawing/2014/main" val="2797133919"/>
                    </a:ext>
                  </a:extLst>
                </a:gridCol>
                <a:gridCol w="933450">
                  <a:extLst>
                    <a:ext uri="{9D8B030D-6E8A-4147-A177-3AD203B41FA5}">
                      <a16:colId xmlns:a16="http://schemas.microsoft.com/office/drawing/2014/main" val="1061833883"/>
                    </a:ext>
                  </a:extLst>
                </a:gridCol>
                <a:gridCol w="1662567">
                  <a:extLst>
                    <a:ext uri="{9D8B030D-6E8A-4147-A177-3AD203B41FA5}">
                      <a16:colId xmlns:a16="http://schemas.microsoft.com/office/drawing/2014/main" val="4184142395"/>
                    </a:ext>
                  </a:extLst>
                </a:gridCol>
              </a:tblGrid>
              <a:tr h="103654">
                <a:tc>
                  <a:txBody>
                    <a:bodyPr/>
                    <a:lstStyle/>
                    <a:p>
                      <a:pPr algn="l" rtl="0" fontAlgn="ctr">
                        <a:buNone/>
                      </a:pPr>
                      <a:r>
                        <a:rPr lang="en-US" sz="1000" b="1" i="0" u="none" strike="noStrike">
                          <a:solidFill>
                            <a:srgbClr val="FFFFFF"/>
                          </a:solidFill>
                          <a:effectLst/>
                          <a:latin typeface="Arial" panose="020B0604020202020204" pitchFamily="34" charset="0"/>
                        </a:rPr>
                        <a:t>Item</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Application/Scope</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Status</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Notes</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extLst>
                  <a:ext uri="{0D108BD9-81ED-4DB2-BD59-A6C34878D82A}">
                    <a16:rowId xmlns:a16="http://schemas.microsoft.com/office/drawing/2014/main" val="3875196083"/>
                  </a:ext>
                </a:extLst>
              </a:tr>
              <a:tr h="207309">
                <a:tc>
                  <a:txBody>
                    <a:bodyPr/>
                    <a:lstStyle/>
                    <a:p>
                      <a:pPr algn="l" rtl="0" fontAlgn="ctr">
                        <a:buNone/>
                      </a:pPr>
                      <a:r>
                        <a:rPr lang="en-US" sz="1000" b="1" i="0" u="none" strike="noStrike">
                          <a:solidFill>
                            <a:srgbClr val="000000"/>
                          </a:solidFill>
                          <a:effectLst/>
                          <a:latin typeface="Arial" panose="020B0604020202020204" pitchFamily="34" charset="0"/>
                        </a:rPr>
                        <a:t>Backout testing</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US"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CA"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extLst>
                  <a:ext uri="{0D108BD9-81ED-4DB2-BD59-A6C34878D82A}">
                    <a16:rowId xmlns:a16="http://schemas.microsoft.com/office/drawing/2014/main" val="3360190115"/>
                  </a:ext>
                </a:extLst>
              </a:tr>
              <a:tr h="207309">
                <a:tc>
                  <a:txBody>
                    <a:bodyPr/>
                    <a:lstStyle/>
                    <a:p>
                      <a:pPr algn="l" rtl="0" fontAlgn="ctr">
                        <a:buNone/>
                      </a:pPr>
                      <a:r>
                        <a:rPr lang="en-CA" sz="1000" b="1" i="0" u="none" strike="noStrike">
                          <a:solidFill>
                            <a:srgbClr val="000000"/>
                          </a:solidFill>
                          <a:effectLst/>
                          <a:latin typeface="Arial" panose="020B0604020202020204" pitchFamily="34" charset="0"/>
                        </a:rPr>
                        <a:t>ACP</a:t>
                      </a:r>
                      <a:endParaRPr lang="en-US" sz="1000" b="1"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US"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CA"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extLst>
                  <a:ext uri="{0D108BD9-81ED-4DB2-BD59-A6C34878D82A}">
                    <a16:rowId xmlns:a16="http://schemas.microsoft.com/office/drawing/2014/main" val="1886051858"/>
                  </a:ext>
                </a:extLst>
              </a:tr>
              <a:tr h="207309">
                <a:tc>
                  <a:txBody>
                    <a:bodyPr/>
                    <a:lstStyle/>
                    <a:p>
                      <a:pPr algn="l" rtl="0" fontAlgn="ctr">
                        <a:buNone/>
                      </a:pPr>
                      <a:r>
                        <a:rPr lang="en-CA" sz="1000" b="1" i="0" u="none" strike="noStrike">
                          <a:solidFill>
                            <a:srgbClr val="000000"/>
                          </a:solidFill>
                          <a:effectLst/>
                          <a:latin typeface="Arial" panose="020B0604020202020204" pitchFamily="34" charset="0"/>
                        </a:rPr>
                        <a:t>OSI</a:t>
                      </a:r>
                      <a:endParaRPr lang="en-US" sz="1000" b="1"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US"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CA"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extLst>
                  <a:ext uri="{0D108BD9-81ED-4DB2-BD59-A6C34878D82A}">
                    <a16:rowId xmlns:a16="http://schemas.microsoft.com/office/drawing/2014/main" val="2080366839"/>
                  </a:ext>
                </a:extLst>
              </a:tr>
              <a:tr h="207309">
                <a:tc>
                  <a:txBody>
                    <a:bodyPr/>
                    <a:lstStyle/>
                    <a:p>
                      <a:pPr algn="l" rtl="0" fontAlgn="ctr">
                        <a:buNone/>
                      </a:pPr>
                      <a:r>
                        <a:rPr lang="en-CA" sz="1000" b="1" i="0" u="none" strike="noStrike">
                          <a:solidFill>
                            <a:srgbClr val="000000"/>
                          </a:solidFill>
                          <a:effectLst/>
                          <a:latin typeface="Arial" panose="020B0604020202020204" pitchFamily="34" charset="0"/>
                        </a:rPr>
                        <a:t>SCM</a:t>
                      </a:r>
                      <a:endParaRPr lang="en-US" sz="1000" b="1"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US"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CA"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extLst>
                  <a:ext uri="{0D108BD9-81ED-4DB2-BD59-A6C34878D82A}">
                    <a16:rowId xmlns:a16="http://schemas.microsoft.com/office/drawing/2014/main" val="371020750"/>
                  </a:ext>
                </a:extLst>
              </a:tr>
              <a:tr h="207309">
                <a:tc>
                  <a:txBody>
                    <a:bodyPr/>
                    <a:lstStyle/>
                    <a:p>
                      <a:pPr algn="l" rtl="0" fontAlgn="ctr">
                        <a:buNone/>
                      </a:pPr>
                      <a:endParaRPr lang="en-US" sz="1000" b="1"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US"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CA"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extLst>
                  <a:ext uri="{0D108BD9-81ED-4DB2-BD59-A6C34878D82A}">
                    <a16:rowId xmlns:a16="http://schemas.microsoft.com/office/drawing/2014/main" val="1785790163"/>
                  </a:ext>
                </a:extLst>
              </a:tr>
            </a:tbl>
          </a:graphicData>
        </a:graphic>
      </p:graphicFrame>
      <p:graphicFrame>
        <p:nvGraphicFramePr>
          <p:cNvPr id="10" name="Table 9">
            <a:extLst>
              <a:ext uri="{FF2B5EF4-FFF2-40B4-BE49-F238E27FC236}">
                <a16:creationId xmlns:a16="http://schemas.microsoft.com/office/drawing/2014/main" id="{2ACA26B7-FE29-1AF2-5000-E9133DFB6273}"/>
              </a:ext>
            </a:extLst>
          </p:cNvPr>
          <p:cNvGraphicFramePr>
            <a:graphicFrameLocks noGrp="1"/>
          </p:cNvGraphicFramePr>
          <p:nvPr>
            <p:extLst>
              <p:ext uri="{D42A27DB-BD31-4B8C-83A1-F6EECF244321}">
                <p14:modId xmlns:p14="http://schemas.microsoft.com/office/powerpoint/2010/main" val="1618755716"/>
              </p:ext>
            </p:extLst>
          </p:nvPr>
        </p:nvGraphicFramePr>
        <p:xfrm>
          <a:off x="6985638" y="4109774"/>
          <a:ext cx="4769103" cy="773106"/>
        </p:xfrm>
        <a:graphic>
          <a:graphicData uri="http://schemas.openxmlformats.org/drawingml/2006/table">
            <a:tbl>
              <a:tblPr/>
              <a:tblGrid>
                <a:gridCol w="1781510">
                  <a:extLst>
                    <a:ext uri="{9D8B030D-6E8A-4147-A177-3AD203B41FA5}">
                      <a16:colId xmlns:a16="http://schemas.microsoft.com/office/drawing/2014/main" val="3347234884"/>
                    </a:ext>
                  </a:extLst>
                </a:gridCol>
                <a:gridCol w="2987593">
                  <a:extLst>
                    <a:ext uri="{9D8B030D-6E8A-4147-A177-3AD203B41FA5}">
                      <a16:colId xmlns:a16="http://schemas.microsoft.com/office/drawing/2014/main" val="1061833883"/>
                    </a:ext>
                  </a:extLst>
                </a:gridCol>
              </a:tblGrid>
              <a:tr h="106235">
                <a:tc>
                  <a:txBody>
                    <a:bodyPr/>
                    <a:lstStyle/>
                    <a:p>
                      <a:pPr algn="l" rtl="0" fontAlgn="ctr">
                        <a:buNone/>
                      </a:pPr>
                      <a:r>
                        <a:rPr lang="en-US" sz="1000" b="1" i="0" u="none" strike="noStrike">
                          <a:solidFill>
                            <a:srgbClr val="FFFFFF"/>
                          </a:solidFill>
                          <a:effectLst/>
                          <a:latin typeface="Arial" panose="020B0604020202020204" pitchFamily="34" charset="0"/>
                        </a:rPr>
                        <a:t>Item</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Open Risks</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extLst>
                  <a:ext uri="{0D108BD9-81ED-4DB2-BD59-A6C34878D82A}">
                    <a16:rowId xmlns:a16="http://schemas.microsoft.com/office/drawing/2014/main" val="3875196083"/>
                  </a:ext>
                </a:extLst>
              </a:tr>
              <a:tr h="307027">
                <a:tc>
                  <a:txBody>
                    <a:bodyPr/>
                    <a:lstStyle/>
                    <a:p>
                      <a:pPr algn="l" rtl="0" fontAlgn="ctr">
                        <a:buNone/>
                      </a:pPr>
                      <a:r>
                        <a:rPr lang="en-US" sz="1000" b="1" i="0" u="none" strike="noStrike">
                          <a:solidFill>
                            <a:srgbClr val="000000"/>
                          </a:solidFill>
                          <a:effectLst/>
                          <a:latin typeface="Arial" panose="020B0604020202020204" pitchFamily="34" charset="0"/>
                        </a:rPr>
                        <a:t>Core Banking Release</a:t>
                      </a:r>
                    </a:p>
                    <a:p>
                      <a:pPr algn="l" rtl="0" fontAlgn="ctr">
                        <a:buNone/>
                      </a:pPr>
                      <a:r>
                        <a:rPr lang="en-US" sz="1000" b="0" i="0" u="none" strike="noStrike">
                          <a:solidFill>
                            <a:srgbClr val="000000"/>
                          </a:solidFill>
                          <a:effectLst/>
                          <a:latin typeface="Arial" panose="020B0604020202020204" pitchFamily="34" charset="0"/>
                        </a:rPr>
                        <a:t>SCR Gate</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CA" sz="1000" b="0" i="0" u="none" strike="noStrike" kern="1200">
                          <a:solidFill>
                            <a:srgbClr val="000000"/>
                          </a:solidFill>
                          <a:effectLst/>
                          <a:latin typeface="Arial" panose="020B0604020202020204" pitchFamily="34" charset="0"/>
                          <a:ea typeface="+mn-ea"/>
                          <a:cs typeface="+mn-cs"/>
                        </a:rPr>
                        <a:t>UAT</a:t>
                      </a:r>
                    </a:p>
                    <a:p>
                      <a:pPr marL="171450" indent="-171450" algn="l" rtl="0" fontAlgn="ctr">
                        <a:buFont typeface="Arial" panose="020B0604020202020204" pitchFamily="34" charset="0"/>
                        <a:buChar char="•"/>
                      </a:pPr>
                      <a:r>
                        <a:rPr lang="en-US" sz="1000" b="0" i="0" u="none" strike="noStrike" kern="1200">
                          <a:solidFill>
                            <a:srgbClr val="000000"/>
                          </a:solidFill>
                          <a:effectLst/>
                          <a:latin typeface="Arial" panose="020B0604020202020204" pitchFamily="34" charset="0"/>
                          <a:ea typeface="+mn-ea"/>
                          <a:cs typeface="+mn-cs"/>
                        </a:rPr>
                        <a:t>CIRA</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384645883"/>
                  </a:ext>
                </a:extLst>
              </a:tr>
              <a:tr h="209518">
                <a:tc>
                  <a:txBody>
                    <a:bodyPr/>
                    <a:lstStyle/>
                    <a:p>
                      <a:pPr algn="l" rtl="0" fontAlgn="ctr">
                        <a:buNone/>
                      </a:pPr>
                      <a:r>
                        <a:rPr lang="en-US" sz="1000" b="1" i="0" u="none" strike="noStrike">
                          <a:solidFill>
                            <a:srgbClr val="000000"/>
                          </a:solidFill>
                          <a:effectLst/>
                          <a:latin typeface="Arial" panose="020B0604020202020204" pitchFamily="34" charset="0"/>
                        </a:rPr>
                        <a:t>EDTS Tungsten</a:t>
                      </a:r>
                    </a:p>
                    <a:p>
                      <a:pPr algn="l" rtl="0" fontAlgn="ctr">
                        <a:buNone/>
                      </a:pPr>
                      <a:r>
                        <a:rPr lang="en-US" sz="1000" b="0" i="0" u="none" strike="noStrike">
                          <a:solidFill>
                            <a:srgbClr val="000000"/>
                          </a:solidFill>
                          <a:effectLst/>
                          <a:latin typeface="Arial" panose="020B0604020202020204" pitchFamily="34" charset="0"/>
                        </a:rPr>
                        <a:t>WMF Gate</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CA" sz="1000" b="0" i="0" u="none" strike="noStrike" kern="1200">
                          <a:solidFill>
                            <a:srgbClr val="000000"/>
                          </a:solidFill>
                          <a:effectLst/>
                          <a:latin typeface="Arial" panose="020B0604020202020204" pitchFamily="34" charset="0"/>
                          <a:ea typeface="+mn-ea"/>
                          <a:cs typeface="+mn-cs"/>
                        </a:rPr>
                        <a:t>UAT</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695872240"/>
                  </a:ext>
                </a:extLst>
              </a:tr>
            </a:tbl>
          </a:graphicData>
        </a:graphic>
      </p:graphicFrame>
      <p:sp>
        <p:nvSpPr>
          <p:cNvPr id="4" name="TextBox 3">
            <a:extLst>
              <a:ext uri="{FF2B5EF4-FFF2-40B4-BE49-F238E27FC236}">
                <a16:creationId xmlns:a16="http://schemas.microsoft.com/office/drawing/2014/main" id="{5FC48274-5DC7-A997-45C0-D3CB5A40F68E}"/>
              </a:ext>
            </a:extLst>
          </p:cNvPr>
          <p:cNvSpPr txBox="1"/>
          <p:nvPr/>
        </p:nvSpPr>
        <p:spPr>
          <a:xfrm>
            <a:off x="6122321" y="4024063"/>
            <a:ext cx="902811" cy="369332"/>
          </a:xfrm>
          <a:prstGeom prst="rect">
            <a:avLst/>
          </a:prstGeom>
          <a:noFill/>
        </p:spPr>
        <p:txBody>
          <a:bodyPr wrap="none" rtlCol="0">
            <a:spAutoFit/>
          </a:bodyPr>
          <a:lstStyle/>
          <a:p>
            <a:r>
              <a:rPr lang="en-CA" sz="1800" b="1">
                <a:latin typeface="Arial" panose="020B0604020202020204" pitchFamily="34" charset="0"/>
                <a:cs typeface="Arial" panose="020B0604020202020204" pitchFamily="34" charset="0"/>
              </a:rPr>
              <a:t>Gates:</a:t>
            </a:r>
            <a:endParaRPr lang="en-US" sz="1800" b="1">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3FD6A6C-4C03-B9F6-F498-5299F98FD737}"/>
              </a:ext>
            </a:extLst>
          </p:cNvPr>
          <p:cNvSpPr txBox="1"/>
          <p:nvPr/>
        </p:nvSpPr>
        <p:spPr>
          <a:xfrm>
            <a:off x="132459" y="649677"/>
            <a:ext cx="1172116" cy="369332"/>
          </a:xfrm>
          <a:prstGeom prst="rect">
            <a:avLst/>
          </a:prstGeom>
          <a:noFill/>
        </p:spPr>
        <p:txBody>
          <a:bodyPr wrap="none" rtlCol="0">
            <a:spAutoFit/>
          </a:bodyPr>
          <a:lstStyle/>
          <a:p>
            <a:r>
              <a:rPr lang="en-CA" sz="1800" b="1">
                <a:latin typeface="Arial" panose="020B0604020202020204" pitchFamily="34" charset="0"/>
                <a:cs typeface="Arial" panose="020B0604020202020204" pitchFamily="34" charset="0"/>
              </a:rPr>
              <a:t>Projects:</a:t>
            </a:r>
            <a:endParaRPr lang="en-US" sz="1800" b="1">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94F6C08-5C0C-11DD-92A2-BDA624FD8B25}"/>
              </a:ext>
            </a:extLst>
          </p:cNvPr>
          <p:cNvSpPr txBox="1"/>
          <p:nvPr/>
        </p:nvSpPr>
        <p:spPr>
          <a:xfrm>
            <a:off x="132459" y="4004188"/>
            <a:ext cx="1467404" cy="646331"/>
          </a:xfrm>
          <a:prstGeom prst="rect">
            <a:avLst/>
          </a:prstGeom>
          <a:noFill/>
        </p:spPr>
        <p:txBody>
          <a:bodyPr wrap="square" rtlCol="0">
            <a:spAutoFit/>
          </a:bodyPr>
          <a:lstStyle/>
          <a:p>
            <a:r>
              <a:rPr lang="en-CA" sz="1800" b="1">
                <a:latin typeface="Arial" panose="020B0604020202020204" pitchFamily="34" charset="0"/>
                <a:cs typeface="Arial" panose="020B0604020202020204" pitchFamily="34" charset="0"/>
              </a:rPr>
              <a:t>Other Items:</a:t>
            </a:r>
            <a:endParaRPr lang="en-US" sz="18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8676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926CF-72AD-49A8-B302-15039B88D9D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964EC0EA-A9F4-5BA3-109D-994299B69330}"/>
              </a:ext>
            </a:extLst>
          </p:cNvPr>
          <p:cNvSpPr txBox="1">
            <a:spLocks/>
          </p:cNvSpPr>
          <p:nvPr/>
        </p:nvSpPr>
        <p:spPr>
          <a:xfrm>
            <a:off x="117633" y="85661"/>
            <a:ext cx="5955555"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800" b="1" i="0" u="none" strike="noStrike" kern="1200" cap="none" spc="0" normalizeH="0" baseline="0" noProof="0">
                <a:ln>
                  <a:noFill/>
                </a:ln>
                <a:solidFill>
                  <a:srgbClr val="D40139"/>
                </a:solidFill>
                <a:effectLst/>
                <a:uLnTx/>
                <a:uFillTx/>
                <a:ea typeface="+mj-ea"/>
                <a:cs typeface="+mj-cs"/>
              </a:rPr>
              <a:t>Release Status</a:t>
            </a:r>
            <a:endParaRPr kumimoji="0" lang="en-CA" sz="2800" b="1" i="0" u="none" strike="noStrike" kern="1200" cap="none" spc="0" normalizeH="0" baseline="0" noProof="0">
              <a:ln>
                <a:noFill/>
              </a:ln>
              <a:solidFill>
                <a:srgbClr val="D40139"/>
              </a:solidFill>
              <a:effectLst/>
              <a:uLnTx/>
              <a:uFillTx/>
              <a:ea typeface="+mj-ea"/>
              <a:cs typeface="+mj-cs"/>
            </a:endParaRPr>
          </a:p>
        </p:txBody>
      </p:sp>
      <p:sp>
        <p:nvSpPr>
          <p:cNvPr id="13" name="Rectangle 12">
            <a:hlinkClick r:id="rId3" action="ppaction://hlinksldjump"/>
            <a:extLst>
              <a:ext uri="{FF2B5EF4-FFF2-40B4-BE49-F238E27FC236}">
                <a16:creationId xmlns:a16="http://schemas.microsoft.com/office/drawing/2014/main" id="{30B3C469-EBCA-07CC-A15A-1F1347BC3336}"/>
              </a:ext>
            </a:extLst>
          </p:cNvPr>
          <p:cNvSpPr/>
          <p:nvPr/>
        </p:nvSpPr>
        <p:spPr>
          <a:xfrm>
            <a:off x="59285" y="2365182"/>
            <a:ext cx="6273800" cy="3323987"/>
          </a:xfrm>
          <a:prstGeom prst="rect">
            <a:avLst/>
          </a:prstGeom>
          <a:ln>
            <a:noFill/>
          </a:ln>
        </p:spPr>
        <p:txBody>
          <a:bodyPr wrap="square" lIns="91440" tIns="45720" rIns="91440" bIns="45720" anchor="t">
            <a:spAutoFit/>
          </a:bodyPr>
          <a:lstStyle/>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mj-lt"/>
                <a:ea typeface="+mn-ea"/>
                <a:cs typeface="+mn-cs"/>
              </a:rPr>
              <a:t>Summary:</a:t>
            </a:r>
          </a:p>
          <a:p>
            <a:pPr marL="171450" indent="-171450" defTabSz="914400">
              <a:buFont typeface="Arial" panose="020B0604020202020204" pitchFamily="34" charset="0"/>
              <a:buChar char="•"/>
              <a:defRPr/>
            </a:pPr>
            <a:r>
              <a:rPr lang="en-CA" sz="1000">
                <a:latin typeface="+mj-lt"/>
                <a:cs typeface="Arial" panose="020B0604020202020204" pitchFamily="34" charset="0"/>
              </a:rPr>
              <a:t>Release is Green</a:t>
            </a:r>
          </a:p>
          <a:p>
            <a:pPr defTabSz="914400">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lang="en-US" sz="1200" b="1">
              <a:solidFill>
                <a:srgbClr val="D40139"/>
              </a:solidFill>
              <a:latin typeface="+mj-lt"/>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lang="en-US" sz="1200" b="1">
              <a:solidFill>
                <a:srgbClr val="D40139"/>
              </a:solidFill>
              <a:latin typeface="+mj-lt"/>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lang="en-US" sz="1200" b="1">
              <a:solidFill>
                <a:srgbClr val="D40139"/>
              </a:solidFill>
              <a:latin typeface="+mj-lt"/>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mj-lt"/>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lang="en-US" sz="1200" b="1">
              <a:solidFill>
                <a:srgbClr val="D40139"/>
              </a:solidFill>
              <a:latin typeface="+mj-lt"/>
            </a:endParaRPr>
          </a:p>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mj-lt"/>
                <a:ea typeface="+mn-ea"/>
                <a:cs typeface="+mn-cs"/>
              </a:rPr>
              <a:t>Open Risks / Issues:</a:t>
            </a:r>
            <a:endParaRPr lang="en-US" sz="1000">
              <a:solidFill>
                <a:srgbClr val="000000"/>
              </a:solidFill>
              <a:latin typeface="+mj-lt"/>
            </a:endParaRPr>
          </a:p>
          <a:p>
            <a:pPr marL="171450" indent="-171450" defTabSz="914400">
              <a:buFont typeface="Arial" panose="020B0604020202020204" pitchFamily="34" charset="0"/>
              <a:buChar char="•"/>
              <a:defRPr/>
            </a:pPr>
            <a:r>
              <a:rPr lang="en-US" sz="1000">
                <a:solidFill>
                  <a:srgbClr val="000000"/>
                </a:solidFill>
                <a:latin typeface="Trebuchet MS" panose="020B0603020202020204" pitchFamily="34" charset="0"/>
              </a:rPr>
              <a:t>None</a:t>
            </a:r>
          </a:p>
          <a:p>
            <a:pPr defTabSz="914400">
              <a:defRPr/>
            </a:pPr>
            <a:endParaRPr lang="en-US" sz="1000">
              <a:solidFill>
                <a:srgbClr val="000000"/>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mj-lt"/>
                <a:ea typeface="+mn-ea"/>
                <a:cs typeface="+mn-cs"/>
              </a:rPr>
              <a:t>Awareness: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cap="none" spc="0" normalizeH="0" baseline="0" noProof="0">
              <a:ln>
                <a:noFill/>
              </a:ln>
              <a:solidFill>
                <a:srgbClr val="D40139"/>
              </a:solidFill>
              <a:effectLst/>
              <a:uLnTx/>
              <a:uFillTx/>
              <a:latin typeface="+mj-lt"/>
            </a:endParaRPr>
          </a:p>
        </p:txBody>
      </p:sp>
      <p:graphicFrame>
        <p:nvGraphicFramePr>
          <p:cNvPr id="14" name="Table 15">
            <a:extLst>
              <a:ext uri="{FF2B5EF4-FFF2-40B4-BE49-F238E27FC236}">
                <a16:creationId xmlns:a16="http://schemas.microsoft.com/office/drawing/2014/main" id="{3D7F83CB-FC57-0D7B-B543-98D001D5C7A4}"/>
              </a:ext>
            </a:extLst>
          </p:cNvPr>
          <p:cNvGraphicFramePr>
            <a:graphicFrameLocks noGrp="1"/>
          </p:cNvGraphicFramePr>
          <p:nvPr>
            <p:extLst>
              <p:ext uri="{D42A27DB-BD31-4B8C-83A1-F6EECF244321}">
                <p14:modId xmlns:p14="http://schemas.microsoft.com/office/powerpoint/2010/main" val="1305075490"/>
              </p:ext>
            </p:extLst>
          </p:nvPr>
        </p:nvGraphicFramePr>
        <p:xfrm>
          <a:off x="6499476" y="715710"/>
          <a:ext cx="5237149" cy="2484120"/>
        </p:xfrm>
        <a:graphic>
          <a:graphicData uri="http://schemas.openxmlformats.org/drawingml/2006/table">
            <a:tbl>
              <a:tblPr firstRow="1" bandRow="1">
                <a:tableStyleId>{5940675A-B579-460E-94D1-54222C63F5DA}</a:tableStyleId>
              </a:tblPr>
              <a:tblGrid>
                <a:gridCol w="1104543">
                  <a:extLst>
                    <a:ext uri="{9D8B030D-6E8A-4147-A177-3AD203B41FA5}">
                      <a16:colId xmlns:a16="http://schemas.microsoft.com/office/drawing/2014/main" val="590069212"/>
                    </a:ext>
                  </a:extLst>
                </a:gridCol>
                <a:gridCol w="459017">
                  <a:extLst>
                    <a:ext uri="{9D8B030D-6E8A-4147-A177-3AD203B41FA5}">
                      <a16:colId xmlns:a16="http://schemas.microsoft.com/office/drawing/2014/main" val="289142566"/>
                    </a:ext>
                  </a:extLst>
                </a:gridCol>
                <a:gridCol w="785377">
                  <a:extLst>
                    <a:ext uri="{9D8B030D-6E8A-4147-A177-3AD203B41FA5}">
                      <a16:colId xmlns:a16="http://schemas.microsoft.com/office/drawing/2014/main" val="3540510859"/>
                    </a:ext>
                  </a:extLst>
                </a:gridCol>
                <a:gridCol w="785091">
                  <a:extLst>
                    <a:ext uri="{9D8B030D-6E8A-4147-A177-3AD203B41FA5}">
                      <a16:colId xmlns:a16="http://schemas.microsoft.com/office/drawing/2014/main" val="577368358"/>
                    </a:ext>
                  </a:extLst>
                </a:gridCol>
                <a:gridCol w="2103121">
                  <a:extLst>
                    <a:ext uri="{9D8B030D-6E8A-4147-A177-3AD203B41FA5}">
                      <a16:colId xmlns:a16="http://schemas.microsoft.com/office/drawing/2014/main" val="808314054"/>
                    </a:ext>
                  </a:extLst>
                </a:gridCol>
              </a:tblGrid>
              <a:tr h="0">
                <a:tc>
                  <a:txBody>
                    <a:bodyPr/>
                    <a:lstStyle/>
                    <a:p>
                      <a:pPr algn="ctr"/>
                      <a:r>
                        <a:rPr lang="en-CA" sz="900" b="1">
                          <a:solidFill>
                            <a:schemeClr val="tx1"/>
                          </a:solidFill>
                        </a:rPr>
                        <a:t>Activity</a:t>
                      </a:r>
                      <a:endParaRPr lang="en-US" sz="900" b="1">
                        <a:solidFill>
                          <a:schemeClr val="tx1"/>
                        </a:solidFill>
                      </a:endParaRP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en-CA" sz="900" b="1"/>
                        <a:t>Status</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CA" sz="900" b="1"/>
                        <a:t>Start</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CA" sz="900" b="1"/>
                        <a:t>End</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CA" sz="900" b="1"/>
                        <a:t>Comments</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9743300"/>
                  </a:ext>
                </a:extLst>
              </a:tr>
              <a:tr h="0">
                <a:tc gridSpan="5">
                  <a:txBody>
                    <a:bodyPr/>
                    <a:lstStyle/>
                    <a:p>
                      <a:pPr algn="ctr"/>
                      <a:r>
                        <a:rPr lang="en-CA" sz="800" b="1">
                          <a:solidFill>
                            <a:schemeClr val="bg1"/>
                          </a:solidFill>
                        </a:rPr>
                        <a:t>BA</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endParaRPr lang="en-CA" sz="9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277812957"/>
                  </a:ext>
                </a:extLst>
              </a:tr>
              <a:tr h="0">
                <a:tc>
                  <a:txBody>
                    <a:bodyPr/>
                    <a:lstStyle/>
                    <a:p>
                      <a:r>
                        <a:rPr lang="en-CA" sz="800">
                          <a:solidFill>
                            <a:schemeClr val="tx1"/>
                          </a:solidFill>
                        </a:rPr>
                        <a:t>BRD / SRDs / CRs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mn-lt"/>
                          <a:ea typeface="+mn-ea"/>
                          <a:cs typeface="+mn-cs"/>
                        </a:rPr>
                        <a:t>G</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CA"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CA"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algn="l"/>
                      <a:endParaRPr lang="en-CA"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1996147"/>
                  </a:ext>
                </a:extLst>
              </a:tr>
              <a:tr h="0">
                <a:tc gridSpan="5">
                  <a:txBody>
                    <a:bodyPr/>
                    <a:lstStyle/>
                    <a:p>
                      <a:pPr algn="ctr"/>
                      <a:r>
                        <a:rPr lang="en-CA" sz="800" b="1">
                          <a:solidFill>
                            <a:schemeClr val="bg1"/>
                          </a:solidFill>
                        </a:rPr>
                        <a:t>AD</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endParaRPr lang="en-US" sz="1000"/>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751212044"/>
                  </a:ext>
                </a:extLst>
              </a:tr>
              <a:tr h="0">
                <a:tc>
                  <a:txBody>
                    <a:bodyPr/>
                    <a:lstStyle/>
                    <a:p>
                      <a:r>
                        <a:rPr lang="en-CA" sz="800">
                          <a:solidFill>
                            <a:schemeClr val="tx1"/>
                          </a:solidFill>
                        </a:rPr>
                        <a:t>Infra Dependencies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N</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effectLst/>
                          <a:uLnTx/>
                          <a:uFillTx/>
                          <a:latin typeface="+mn-lt"/>
                          <a:ea typeface="+mn-ea"/>
                          <a:cs typeface="+mn-cs"/>
                        </a:rPr>
                        <a:t>-</a:t>
                      </a:r>
                      <a:endParaRPr kumimoji="0" lang="en-US" sz="800" b="0" i="0" u="none" strike="noStrike" kern="1200" cap="none" spc="0" normalizeH="0" baseline="0" noProof="0">
                        <a:ln>
                          <a:noFill/>
                        </a:ln>
                        <a:effectLst/>
                        <a:uLnTx/>
                        <a:uFillTx/>
                        <a:latin typeface="+mn-lt"/>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effectLst/>
                          <a:uLnTx/>
                          <a:uFillTx/>
                          <a:latin typeface="Trebuchet MS"/>
                          <a:ea typeface="+mn-ea"/>
                          <a:cs typeface="+mn-cs"/>
                        </a:rPr>
                        <a:t>-</a:t>
                      </a:r>
                      <a:endParaRPr kumimoji="0" lang="en-US" sz="800" b="0" i="0" u="none" strike="noStrike" kern="1200" cap="none" spc="0" normalizeH="0" baseline="0" noProof="0">
                        <a:ln>
                          <a:noFill/>
                        </a:ln>
                        <a:effectLst/>
                        <a:uLnTx/>
                        <a:uFillTx/>
                        <a:latin typeface="Trebuchet MS"/>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0" u="none" strike="noStrike">
                        <a:solidFill>
                          <a:schemeClr val="tx1"/>
                        </a:solidFill>
                        <a:effectLst/>
                        <a:latin typeface="+mn-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1421103"/>
                  </a:ext>
                </a:extLst>
              </a:tr>
              <a:tr h="0">
                <a:tc>
                  <a:txBody>
                    <a:bodyPr/>
                    <a:lstStyle/>
                    <a:p>
                      <a:r>
                        <a:rPr lang="en-CA" sz="800">
                          <a:solidFill>
                            <a:schemeClr val="tx1"/>
                          </a:solidFill>
                        </a:rPr>
                        <a:t>MIP</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Dec 29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Jan 23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80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4036"/>
                  </a:ext>
                </a:extLst>
              </a:tr>
              <a:tr h="198578">
                <a:tc>
                  <a:txBody>
                    <a:bodyPr/>
                    <a:lstStyle/>
                    <a:p>
                      <a:r>
                        <a:rPr lang="en-CA" sz="800">
                          <a:solidFill>
                            <a:schemeClr val="tx1"/>
                          </a:solidFill>
                        </a:rPr>
                        <a:t>B/O Matrix</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Dec 29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Jan 23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80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3156198"/>
                  </a:ext>
                </a:extLst>
              </a:tr>
              <a:tr h="0">
                <a:tc>
                  <a:txBody>
                    <a:bodyPr/>
                    <a:lstStyle/>
                    <a:p>
                      <a:pPr marL="0" algn="l" defTabSz="914400" rtl="0" eaLnBrk="1" latinLnBrk="0" hangingPunct="1"/>
                      <a:r>
                        <a:rPr lang="en-CA" sz="800" kern="1200">
                          <a:solidFill>
                            <a:schemeClr val="tx1"/>
                          </a:solidFill>
                          <a:latin typeface="+mn-lt"/>
                          <a:ea typeface="+mn-ea"/>
                          <a:cs typeface="+mn-cs"/>
                        </a:rPr>
                        <a:t>SCM Updates</a:t>
                      </a:r>
                      <a:endParaRPr lang="en-US" sz="800" kern="1200">
                        <a:solidFill>
                          <a:schemeClr val="tx1"/>
                        </a:solidFill>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Dec 29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Jan 23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649755"/>
                  </a:ext>
                </a:extLst>
              </a:tr>
              <a:tr h="129404">
                <a:tc>
                  <a:txBody>
                    <a:bodyPr/>
                    <a:lstStyle/>
                    <a:p>
                      <a:r>
                        <a:rPr lang="en-CA" sz="800">
                          <a:solidFill>
                            <a:schemeClr val="tx1"/>
                          </a:solidFill>
                        </a:rPr>
                        <a:t>ACPs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Dec 29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Jan 23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987816"/>
                  </a:ext>
                </a:extLst>
              </a:tr>
              <a:tr h="0">
                <a:tc>
                  <a:txBody>
                    <a:bodyPr/>
                    <a:lstStyle/>
                    <a:p>
                      <a:r>
                        <a:rPr lang="en-CA" sz="800">
                          <a:solidFill>
                            <a:schemeClr val="tx1"/>
                          </a:solidFill>
                        </a:rPr>
                        <a:t>OSI / Run Books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Dec 29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Jan 23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2469613"/>
                  </a:ext>
                </a:extLst>
              </a:tr>
              <a:tr h="0">
                <a:tc>
                  <a:txBody>
                    <a:bodyPr/>
                    <a:lstStyle/>
                    <a:p>
                      <a:r>
                        <a:rPr lang="en-CA" sz="800">
                          <a:solidFill>
                            <a:schemeClr val="tx1"/>
                          </a:solidFill>
                        </a:rPr>
                        <a:t>ADM Readiness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Dec 29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Jan 23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1769880"/>
                  </a:ext>
                </a:extLst>
              </a:tr>
            </a:tbl>
          </a:graphicData>
        </a:graphic>
      </p:graphicFrame>
      <p:sp>
        <p:nvSpPr>
          <p:cNvPr id="16" name="Subtitle 2">
            <a:extLst>
              <a:ext uri="{FF2B5EF4-FFF2-40B4-BE49-F238E27FC236}">
                <a16:creationId xmlns:a16="http://schemas.microsoft.com/office/drawing/2014/main" id="{06585D76-500E-D520-4FC8-2E1420A54B3A}"/>
              </a:ext>
            </a:extLst>
          </p:cNvPr>
          <p:cNvSpPr txBox="1">
            <a:spLocks/>
          </p:cNvSpPr>
          <p:nvPr/>
        </p:nvSpPr>
        <p:spPr>
          <a:xfrm>
            <a:off x="8024304" y="358700"/>
            <a:ext cx="2201690" cy="250050"/>
          </a:xfrm>
          <a:prstGeom prst="rect">
            <a:avLst/>
          </a:prstGeom>
        </p:spPr>
        <p:txBody>
          <a:bodyPr vert="horz" wrap="square" lIns="0" tIns="0" rIns="0" bIns="0" rtlCol="0">
            <a:spAutoFit/>
          </a:bodyPr>
          <a:lstStyle>
            <a:lvl1pPr marL="0" indent="0" algn="l" defTabSz="914400" rtl="0" eaLnBrk="1" latinLnBrk="0" hangingPunct="1">
              <a:spcBef>
                <a:spcPts val="600"/>
              </a:spcBef>
              <a:spcAft>
                <a:spcPts val="600"/>
              </a:spcAft>
              <a:buFont typeface="Arial" panose="020B0604020202020204" pitchFamily="34" charset="0"/>
              <a:buNone/>
              <a:defRPr sz="2000" b="1" kern="1200">
                <a:solidFill>
                  <a:schemeClr val="accent6"/>
                </a:solidFill>
                <a:latin typeface="+mn-lt"/>
                <a:ea typeface="+mn-ea"/>
                <a:cs typeface="+mn-cs"/>
              </a:defRPr>
            </a:lvl1pPr>
            <a:lvl2pPr marL="228600" indent="-228600"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2pPr>
            <a:lvl3pPr marL="457200" indent="-22383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3pPr>
            <a:lvl4pPr marL="685800" indent="-231775"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4pPr>
            <a:lvl5pPr marL="915988" indent="-230188" algn="l" defTabSz="914400" rtl="0" eaLnBrk="1" latinLnBrk="0" hangingPunct="1">
              <a:spcBef>
                <a:spcPts val="300"/>
              </a:spcBef>
              <a:spcAft>
                <a:spcPts val="300"/>
              </a:spcAft>
              <a:buClr>
                <a:schemeClr val="accent6"/>
              </a:buClr>
              <a:buFont typeface="Trebuchet MS" panose="020B0603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CA" sz="1600" b="1" i="0" u="none" strike="noStrike" kern="1200" cap="none" spc="0" normalizeH="0" baseline="0" noProof="0">
                <a:ln>
                  <a:noFill/>
                </a:ln>
                <a:solidFill>
                  <a:srgbClr val="D40139"/>
                </a:solidFill>
                <a:effectLst/>
                <a:uLnTx/>
                <a:uFillTx/>
                <a:latin typeface="+mj-lt"/>
                <a:ea typeface="+mn-ea"/>
                <a:cs typeface="+mn-cs"/>
              </a:rPr>
              <a:t>Deliverable Status</a:t>
            </a:r>
          </a:p>
        </p:txBody>
      </p:sp>
      <p:graphicFrame>
        <p:nvGraphicFramePr>
          <p:cNvPr id="18" name="Table 11">
            <a:extLst>
              <a:ext uri="{FF2B5EF4-FFF2-40B4-BE49-F238E27FC236}">
                <a16:creationId xmlns:a16="http://schemas.microsoft.com/office/drawing/2014/main" id="{6B30E256-7B63-B057-2C4B-80EBE8E587BC}"/>
              </a:ext>
            </a:extLst>
          </p:cNvPr>
          <p:cNvGraphicFramePr>
            <a:graphicFrameLocks noGrp="1"/>
          </p:cNvGraphicFramePr>
          <p:nvPr>
            <p:ph idx="1"/>
          </p:nvPr>
        </p:nvGraphicFramePr>
        <p:xfrm>
          <a:off x="492981" y="6348809"/>
          <a:ext cx="5068476" cy="396240"/>
        </p:xfrm>
        <a:graphic>
          <a:graphicData uri="http://schemas.openxmlformats.org/drawingml/2006/table">
            <a:tbl>
              <a:tblPr firstRow="1" bandRow="1">
                <a:tableStyleId>{5940675A-B579-460E-94D1-54222C63F5DA}</a:tableStyleId>
              </a:tblPr>
              <a:tblGrid>
                <a:gridCol w="1319436">
                  <a:extLst>
                    <a:ext uri="{9D8B030D-6E8A-4147-A177-3AD203B41FA5}">
                      <a16:colId xmlns:a16="http://schemas.microsoft.com/office/drawing/2014/main" val="2592895187"/>
                    </a:ext>
                  </a:extLst>
                </a:gridCol>
                <a:gridCol w="1371600">
                  <a:extLst>
                    <a:ext uri="{9D8B030D-6E8A-4147-A177-3AD203B41FA5}">
                      <a16:colId xmlns:a16="http://schemas.microsoft.com/office/drawing/2014/main" val="2315325055"/>
                    </a:ext>
                  </a:extLst>
                </a:gridCol>
                <a:gridCol w="914400">
                  <a:extLst>
                    <a:ext uri="{9D8B030D-6E8A-4147-A177-3AD203B41FA5}">
                      <a16:colId xmlns:a16="http://schemas.microsoft.com/office/drawing/2014/main" val="468379215"/>
                    </a:ext>
                  </a:extLst>
                </a:gridCol>
                <a:gridCol w="1463040">
                  <a:extLst>
                    <a:ext uri="{9D8B030D-6E8A-4147-A177-3AD203B41FA5}">
                      <a16:colId xmlns:a16="http://schemas.microsoft.com/office/drawing/2014/main" val="3785417576"/>
                    </a:ext>
                  </a:extLst>
                </a:gridCol>
              </a:tblGrid>
              <a:tr h="150334">
                <a:tc>
                  <a:txBody>
                    <a:bodyPr/>
                    <a:lstStyle/>
                    <a:p>
                      <a:pPr algn="r"/>
                      <a:r>
                        <a:rPr lang="en-CA" sz="700" b="1">
                          <a:latin typeface="+mn-lt"/>
                        </a:rPr>
                        <a:t>Release Lead:</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700">
                          <a:latin typeface="+mn-lt"/>
                        </a:rPr>
                        <a:t>Anisah Patel</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CA" sz="700" b="1">
                          <a:latin typeface="+mn-lt"/>
                        </a:rPr>
                        <a:t>Release AD Lead:</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700">
                          <a:latin typeface="+mn-lt"/>
                        </a:rPr>
                        <a:t>Sivin Victor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0915363"/>
                  </a:ext>
                </a:extLst>
              </a:tr>
              <a:tr h="0">
                <a:tc>
                  <a:txBody>
                    <a:bodyPr/>
                    <a:lstStyle/>
                    <a:p>
                      <a:pPr algn="r"/>
                      <a:r>
                        <a:rPr lang="en-CA" sz="700" b="1">
                          <a:latin typeface="+mn-lt"/>
                        </a:rPr>
                        <a:t>TO / DXC PM:</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700">
                          <a:latin typeface="+mn-lt"/>
                        </a:rPr>
                        <a:t>Devika Gandhi / Chad Irvine</a:t>
                      </a:r>
                      <a:endParaRPr lang="en-US" sz="70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CA" sz="700" b="1">
                          <a:latin typeface="+mn-lt"/>
                        </a:rPr>
                        <a:t>Release QA Lead:</a:t>
                      </a:r>
                      <a:endParaRPr lang="en-US" sz="700" b="1">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700">
                          <a:latin typeface="+mn-lt"/>
                        </a:rPr>
                        <a:t>Deborah Zhang</a:t>
                      </a:r>
                      <a:endParaRPr lang="en-US" sz="70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783638"/>
                  </a:ext>
                </a:extLst>
              </a:tr>
            </a:tbl>
          </a:graphicData>
        </a:graphic>
      </p:graphicFrame>
      <p:graphicFrame>
        <p:nvGraphicFramePr>
          <p:cNvPr id="19" name="Table 2">
            <a:extLst>
              <a:ext uri="{FF2B5EF4-FFF2-40B4-BE49-F238E27FC236}">
                <a16:creationId xmlns:a16="http://schemas.microsoft.com/office/drawing/2014/main" id="{41D19DC1-707B-1A98-00F4-354836338B77}"/>
              </a:ext>
            </a:extLst>
          </p:cNvPr>
          <p:cNvGraphicFramePr>
            <a:graphicFrameLocks noGrp="1"/>
          </p:cNvGraphicFramePr>
          <p:nvPr/>
        </p:nvGraphicFramePr>
        <p:xfrm>
          <a:off x="7132264" y="90815"/>
          <a:ext cx="4556443" cy="18288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552748061"/>
                    </a:ext>
                  </a:extLst>
                </a:gridCol>
                <a:gridCol w="548640">
                  <a:extLst>
                    <a:ext uri="{9D8B030D-6E8A-4147-A177-3AD203B41FA5}">
                      <a16:colId xmlns:a16="http://schemas.microsoft.com/office/drawing/2014/main" val="2949818358"/>
                    </a:ext>
                  </a:extLst>
                </a:gridCol>
                <a:gridCol w="208280">
                  <a:extLst>
                    <a:ext uri="{9D8B030D-6E8A-4147-A177-3AD203B41FA5}">
                      <a16:colId xmlns:a16="http://schemas.microsoft.com/office/drawing/2014/main" val="3768384043"/>
                    </a:ext>
                  </a:extLst>
                </a:gridCol>
                <a:gridCol w="822960">
                  <a:extLst>
                    <a:ext uri="{9D8B030D-6E8A-4147-A177-3AD203B41FA5}">
                      <a16:colId xmlns:a16="http://schemas.microsoft.com/office/drawing/2014/main" val="3673821677"/>
                    </a:ext>
                  </a:extLst>
                </a:gridCol>
                <a:gridCol w="208280">
                  <a:extLst>
                    <a:ext uri="{9D8B030D-6E8A-4147-A177-3AD203B41FA5}">
                      <a16:colId xmlns:a16="http://schemas.microsoft.com/office/drawing/2014/main" val="1380191459"/>
                    </a:ext>
                  </a:extLst>
                </a:gridCol>
                <a:gridCol w="822960">
                  <a:extLst>
                    <a:ext uri="{9D8B030D-6E8A-4147-A177-3AD203B41FA5}">
                      <a16:colId xmlns:a16="http://schemas.microsoft.com/office/drawing/2014/main" val="2784429797"/>
                    </a:ext>
                  </a:extLst>
                </a:gridCol>
                <a:gridCol w="208280">
                  <a:extLst>
                    <a:ext uri="{9D8B030D-6E8A-4147-A177-3AD203B41FA5}">
                      <a16:colId xmlns:a16="http://schemas.microsoft.com/office/drawing/2014/main" val="906539283"/>
                    </a:ext>
                  </a:extLst>
                </a:gridCol>
                <a:gridCol w="771843">
                  <a:extLst>
                    <a:ext uri="{9D8B030D-6E8A-4147-A177-3AD203B41FA5}">
                      <a16:colId xmlns:a16="http://schemas.microsoft.com/office/drawing/2014/main" val="2265317318"/>
                    </a:ext>
                  </a:extLst>
                </a:gridCol>
                <a:gridCol w="208280">
                  <a:extLst>
                    <a:ext uri="{9D8B030D-6E8A-4147-A177-3AD203B41FA5}">
                      <a16:colId xmlns:a16="http://schemas.microsoft.com/office/drawing/2014/main" val="4285212843"/>
                    </a:ext>
                  </a:extLst>
                </a:gridCol>
                <a:gridCol w="548640">
                  <a:extLst>
                    <a:ext uri="{9D8B030D-6E8A-4147-A177-3AD203B41FA5}">
                      <a16:colId xmlns:a16="http://schemas.microsoft.com/office/drawing/2014/main" val="3048000558"/>
                    </a:ext>
                  </a:extLst>
                </a:gridCol>
              </a:tblGrid>
              <a:tr h="182880">
                <a:tc>
                  <a:txBody>
                    <a:bodyPr/>
                    <a:lstStyle/>
                    <a:p>
                      <a:pPr algn="ctr"/>
                      <a:r>
                        <a:rPr lang="en-CA" sz="500" b="1">
                          <a:solidFill>
                            <a:schemeClr val="bg1"/>
                          </a:solidFill>
                        </a:rPr>
                        <a:t>N</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l"/>
                      <a:r>
                        <a:rPr lang="en-CA" sz="500">
                          <a:solidFill>
                            <a:schemeClr val="tx1"/>
                          </a:solidFill>
                        </a:rPr>
                        <a:t>Not Started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solidFill>
                            <a:schemeClr val="bg1"/>
                          </a:solidFill>
                        </a:rPr>
                        <a:t>G</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l"/>
                      <a:r>
                        <a:rPr lang="en-CA" sz="500">
                          <a:solidFill>
                            <a:schemeClr val="tx1"/>
                          </a:solidFill>
                        </a:rPr>
                        <a:t>In Progress, On Track</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t>Y</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l"/>
                      <a:r>
                        <a:rPr lang="en-CA" sz="500">
                          <a:solidFill>
                            <a:schemeClr val="tx1"/>
                          </a:solidFill>
                        </a:rPr>
                        <a:t>May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solidFill>
                            <a:schemeClr val="bg1"/>
                          </a:solidFill>
                        </a:rPr>
                        <a:t>R</a:t>
                      </a:r>
                      <a:endParaRPr lang="en-US" sz="5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l"/>
                      <a:r>
                        <a:rPr lang="en-CA" sz="500">
                          <a:solidFill>
                            <a:schemeClr val="tx1"/>
                          </a:solidFill>
                        </a:rPr>
                        <a:t>Will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500" b="1"/>
                        <a:t>C</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500">
                          <a:solidFill>
                            <a:schemeClr val="tx1"/>
                          </a:solidFill>
                        </a:rPr>
                        <a:t>Complete</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graphicFrame>
        <p:nvGraphicFramePr>
          <p:cNvPr id="21" name="Table 20">
            <a:extLst>
              <a:ext uri="{FF2B5EF4-FFF2-40B4-BE49-F238E27FC236}">
                <a16:creationId xmlns:a16="http://schemas.microsoft.com/office/drawing/2014/main" id="{125334C9-6BDC-C9FF-3EE4-7C2988626EF8}"/>
              </a:ext>
            </a:extLst>
          </p:cNvPr>
          <p:cNvGraphicFramePr>
            <a:graphicFrameLocks noGrp="1"/>
          </p:cNvGraphicFramePr>
          <p:nvPr>
            <p:extLst>
              <p:ext uri="{D42A27DB-BD31-4B8C-83A1-F6EECF244321}">
                <p14:modId xmlns:p14="http://schemas.microsoft.com/office/powerpoint/2010/main" val="7855080"/>
              </p:ext>
            </p:extLst>
          </p:nvPr>
        </p:nvGraphicFramePr>
        <p:xfrm>
          <a:off x="117633" y="712606"/>
          <a:ext cx="6273803" cy="1413398"/>
        </p:xfrm>
        <a:graphic>
          <a:graphicData uri="http://schemas.openxmlformats.org/drawingml/2006/table">
            <a:tbl>
              <a:tblPr/>
              <a:tblGrid>
                <a:gridCol w="567887">
                  <a:extLst>
                    <a:ext uri="{9D8B030D-6E8A-4147-A177-3AD203B41FA5}">
                      <a16:colId xmlns:a16="http://schemas.microsoft.com/office/drawing/2014/main" val="542770605"/>
                    </a:ext>
                  </a:extLst>
                </a:gridCol>
                <a:gridCol w="405634">
                  <a:extLst>
                    <a:ext uri="{9D8B030D-6E8A-4147-A177-3AD203B41FA5}">
                      <a16:colId xmlns:a16="http://schemas.microsoft.com/office/drawing/2014/main" val="721424745"/>
                    </a:ext>
                  </a:extLst>
                </a:gridCol>
                <a:gridCol w="405634">
                  <a:extLst>
                    <a:ext uri="{9D8B030D-6E8A-4147-A177-3AD203B41FA5}">
                      <a16:colId xmlns:a16="http://schemas.microsoft.com/office/drawing/2014/main" val="2980709361"/>
                    </a:ext>
                  </a:extLst>
                </a:gridCol>
                <a:gridCol w="405634">
                  <a:extLst>
                    <a:ext uri="{9D8B030D-6E8A-4147-A177-3AD203B41FA5}">
                      <a16:colId xmlns:a16="http://schemas.microsoft.com/office/drawing/2014/main" val="4189054838"/>
                    </a:ext>
                  </a:extLst>
                </a:gridCol>
                <a:gridCol w="405634">
                  <a:extLst>
                    <a:ext uri="{9D8B030D-6E8A-4147-A177-3AD203B41FA5}">
                      <a16:colId xmlns:a16="http://schemas.microsoft.com/office/drawing/2014/main" val="1947436398"/>
                    </a:ext>
                  </a:extLst>
                </a:gridCol>
                <a:gridCol w="405634">
                  <a:extLst>
                    <a:ext uri="{9D8B030D-6E8A-4147-A177-3AD203B41FA5}">
                      <a16:colId xmlns:a16="http://schemas.microsoft.com/office/drawing/2014/main" val="3671164612"/>
                    </a:ext>
                  </a:extLst>
                </a:gridCol>
                <a:gridCol w="405634">
                  <a:extLst>
                    <a:ext uri="{9D8B030D-6E8A-4147-A177-3AD203B41FA5}">
                      <a16:colId xmlns:a16="http://schemas.microsoft.com/office/drawing/2014/main" val="4223143478"/>
                    </a:ext>
                  </a:extLst>
                </a:gridCol>
                <a:gridCol w="405634">
                  <a:extLst>
                    <a:ext uri="{9D8B030D-6E8A-4147-A177-3AD203B41FA5}">
                      <a16:colId xmlns:a16="http://schemas.microsoft.com/office/drawing/2014/main" val="1140894372"/>
                    </a:ext>
                  </a:extLst>
                </a:gridCol>
                <a:gridCol w="608450">
                  <a:extLst>
                    <a:ext uri="{9D8B030D-6E8A-4147-A177-3AD203B41FA5}">
                      <a16:colId xmlns:a16="http://schemas.microsoft.com/office/drawing/2014/main" val="1630437860"/>
                    </a:ext>
                  </a:extLst>
                </a:gridCol>
                <a:gridCol w="405634">
                  <a:extLst>
                    <a:ext uri="{9D8B030D-6E8A-4147-A177-3AD203B41FA5}">
                      <a16:colId xmlns:a16="http://schemas.microsoft.com/office/drawing/2014/main" val="1549931440"/>
                    </a:ext>
                  </a:extLst>
                </a:gridCol>
                <a:gridCol w="405634">
                  <a:extLst>
                    <a:ext uri="{9D8B030D-6E8A-4147-A177-3AD203B41FA5}">
                      <a16:colId xmlns:a16="http://schemas.microsoft.com/office/drawing/2014/main" val="3188408529"/>
                    </a:ext>
                  </a:extLst>
                </a:gridCol>
                <a:gridCol w="1446760">
                  <a:extLst>
                    <a:ext uri="{9D8B030D-6E8A-4147-A177-3AD203B41FA5}">
                      <a16:colId xmlns:a16="http://schemas.microsoft.com/office/drawing/2014/main" val="4128971172"/>
                    </a:ext>
                  </a:extLst>
                </a:gridCol>
              </a:tblGrid>
              <a:tr h="276225">
                <a:tc>
                  <a:txBody>
                    <a:bodyPr/>
                    <a:lstStyle/>
                    <a:p>
                      <a:pPr algn="ctr" fontAlgn="ctr"/>
                      <a:r>
                        <a:rPr lang="en-CA" sz="1200" b="1" i="0" u="none" strike="noStrike">
                          <a:solidFill>
                            <a:schemeClr val="bg1"/>
                          </a:solidFill>
                          <a:effectLst/>
                          <a:latin typeface="Trebuchet MS"/>
                        </a:rPr>
                        <a:t>G</a:t>
                      </a:r>
                      <a:endParaRPr lang="en-US" sz="1200" b="1" i="0" u="none" strike="noStrike">
                        <a:solidFill>
                          <a:schemeClr val="bg1"/>
                        </a:solidFill>
                        <a:effectLst/>
                        <a:latin typeface="Trebuchet MS"/>
                      </a:endParaRPr>
                    </a:p>
                  </a:txBody>
                  <a:tcPr marL="9525" marR="9525" marT="9525" marB="0" anchor="ctr">
                    <a:lnL w="9525"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gridSpan="11">
                  <a:txBody>
                    <a:bodyPr/>
                    <a:lstStyle/>
                    <a:p>
                      <a:pPr marL="0" algn="l" defTabSz="914400" rtl="0" eaLnBrk="1" fontAlgn="ctr" latinLnBrk="0" hangingPunct="1"/>
                      <a:r>
                        <a:rPr lang="en-CA" sz="1200" b="1" i="0" u="none" strike="noStrike" kern="1200">
                          <a:solidFill>
                            <a:srgbClr val="C00000"/>
                          </a:solidFill>
                          <a:effectLst/>
                          <a:latin typeface="+mn-lt"/>
                          <a:ea typeface="+mn-ea"/>
                          <a:cs typeface="+mn-cs"/>
                        </a:rPr>
                        <a:t>Core Banking – (Feb 1, 2026)</a:t>
                      </a:r>
                    </a:p>
                  </a:txBody>
                  <a:tcPr marL="114300" marR="9525" marT="9525" marB="0" anchor="ctr">
                    <a:lnL w="12700" cap="flat" cmpd="sng" algn="ctr">
                      <a:solidFill>
                        <a:schemeClr val="bg1">
                          <a:lumMod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r" fontAlgn="ctr"/>
                      <a:endParaRPr lang="en-US" sz="1050" b="1" i="0" u="none" strike="noStrike">
                        <a:solidFill>
                          <a:srgbClr val="000000"/>
                        </a:solidFill>
                        <a:effectLst/>
                        <a:latin typeface="Trebuchet MS" panose="020B0603020202020204" pitchFamily="34" charset="0"/>
                      </a:endParaRPr>
                    </a:p>
                  </a:txBody>
                  <a:tcPr marL="9525" marR="114300" marT="9525" marB="0" anchor="ctr">
                    <a:lnL w="9525" cap="flat" cmpd="sng" algn="ctr">
                      <a:solidFill>
                        <a:schemeClr val="tx1"/>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fontAlgn="ctr"/>
                      <a:endParaRPr lang="en-US" sz="1050" b="1" i="0" u="none" strike="noStrike">
                        <a:solidFill>
                          <a:schemeClr val="tx1"/>
                        </a:solidFill>
                        <a:effectLst/>
                        <a:latin typeface="Trebuchet MS" panose="020B0603020202020204" pitchFamily="34" charset="0"/>
                      </a:endParaRPr>
                    </a:p>
                  </a:txBody>
                  <a:tcPr marL="9525" marR="9525" marT="9525"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7013967"/>
                  </a:ext>
                </a:extLst>
              </a:tr>
              <a:tr h="190500">
                <a:tc rowSpan="3">
                  <a:txBody>
                    <a:bodyPr/>
                    <a:lstStyle/>
                    <a:p>
                      <a:pPr algn="r" fontAlgn="ctr"/>
                      <a:r>
                        <a:rPr lang="en-US" sz="1000" b="1" i="0" u="none" strike="noStrike">
                          <a:solidFill>
                            <a:srgbClr val="000000"/>
                          </a:solidFill>
                          <a:effectLst/>
                          <a:latin typeface="Trebuchet MS"/>
                        </a:rPr>
                        <a:t>Phase:</a:t>
                      </a:r>
                    </a:p>
                  </a:txBody>
                  <a:tcPr marL="9525" marR="9525" marT="9525"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REQ</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DES</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CON</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DIT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SIT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UAT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2">
                  <a:txBody>
                    <a:bodyPr/>
                    <a:lstStyle/>
                    <a:p>
                      <a:pPr algn="ctr" fontAlgn="ctr"/>
                      <a:r>
                        <a:rPr lang="en-US" sz="900" b="1" i="0" u="none" strike="noStrike">
                          <a:solidFill>
                            <a:srgbClr val="000000"/>
                          </a:solidFill>
                          <a:effectLst/>
                          <a:latin typeface="Trebuchet MS"/>
                        </a:rPr>
                        <a:t>PAT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rowSpan="3">
                  <a:txBody>
                    <a:bodyPr/>
                    <a:lstStyle/>
                    <a:p>
                      <a:pPr algn="ctr" fontAlgn="ctr"/>
                      <a:r>
                        <a:rPr lang="en-US" sz="1000" b="1" i="0" u="none" strike="noStrike">
                          <a:solidFill>
                            <a:srgbClr val="000000"/>
                          </a:solidFill>
                          <a:effectLst/>
                          <a:latin typeface="Trebuchet MS"/>
                        </a:rPr>
                        <a:t>Scope:</a:t>
                      </a:r>
                    </a:p>
                  </a:txBody>
                  <a:tcPr marL="9525" marR="9525" marT="9525"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CA" sz="1000" b="1" i="0" u="none" strike="noStrike">
                          <a:solidFill>
                            <a:srgbClr val="C00000"/>
                          </a:solidFill>
                          <a:effectLst/>
                          <a:latin typeface="Trebuchet MS"/>
                        </a:rPr>
                        <a:t>20</a:t>
                      </a:r>
                      <a:endParaRPr lang="en-US" sz="1000" b="1" i="0" u="none" strike="noStrike">
                        <a:solidFill>
                          <a:srgbClr val="C00000"/>
                        </a:solidFill>
                        <a:effectLst/>
                        <a:latin typeface="Trebuchet MS"/>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CA" sz="900" b="1" i="0" u="none" strike="noStrike">
                          <a:solidFill>
                            <a:srgbClr val="000000"/>
                          </a:solidFill>
                          <a:effectLst/>
                          <a:latin typeface="Trebuchet MS"/>
                        </a:rPr>
                        <a:t>13</a:t>
                      </a:r>
                      <a:endParaRPr lang="en-US" sz="900" b="1" i="0" u="none" strike="noStrike">
                        <a:solidFill>
                          <a:srgbClr val="000000"/>
                        </a:solidFill>
                        <a:effectLst/>
                        <a:latin typeface="Trebuchet MS"/>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r>
                        <a:rPr lang="en-US" sz="900" b="0" i="0" u="none" strike="noStrike">
                          <a:solidFill>
                            <a:srgbClr val="000000"/>
                          </a:solidFill>
                          <a:effectLst/>
                          <a:latin typeface="Trebuchet MS"/>
                        </a:rPr>
                        <a:t>Projects &amp; MOPs</a:t>
                      </a:r>
                    </a:p>
                  </a:txBody>
                  <a:tcPr marL="114300" marR="9525" marT="9525" marB="0"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6548466"/>
                  </a:ext>
                </a:extLst>
              </a:tr>
              <a:tr h="59705">
                <a:tc vMerge="1">
                  <a:txBody>
                    <a:bodyPr/>
                    <a:lstStyle/>
                    <a:p>
                      <a:endParaRPr lang="en-US"/>
                    </a:p>
                  </a:txBody>
                  <a:tcPr/>
                </a:tc>
                <a:tc vMerge="1">
                  <a:txBody>
                    <a:bodyPr/>
                    <a:lstStyle/>
                    <a:p>
                      <a:pPr algn="ctr" fontAlgn="ctr"/>
                      <a:r>
                        <a:rPr lang="en-CA" sz="900" b="1" i="0" u="none" strike="noStrike">
                          <a:solidFill>
                            <a:schemeClr val="tx1"/>
                          </a:solidFill>
                          <a:effectLst/>
                          <a:latin typeface="Trebuchet MS"/>
                        </a:rPr>
                        <a:t>C</a:t>
                      </a:r>
                      <a:endParaRPr lang="en-US" sz="900" b="1" i="0" u="none" strike="noStrike">
                        <a:solidFill>
                          <a:schemeClr val="tx1"/>
                        </a:solidFill>
                        <a:effectLst/>
                        <a:latin typeface="Trebuchet MS"/>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tx1"/>
                          </a:solidFill>
                          <a:effectLst/>
                          <a:uLnTx/>
                          <a:uFillTx/>
                          <a:latin typeface="Trebuchet MS"/>
                          <a:ea typeface="+mn-ea"/>
                          <a:cs typeface="+mn-cs"/>
                        </a:rPr>
                        <a:t>C</a:t>
                      </a:r>
                      <a:endParaRPr kumimoji="0" lang="en-US" sz="900" b="1" i="0" u="none" strike="noStrike" kern="1200" cap="none" spc="0" normalizeH="0" baseline="0" noProof="0">
                        <a:ln>
                          <a:noFill/>
                        </a:ln>
                        <a:solidFill>
                          <a:schemeClr val="tx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vMerge="1">
                  <a:txBody>
                    <a:bodyPr/>
                    <a:lstStyle/>
                    <a:p>
                      <a:pPr algn="ctr" fontAlgn="ctr"/>
                      <a:r>
                        <a:rPr lang="en-CA" sz="900" b="1" i="0" u="none" strike="noStrike">
                          <a:solidFill>
                            <a:schemeClr val="bg1"/>
                          </a:solidFill>
                          <a:effectLst/>
                          <a:latin typeface="Trebuchet MS"/>
                        </a:rPr>
                        <a:t>N</a:t>
                      </a:r>
                      <a:endParaRPr lang="en-US" sz="900" b="1" i="0" u="none" strike="noStrike">
                        <a:solidFill>
                          <a:schemeClr val="bg1"/>
                        </a:solidFill>
                        <a:effectLst/>
                        <a:latin typeface="Trebuchet M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70C0"/>
                    </a:solidFill>
                  </a:tcPr>
                </a:tc>
                <a:tc vMerge="1">
                  <a:txBody>
                    <a:bodyPr/>
                    <a:lstStyle/>
                    <a:p>
                      <a:endParaRPr lang="en-US"/>
                    </a:p>
                  </a:txBody>
                  <a:tcPr/>
                </a:tc>
                <a:tc vMerge="1">
                  <a:txBody>
                    <a:bodyPr/>
                    <a:lstStyle/>
                    <a:p>
                      <a:endParaRPr lang="en-US"/>
                    </a:p>
                  </a:txBody>
                  <a:tcPr/>
                </a:tc>
                <a:tc rowSpan="2">
                  <a:txBody>
                    <a:bodyPr/>
                    <a:lstStyle/>
                    <a:p>
                      <a:pPr algn="ctr" fontAlgn="ctr"/>
                      <a:r>
                        <a:rPr lang="en-CA" sz="900" b="1" i="0" u="none" strike="noStrike">
                          <a:solidFill>
                            <a:srgbClr val="000000"/>
                          </a:solidFill>
                          <a:effectLst/>
                          <a:latin typeface="Trebuchet MS"/>
                        </a:rPr>
                        <a:t>7</a:t>
                      </a:r>
                      <a:endParaRPr lang="en-US" sz="900" b="1" i="0" u="none" strike="noStrike">
                        <a:solidFill>
                          <a:srgbClr val="000000"/>
                        </a:solidFill>
                        <a:effectLst/>
                        <a:latin typeface="Trebuchet M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rowSpan="2">
                  <a:txBody>
                    <a:bodyPr/>
                    <a:lstStyle/>
                    <a:p>
                      <a:pPr algn="l" fontAlgn="ctr"/>
                      <a:r>
                        <a:rPr lang="en-US" sz="900" b="0" i="0" u="none" strike="noStrike">
                          <a:solidFill>
                            <a:srgbClr val="000000"/>
                          </a:solidFill>
                          <a:effectLst/>
                          <a:latin typeface="Trebuchet MS"/>
                        </a:rPr>
                        <a:t>PRBs/INCs/Others</a:t>
                      </a:r>
                    </a:p>
                  </a:txBody>
                  <a:tcPr marL="114300" marR="9525" marT="9525" marB="0" anchor="ctr">
                    <a:lnL>
                      <a:noFill/>
                    </a:lnL>
                    <a:lnR w="9525"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9864797"/>
                  </a:ext>
                </a:extLst>
              </a:tr>
              <a:tr h="0">
                <a:tc vMerge="1">
                  <a:txBody>
                    <a:bodyPr/>
                    <a:lstStyle/>
                    <a:p>
                      <a:pPr algn="r" fontAlgn="ctr"/>
                      <a:endParaRPr lang="en-US" sz="1000" b="1" i="0" u="none" strike="noStrike">
                        <a:solidFill>
                          <a:srgbClr val="000000"/>
                        </a:solidFill>
                        <a:effectLst/>
                        <a:latin typeface="Trebuchet MS"/>
                      </a:endParaRPr>
                    </a:p>
                  </a:txBody>
                  <a:tcPr marL="9525" marR="9525" marT="9525"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G</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G</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G</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chemeClr val="bg1"/>
                          </a:solidFill>
                          <a:effectLst/>
                          <a:uLnTx/>
                          <a:uFillTx/>
                          <a:latin typeface="Trebuchet MS"/>
                          <a:ea typeface="+mn-ea"/>
                          <a:cs typeface="+mn-cs"/>
                        </a:rPr>
                        <a:t>G</a:t>
                      </a:r>
                      <a:endParaRPr kumimoji="0" lang="en-US" sz="900" b="1" i="0" u="none" strike="noStrike" kern="1200" cap="none" spc="0" normalizeH="0" baseline="0" noProof="0">
                        <a:ln>
                          <a:noFill/>
                        </a:ln>
                        <a:solidFill>
                          <a:schemeClr val="bg1"/>
                        </a:solidFill>
                        <a:effectLst/>
                        <a:uLnTx/>
                        <a:uFillTx/>
                        <a:latin typeface="Trebuchet MS"/>
                        <a:ea typeface="+mn-ea"/>
                        <a:cs typeface="+mn-cs"/>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G</a:t>
                      </a:r>
                    </a:p>
                  </a:txBody>
                  <a:tcPr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a:noFill/>
                    </a:lnL>
                    <a:lnR>
                      <a:noFill/>
                    </a:lnR>
                    <a:lnT>
                      <a:noFill/>
                    </a:lnT>
                    <a:lnB w="6350" cap="flat" cmpd="sng" algn="ctr">
                      <a:solidFill>
                        <a:srgbClr val="000000"/>
                      </a:solidFill>
                      <a:prstDash val="solid"/>
                      <a:round/>
                      <a:headEnd type="none" w="med" len="med"/>
                      <a:tailEnd type="none" w="med" len="med"/>
                    </a:lnB>
                    <a:solidFill>
                      <a:srgbClr val="0070C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Trebuchet MS"/>
                          <a:ea typeface="+mn-ea"/>
                          <a:cs typeface="+mn-cs"/>
                        </a:rPr>
                        <a:t>N</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0070C0"/>
                    </a:solidFill>
                  </a:tcPr>
                </a:tc>
                <a:tc vMerge="1">
                  <a:txBody>
                    <a:bodyPr/>
                    <a:lstStyle/>
                    <a:p>
                      <a:pPr algn="ctr" fontAlgn="ctr"/>
                      <a:endParaRPr lang="en-US" sz="1000" b="1" i="0" u="none" strike="noStrike">
                        <a:solidFill>
                          <a:srgbClr val="000000"/>
                        </a:solidFill>
                        <a:effectLst/>
                        <a:latin typeface="Trebuchet MS"/>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00" b="1" i="0" u="none" strike="noStrike">
                        <a:solidFill>
                          <a:srgbClr val="C00000"/>
                        </a:solidFill>
                        <a:effectLst/>
                        <a:latin typeface="Trebuchet MS"/>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900" b="1" i="0" u="none" strike="noStrike">
                        <a:solidFill>
                          <a:srgbClr val="000000"/>
                        </a:solidFill>
                        <a:effectLst/>
                        <a:latin typeface="Trebuchet MS"/>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ctr"/>
                      <a:endParaRPr lang="en-US" sz="900" b="0" i="0" u="none" strike="noStrike">
                        <a:solidFill>
                          <a:srgbClr val="000000"/>
                        </a:solidFill>
                        <a:effectLst/>
                        <a:latin typeface="Trebuchet MS"/>
                      </a:endParaRPr>
                    </a:p>
                  </a:txBody>
                  <a:tcPr marL="114300" marR="9525" marT="9525" marB="0"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1785214"/>
                  </a:ext>
                </a:extLst>
              </a:tr>
              <a:tr h="0">
                <a:tc rowSpan="2">
                  <a:txBody>
                    <a:bodyPr/>
                    <a:lstStyle/>
                    <a:p>
                      <a:pPr algn="r" fontAlgn="ctr"/>
                      <a:r>
                        <a:rPr lang="en-US" sz="1000" b="1" i="0" u="none" strike="noStrike">
                          <a:solidFill>
                            <a:srgbClr val="000000"/>
                          </a:solidFill>
                          <a:effectLst/>
                          <a:latin typeface="Trebuchet MS"/>
                        </a:rPr>
                        <a:t>Apps:</a:t>
                      </a:r>
                    </a:p>
                  </a:txBody>
                  <a:tcPr marL="9525" marR="9525" marT="9525"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rowSpan="2">
                  <a:txBody>
                    <a:bodyPr/>
                    <a:lstStyle/>
                    <a:p>
                      <a:pPr algn="ctr" fontAlgn="ctr"/>
                      <a:r>
                        <a:rPr lang="en-CA" sz="1000" b="1" i="0" u="none" strike="noStrike">
                          <a:solidFill>
                            <a:srgbClr val="C00000"/>
                          </a:solidFill>
                          <a:effectLst/>
                          <a:latin typeface="Trebuchet MS"/>
                        </a:rPr>
                        <a:t>25</a:t>
                      </a:r>
                      <a:endParaRPr lang="en-US" sz="1000" b="1" i="0" u="none" strike="noStrike">
                        <a:solidFill>
                          <a:srgbClr val="C00000"/>
                        </a:solidFill>
                        <a:effectLst/>
                        <a:latin typeface="Trebuchet MS"/>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r>
                        <a:rPr lang="en-CA" sz="900" b="1" i="0" u="none" strike="noStrike">
                          <a:solidFill>
                            <a:srgbClr val="000000"/>
                          </a:solidFill>
                          <a:effectLst/>
                          <a:latin typeface="+mj-lt"/>
                        </a:rPr>
                        <a:t>16</a:t>
                      </a:r>
                      <a:endParaRPr lang="en-US" sz="900" b="1" i="0" u="none" strike="noStrike">
                        <a:solidFill>
                          <a:srgbClr val="000000"/>
                        </a:solidFill>
                        <a:effectLst/>
                        <a:latin typeface="+mj-lt"/>
                      </a:endParaRPr>
                    </a:p>
                  </a:txBody>
                  <a:tcPr marL="9525" marR="9525" marT="27432" marB="27432" anchor="ctr">
                    <a:lnL>
                      <a:noFill/>
                    </a:lnL>
                    <a:lnR>
                      <a:noFill/>
                    </a:lnR>
                    <a:lnT w="6350" cap="flat" cmpd="sng" algn="ctr">
                      <a:solidFill>
                        <a:srgbClr val="000000"/>
                      </a:solidFill>
                      <a:prstDash val="solid"/>
                      <a:round/>
                      <a:headEnd type="none" w="med" len="med"/>
                      <a:tailEnd type="none" w="med" len="med"/>
                    </a:lnT>
                    <a:lnB>
                      <a:noFill/>
                    </a:lnB>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j-lt"/>
                          <a:ea typeface="+mn-ea"/>
                          <a:cs typeface="+mn-cs"/>
                        </a:rPr>
                        <a:t>CBPT</a:t>
                      </a:r>
                    </a:p>
                  </a:txBody>
                  <a:tcPr marL="114300" marR="9525" marT="27432" marB="27432" anchor="ctr">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gridSpan="7">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fontAlgn="ctr"/>
                      <a:r>
                        <a:rPr lang="fr-FR" sz="900" b="0" i="0" u="none" strike="noStrike">
                          <a:solidFill>
                            <a:srgbClr val="000000"/>
                          </a:solidFill>
                          <a:effectLst/>
                          <a:latin typeface="Trebuchet MS" panose="020B0603020202020204" pitchFamily="34" charset="0"/>
                        </a:rPr>
                        <a:t>CAAP, CIBC R.Term, CLASS, DDGS, DM, ECM, Excalibur, Forms Management, KC, LCMS, Lending API, mMortgage, PostEdge, RPE, TABS, Target</a:t>
                      </a:r>
                    </a:p>
                  </a:txBody>
                  <a:tcPr marL="9525" marR="9525" marT="27432" marB="27432"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lnL w="9525" cap="flat" cmpd="sng" algn="ctr">
                      <a:solidFill>
                        <a:schemeClr val="tx1"/>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44036896"/>
                  </a:ext>
                </a:extLst>
              </a:tr>
              <a:tr h="190500">
                <a:tc vMerge="1">
                  <a:txBody>
                    <a:bodyPr/>
                    <a:lstStyle/>
                    <a:p>
                      <a:endParaRPr lang="en-US"/>
                    </a:p>
                  </a:txBody>
                  <a:tcPr/>
                </a:tc>
                <a:tc vMerge="1">
                  <a:txBody>
                    <a:bodyPr/>
                    <a:lstStyle/>
                    <a:p>
                      <a:endParaRPr lang="en-US"/>
                    </a:p>
                  </a:txBody>
                  <a:tcPr/>
                </a:tc>
                <a:tc>
                  <a:txBody>
                    <a:bodyPr/>
                    <a:lstStyle/>
                    <a:p>
                      <a:pPr algn="ctr" fontAlgn="ctr"/>
                      <a:r>
                        <a:rPr lang="en-CA" sz="900" b="1" i="0" u="none" strike="noStrike">
                          <a:solidFill>
                            <a:srgbClr val="000000"/>
                          </a:solidFill>
                          <a:effectLst/>
                          <a:latin typeface="Trebuchet MS"/>
                        </a:rPr>
                        <a:t>9</a:t>
                      </a:r>
                      <a:endParaRPr lang="en-US" sz="900" b="1" i="0" u="none" strike="noStrike">
                        <a:solidFill>
                          <a:srgbClr val="000000"/>
                        </a:solidFill>
                        <a:effectLst/>
                        <a:latin typeface="Trebuchet MS"/>
                      </a:endParaRPr>
                    </a:p>
                  </a:txBody>
                  <a:tcPr marL="9525" marR="9525" marT="9525" marB="0" anchor="ctr">
                    <a:lnL>
                      <a:noFill/>
                    </a:lnL>
                    <a:lnR>
                      <a:noFill/>
                    </a:lnR>
                    <a:lnT>
                      <a:noFill/>
                    </a:lnT>
                    <a:lnB w="9525" cap="flat" cmpd="sng" algn="ctr">
                      <a:solidFill>
                        <a:schemeClr val="tx1"/>
                      </a:solidFill>
                      <a:prstDash val="solid"/>
                      <a:round/>
                      <a:headEnd type="none" w="med" len="med"/>
                      <a:tailEnd type="none" w="med" len="med"/>
                    </a:lnB>
                  </a:tcPr>
                </a:tc>
                <a:tc gridSpan="2">
                  <a:txBody>
                    <a:bodyPr/>
                    <a:lstStyle/>
                    <a:p>
                      <a:pPr algn="l" fontAlgn="ctr"/>
                      <a:r>
                        <a:rPr lang="en-US" sz="900" b="0" i="0" u="none" strike="noStrike">
                          <a:solidFill>
                            <a:srgbClr val="000000"/>
                          </a:solidFill>
                          <a:effectLst/>
                          <a:latin typeface="Trebuchet MS"/>
                        </a:rPr>
                        <a:t>Non-CBPT</a:t>
                      </a:r>
                    </a:p>
                  </a:txBody>
                  <a:tcPr marL="114300" marR="9525" marT="9525" marB="0" anchor="ctr">
                    <a:lnL>
                      <a:noFill/>
                    </a:lnL>
                    <a:lnR>
                      <a:noFill/>
                    </a:lnR>
                    <a:lnT>
                      <a:noFill/>
                    </a:lnT>
                    <a:lnB w="9525" cap="flat" cmpd="sng" algn="ctr">
                      <a:solidFill>
                        <a:schemeClr val="tx1"/>
                      </a:solidFill>
                      <a:prstDash val="solid"/>
                      <a:round/>
                      <a:headEnd type="none" w="med" len="med"/>
                      <a:tailEnd type="none" w="med" len="med"/>
                    </a:lnB>
                  </a:tcPr>
                </a:tc>
                <a:tc hMerge="1">
                  <a:txBody>
                    <a:bodyPr/>
                    <a:lstStyle/>
                    <a:p>
                      <a:endParaRPr lang="en-US"/>
                    </a:p>
                  </a:txBody>
                  <a:tcPr/>
                </a:tc>
                <a:tc gridSpan="7">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Trebuchet MS" panose="020B0603020202020204" pitchFamily="34" charset="0"/>
                          <a:ea typeface="+mn-ea"/>
                          <a:cs typeface="+mn-cs"/>
                        </a:rPr>
                        <a:t>Auth Hub, CCARS, CIW, eBanking, ECIF, EDSF, EPC, Fraud Analyst Engine (OLB), Lending BI</a:t>
                      </a:r>
                    </a:p>
                  </a:txBody>
                  <a:tcPr marL="9525" marR="9525" marT="27432" marB="27432" anchor="ctr">
                    <a:lnL>
                      <a:noFill/>
                    </a:lnL>
                    <a:lnR w="9525" cap="flat" cmpd="sng" algn="ctr">
                      <a:solidFill>
                        <a:schemeClr val="tx1"/>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lnL w="9525"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51320110"/>
                  </a:ext>
                </a:extLst>
              </a:tr>
            </a:tbl>
          </a:graphicData>
        </a:graphic>
      </p:graphicFrame>
      <p:graphicFrame>
        <p:nvGraphicFramePr>
          <p:cNvPr id="10" name="Table 11">
            <a:extLst>
              <a:ext uri="{FF2B5EF4-FFF2-40B4-BE49-F238E27FC236}">
                <a16:creationId xmlns:a16="http://schemas.microsoft.com/office/drawing/2014/main" id="{99144C85-8B2F-E629-9099-9BAF6577D98D}"/>
              </a:ext>
            </a:extLst>
          </p:cNvPr>
          <p:cNvGraphicFramePr>
            <a:graphicFrameLocks noGrp="1"/>
          </p:cNvGraphicFramePr>
          <p:nvPr>
            <p:extLst>
              <p:ext uri="{D42A27DB-BD31-4B8C-83A1-F6EECF244321}">
                <p14:modId xmlns:p14="http://schemas.microsoft.com/office/powerpoint/2010/main" val="1375708116"/>
              </p:ext>
            </p:extLst>
          </p:nvPr>
        </p:nvGraphicFramePr>
        <p:xfrm>
          <a:off x="2545235" y="162612"/>
          <a:ext cx="4364148" cy="447976"/>
        </p:xfrm>
        <a:graphic>
          <a:graphicData uri="http://schemas.openxmlformats.org/drawingml/2006/table">
            <a:tbl>
              <a:tblPr firstRow="1" bandRow="1">
                <a:tableStyleId>{5940675A-B579-460E-94D1-54222C63F5DA}</a:tableStyleId>
              </a:tblPr>
              <a:tblGrid>
                <a:gridCol w="1096244">
                  <a:extLst>
                    <a:ext uri="{9D8B030D-6E8A-4147-A177-3AD203B41FA5}">
                      <a16:colId xmlns:a16="http://schemas.microsoft.com/office/drawing/2014/main" val="3257902328"/>
                    </a:ext>
                  </a:extLst>
                </a:gridCol>
                <a:gridCol w="1486499">
                  <a:extLst>
                    <a:ext uri="{9D8B030D-6E8A-4147-A177-3AD203B41FA5}">
                      <a16:colId xmlns:a16="http://schemas.microsoft.com/office/drawing/2014/main" val="1228183955"/>
                    </a:ext>
                  </a:extLst>
                </a:gridCol>
                <a:gridCol w="1005840">
                  <a:extLst>
                    <a:ext uri="{9D8B030D-6E8A-4147-A177-3AD203B41FA5}">
                      <a16:colId xmlns:a16="http://schemas.microsoft.com/office/drawing/2014/main" val="3836033793"/>
                    </a:ext>
                  </a:extLst>
                </a:gridCol>
                <a:gridCol w="775565">
                  <a:extLst>
                    <a:ext uri="{9D8B030D-6E8A-4147-A177-3AD203B41FA5}">
                      <a16:colId xmlns:a16="http://schemas.microsoft.com/office/drawing/2014/main" val="744771580"/>
                    </a:ext>
                  </a:extLst>
                </a:gridCol>
              </a:tblGrid>
              <a:tr h="193161">
                <a:tc>
                  <a:txBody>
                    <a:bodyPr/>
                    <a:lstStyle/>
                    <a:p>
                      <a:pPr algn="l"/>
                      <a:r>
                        <a:rPr lang="en-CA" sz="800" b="1"/>
                        <a:t>Release Triage #:</a:t>
                      </a:r>
                      <a:endParaRPr lang="en-US" sz="800" b="1"/>
                    </a:p>
                  </a:txBody>
                  <a:tcPr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800" b="0" kern="1200">
                        <a:solidFill>
                          <a:schemeClr val="tx1"/>
                        </a:solidFill>
                        <a:latin typeface="+mn-lt"/>
                        <a:ea typeface="+mn-ea"/>
                        <a:cs typeface="+mn-cs"/>
                      </a:endParaRPr>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800" b="1"/>
                        <a:t>SIT/UAT Env:</a:t>
                      </a:r>
                      <a:endParaRPr lang="en-US" sz="800" b="0"/>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sz="800">
                        <a:solidFill>
                          <a:schemeClr val="tx1"/>
                        </a:solidFill>
                        <a:latin typeface="+mn-lt"/>
                      </a:endParaRPr>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33048288"/>
                  </a:ext>
                </a:extLst>
              </a:tr>
              <a:tr h="234616">
                <a:tc>
                  <a:txBody>
                    <a:bodyPr/>
                    <a:lstStyle/>
                    <a:p>
                      <a:pPr algn="l"/>
                      <a:r>
                        <a:rPr lang="en-CA" sz="800" b="1"/>
                        <a:t>TO CIS / SRR #:</a:t>
                      </a:r>
                      <a:endParaRPr lang="en-US" sz="800" b="1"/>
                    </a:p>
                  </a:txBody>
                  <a:tcPr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kern="1200">
                        <a:solidFill>
                          <a:schemeClr val="tx1"/>
                        </a:solidFill>
                        <a:latin typeface="+mn-lt"/>
                        <a:ea typeface="+mn-ea"/>
                        <a:cs typeface="+mn-cs"/>
                      </a:endParaRPr>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800" b="1">
                          <a:latin typeface="+mn-lt"/>
                        </a:rPr>
                        <a:t>Master Change #:</a:t>
                      </a:r>
                      <a:endParaRPr lang="en-CA" sz="800" b="0" i="0" u="none" strike="noStrike" noProof="0"/>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buNone/>
                      </a:pPr>
                      <a:endParaRPr lang="en-US" sz="800"/>
                    </a:p>
                  </a:txBody>
                  <a:tcPr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301497"/>
                  </a:ext>
                </a:extLst>
              </a:tr>
            </a:tbl>
          </a:graphicData>
        </a:graphic>
      </p:graphicFrame>
      <p:graphicFrame>
        <p:nvGraphicFramePr>
          <p:cNvPr id="2" name="Table 1">
            <a:extLst>
              <a:ext uri="{FF2B5EF4-FFF2-40B4-BE49-F238E27FC236}">
                <a16:creationId xmlns:a16="http://schemas.microsoft.com/office/drawing/2014/main" id="{08DBF7C3-65FC-300E-36AE-DC1F2C9EB3F0}"/>
              </a:ext>
            </a:extLst>
          </p:cNvPr>
          <p:cNvGraphicFramePr>
            <a:graphicFrameLocks noGrp="1"/>
          </p:cNvGraphicFramePr>
          <p:nvPr>
            <p:extLst>
              <p:ext uri="{D42A27DB-BD31-4B8C-83A1-F6EECF244321}">
                <p14:modId xmlns:p14="http://schemas.microsoft.com/office/powerpoint/2010/main" val="2482021343"/>
              </p:ext>
            </p:extLst>
          </p:nvPr>
        </p:nvGraphicFramePr>
        <p:xfrm>
          <a:off x="6499473" y="3199830"/>
          <a:ext cx="5234250" cy="3170522"/>
        </p:xfrm>
        <a:graphic>
          <a:graphicData uri="http://schemas.openxmlformats.org/drawingml/2006/table">
            <a:tbl>
              <a:tblPr firstRow="1" bandRow="1">
                <a:tableStyleId>{5940675A-B579-460E-94D1-54222C63F5DA}</a:tableStyleId>
              </a:tblPr>
              <a:tblGrid>
                <a:gridCol w="1101642">
                  <a:extLst>
                    <a:ext uri="{9D8B030D-6E8A-4147-A177-3AD203B41FA5}">
                      <a16:colId xmlns:a16="http://schemas.microsoft.com/office/drawing/2014/main" val="2121319596"/>
                    </a:ext>
                  </a:extLst>
                </a:gridCol>
                <a:gridCol w="459018">
                  <a:extLst>
                    <a:ext uri="{9D8B030D-6E8A-4147-A177-3AD203B41FA5}">
                      <a16:colId xmlns:a16="http://schemas.microsoft.com/office/drawing/2014/main" val="3594431399"/>
                    </a:ext>
                  </a:extLst>
                </a:gridCol>
                <a:gridCol w="785378">
                  <a:extLst>
                    <a:ext uri="{9D8B030D-6E8A-4147-A177-3AD203B41FA5}">
                      <a16:colId xmlns:a16="http://schemas.microsoft.com/office/drawing/2014/main" val="3841007314"/>
                    </a:ext>
                  </a:extLst>
                </a:gridCol>
                <a:gridCol w="785091">
                  <a:extLst>
                    <a:ext uri="{9D8B030D-6E8A-4147-A177-3AD203B41FA5}">
                      <a16:colId xmlns:a16="http://schemas.microsoft.com/office/drawing/2014/main" val="3593483485"/>
                    </a:ext>
                  </a:extLst>
                </a:gridCol>
                <a:gridCol w="2103121">
                  <a:extLst>
                    <a:ext uri="{9D8B030D-6E8A-4147-A177-3AD203B41FA5}">
                      <a16:colId xmlns:a16="http://schemas.microsoft.com/office/drawing/2014/main" val="3792836139"/>
                    </a:ext>
                  </a:extLst>
                </a:gridCol>
              </a:tblGrid>
              <a:tr h="0">
                <a:tc gridSpan="5">
                  <a:txBody>
                    <a:bodyPr/>
                    <a:lstStyle/>
                    <a:p>
                      <a:pPr algn="ctr"/>
                      <a:r>
                        <a:rPr lang="en-CA" sz="800" b="1">
                          <a:solidFill>
                            <a:schemeClr val="bg1"/>
                          </a:solidFill>
                        </a:rPr>
                        <a:t>QA</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pPr algn="ctr"/>
                      <a:endParaRPr lang="en-US" sz="1000"/>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579959654"/>
                  </a:ext>
                </a:extLst>
              </a:tr>
              <a:tr h="226683">
                <a:tc>
                  <a:txBody>
                    <a:bodyPr/>
                    <a:lstStyle/>
                    <a:p>
                      <a:r>
                        <a:rPr lang="en-CA" sz="800">
                          <a:solidFill>
                            <a:schemeClr val="tx1"/>
                          </a:solidFill>
                        </a:rPr>
                        <a:t>SIT</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G</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800" kern="1200">
                          <a:solidFill>
                            <a:schemeClr val="tx1"/>
                          </a:solidFill>
                          <a:latin typeface="+mn-lt"/>
                          <a:ea typeface="+mn-ea"/>
                          <a:cs typeface="+mn-cs"/>
                        </a:rPr>
                        <a:t>Oct 20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latinLnBrk="0" hangingPunct="1">
                        <a:lnSpc>
                          <a:spcPct val="100000"/>
                        </a:lnSpc>
                        <a:spcBef>
                          <a:spcPts val="0"/>
                        </a:spcBef>
                        <a:spcAft>
                          <a:spcPts val="0"/>
                        </a:spcAft>
                        <a:buNone/>
                      </a:pPr>
                      <a:r>
                        <a:rPr lang="en-CA" sz="800" kern="1200">
                          <a:solidFill>
                            <a:schemeClr val="tx1"/>
                          </a:solidFill>
                          <a:latin typeface="+mn-lt"/>
                          <a:ea typeface="+mn-ea"/>
                          <a:cs typeface="+mn-cs"/>
                        </a:rPr>
                        <a:t>Nov 28</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80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5940101"/>
                  </a:ext>
                </a:extLst>
              </a:tr>
              <a:tr h="0">
                <a:tc>
                  <a:txBody>
                    <a:bodyPr/>
                    <a:lstStyle/>
                    <a:p>
                      <a:r>
                        <a:rPr lang="en-CA" sz="800">
                          <a:solidFill>
                            <a:schemeClr val="tx1"/>
                          </a:solidFill>
                        </a:rPr>
                        <a:t>UAT</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800" kern="1200">
                          <a:solidFill>
                            <a:schemeClr val="tx1"/>
                          </a:solidFill>
                          <a:latin typeface="+mn-lt"/>
                          <a:ea typeface="+mn-ea"/>
                          <a:cs typeface="+mn-cs"/>
                        </a:rPr>
                        <a:t>Dec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Dec 26</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0141708"/>
                  </a:ext>
                </a:extLst>
              </a:tr>
              <a:tr h="215434">
                <a:tc>
                  <a:txBody>
                    <a:bodyPr/>
                    <a:lstStyle/>
                    <a:p>
                      <a:r>
                        <a:rPr lang="en-CA" sz="800">
                          <a:solidFill>
                            <a:schemeClr val="tx1"/>
                          </a:solidFill>
                        </a:rPr>
                        <a:t>PAT</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Dec 29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Jan 16</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3585334"/>
                  </a:ext>
                </a:extLst>
              </a:tr>
              <a:tr h="0">
                <a:tc>
                  <a:txBody>
                    <a:bodyPr/>
                    <a:lstStyle/>
                    <a:p>
                      <a:r>
                        <a:rPr lang="en-CA" sz="800">
                          <a:solidFill>
                            <a:schemeClr val="tx1"/>
                          </a:solidFill>
                        </a:rPr>
                        <a:t>CAAP PTE</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5</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16</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0838069"/>
                  </a:ext>
                </a:extLst>
              </a:tr>
              <a:tr h="206275">
                <a:tc>
                  <a:txBody>
                    <a:bodyPr/>
                    <a:lstStyle/>
                    <a:p>
                      <a:r>
                        <a:rPr lang="en-CA" sz="800">
                          <a:solidFill>
                            <a:schemeClr val="tx1"/>
                          </a:solidFill>
                        </a:rPr>
                        <a:t>PIV Planning</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12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23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422300"/>
                  </a:ext>
                </a:extLst>
              </a:tr>
              <a:tr h="0">
                <a:tc>
                  <a:txBody>
                    <a:bodyPr/>
                    <a:lstStyle/>
                    <a:p>
                      <a:r>
                        <a:rPr kumimoji="0" lang="en-CA" sz="800" b="0" i="0" u="none" strike="noStrike" kern="1200" cap="none" spc="0" normalizeH="0" baseline="0">
                          <a:ln>
                            <a:noFill/>
                          </a:ln>
                          <a:solidFill>
                            <a:schemeClr val="tx1"/>
                          </a:solidFill>
                          <a:effectLst/>
                          <a:uLnTx/>
                          <a:uFillTx/>
                          <a:latin typeface="Trebuchet MS"/>
                          <a:ea typeface="+mn-ea"/>
                          <a:cs typeface="+mn-cs"/>
                        </a:rPr>
                        <a:t>CBPT Reg.</a:t>
                      </a:r>
                      <a:endParaRPr kumimoji="0" lang="en-US" sz="800" b="0" i="0" u="none" strike="noStrike" kern="1200" cap="none" spc="0" normalizeH="0" baseline="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12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23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591194"/>
                  </a:ext>
                </a:extLst>
              </a:tr>
              <a:tr h="229202">
                <a:tc>
                  <a:txBody>
                    <a:bodyPr/>
                    <a:lstStyle/>
                    <a:p>
                      <a:r>
                        <a:rPr lang="en-CA" sz="800">
                          <a:solidFill>
                            <a:schemeClr val="tx1"/>
                          </a:solidFill>
                        </a:rPr>
                        <a:t>COMPASS Reg.</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12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23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01694"/>
                  </a:ext>
                </a:extLst>
              </a:tr>
              <a:tr h="0">
                <a:tc>
                  <a:txBody>
                    <a:bodyPr/>
                    <a:lstStyle/>
                    <a:p>
                      <a:r>
                        <a:rPr lang="en-CA" sz="800">
                          <a:solidFill>
                            <a:schemeClr val="tx1"/>
                          </a:solidFill>
                        </a:rPr>
                        <a:t>FNF Reg.</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5</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16</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6745038"/>
                  </a:ext>
                </a:extLst>
              </a:tr>
              <a:tr h="0">
                <a:tc>
                  <a:txBody>
                    <a:bodyPr/>
                    <a:lstStyle/>
                    <a:p>
                      <a:r>
                        <a:rPr lang="en-CA" sz="800">
                          <a:solidFill>
                            <a:schemeClr val="tx1"/>
                          </a:solidFill>
                        </a:rPr>
                        <a:t>B/O Testing</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12</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mn-lt"/>
                          <a:ea typeface="+mn-ea"/>
                          <a:cs typeface="+mn-cs"/>
                        </a:rPr>
                        <a:t>Jan 23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8927080"/>
                  </a:ext>
                </a:extLst>
              </a:tr>
              <a:tr h="0">
                <a:tc gridSpan="5">
                  <a:txBody>
                    <a:bodyPr/>
                    <a:lstStyle/>
                    <a:p>
                      <a:pPr algn="ctr"/>
                      <a:r>
                        <a:rPr lang="en-CA" sz="800" b="1">
                          <a:solidFill>
                            <a:schemeClr val="bg1"/>
                          </a:solidFill>
                        </a:rPr>
                        <a:t>PMO</a:t>
                      </a: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hMerge="1">
                  <a:txBody>
                    <a:bodyPr/>
                    <a:lstStyle/>
                    <a:p>
                      <a:pPr algn="ctr"/>
                      <a:endParaRPr lang="en-US" sz="1000" b="1"/>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algn="ctr"/>
                      <a:endParaRPr lang="en-US" sz="800" b="1">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10009090"/>
                  </a:ext>
                </a:extLst>
              </a:tr>
              <a:tr h="0">
                <a:tc>
                  <a:txBody>
                    <a:bodyPr/>
                    <a:lstStyle/>
                    <a:p>
                      <a:r>
                        <a:rPr lang="en-CA" sz="800">
                          <a:solidFill>
                            <a:schemeClr val="tx1"/>
                          </a:solidFill>
                        </a:rPr>
                        <a:t>Triages</a:t>
                      </a:r>
                      <a:endParaRPr lang="en-US" sz="8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800" kern="1200">
                          <a:solidFill>
                            <a:schemeClr val="tx1"/>
                          </a:solidFill>
                          <a:latin typeface="+mn-lt"/>
                          <a:ea typeface="+mn-ea"/>
                          <a:cs typeface="+mn-cs"/>
                        </a:rPr>
                        <a:t>Oct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Jan 16</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5717354"/>
                  </a:ext>
                </a:extLst>
              </a:tr>
              <a:tr h="0">
                <a:tc>
                  <a:txBody>
                    <a:bodyPr/>
                    <a:lstStyle/>
                    <a:p>
                      <a:r>
                        <a:rPr lang="en-CA" sz="800">
                          <a:solidFill>
                            <a:schemeClr val="tx1"/>
                          </a:solidFill>
                        </a:rPr>
                        <a:t>CIRA</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800" kern="1200">
                          <a:solidFill>
                            <a:schemeClr val="tx1"/>
                          </a:solidFill>
                          <a:latin typeface="+mn-lt"/>
                          <a:ea typeface="+mn-ea"/>
                          <a:cs typeface="+mn-cs"/>
                        </a:rPr>
                        <a:t>Oct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Jan 16</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800" b="0" i="0" u="none" strike="noStrike">
                        <a:solidFill>
                          <a:srgbClr val="000000"/>
                        </a:solidFill>
                        <a:effectLst/>
                        <a:latin typeface="Trebuchet MS" panose="020B0603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0183541"/>
                  </a:ext>
                </a:extLst>
              </a:tr>
              <a:tr h="0">
                <a:tc>
                  <a:txBody>
                    <a:bodyPr/>
                    <a:lstStyle/>
                    <a:p>
                      <a:r>
                        <a:rPr lang="en-CA" sz="800">
                          <a:solidFill>
                            <a:schemeClr val="tx1"/>
                          </a:solidFill>
                        </a:rPr>
                        <a:t>Gating</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Trebuchet MS"/>
                          <a:ea typeface="+mn-ea"/>
                          <a:cs typeface="+mn-cs"/>
                        </a:rPr>
                        <a:t>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CA" sz="800" kern="1200">
                          <a:solidFill>
                            <a:schemeClr val="tx1"/>
                          </a:solidFill>
                          <a:latin typeface="+mn-lt"/>
                          <a:ea typeface="+mn-ea"/>
                          <a:cs typeface="+mn-cs"/>
                        </a:rPr>
                        <a:t>Oct 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prstClr val="black"/>
                          </a:solidFill>
                          <a:effectLst/>
                          <a:uLnTx/>
                          <a:uFillTx/>
                          <a:latin typeface="Trebuchet MS"/>
                          <a:ea typeface="+mn-ea"/>
                          <a:cs typeface="+mn-cs"/>
                        </a:rPr>
                        <a:t>Jan 23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US" sz="800" b="0" i="0" u="none" strike="noStrike" kern="1200" cap="none" spc="0" normalizeH="0" baseline="0" noProof="0">
                        <a:ln>
                          <a:noFill/>
                        </a:ln>
                        <a:effectLst/>
                        <a:uLnTx/>
                        <a:uFillTx/>
                        <a:latin typeface="Trebuchet MS"/>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3337473"/>
                  </a:ext>
                </a:extLst>
              </a:tr>
            </a:tbl>
          </a:graphicData>
        </a:graphic>
      </p:graphicFrame>
      <p:graphicFrame>
        <p:nvGraphicFramePr>
          <p:cNvPr id="3" name="Table 2">
            <a:extLst>
              <a:ext uri="{FF2B5EF4-FFF2-40B4-BE49-F238E27FC236}">
                <a16:creationId xmlns:a16="http://schemas.microsoft.com/office/drawing/2014/main" id="{7D2CAEE6-CFE6-D2B1-0492-94ED85D6154B}"/>
              </a:ext>
            </a:extLst>
          </p:cNvPr>
          <p:cNvGraphicFramePr>
            <a:graphicFrameLocks noGrp="1"/>
          </p:cNvGraphicFramePr>
          <p:nvPr>
            <p:extLst>
              <p:ext uri="{D42A27DB-BD31-4B8C-83A1-F6EECF244321}">
                <p14:modId xmlns:p14="http://schemas.microsoft.com/office/powerpoint/2010/main" val="373847465"/>
              </p:ext>
            </p:extLst>
          </p:nvPr>
        </p:nvGraphicFramePr>
        <p:xfrm>
          <a:off x="296708" y="2826450"/>
          <a:ext cx="6119569" cy="609600"/>
        </p:xfrm>
        <a:graphic>
          <a:graphicData uri="http://schemas.openxmlformats.org/drawingml/2006/table">
            <a:tbl>
              <a:tblPr firstRow="1" bandRow="1">
                <a:tableStyleId>{5940675A-B579-460E-94D1-54222C63F5DA}</a:tableStyleId>
              </a:tblPr>
              <a:tblGrid>
                <a:gridCol w="719949">
                  <a:extLst>
                    <a:ext uri="{9D8B030D-6E8A-4147-A177-3AD203B41FA5}">
                      <a16:colId xmlns:a16="http://schemas.microsoft.com/office/drawing/2014/main" val="252370183"/>
                    </a:ext>
                  </a:extLst>
                </a:gridCol>
                <a:gridCol w="719949">
                  <a:extLst>
                    <a:ext uri="{9D8B030D-6E8A-4147-A177-3AD203B41FA5}">
                      <a16:colId xmlns:a16="http://schemas.microsoft.com/office/drawing/2014/main" val="1636837674"/>
                    </a:ext>
                  </a:extLst>
                </a:gridCol>
                <a:gridCol w="4679671">
                  <a:extLst>
                    <a:ext uri="{9D8B030D-6E8A-4147-A177-3AD203B41FA5}">
                      <a16:colId xmlns:a16="http://schemas.microsoft.com/office/drawing/2014/main" val="2329575364"/>
                    </a:ext>
                  </a:extLst>
                </a:gridCol>
              </a:tblGrid>
              <a:tr h="182880">
                <a:tc>
                  <a:txBody>
                    <a:bodyPr/>
                    <a:lstStyle/>
                    <a:p>
                      <a:pPr algn="ctr"/>
                      <a:r>
                        <a:rPr lang="en-CA" sz="1000" b="1"/>
                        <a:t>Status</a:t>
                      </a:r>
                      <a:endParaRPr lang="en-US" sz="1000" b="1"/>
                    </a:p>
                  </a:txBody>
                  <a:tcPr/>
                </a:tc>
                <a:tc>
                  <a:txBody>
                    <a:bodyPr/>
                    <a:lstStyle/>
                    <a:p>
                      <a:pPr algn="ctr"/>
                      <a:r>
                        <a:rPr lang="en-CA" sz="1000" b="1"/>
                        <a:t>Phase</a:t>
                      </a:r>
                      <a:endParaRPr lang="en-US" sz="1000" b="1"/>
                    </a:p>
                  </a:txBody>
                  <a:tcPr/>
                </a:tc>
                <a:tc>
                  <a:txBody>
                    <a:bodyPr/>
                    <a:lstStyle/>
                    <a:p>
                      <a:pPr algn="ctr"/>
                      <a:r>
                        <a:rPr lang="en-CA" sz="1000" b="1"/>
                        <a:t>Item</a:t>
                      </a:r>
                      <a:endParaRPr lang="en-US" sz="1000" b="1"/>
                    </a:p>
                  </a:txBody>
                  <a:tcPr/>
                </a:tc>
                <a:extLst>
                  <a:ext uri="{0D108BD9-81ED-4DB2-BD59-A6C34878D82A}">
                    <a16:rowId xmlns:a16="http://schemas.microsoft.com/office/drawing/2014/main" val="2421313479"/>
                  </a:ext>
                </a:extLst>
              </a:tr>
              <a:tr h="315026">
                <a:tc>
                  <a:txBody>
                    <a:bodyPr/>
                    <a:lstStyle/>
                    <a:p>
                      <a:pPr algn="ctr"/>
                      <a:r>
                        <a:rPr lang="en-CA" sz="900" b="1">
                          <a:latin typeface="+mj-lt"/>
                        </a:rPr>
                        <a:t>Y</a:t>
                      </a:r>
                      <a:endParaRPr lang="en-US" sz="900" b="1">
                        <a:latin typeface="+mj-lt"/>
                      </a:endParaRPr>
                    </a:p>
                  </a:txBody>
                  <a:tcPr anchor="ctr">
                    <a:solidFill>
                      <a:srgbClr val="FFFF00"/>
                    </a:solidFill>
                  </a:tcPr>
                </a:tc>
                <a:tc>
                  <a:txBody>
                    <a:bodyPr/>
                    <a:lstStyle/>
                    <a:p>
                      <a:pPr algn="ctr"/>
                      <a:r>
                        <a:rPr lang="en-CA" sz="900" b="1">
                          <a:latin typeface="+mj-lt"/>
                        </a:rPr>
                        <a:t>SIT</a:t>
                      </a:r>
                      <a:endParaRPr lang="en-US" sz="900" b="1">
                        <a:latin typeface="+mj-lt"/>
                      </a:endParaRP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1" i="0" u="none" strike="noStrike">
                          <a:solidFill>
                            <a:srgbClr val="000000"/>
                          </a:solidFill>
                          <a:effectLst/>
                          <a:latin typeface="+mj-lt"/>
                        </a:rPr>
                        <a:t>4114 | Digital Switch Pre-Qualification</a:t>
                      </a:r>
                      <a:r>
                        <a:rPr lang="en-US" sz="900" b="1" i="0" u="none" strike="noStrike">
                          <a:solidFill>
                            <a:srgbClr val="000000"/>
                          </a:solidFill>
                          <a:effectLst/>
                          <a:latin typeface="Trebuchet MS" panose="020B0603020202020204" pitchFamily="34" charset="0"/>
                        </a:rPr>
                        <a:t>: </a:t>
                      </a:r>
                      <a:r>
                        <a:rPr lang="en-US" sz="900" b="0" i="0" u="none" strike="noStrike">
                          <a:solidFill>
                            <a:srgbClr val="000000"/>
                          </a:solidFill>
                          <a:effectLst/>
                          <a:latin typeface="Trebuchet MS" panose="020B0603020202020204" pitchFamily="34" charset="0"/>
                        </a:rPr>
                        <a:t>The team is missing several approvals for design for CR5.  The team is still solutioning CR29, causing a delay.</a:t>
                      </a:r>
                    </a:p>
                  </a:txBody>
                  <a:tcPr/>
                </a:tc>
                <a:extLst>
                  <a:ext uri="{0D108BD9-81ED-4DB2-BD59-A6C34878D82A}">
                    <a16:rowId xmlns:a16="http://schemas.microsoft.com/office/drawing/2014/main" val="1034236434"/>
                  </a:ext>
                </a:extLst>
              </a:tr>
            </a:tbl>
          </a:graphicData>
        </a:graphic>
      </p:graphicFrame>
    </p:spTree>
    <p:extLst>
      <p:ext uri="{BB962C8B-B14F-4D97-AF65-F5344CB8AC3E}">
        <p14:creationId xmlns:p14="http://schemas.microsoft.com/office/powerpoint/2010/main" val="3354030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E51BB-BC25-46DD-0ABF-DFC139D673D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D60A8D1-F821-8CC1-1551-1807AFEF7399}"/>
              </a:ext>
            </a:extLst>
          </p:cNvPr>
          <p:cNvSpPr>
            <a:spLocks noGrp="1"/>
          </p:cNvSpPr>
          <p:nvPr>
            <p:ph type="title"/>
          </p:nvPr>
        </p:nvSpPr>
        <p:spPr>
          <a:xfrm>
            <a:off x="297180" y="219075"/>
            <a:ext cx="10933748" cy="581983"/>
          </a:xfrm>
        </p:spPr>
        <p:txBody>
          <a:bodyPr/>
          <a:lstStyle/>
          <a:p>
            <a:r>
              <a:rPr lang="en-CA" sz="2800"/>
              <a:t>February 1</a:t>
            </a:r>
            <a:r>
              <a:rPr lang="en-CA" sz="2800" baseline="30000"/>
              <a:t>st</a:t>
            </a:r>
            <a:r>
              <a:rPr lang="en-CA" sz="2800"/>
              <a:t> Release Scope</a:t>
            </a:r>
            <a:endParaRPr lang="en-US" sz="2800"/>
          </a:p>
        </p:txBody>
      </p:sp>
      <p:graphicFrame>
        <p:nvGraphicFramePr>
          <p:cNvPr id="13" name="Table 2">
            <a:extLst>
              <a:ext uri="{FF2B5EF4-FFF2-40B4-BE49-F238E27FC236}">
                <a16:creationId xmlns:a16="http://schemas.microsoft.com/office/drawing/2014/main" id="{1FAD0AA4-EC27-53D1-68AF-D1D544BBD33E}"/>
              </a:ext>
            </a:extLst>
          </p:cNvPr>
          <p:cNvGraphicFramePr>
            <a:graphicFrameLocks noGrp="1"/>
          </p:cNvGraphicFramePr>
          <p:nvPr/>
        </p:nvGraphicFramePr>
        <p:xfrm>
          <a:off x="6948023" y="219075"/>
          <a:ext cx="4588193" cy="182880"/>
        </p:xfrm>
        <a:graphic>
          <a:graphicData uri="http://schemas.openxmlformats.org/drawingml/2006/table">
            <a:tbl>
              <a:tblPr firstRow="1" bandRow="1"/>
              <a:tblGrid>
                <a:gridCol w="208280">
                  <a:extLst>
                    <a:ext uri="{9D8B030D-6E8A-4147-A177-3AD203B41FA5}">
                      <a16:colId xmlns:a16="http://schemas.microsoft.com/office/drawing/2014/main" val="2552748061"/>
                    </a:ext>
                  </a:extLst>
                </a:gridCol>
                <a:gridCol w="548640">
                  <a:extLst>
                    <a:ext uri="{9D8B030D-6E8A-4147-A177-3AD203B41FA5}">
                      <a16:colId xmlns:a16="http://schemas.microsoft.com/office/drawing/2014/main" val="2949818358"/>
                    </a:ext>
                  </a:extLst>
                </a:gridCol>
                <a:gridCol w="208280">
                  <a:extLst>
                    <a:ext uri="{9D8B030D-6E8A-4147-A177-3AD203B41FA5}">
                      <a16:colId xmlns:a16="http://schemas.microsoft.com/office/drawing/2014/main" val="3768384043"/>
                    </a:ext>
                  </a:extLst>
                </a:gridCol>
                <a:gridCol w="822960">
                  <a:extLst>
                    <a:ext uri="{9D8B030D-6E8A-4147-A177-3AD203B41FA5}">
                      <a16:colId xmlns:a16="http://schemas.microsoft.com/office/drawing/2014/main" val="3673821677"/>
                    </a:ext>
                  </a:extLst>
                </a:gridCol>
                <a:gridCol w="208280">
                  <a:extLst>
                    <a:ext uri="{9D8B030D-6E8A-4147-A177-3AD203B41FA5}">
                      <a16:colId xmlns:a16="http://schemas.microsoft.com/office/drawing/2014/main" val="1380191459"/>
                    </a:ext>
                  </a:extLst>
                </a:gridCol>
                <a:gridCol w="771843">
                  <a:extLst>
                    <a:ext uri="{9D8B030D-6E8A-4147-A177-3AD203B41FA5}">
                      <a16:colId xmlns:a16="http://schemas.microsoft.com/office/drawing/2014/main" val="2784429797"/>
                    </a:ext>
                  </a:extLst>
                </a:gridCol>
                <a:gridCol w="208280">
                  <a:extLst>
                    <a:ext uri="{9D8B030D-6E8A-4147-A177-3AD203B41FA5}">
                      <a16:colId xmlns:a16="http://schemas.microsoft.com/office/drawing/2014/main" val="906539283"/>
                    </a:ext>
                  </a:extLst>
                </a:gridCol>
                <a:gridCol w="822960">
                  <a:extLst>
                    <a:ext uri="{9D8B030D-6E8A-4147-A177-3AD203B41FA5}">
                      <a16:colId xmlns:a16="http://schemas.microsoft.com/office/drawing/2014/main" val="2265317318"/>
                    </a:ext>
                  </a:extLst>
                </a:gridCol>
                <a:gridCol w="240030">
                  <a:extLst>
                    <a:ext uri="{9D8B030D-6E8A-4147-A177-3AD203B41FA5}">
                      <a16:colId xmlns:a16="http://schemas.microsoft.com/office/drawing/2014/main" val="4285212843"/>
                    </a:ext>
                  </a:extLst>
                </a:gridCol>
                <a:gridCol w="548640">
                  <a:extLst>
                    <a:ext uri="{9D8B030D-6E8A-4147-A177-3AD203B41FA5}">
                      <a16:colId xmlns:a16="http://schemas.microsoft.com/office/drawing/2014/main" val="3048000558"/>
                    </a:ext>
                  </a:extLst>
                </a:gridCol>
              </a:tblGrid>
              <a:tr h="182880">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N</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Not Started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G</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In Progress, On Track</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Y</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May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R</a:t>
                      </a:r>
                      <a:endParaRPr lang="en-US" sz="5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Will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C</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Complete</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graphicFrame>
        <p:nvGraphicFramePr>
          <p:cNvPr id="9" name="Table 8">
            <a:extLst>
              <a:ext uri="{FF2B5EF4-FFF2-40B4-BE49-F238E27FC236}">
                <a16:creationId xmlns:a16="http://schemas.microsoft.com/office/drawing/2014/main" id="{499E6AF2-E9DD-7BC7-E659-A6D96A0A2DC3}"/>
              </a:ext>
            </a:extLst>
          </p:cNvPr>
          <p:cNvGraphicFramePr>
            <a:graphicFrameLocks noGrp="1"/>
          </p:cNvGraphicFramePr>
          <p:nvPr>
            <p:extLst>
              <p:ext uri="{D42A27DB-BD31-4B8C-83A1-F6EECF244321}">
                <p14:modId xmlns:p14="http://schemas.microsoft.com/office/powerpoint/2010/main" val="1967599649"/>
              </p:ext>
            </p:extLst>
          </p:nvPr>
        </p:nvGraphicFramePr>
        <p:xfrm>
          <a:off x="297180" y="801057"/>
          <a:ext cx="11259058" cy="5327325"/>
        </p:xfrm>
        <a:graphic>
          <a:graphicData uri="http://schemas.openxmlformats.org/drawingml/2006/table">
            <a:tbl>
              <a:tblPr/>
              <a:tblGrid>
                <a:gridCol w="4023360">
                  <a:extLst>
                    <a:ext uri="{9D8B030D-6E8A-4147-A177-3AD203B41FA5}">
                      <a16:colId xmlns:a16="http://schemas.microsoft.com/office/drawing/2014/main" val="3375974098"/>
                    </a:ext>
                  </a:extLst>
                </a:gridCol>
                <a:gridCol w="847926">
                  <a:extLst>
                    <a:ext uri="{9D8B030D-6E8A-4147-A177-3AD203B41FA5}">
                      <a16:colId xmlns:a16="http://schemas.microsoft.com/office/drawing/2014/main" val="894070015"/>
                    </a:ext>
                  </a:extLst>
                </a:gridCol>
                <a:gridCol w="1011731">
                  <a:extLst>
                    <a:ext uri="{9D8B030D-6E8A-4147-A177-3AD203B41FA5}">
                      <a16:colId xmlns:a16="http://schemas.microsoft.com/office/drawing/2014/main" val="1951989907"/>
                    </a:ext>
                  </a:extLst>
                </a:gridCol>
                <a:gridCol w="655217">
                  <a:extLst>
                    <a:ext uri="{9D8B030D-6E8A-4147-A177-3AD203B41FA5}">
                      <a16:colId xmlns:a16="http://schemas.microsoft.com/office/drawing/2014/main" val="638695"/>
                    </a:ext>
                  </a:extLst>
                </a:gridCol>
                <a:gridCol w="274320">
                  <a:extLst>
                    <a:ext uri="{9D8B030D-6E8A-4147-A177-3AD203B41FA5}">
                      <a16:colId xmlns:a16="http://schemas.microsoft.com/office/drawing/2014/main" val="3959186214"/>
                    </a:ext>
                  </a:extLst>
                </a:gridCol>
                <a:gridCol w="274320">
                  <a:extLst>
                    <a:ext uri="{9D8B030D-6E8A-4147-A177-3AD203B41FA5}">
                      <a16:colId xmlns:a16="http://schemas.microsoft.com/office/drawing/2014/main" val="1292240845"/>
                    </a:ext>
                  </a:extLst>
                </a:gridCol>
                <a:gridCol w="221617">
                  <a:extLst>
                    <a:ext uri="{9D8B030D-6E8A-4147-A177-3AD203B41FA5}">
                      <a16:colId xmlns:a16="http://schemas.microsoft.com/office/drawing/2014/main" val="3423191492"/>
                    </a:ext>
                  </a:extLst>
                </a:gridCol>
                <a:gridCol w="3121912">
                  <a:extLst>
                    <a:ext uri="{9D8B030D-6E8A-4147-A177-3AD203B41FA5}">
                      <a16:colId xmlns:a16="http://schemas.microsoft.com/office/drawing/2014/main" val="1552611941"/>
                    </a:ext>
                  </a:extLst>
                </a:gridCol>
                <a:gridCol w="828655">
                  <a:extLst>
                    <a:ext uri="{9D8B030D-6E8A-4147-A177-3AD203B41FA5}">
                      <a16:colId xmlns:a16="http://schemas.microsoft.com/office/drawing/2014/main" val="2417343218"/>
                    </a:ext>
                  </a:extLst>
                </a:gridCol>
              </a:tblGrid>
              <a:tr h="143959">
                <a:tc>
                  <a:txBody>
                    <a:bodyPr/>
                    <a:lstStyle/>
                    <a:p>
                      <a:pPr algn="l" fontAlgn="b">
                        <a:buNone/>
                      </a:pPr>
                      <a:r>
                        <a:rPr lang="en-US" sz="1000" b="1" i="0" u="none" strike="noStrike">
                          <a:solidFill>
                            <a:srgbClr val="000000"/>
                          </a:solidFill>
                          <a:effectLst/>
                          <a:latin typeface="Trebuchet MS" panose="020B0603020202020204" pitchFamily="34" charset="0"/>
                        </a:rPr>
                        <a:t>Item</a:t>
                      </a:r>
                    </a:p>
                  </a:txBody>
                  <a:tcPr marL="2563" marR="2563" marT="256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1000" b="1" i="0" u="none" strike="noStrike">
                          <a:solidFill>
                            <a:srgbClr val="000000"/>
                          </a:solidFill>
                          <a:effectLst/>
                          <a:latin typeface="Trebuchet MS" panose="020B0603020202020204" pitchFamily="34" charset="0"/>
                        </a:rPr>
                        <a:t>PM</a:t>
                      </a:r>
                    </a:p>
                  </a:txBody>
                  <a:tcPr marL="2563" marR="2563" marT="256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1000" b="1" i="0" u="none" strike="noStrike">
                          <a:solidFill>
                            <a:srgbClr val="000000"/>
                          </a:solidFill>
                          <a:effectLst/>
                          <a:latin typeface="Trebuchet MS" panose="020B0603020202020204" pitchFamily="34" charset="0"/>
                        </a:rPr>
                        <a:t>PD</a:t>
                      </a:r>
                    </a:p>
                  </a:txBody>
                  <a:tcPr marL="2563" marR="2563" marT="256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1000" b="1" i="0" u="none" strike="noStrike">
                          <a:solidFill>
                            <a:srgbClr val="000000"/>
                          </a:solidFill>
                          <a:effectLst/>
                          <a:latin typeface="Trebuchet MS" panose="020B0603020202020204" pitchFamily="34" charset="0"/>
                        </a:rPr>
                        <a:t>Type</a:t>
                      </a:r>
                    </a:p>
                  </a:txBody>
                  <a:tcPr marL="2563" marR="2563" marT="2563"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1000" b="1" i="0" u="none" strike="noStrike">
                          <a:solidFill>
                            <a:srgbClr val="000000"/>
                          </a:solidFill>
                          <a:effectLst/>
                          <a:latin typeface="Trebuchet MS" panose="020B0603020202020204" pitchFamily="34" charset="0"/>
                        </a:rPr>
                        <a:t>REQ</a:t>
                      </a:r>
                    </a:p>
                  </a:txBody>
                  <a:tcPr marL="2563" marR="2563" marT="256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1000" b="1" i="0" u="none" strike="noStrike">
                          <a:solidFill>
                            <a:srgbClr val="000000"/>
                          </a:solidFill>
                          <a:effectLst/>
                          <a:latin typeface="Trebuchet MS" panose="020B0603020202020204" pitchFamily="34" charset="0"/>
                        </a:rPr>
                        <a:t>DEV</a:t>
                      </a:r>
                    </a:p>
                  </a:txBody>
                  <a:tcPr marL="2563" marR="2563" marT="256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1000" b="1" i="0" u="none" strike="noStrike">
                          <a:solidFill>
                            <a:srgbClr val="000000"/>
                          </a:solidFill>
                          <a:effectLst/>
                          <a:latin typeface="Trebuchet MS" panose="020B0603020202020204" pitchFamily="34" charset="0"/>
                        </a:rPr>
                        <a:t>QA</a:t>
                      </a:r>
                    </a:p>
                  </a:txBody>
                  <a:tcPr marL="2563" marR="2563" marT="2563"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1000" b="1" i="0" u="none" strike="noStrike">
                          <a:solidFill>
                            <a:srgbClr val="000000"/>
                          </a:solidFill>
                          <a:effectLst/>
                          <a:latin typeface="Trebuchet MS" panose="020B0603020202020204" pitchFamily="34" charset="0"/>
                        </a:rPr>
                        <a:t>Apps</a:t>
                      </a:r>
                    </a:p>
                  </a:txBody>
                  <a:tcPr marL="2563" marR="2563" marT="25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1000" b="1" i="0" u="none" strike="noStrike">
                          <a:solidFill>
                            <a:srgbClr val="000000"/>
                          </a:solidFill>
                          <a:effectLst/>
                          <a:latin typeface="Trebuchet MS" panose="020B0603020202020204" pitchFamily="34" charset="0"/>
                        </a:rPr>
                        <a:t>Coins Dependent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1672915150"/>
                  </a:ext>
                </a:extLst>
              </a:tr>
              <a:tr h="246865">
                <a:tc>
                  <a:txBody>
                    <a:bodyPr/>
                    <a:lstStyle/>
                    <a:p>
                      <a:pPr algn="l" fontAlgn="ctr">
                        <a:buNone/>
                      </a:pPr>
                      <a:r>
                        <a:rPr lang="en-US" sz="1000" b="0" i="0" u="none" strike="noStrike">
                          <a:solidFill>
                            <a:srgbClr val="000000"/>
                          </a:solidFill>
                          <a:effectLst/>
                          <a:latin typeface="Trebuchet MS" panose="020B0603020202020204" pitchFamily="34" charset="0"/>
                        </a:rPr>
                        <a:t>16732 | AVM Strategy - CMHC to decomission CVI message</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Faisal</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Sudan, Arpan</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PRJ</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CA" sz="1000" b="0" i="0" u="none" strike="noStrike">
                          <a:solidFill>
                            <a:srgbClr val="000000"/>
                          </a:solidFill>
                          <a:effectLst/>
                          <a:latin typeface="Trebuchet MS" panose="020B0603020202020204" pitchFamily="34" charset="0"/>
                        </a:rPr>
                        <a:t>DM, LCMS, mMortgage, CLASS, EDH, Lending BI</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3209367"/>
                  </a:ext>
                </a:extLst>
              </a:tr>
              <a:tr h="143959">
                <a:tc>
                  <a:txBody>
                    <a:bodyPr/>
                    <a:lstStyle/>
                    <a:p>
                      <a:pPr algn="l" fontAlgn="ctr">
                        <a:buNone/>
                      </a:pPr>
                      <a:r>
                        <a:rPr lang="en-US" sz="1000" b="0" i="0" u="none" strike="noStrike">
                          <a:solidFill>
                            <a:srgbClr val="000000"/>
                          </a:solidFill>
                          <a:effectLst/>
                          <a:latin typeface="Trebuchet MS" panose="020B0603020202020204" pitchFamily="34" charset="0"/>
                        </a:rPr>
                        <a:t>2616 | Renewal Due Diligence MVP3</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Adrina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Sudan, Arpan</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PRJ</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rebuchet MS" panose="020B0603020202020204" pitchFamily="34" charset="0"/>
                        </a:rPr>
                        <a:t>mMortgage, DDGS, Excalibur</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1705970"/>
                  </a:ext>
                </a:extLst>
              </a:tr>
              <a:tr h="143959">
                <a:tc>
                  <a:txBody>
                    <a:bodyPr/>
                    <a:lstStyle/>
                    <a:p>
                      <a:pPr algn="l" fontAlgn="ctr">
                        <a:buNone/>
                      </a:pPr>
                      <a:r>
                        <a:rPr lang="en-CA" sz="1000" b="0" i="0" u="none" strike="noStrike">
                          <a:solidFill>
                            <a:srgbClr val="000000"/>
                          </a:solidFill>
                          <a:effectLst/>
                          <a:latin typeface="Trebuchet MS" panose="020B0603020202020204" pitchFamily="34" charset="0"/>
                        </a:rPr>
                        <a:t>2754 | RAMP2 January 2026 Release</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Ifeanyi</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Panagiotoglou, Fred</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PRJ</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FFFFFF"/>
                          </a:solidFill>
                          <a:effectLst/>
                          <a:latin typeface="Trebuchet MS" panose="020B0603020202020204" pitchFamily="34" charset="0"/>
                        </a:rPr>
                        <a:t>N</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CA" sz="1000" b="0" i="0" u="none" strike="noStrike">
                          <a:solidFill>
                            <a:srgbClr val="000000"/>
                          </a:solidFill>
                          <a:effectLst/>
                          <a:latin typeface="Trebuchet MS" panose="020B0603020202020204" pitchFamily="34" charset="0"/>
                        </a:rPr>
                        <a:t>CIBC R.Term, DDGS, Forms Management, KC</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55288"/>
                  </a:ext>
                </a:extLst>
              </a:tr>
              <a:tr h="143959">
                <a:tc>
                  <a:txBody>
                    <a:bodyPr/>
                    <a:lstStyle/>
                    <a:p>
                      <a:pPr algn="l" fontAlgn="ctr">
                        <a:buNone/>
                      </a:pPr>
                      <a:r>
                        <a:rPr lang="en-US" sz="1000" b="0" i="0" u="none" strike="noStrike">
                          <a:solidFill>
                            <a:srgbClr val="000000"/>
                          </a:solidFill>
                          <a:effectLst/>
                          <a:latin typeface="Trebuchet MS" panose="020B0603020202020204" pitchFamily="34" charset="0"/>
                        </a:rPr>
                        <a:t>2800 | IDP - MVP3 CR49 Split &amp; Merge, CR50, CR70</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Aleksandra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Panagiotoglou, Fred</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PRJ</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0842497"/>
                  </a:ext>
                </a:extLst>
              </a:tr>
              <a:tr h="143959">
                <a:tc>
                  <a:txBody>
                    <a:bodyPr/>
                    <a:lstStyle/>
                    <a:p>
                      <a:pPr algn="l" fontAlgn="ctr">
                        <a:buNone/>
                      </a:pPr>
                      <a:r>
                        <a:rPr lang="en-US" sz="1000" b="0" i="0" u="none" strike="noStrike">
                          <a:solidFill>
                            <a:srgbClr val="000000"/>
                          </a:solidFill>
                          <a:effectLst/>
                          <a:latin typeface="Trebuchet MS" panose="020B0603020202020204" pitchFamily="34" charset="0"/>
                        </a:rPr>
                        <a:t>2800 | IDP - TB App Income Verification </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Aleksandra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Panagiotoglou, Fred</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PRJ</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4892326"/>
                  </a:ext>
                </a:extLst>
              </a:tr>
              <a:tr h="143959">
                <a:tc>
                  <a:txBody>
                    <a:bodyPr/>
                    <a:lstStyle/>
                    <a:p>
                      <a:pPr algn="l" fontAlgn="ctr">
                        <a:buNone/>
                      </a:pPr>
                      <a:r>
                        <a:rPr lang="en-US" sz="1000" b="0" i="0" u="none" strike="noStrike">
                          <a:solidFill>
                            <a:srgbClr val="000000"/>
                          </a:solidFill>
                          <a:effectLst/>
                          <a:latin typeface="Trebuchet MS" panose="020B0603020202020204" pitchFamily="34" charset="0"/>
                        </a:rPr>
                        <a:t>3291 | Client Level Pricing</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Naveed</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Sudan, Arpan</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PRJ</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FFFFFF"/>
                          </a:solidFill>
                          <a:effectLst/>
                          <a:latin typeface="Trebuchet MS" panose="020B0603020202020204" pitchFamily="34" charset="0"/>
                        </a:rPr>
                        <a:t>N</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CA" sz="1000" b="0" i="0" u="none" strike="noStrike">
                          <a:solidFill>
                            <a:srgbClr val="000000"/>
                          </a:solidFill>
                          <a:effectLst/>
                          <a:latin typeface="Trebuchet MS" panose="020B0603020202020204" pitchFamily="34" charset="0"/>
                        </a:rPr>
                        <a:t>mMortgage, RPE, EPC, PostEdge, EDH, Lending BI</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9927861"/>
                  </a:ext>
                </a:extLst>
              </a:tr>
              <a:tr h="143959">
                <a:tc>
                  <a:txBody>
                    <a:bodyPr/>
                    <a:lstStyle/>
                    <a:p>
                      <a:pPr algn="l" fontAlgn="ctr">
                        <a:buNone/>
                      </a:pPr>
                      <a:r>
                        <a:rPr lang="en-US" sz="1000" b="0" i="0" u="none" strike="noStrike">
                          <a:solidFill>
                            <a:srgbClr val="000000"/>
                          </a:solidFill>
                          <a:effectLst/>
                          <a:latin typeface="Trebuchet MS" panose="020B0603020202020204" pitchFamily="34" charset="0"/>
                        </a:rPr>
                        <a:t>3366 | OSFI MVP8.2</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Ozgur</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Sudan, Arpan</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PRJ</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FFFFFF"/>
                          </a:solidFill>
                          <a:effectLst/>
                          <a:latin typeface="Trebuchet MS" panose="020B0603020202020204" pitchFamily="34" charset="0"/>
                        </a:rPr>
                        <a:t>N</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CA" sz="1000" b="0" i="0" u="none" strike="noStrike">
                          <a:solidFill>
                            <a:srgbClr val="000000"/>
                          </a:solidFill>
                          <a:effectLst/>
                          <a:latin typeface="Trebuchet MS" panose="020B0603020202020204" pitchFamily="34" charset="0"/>
                        </a:rPr>
                        <a:t>LCMS, Lending API, DDGS, Forms Management, PSP, TSYS</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0644158"/>
                  </a:ext>
                </a:extLst>
              </a:tr>
              <a:tr h="143959">
                <a:tc>
                  <a:txBody>
                    <a:bodyPr/>
                    <a:lstStyle/>
                    <a:p>
                      <a:pPr algn="l" fontAlgn="ctr">
                        <a:buNone/>
                      </a:pPr>
                      <a:r>
                        <a:rPr lang="en-CA" sz="1000" b="0" i="0" u="none" strike="noStrike">
                          <a:solidFill>
                            <a:srgbClr val="000000"/>
                          </a:solidFill>
                          <a:effectLst/>
                          <a:latin typeface="Trebuchet MS" panose="020B0603020202020204" pitchFamily="34" charset="0"/>
                        </a:rPr>
                        <a:t>3454 | mMortage to Contact Center</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Ozgur</a:t>
                      </a:r>
                    </a:p>
                  </a:txBody>
                  <a:tcPr marL="2563" marR="2563" marT="2563" marB="0" anchor="ctr">
                    <a:lnL>
                      <a:noFill/>
                    </a:lnL>
                    <a:lnR>
                      <a:noFill/>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Sudan, Arpan</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PRJ</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chemeClr val="bg1"/>
                          </a:solidFill>
                          <a:effectLst/>
                          <a:latin typeface="Trebuchet MS" panose="020B0603020202020204" pitchFamily="34" charset="0"/>
                        </a:rPr>
                        <a:t>G</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1000" b="0" i="0" u="none" strike="noStrike">
                          <a:solidFill>
                            <a:srgbClr val="000000"/>
                          </a:solidFill>
                          <a:effectLst/>
                          <a:latin typeface="Trebuchet MS" panose="020B0603020202020204" pitchFamily="34" charset="0"/>
                        </a:rPr>
                        <a:t>mMortgage, LCMS, DM, DDGS, Lending API, CAAP, Lending BI, CCARS</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6241042"/>
                  </a:ext>
                </a:extLst>
              </a:tr>
              <a:tr h="261260">
                <a:tc>
                  <a:txBody>
                    <a:bodyPr/>
                    <a:lstStyle/>
                    <a:p>
                      <a:pPr algn="l" fontAlgn="ctr">
                        <a:buNone/>
                      </a:pPr>
                      <a:r>
                        <a:rPr lang="en-US" sz="1000" b="0" i="0" u="none" strike="noStrike">
                          <a:solidFill>
                            <a:srgbClr val="000000"/>
                          </a:solidFill>
                          <a:effectLst/>
                          <a:latin typeface="Trebuchet MS" panose="020B0603020202020204" pitchFamily="34" charset="0"/>
                        </a:rPr>
                        <a:t>4114 | Digital Switch Pre-Qualification</a:t>
                      </a:r>
                    </a:p>
                  </a:txBody>
                  <a:tcPr marL="2563" marR="2563" marT="256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buNone/>
                      </a:pPr>
                      <a:r>
                        <a:rPr lang="en-US" sz="1000" b="0" i="0" u="none" strike="noStrike">
                          <a:solidFill>
                            <a:srgbClr val="000000"/>
                          </a:solidFill>
                          <a:effectLst/>
                          <a:latin typeface="Trebuchet MS" panose="020B0603020202020204" pitchFamily="34" charset="0"/>
                        </a:rPr>
                        <a:t>Joy Rosalynn</a:t>
                      </a:r>
                    </a:p>
                  </a:txBody>
                  <a:tcPr marL="2563" marR="2563" marT="25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Sudan, Arpan</a:t>
                      </a:r>
                    </a:p>
                  </a:txBody>
                  <a:tcPr marL="2563" marR="2563" marT="2563" marB="0" anchor="ctr">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PRJ</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Trebuchet MS" panose="020B0603020202020204" pitchFamily="34" charset="0"/>
                        </a:rPr>
                        <a:t>Y</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en-US" sz="1000" b="0" i="0" u="none" strike="noStrike">
                          <a:solidFill>
                            <a:srgbClr val="000000"/>
                          </a:solidFill>
                          <a:effectLst/>
                          <a:latin typeface="Trebuchet MS" panose="020B0603020202020204" pitchFamily="34" charset="0"/>
                        </a:rPr>
                        <a:t>mMortgage, DM, LCMS, Lending API, DDGS, ECIF, EPC, Lending BI, EDSF, EDH</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4739908"/>
                  </a:ext>
                </a:extLst>
              </a:tr>
              <a:tr h="143959">
                <a:tc>
                  <a:txBody>
                    <a:bodyPr/>
                    <a:lstStyle/>
                    <a:p>
                      <a:pPr algn="l" fontAlgn="ctr">
                        <a:buNone/>
                      </a:pPr>
                      <a:r>
                        <a:rPr lang="en-US" sz="1000" b="0" i="0" u="none" strike="noStrike">
                          <a:solidFill>
                            <a:srgbClr val="000000"/>
                          </a:solidFill>
                          <a:effectLst/>
                          <a:latin typeface="Trebuchet MS" panose="020B0603020202020204" pitchFamily="34" charset="0"/>
                        </a:rPr>
                        <a:t>538  | TABS Replacement - TAO</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Ashish</a:t>
                      </a:r>
                    </a:p>
                  </a:txBody>
                  <a:tcPr marL="2563" marR="2563" marT="2563" marB="0" anchor="ctr">
                    <a:lnL>
                      <a:noFill/>
                    </a:lnL>
                    <a:lnR>
                      <a:noFill/>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Varga, Ivan</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PRJ</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FFFFFF"/>
                          </a:solidFill>
                          <a:effectLst/>
                          <a:latin typeface="Trebuchet MS" panose="020B0603020202020204" pitchFamily="34" charset="0"/>
                        </a:rPr>
                        <a:t>G</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ctr">
                        <a:buNone/>
                      </a:pPr>
                      <a:r>
                        <a:rPr lang="en-US" sz="1000" b="0" i="0" u="none" strike="noStrike">
                          <a:solidFill>
                            <a:srgbClr val="000000"/>
                          </a:solidFill>
                          <a:effectLst/>
                          <a:latin typeface="Trebuchet MS" panose="020B0603020202020204" pitchFamily="34" charset="0"/>
                        </a:rPr>
                        <a:t>TABS</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0859284"/>
                  </a:ext>
                </a:extLst>
              </a:tr>
              <a:tr h="143959">
                <a:tc>
                  <a:txBody>
                    <a:bodyPr/>
                    <a:lstStyle/>
                    <a:p>
                      <a:pPr algn="l" fontAlgn="ctr">
                        <a:buNone/>
                      </a:pPr>
                      <a:r>
                        <a:rPr lang="en-CA" sz="1000" b="0" i="0" u="none" strike="noStrike">
                          <a:solidFill>
                            <a:srgbClr val="000000"/>
                          </a:solidFill>
                          <a:effectLst/>
                          <a:latin typeface="Trebuchet MS" panose="020B0603020202020204" pitchFamily="34" charset="0"/>
                        </a:rPr>
                        <a:t>16729 | External Pay Out Letter: Enable for eAcceptance (Duplicate of PBPTINTK-3840)</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Neha Vineet</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Sahni, Rachna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MOP</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FFFFFF"/>
                          </a:solidFill>
                          <a:effectLst/>
                          <a:latin typeface="Trebuchet MS" panose="020B0603020202020204" pitchFamily="34" charset="0"/>
                        </a:rPr>
                        <a:t>N</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1000" b="0" i="0" u="none" strike="noStrike">
                          <a:solidFill>
                            <a:srgbClr val="000000"/>
                          </a:solidFill>
                          <a:effectLst/>
                          <a:latin typeface="Trebuchet MS" panose="020B0603020202020204" pitchFamily="34" charset="0"/>
                        </a:rPr>
                        <a:t>mMortgage, DDGS, ECM</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0373008"/>
                  </a:ext>
                </a:extLst>
              </a:tr>
              <a:tr h="261260">
                <a:tc>
                  <a:txBody>
                    <a:bodyPr/>
                    <a:lstStyle/>
                    <a:p>
                      <a:pPr algn="l" fontAlgn="ctr">
                        <a:buNone/>
                      </a:pPr>
                      <a:r>
                        <a:rPr lang="en-CA" sz="1000" b="0" i="0" u="none" strike="noStrike">
                          <a:solidFill>
                            <a:srgbClr val="000000"/>
                          </a:solidFill>
                          <a:effectLst/>
                          <a:latin typeface="Trebuchet MS" panose="020B0603020202020204" pitchFamily="34" charset="0"/>
                        </a:rPr>
                        <a:t>22543 | Remove 30 day look back from Excalibur Panel 651</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Adinarayana Murthy</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Sahni, Rachna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MOP</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rebuchet MS" panose="020B0603020202020204" pitchFamily="34" charset="0"/>
                        </a:rPr>
                        <a:t>Excalibur</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2373515"/>
                  </a:ext>
                </a:extLst>
              </a:tr>
              <a:tr h="143959">
                <a:tc>
                  <a:txBody>
                    <a:bodyPr/>
                    <a:lstStyle/>
                    <a:p>
                      <a:pPr algn="l" fontAlgn="ctr">
                        <a:buNone/>
                      </a:pPr>
                      <a:r>
                        <a:rPr lang="en-US" sz="1000" b="0" i="0" u="none" strike="noStrike">
                          <a:solidFill>
                            <a:srgbClr val="000000"/>
                          </a:solidFill>
                          <a:effectLst/>
                          <a:latin typeface="Trebuchet MS" panose="020B0603020202020204" pitchFamily="34" charset="0"/>
                        </a:rPr>
                        <a:t>23469 | Payout and Discharges</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Neha Vineet</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Sahni, Rachna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MOP</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rebuchet MS" panose="020B0603020202020204" pitchFamily="34" charset="0"/>
                        </a:rPr>
                        <a:t>Excalibur</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4752028"/>
                  </a:ext>
                </a:extLst>
              </a:tr>
              <a:tr h="143959">
                <a:tc>
                  <a:txBody>
                    <a:bodyPr/>
                    <a:lstStyle/>
                    <a:p>
                      <a:pPr algn="l" fontAlgn="ctr">
                        <a:buNone/>
                      </a:pPr>
                      <a:r>
                        <a:rPr lang="en-US" sz="1000" b="0" i="0" u="none" strike="noStrike">
                          <a:solidFill>
                            <a:srgbClr val="000000"/>
                          </a:solidFill>
                          <a:effectLst/>
                          <a:latin typeface="Trebuchet MS" panose="020B0603020202020204" pitchFamily="34" charset="0"/>
                        </a:rPr>
                        <a:t>PRB0032179 | Update print flag in DOC_AUDT</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Subaleka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Gupta, Suniti</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PRB</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FFFFFF"/>
                          </a:solidFill>
                          <a:effectLst/>
                          <a:latin typeface="Trebuchet MS" panose="020B0603020202020204" pitchFamily="34" charset="0"/>
                        </a:rPr>
                        <a:t>N</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1000" b="0" i="0" u="none" strike="noStrike">
                          <a:solidFill>
                            <a:srgbClr val="000000"/>
                          </a:solidFill>
                          <a:effectLst/>
                          <a:latin typeface="Trebuchet MS" panose="020B0603020202020204" pitchFamily="34" charset="0"/>
                        </a:rPr>
                        <a:t>Target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7405264"/>
                  </a:ext>
                </a:extLst>
              </a:tr>
              <a:tr h="143959">
                <a:tc>
                  <a:txBody>
                    <a:bodyPr/>
                    <a:lstStyle/>
                    <a:p>
                      <a:pPr algn="l" fontAlgn="ctr">
                        <a:buNone/>
                      </a:pPr>
                      <a:r>
                        <a:rPr lang="en-CA" sz="1000" b="0" i="0" u="none" strike="noStrike">
                          <a:solidFill>
                            <a:srgbClr val="000000"/>
                          </a:solidFill>
                          <a:effectLst/>
                          <a:latin typeface="Trebuchet MS" panose="020B0603020202020204" pitchFamily="34" charset="0"/>
                        </a:rPr>
                        <a:t>PRB0032288 | Issue with BRUL21314 DM Insurer Choice</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Subaleka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Gupta, Suniti</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PRB</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FFFFFF"/>
                          </a:solidFill>
                          <a:effectLst/>
                          <a:latin typeface="Trebuchet MS" panose="020B0603020202020204" pitchFamily="34" charset="0"/>
                        </a:rPr>
                        <a:t>N</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1000" b="0" i="0" u="none" strike="noStrike">
                          <a:solidFill>
                            <a:srgbClr val="000000"/>
                          </a:solidFill>
                          <a:effectLst/>
                          <a:latin typeface="Trebuchet MS" panose="020B0603020202020204" pitchFamily="34" charset="0"/>
                        </a:rPr>
                        <a:t>DM</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8197634"/>
                  </a:ext>
                </a:extLst>
              </a:tr>
              <a:tr h="143959">
                <a:tc>
                  <a:txBody>
                    <a:bodyPr/>
                    <a:lstStyle/>
                    <a:p>
                      <a:pPr algn="l" fontAlgn="ctr">
                        <a:buNone/>
                      </a:pPr>
                      <a:r>
                        <a:rPr lang="en-CA" sz="1000" b="0" i="0" u="none" strike="noStrike">
                          <a:solidFill>
                            <a:srgbClr val="000000"/>
                          </a:solidFill>
                          <a:effectLst/>
                          <a:latin typeface="Trebuchet MS" panose="020B0603020202020204" pitchFamily="34" charset="0"/>
                        </a:rPr>
                        <a:t>PRB0032533 | DM - BRUL20704 - Deferred Income "Y" Conditional Approve TXM = No</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Subaleka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Gupta, Suniti</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PRB</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FFFFFF"/>
                          </a:solidFill>
                          <a:effectLst/>
                          <a:latin typeface="Trebuchet MS" panose="020B0603020202020204" pitchFamily="34" charset="0"/>
                        </a:rPr>
                        <a:t>N</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1000" b="0" i="0" u="none" strike="noStrike">
                          <a:solidFill>
                            <a:srgbClr val="000000"/>
                          </a:solidFill>
                          <a:effectLst/>
                          <a:latin typeface="Trebuchet MS" panose="020B0603020202020204" pitchFamily="34" charset="0"/>
                        </a:rPr>
                        <a:t>DM</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2441803"/>
                  </a:ext>
                </a:extLst>
              </a:tr>
              <a:tr h="298583">
                <a:tc>
                  <a:txBody>
                    <a:bodyPr/>
                    <a:lstStyle/>
                    <a:p>
                      <a:pPr algn="l" fontAlgn="ctr">
                        <a:buNone/>
                      </a:pPr>
                      <a:r>
                        <a:rPr lang="en-CA" sz="1000" b="0" i="0" u="none" strike="noStrike">
                          <a:solidFill>
                            <a:srgbClr val="000000"/>
                          </a:solidFill>
                          <a:effectLst/>
                          <a:latin typeface="Trebuchet MS" panose="020B0603020202020204" pitchFamily="34" charset="0"/>
                        </a:rPr>
                        <a:t>PRB0032787 | Fix Host Communication Error due to customer mismatch</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Subaleka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Gupta, Suniti</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PRB</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FFFFFF"/>
                          </a:solidFill>
                          <a:effectLst/>
                          <a:latin typeface="Trebuchet MS" panose="020B0603020202020204" pitchFamily="34" charset="0"/>
                        </a:rPr>
                        <a:t>N</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buNone/>
                      </a:pPr>
                      <a:r>
                        <a:rPr lang="en-US" sz="1000" b="0" i="0" u="none" strike="noStrike">
                          <a:solidFill>
                            <a:srgbClr val="000000"/>
                          </a:solidFill>
                          <a:effectLst/>
                          <a:latin typeface="Trebuchet MS" panose="020B0603020202020204" pitchFamily="34" charset="0"/>
                        </a:rPr>
                        <a:t>DM</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000" b="0" i="0" u="none" strike="noStrike">
                        <a:solidFill>
                          <a:srgbClr val="000000"/>
                        </a:solidFill>
                        <a:effectLst/>
                        <a:latin typeface="Trebuchet MS" panose="020B0603020202020204" pitchFamily="34" charset="0"/>
                      </a:endParaRP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5054831"/>
                  </a:ext>
                </a:extLst>
              </a:tr>
              <a:tr h="294851">
                <a:tc>
                  <a:txBody>
                    <a:bodyPr/>
                    <a:lstStyle/>
                    <a:p>
                      <a:pPr algn="l" fontAlgn="ctr">
                        <a:buNone/>
                      </a:pPr>
                      <a:r>
                        <a:rPr lang="en-CA" sz="1000" b="0" i="0" u="none" strike="noStrike">
                          <a:solidFill>
                            <a:srgbClr val="000000"/>
                          </a:solidFill>
                          <a:effectLst/>
                          <a:latin typeface="Trebuchet MS" panose="020B0603020202020204" pitchFamily="34" charset="0"/>
                        </a:rPr>
                        <a:t>PRB0032847 | Excalibur – Multiple payments reversal cuasing huge ineterest outstanding</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Subaleka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Gupta, Suniti</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PRB</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rebuchet MS" panose="020B0603020202020204" pitchFamily="34" charset="0"/>
                        </a:rPr>
                        <a:t>Excalibur</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4310970"/>
                  </a:ext>
                </a:extLst>
              </a:tr>
              <a:tr h="143959">
                <a:tc>
                  <a:txBody>
                    <a:bodyPr/>
                    <a:lstStyle/>
                    <a:p>
                      <a:pPr algn="l" fontAlgn="ctr">
                        <a:buNone/>
                      </a:pPr>
                      <a:r>
                        <a:rPr lang="en-US" sz="1000" b="0" i="0" u="none" strike="noStrike">
                          <a:solidFill>
                            <a:srgbClr val="000000"/>
                          </a:solidFill>
                          <a:effectLst/>
                          <a:latin typeface="Trebuchet MS" panose="020B0603020202020204" pitchFamily="34" charset="0"/>
                        </a:rPr>
                        <a:t>PRB0032900 | MVP2 Ingestion Error</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Subaleka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Gupta, Suniti</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PRB</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rebuchet MS" panose="020B0603020202020204" pitchFamily="34" charset="0"/>
                        </a:rPr>
                        <a:t>LCMS</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9228128"/>
                  </a:ext>
                </a:extLst>
              </a:tr>
              <a:tr h="143959">
                <a:tc>
                  <a:txBody>
                    <a:bodyPr/>
                    <a:lstStyle/>
                    <a:p>
                      <a:pPr algn="l" fontAlgn="ctr">
                        <a:buNone/>
                      </a:pPr>
                      <a:r>
                        <a:rPr lang="en-US" sz="1000" b="0" i="0" u="none" strike="noStrike">
                          <a:solidFill>
                            <a:srgbClr val="000000"/>
                          </a:solidFill>
                          <a:effectLst/>
                          <a:latin typeface="Trebuchet MS" panose="020B0603020202020204" pitchFamily="34" charset="0"/>
                        </a:rPr>
                        <a:t>2800 | IDP MVP3 CRs</a:t>
                      </a:r>
                    </a:p>
                  </a:txBody>
                  <a:tcPr marL="2563" marR="2563" marT="256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Aleksandra</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Panagiotoglou, Fred</a:t>
                      </a:r>
                    </a:p>
                  </a:txBody>
                  <a:tcPr marL="2563" marR="2563" marT="25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MNT</a:t>
                      </a:r>
                    </a:p>
                  </a:txBody>
                  <a:tcPr marL="2563" marR="2563" marT="256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rebuchet MS" panose="020B0603020202020204" pitchFamily="34" charset="0"/>
                        </a:rPr>
                        <a:t>mMortgage, ECM, ENVOY</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Trebuchet MS" panose="020B0603020202020204" pitchFamily="34" charset="0"/>
                        </a:rPr>
                        <a:t> </a:t>
                      </a:r>
                    </a:p>
                  </a:txBody>
                  <a:tcPr marL="2563" marR="2563" marT="25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6534287"/>
                  </a:ext>
                </a:extLst>
              </a:tr>
            </a:tbl>
          </a:graphicData>
        </a:graphic>
      </p:graphicFrame>
    </p:spTree>
    <p:extLst>
      <p:ext uri="{BB962C8B-B14F-4D97-AF65-F5344CB8AC3E}">
        <p14:creationId xmlns:p14="http://schemas.microsoft.com/office/powerpoint/2010/main" val="3746227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9B6C5-C681-CADD-AE85-480E3FF39B9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209A639-BE1B-09D9-261A-B317A8DB4DB8}"/>
              </a:ext>
            </a:extLst>
          </p:cNvPr>
          <p:cNvSpPr txBox="1">
            <a:spLocks/>
          </p:cNvSpPr>
          <p:nvPr/>
        </p:nvSpPr>
        <p:spPr>
          <a:xfrm>
            <a:off x="117632" y="150313"/>
            <a:ext cx="11610079"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lvl="0">
              <a:defRPr/>
            </a:pPr>
            <a:r>
              <a:rPr lang="en-CA" sz="2800"/>
              <a:t>February 1</a:t>
            </a:r>
            <a:r>
              <a:rPr lang="en-CA" sz="2800" baseline="30000"/>
              <a:t>st</a:t>
            </a:r>
            <a:r>
              <a:rPr lang="en-CA" sz="2800"/>
              <a:t> Release </a:t>
            </a:r>
            <a:r>
              <a:rPr kumimoji="0" lang="en-CA" sz="2800" b="1" i="0" u="none" strike="noStrike" kern="1200" cap="none" spc="0" normalizeH="0" baseline="0" noProof="0">
                <a:ln>
                  <a:noFill/>
                </a:ln>
                <a:solidFill>
                  <a:srgbClr val="D40139"/>
                </a:solidFill>
                <a:effectLst/>
                <a:uLnTx/>
                <a:uFillTx/>
                <a:latin typeface="Trebuchet MS"/>
                <a:ea typeface="+mj-ea"/>
                <a:cs typeface="+mj-cs"/>
              </a:rPr>
              <a:t>Project SIT, UAT, &amp; PAT Timelines </a:t>
            </a:r>
          </a:p>
        </p:txBody>
      </p:sp>
      <p:graphicFrame>
        <p:nvGraphicFramePr>
          <p:cNvPr id="5" name="Table 4">
            <a:extLst>
              <a:ext uri="{FF2B5EF4-FFF2-40B4-BE49-F238E27FC236}">
                <a16:creationId xmlns:a16="http://schemas.microsoft.com/office/drawing/2014/main" id="{08008AEB-D589-D3D9-E776-26545257FBD4}"/>
              </a:ext>
            </a:extLst>
          </p:cNvPr>
          <p:cNvGraphicFramePr>
            <a:graphicFrameLocks noGrp="1"/>
          </p:cNvGraphicFramePr>
          <p:nvPr>
            <p:extLst>
              <p:ext uri="{D42A27DB-BD31-4B8C-83A1-F6EECF244321}">
                <p14:modId xmlns:p14="http://schemas.microsoft.com/office/powerpoint/2010/main" val="3154801911"/>
              </p:ext>
            </p:extLst>
          </p:nvPr>
        </p:nvGraphicFramePr>
        <p:xfrm>
          <a:off x="238401" y="688753"/>
          <a:ext cx="11369386" cy="5805181"/>
        </p:xfrm>
        <a:graphic>
          <a:graphicData uri="http://schemas.openxmlformats.org/drawingml/2006/table">
            <a:tbl>
              <a:tblPr/>
              <a:tblGrid>
                <a:gridCol w="992167">
                  <a:extLst>
                    <a:ext uri="{9D8B030D-6E8A-4147-A177-3AD203B41FA5}">
                      <a16:colId xmlns:a16="http://schemas.microsoft.com/office/drawing/2014/main" val="783743174"/>
                    </a:ext>
                  </a:extLst>
                </a:gridCol>
                <a:gridCol w="2075453">
                  <a:extLst>
                    <a:ext uri="{9D8B030D-6E8A-4147-A177-3AD203B41FA5}">
                      <a16:colId xmlns:a16="http://schemas.microsoft.com/office/drawing/2014/main" val="2905436690"/>
                    </a:ext>
                  </a:extLst>
                </a:gridCol>
                <a:gridCol w="556828">
                  <a:extLst>
                    <a:ext uri="{9D8B030D-6E8A-4147-A177-3AD203B41FA5}">
                      <a16:colId xmlns:a16="http://schemas.microsoft.com/office/drawing/2014/main" val="362298999"/>
                    </a:ext>
                  </a:extLst>
                </a:gridCol>
                <a:gridCol w="364470">
                  <a:extLst>
                    <a:ext uri="{9D8B030D-6E8A-4147-A177-3AD203B41FA5}">
                      <a16:colId xmlns:a16="http://schemas.microsoft.com/office/drawing/2014/main" val="983493472"/>
                    </a:ext>
                  </a:extLst>
                </a:gridCol>
                <a:gridCol w="566953">
                  <a:extLst>
                    <a:ext uri="{9D8B030D-6E8A-4147-A177-3AD203B41FA5}">
                      <a16:colId xmlns:a16="http://schemas.microsoft.com/office/drawing/2014/main" val="1347179528"/>
                    </a:ext>
                  </a:extLst>
                </a:gridCol>
                <a:gridCol w="566953">
                  <a:extLst>
                    <a:ext uri="{9D8B030D-6E8A-4147-A177-3AD203B41FA5}">
                      <a16:colId xmlns:a16="http://schemas.microsoft.com/office/drawing/2014/main" val="1728152400"/>
                    </a:ext>
                  </a:extLst>
                </a:gridCol>
                <a:gridCol w="161987">
                  <a:extLst>
                    <a:ext uri="{9D8B030D-6E8A-4147-A177-3AD203B41FA5}">
                      <a16:colId xmlns:a16="http://schemas.microsoft.com/office/drawing/2014/main" val="3237341869"/>
                    </a:ext>
                  </a:extLst>
                </a:gridCol>
                <a:gridCol w="161987">
                  <a:extLst>
                    <a:ext uri="{9D8B030D-6E8A-4147-A177-3AD203B41FA5}">
                      <a16:colId xmlns:a16="http://schemas.microsoft.com/office/drawing/2014/main" val="2115343461"/>
                    </a:ext>
                  </a:extLst>
                </a:gridCol>
                <a:gridCol w="161987">
                  <a:extLst>
                    <a:ext uri="{9D8B030D-6E8A-4147-A177-3AD203B41FA5}">
                      <a16:colId xmlns:a16="http://schemas.microsoft.com/office/drawing/2014/main" val="523427714"/>
                    </a:ext>
                  </a:extLst>
                </a:gridCol>
                <a:gridCol w="161987">
                  <a:extLst>
                    <a:ext uri="{9D8B030D-6E8A-4147-A177-3AD203B41FA5}">
                      <a16:colId xmlns:a16="http://schemas.microsoft.com/office/drawing/2014/main" val="3831955413"/>
                    </a:ext>
                  </a:extLst>
                </a:gridCol>
                <a:gridCol w="161987">
                  <a:extLst>
                    <a:ext uri="{9D8B030D-6E8A-4147-A177-3AD203B41FA5}">
                      <a16:colId xmlns:a16="http://schemas.microsoft.com/office/drawing/2014/main" val="2587871579"/>
                    </a:ext>
                  </a:extLst>
                </a:gridCol>
                <a:gridCol w="161987">
                  <a:extLst>
                    <a:ext uri="{9D8B030D-6E8A-4147-A177-3AD203B41FA5}">
                      <a16:colId xmlns:a16="http://schemas.microsoft.com/office/drawing/2014/main" val="3323163797"/>
                    </a:ext>
                  </a:extLst>
                </a:gridCol>
                <a:gridCol w="161987">
                  <a:extLst>
                    <a:ext uri="{9D8B030D-6E8A-4147-A177-3AD203B41FA5}">
                      <a16:colId xmlns:a16="http://schemas.microsoft.com/office/drawing/2014/main" val="2092735169"/>
                    </a:ext>
                  </a:extLst>
                </a:gridCol>
                <a:gridCol w="161987">
                  <a:extLst>
                    <a:ext uri="{9D8B030D-6E8A-4147-A177-3AD203B41FA5}">
                      <a16:colId xmlns:a16="http://schemas.microsoft.com/office/drawing/2014/main" val="1813421788"/>
                    </a:ext>
                  </a:extLst>
                </a:gridCol>
                <a:gridCol w="192358">
                  <a:extLst>
                    <a:ext uri="{9D8B030D-6E8A-4147-A177-3AD203B41FA5}">
                      <a16:colId xmlns:a16="http://schemas.microsoft.com/office/drawing/2014/main" val="402010847"/>
                    </a:ext>
                  </a:extLst>
                </a:gridCol>
                <a:gridCol w="192358">
                  <a:extLst>
                    <a:ext uri="{9D8B030D-6E8A-4147-A177-3AD203B41FA5}">
                      <a16:colId xmlns:a16="http://schemas.microsoft.com/office/drawing/2014/main" val="3969982397"/>
                    </a:ext>
                  </a:extLst>
                </a:gridCol>
                <a:gridCol w="192358">
                  <a:extLst>
                    <a:ext uri="{9D8B030D-6E8A-4147-A177-3AD203B41FA5}">
                      <a16:colId xmlns:a16="http://schemas.microsoft.com/office/drawing/2014/main" val="2334897344"/>
                    </a:ext>
                  </a:extLst>
                </a:gridCol>
                <a:gridCol w="182233">
                  <a:extLst>
                    <a:ext uri="{9D8B030D-6E8A-4147-A177-3AD203B41FA5}">
                      <a16:colId xmlns:a16="http://schemas.microsoft.com/office/drawing/2014/main" val="849183920"/>
                    </a:ext>
                  </a:extLst>
                </a:gridCol>
                <a:gridCol w="182233">
                  <a:extLst>
                    <a:ext uri="{9D8B030D-6E8A-4147-A177-3AD203B41FA5}">
                      <a16:colId xmlns:a16="http://schemas.microsoft.com/office/drawing/2014/main" val="3342820593"/>
                    </a:ext>
                  </a:extLst>
                </a:gridCol>
                <a:gridCol w="182233">
                  <a:extLst>
                    <a:ext uri="{9D8B030D-6E8A-4147-A177-3AD203B41FA5}">
                      <a16:colId xmlns:a16="http://schemas.microsoft.com/office/drawing/2014/main" val="2179006836"/>
                    </a:ext>
                  </a:extLst>
                </a:gridCol>
                <a:gridCol w="182233">
                  <a:extLst>
                    <a:ext uri="{9D8B030D-6E8A-4147-A177-3AD203B41FA5}">
                      <a16:colId xmlns:a16="http://schemas.microsoft.com/office/drawing/2014/main" val="1906979560"/>
                    </a:ext>
                  </a:extLst>
                </a:gridCol>
                <a:gridCol w="182233">
                  <a:extLst>
                    <a:ext uri="{9D8B030D-6E8A-4147-A177-3AD203B41FA5}">
                      <a16:colId xmlns:a16="http://schemas.microsoft.com/office/drawing/2014/main" val="3226876583"/>
                    </a:ext>
                  </a:extLst>
                </a:gridCol>
                <a:gridCol w="182233">
                  <a:extLst>
                    <a:ext uri="{9D8B030D-6E8A-4147-A177-3AD203B41FA5}">
                      <a16:colId xmlns:a16="http://schemas.microsoft.com/office/drawing/2014/main" val="3164183818"/>
                    </a:ext>
                  </a:extLst>
                </a:gridCol>
                <a:gridCol w="182233">
                  <a:extLst>
                    <a:ext uri="{9D8B030D-6E8A-4147-A177-3AD203B41FA5}">
                      <a16:colId xmlns:a16="http://schemas.microsoft.com/office/drawing/2014/main" val="2512660392"/>
                    </a:ext>
                  </a:extLst>
                </a:gridCol>
                <a:gridCol w="182233">
                  <a:extLst>
                    <a:ext uri="{9D8B030D-6E8A-4147-A177-3AD203B41FA5}">
                      <a16:colId xmlns:a16="http://schemas.microsoft.com/office/drawing/2014/main" val="2413860746"/>
                    </a:ext>
                  </a:extLst>
                </a:gridCol>
                <a:gridCol w="182233">
                  <a:extLst>
                    <a:ext uri="{9D8B030D-6E8A-4147-A177-3AD203B41FA5}">
                      <a16:colId xmlns:a16="http://schemas.microsoft.com/office/drawing/2014/main" val="2869627679"/>
                    </a:ext>
                  </a:extLst>
                </a:gridCol>
                <a:gridCol w="182233">
                  <a:extLst>
                    <a:ext uri="{9D8B030D-6E8A-4147-A177-3AD203B41FA5}">
                      <a16:colId xmlns:a16="http://schemas.microsoft.com/office/drawing/2014/main" val="1917008459"/>
                    </a:ext>
                  </a:extLst>
                </a:gridCol>
                <a:gridCol w="182233">
                  <a:extLst>
                    <a:ext uri="{9D8B030D-6E8A-4147-A177-3AD203B41FA5}">
                      <a16:colId xmlns:a16="http://schemas.microsoft.com/office/drawing/2014/main" val="4027341434"/>
                    </a:ext>
                  </a:extLst>
                </a:gridCol>
                <a:gridCol w="182233">
                  <a:extLst>
                    <a:ext uri="{9D8B030D-6E8A-4147-A177-3AD203B41FA5}">
                      <a16:colId xmlns:a16="http://schemas.microsoft.com/office/drawing/2014/main" val="2203645730"/>
                    </a:ext>
                  </a:extLst>
                </a:gridCol>
                <a:gridCol w="182233">
                  <a:extLst>
                    <a:ext uri="{9D8B030D-6E8A-4147-A177-3AD203B41FA5}">
                      <a16:colId xmlns:a16="http://schemas.microsoft.com/office/drawing/2014/main" val="976131574"/>
                    </a:ext>
                  </a:extLst>
                </a:gridCol>
                <a:gridCol w="182233">
                  <a:extLst>
                    <a:ext uri="{9D8B030D-6E8A-4147-A177-3AD203B41FA5}">
                      <a16:colId xmlns:a16="http://schemas.microsoft.com/office/drawing/2014/main" val="1181119629"/>
                    </a:ext>
                  </a:extLst>
                </a:gridCol>
                <a:gridCol w="182233">
                  <a:extLst>
                    <a:ext uri="{9D8B030D-6E8A-4147-A177-3AD203B41FA5}">
                      <a16:colId xmlns:a16="http://schemas.microsoft.com/office/drawing/2014/main" val="2865826427"/>
                    </a:ext>
                  </a:extLst>
                </a:gridCol>
                <a:gridCol w="182233">
                  <a:extLst>
                    <a:ext uri="{9D8B030D-6E8A-4147-A177-3AD203B41FA5}">
                      <a16:colId xmlns:a16="http://schemas.microsoft.com/office/drawing/2014/main" val="1759947684"/>
                    </a:ext>
                  </a:extLst>
                </a:gridCol>
                <a:gridCol w="182233">
                  <a:extLst>
                    <a:ext uri="{9D8B030D-6E8A-4147-A177-3AD203B41FA5}">
                      <a16:colId xmlns:a16="http://schemas.microsoft.com/office/drawing/2014/main" val="1270045022"/>
                    </a:ext>
                  </a:extLst>
                </a:gridCol>
                <a:gridCol w="182233">
                  <a:extLst>
                    <a:ext uri="{9D8B030D-6E8A-4147-A177-3AD203B41FA5}">
                      <a16:colId xmlns:a16="http://schemas.microsoft.com/office/drawing/2014/main" val="3108984651"/>
                    </a:ext>
                  </a:extLst>
                </a:gridCol>
                <a:gridCol w="182233">
                  <a:extLst>
                    <a:ext uri="{9D8B030D-6E8A-4147-A177-3AD203B41FA5}">
                      <a16:colId xmlns:a16="http://schemas.microsoft.com/office/drawing/2014/main" val="828363577"/>
                    </a:ext>
                  </a:extLst>
                </a:gridCol>
                <a:gridCol w="182233">
                  <a:extLst>
                    <a:ext uri="{9D8B030D-6E8A-4147-A177-3AD203B41FA5}">
                      <a16:colId xmlns:a16="http://schemas.microsoft.com/office/drawing/2014/main" val="4196634670"/>
                    </a:ext>
                  </a:extLst>
                </a:gridCol>
                <a:gridCol w="182233">
                  <a:extLst>
                    <a:ext uri="{9D8B030D-6E8A-4147-A177-3AD203B41FA5}">
                      <a16:colId xmlns:a16="http://schemas.microsoft.com/office/drawing/2014/main" val="4287622448"/>
                    </a:ext>
                  </a:extLst>
                </a:gridCol>
                <a:gridCol w="182233">
                  <a:extLst>
                    <a:ext uri="{9D8B030D-6E8A-4147-A177-3AD203B41FA5}">
                      <a16:colId xmlns:a16="http://schemas.microsoft.com/office/drawing/2014/main" val="1223297149"/>
                    </a:ext>
                  </a:extLst>
                </a:gridCol>
                <a:gridCol w="182233">
                  <a:extLst>
                    <a:ext uri="{9D8B030D-6E8A-4147-A177-3AD203B41FA5}">
                      <a16:colId xmlns:a16="http://schemas.microsoft.com/office/drawing/2014/main" val="3330394246"/>
                    </a:ext>
                  </a:extLst>
                </a:gridCol>
                <a:gridCol w="182233">
                  <a:extLst>
                    <a:ext uri="{9D8B030D-6E8A-4147-A177-3AD203B41FA5}">
                      <a16:colId xmlns:a16="http://schemas.microsoft.com/office/drawing/2014/main" val="3399565629"/>
                    </a:ext>
                  </a:extLst>
                </a:gridCol>
              </a:tblGrid>
              <a:tr h="755297">
                <a:tc>
                  <a:txBody>
                    <a:bodyPr/>
                    <a:lstStyle/>
                    <a:p>
                      <a:pPr algn="ctr" fontAlgn="ctr">
                        <a:buNone/>
                      </a:pPr>
                      <a:r>
                        <a:rPr lang="en-US" sz="900" b="1" i="0" u="none" strike="noStrike">
                          <a:solidFill>
                            <a:srgbClr val="000000"/>
                          </a:solidFill>
                          <a:effectLst/>
                          <a:latin typeface="Trebuchet MS" panose="020B0603020202020204" pitchFamily="34" charset="0"/>
                        </a:rPr>
                        <a:t> </a:t>
                      </a:r>
                    </a:p>
                  </a:txBody>
                  <a:tcPr marL="1650" marR="1650" marT="165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Name</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Impl Date</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Phase</a:t>
                      </a:r>
                    </a:p>
                  </a:txBody>
                  <a:tcPr marL="1650" marR="1650" marT="165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START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END</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6-Oct</a:t>
                      </a:r>
                    </a:p>
                  </a:txBody>
                  <a:tcPr marL="1650" marR="1650" marT="1650" marB="0" vert="vert27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10-Oct</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13-Oct</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17-Oct</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20-Oct</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24-Oct</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27-Oct</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31-Oct</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3-Nov</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7-Nov</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10-Nov</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14-Nov</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17-Nov</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21-Nov</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24-Nov</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28-Nov</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1-Dec</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5-Dec</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8-Dec</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12-Dec</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15-Dec</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19-Dec</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22-Dec</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26-Dec</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29-Dec</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2-Jan</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5-Jan</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9-Jan</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12-Jan</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19-Jan</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23-Jan</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26-Jan</a:t>
                      </a:r>
                    </a:p>
                  </a:txBody>
                  <a:tcPr marL="1650" marR="1650" marT="1650"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30-Jan</a:t>
                      </a:r>
                    </a:p>
                  </a:txBody>
                  <a:tcPr marL="1650" marR="1650" marT="1650"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FFFFFF"/>
                          </a:solidFill>
                          <a:effectLst/>
                          <a:latin typeface="Trebuchet MS" panose="020B0603020202020204" pitchFamily="34" charset="0"/>
                        </a:rPr>
                        <a:t>1-Feb</a:t>
                      </a:r>
                    </a:p>
                  </a:txBody>
                  <a:tcPr marL="1650" marR="1650" marT="165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550482746"/>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538</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900" b="0" i="0" u="none" strike="noStrike">
                          <a:solidFill>
                            <a:srgbClr val="000000"/>
                          </a:solidFill>
                          <a:effectLst/>
                          <a:latin typeface="Trebuchet MS" panose="020B0603020202020204" pitchFamily="34" charset="0"/>
                        </a:rPr>
                        <a:t>538  | TABS Replacement - TAO</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6-Oct-25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21-Nov-25</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4097200989"/>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24-Nov-25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877228393"/>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2616</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900" b="0" i="0" u="none" strike="noStrike">
                          <a:solidFill>
                            <a:srgbClr val="000000"/>
                          </a:solidFill>
                          <a:effectLst/>
                          <a:latin typeface="Trebuchet MS" panose="020B0603020202020204" pitchFamily="34" charset="0"/>
                        </a:rPr>
                        <a:t>Renewal Due Diligence MVP3</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20-Oct-25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28-Nov-25</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199584985"/>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1-Dec-25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26-Dec-25</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52753809"/>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2754</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900" b="0" i="0" u="none" strike="noStrike">
                          <a:solidFill>
                            <a:srgbClr val="000000"/>
                          </a:solidFill>
                          <a:effectLst/>
                          <a:latin typeface="Trebuchet MS" panose="020B0603020202020204" pitchFamily="34" charset="0"/>
                        </a:rPr>
                        <a:t>RAMP2 January 2026 Release</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3-Nov-25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9-Jan-26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37125805"/>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3-Nov-25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9-Jan-26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008224486"/>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3366</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900" b="0" i="0" u="none" strike="noStrike">
                          <a:solidFill>
                            <a:srgbClr val="000000"/>
                          </a:solidFill>
                          <a:effectLst/>
                          <a:latin typeface="Trebuchet MS" panose="020B0603020202020204" pitchFamily="34" charset="0"/>
                        </a:rPr>
                        <a:t>OSFI MVP8.2</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27-Oct-25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26-Dec-25</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028176683"/>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29-Dec-25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23-Jan-26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631190228"/>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3454</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900" b="0" i="0" u="none" strike="noStrike">
                          <a:solidFill>
                            <a:srgbClr val="000000"/>
                          </a:solidFill>
                          <a:effectLst/>
                          <a:latin typeface="Trebuchet MS" panose="020B0603020202020204" pitchFamily="34" charset="0"/>
                        </a:rPr>
                        <a:t>3454 | mMortage to Contact Center</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15-Sep-25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28-Nov-25</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001591548"/>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1-Dec-25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23-Jan-26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397690024"/>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4114</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900" b="0" i="0" u="none" strike="noStrike">
                          <a:solidFill>
                            <a:srgbClr val="000000"/>
                          </a:solidFill>
                          <a:effectLst/>
                          <a:latin typeface="Trebuchet MS" panose="020B0603020202020204" pitchFamily="34" charset="0"/>
                        </a:rPr>
                        <a:t>4114 | Digital Switch Pre-Qualification</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8-Sep-25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21-Nov-25</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205043882"/>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24-Nov-25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9-Jan-26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733192805"/>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16729</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900" b="0" i="0" u="none" strike="noStrike">
                          <a:solidFill>
                            <a:srgbClr val="000000"/>
                          </a:solidFill>
                          <a:effectLst/>
                          <a:latin typeface="Trebuchet MS" panose="020B0603020202020204" pitchFamily="34" charset="0"/>
                        </a:rPr>
                        <a:t>External Pay Out Letter: Enable for eAcceptance</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10-Nov-25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5-Dec-25</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213615587"/>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8-Dec-25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72145632"/>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PRB0032179</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US" sz="900" b="0" i="0" u="none" strike="noStrike">
                          <a:solidFill>
                            <a:srgbClr val="000000"/>
                          </a:solidFill>
                          <a:effectLst/>
                          <a:latin typeface="Trebuchet MS" panose="020B0603020202020204" pitchFamily="34" charset="0"/>
                        </a:rPr>
                        <a:t>Update print flag in DOC_AUDT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5-Jan-26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9-Jan-26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814489035"/>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12-Jan-26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460603195"/>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PRB0032288</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900" b="0" i="0" u="none" strike="noStrike">
                          <a:solidFill>
                            <a:srgbClr val="000000"/>
                          </a:solidFill>
                          <a:effectLst/>
                          <a:latin typeface="Trebuchet MS" panose="020B0603020202020204" pitchFamily="34" charset="0"/>
                        </a:rPr>
                        <a:t>Issue with BRUL21314 DM Insurer Choice</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5-Jan-26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9-Jan-26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547601935"/>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12-Jan-26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1261774628"/>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PRB0032533 </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900" b="0" i="0" u="none" strike="noStrike">
                          <a:solidFill>
                            <a:srgbClr val="000000"/>
                          </a:solidFill>
                          <a:effectLst/>
                          <a:latin typeface="Trebuchet MS" panose="020B0603020202020204" pitchFamily="34" charset="0"/>
                        </a:rPr>
                        <a:t>DM - BRUL20704 - Deferred Income "Y" Conditional Approve TXM = No</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5-Jan-26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9-Jan-26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4239486419"/>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12-Jan-26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805669016"/>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PRB0032787 </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900" b="0" i="0" u="none" strike="noStrike">
                          <a:solidFill>
                            <a:srgbClr val="000000"/>
                          </a:solidFill>
                          <a:effectLst/>
                          <a:latin typeface="Trebuchet MS" panose="020B0603020202020204" pitchFamily="34" charset="0"/>
                        </a:rPr>
                        <a:t>Fix Host Communication Error due to customer mismatch</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5-Jan-26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9-Jan-26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93347460"/>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12-Jan-26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339644892"/>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PRB0032847</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buNone/>
                      </a:pPr>
                      <a:r>
                        <a:rPr lang="en-CA" sz="900" b="0" i="0" u="none" strike="noStrike">
                          <a:solidFill>
                            <a:srgbClr val="000000"/>
                          </a:solidFill>
                          <a:effectLst/>
                          <a:latin typeface="Trebuchet MS" panose="020B0603020202020204" pitchFamily="34" charset="0"/>
                        </a:rPr>
                        <a:t>Excalibur – Multiple payments reversal cuasing huge ineterest outstanding</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5-Jan-26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9-Jan-26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294232400"/>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12-Jan-26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508841903"/>
                  </a:ext>
                </a:extLst>
              </a:tr>
              <a:tr h="148526">
                <a:tc rowSpan="2">
                  <a:txBody>
                    <a:bodyPr/>
                    <a:lstStyle/>
                    <a:p>
                      <a:pPr algn="ctr" fontAlgn="ctr">
                        <a:buNone/>
                      </a:pPr>
                      <a:r>
                        <a:rPr lang="en-US" sz="900" b="1" i="0" u="none" strike="noStrike">
                          <a:solidFill>
                            <a:srgbClr val="000000"/>
                          </a:solidFill>
                          <a:effectLst/>
                          <a:latin typeface="Trebuchet MS" panose="020B0603020202020204" pitchFamily="34" charset="0"/>
                        </a:rPr>
                        <a:t>PRB0032900</a:t>
                      </a:r>
                    </a:p>
                  </a:txBody>
                  <a:tcPr marL="1650" marR="1650" marT="16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l" fontAlgn="ctr">
                        <a:buNone/>
                      </a:pPr>
                      <a:r>
                        <a:rPr lang="en-US" sz="900" b="0" i="0" u="none" strike="noStrike">
                          <a:solidFill>
                            <a:srgbClr val="000000"/>
                          </a:solidFill>
                          <a:effectLst/>
                          <a:latin typeface="Trebuchet MS" panose="020B0603020202020204" pitchFamily="34" charset="0"/>
                        </a:rPr>
                        <a:t>MVP2 Ingestion Error</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fontAlgn="ctr">
                        <a:buNone/>
                      </a:pPr>
                      <a:r>
                        <a:rPr lang="en-US" sz="900" b="0" i="0" u="none" strike="noStrike">
                          <a:solidFill>
                            <a:srgbClr val="000000"/>
                          </a:solidFill>
                          <a:effectLst/>
                          <a:latin typeface="Trebuchet MS" panose="020B0603020202020204" pitchFamily="34" charset="0"/>
                        </a:rPr>
                        <a:t>1-Feb</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SIT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5-Jan-26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9-Jan-26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2805939423"/>
                  </a:ext>
                </a:extLst>
              </a:tr>
              <a:tr h="1485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Trebuchet MS" panose="020B0603020202020204" pitchFamily="34" charset="0"/>
                        </a:rPr>
                        <a:t>UAT</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6B0A"/>
                    </a:solidFill>
                  </a:tcPr>
                </a:tc>
                <a:tc>
                  <a:txBody>
                    <a:bodyPr/>
                    <a:lstStyle/>
                    <a:p>
                      <a:pPr algn="ctr" fontAlgn="ctr">
                        <a:buNone/>
                      </a:pPr>
                      <a:r>
                        <a:rPr lang="en-US" sz="900" b="0" i="0" u="none" strike="noStrike">
                          <a:solidFill>
                            <a:srgbClr val="000000"/>
                          </a:solidFill>
                          <a:effectLst/>
                          <a:latin typeface="Trebuchet MS" panose="020B0603020202020204" pitchFamily="34" charset="0"/>
                        </a:rPr>
                        <a:t>12-Jan-26</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6B0A"/>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578445112"/>
                  </a:ext>
                </a:extLst>
              </a:tr>
              <a:tr h="148526">
                <a:tc gridSpan="2">
                  <a:txBody>
                    <a:bodyPr/>
                    <a:lstStyle/>
                    <a:p>
                      <a:pPr algn="ctr" fontAlgn="ctr">
                        <a:buNone/>
                      </a:pPr>
                      <a:r>
                        <a:rPr lang="en-US" sz="900" b="1" i="0" u="none" strike="noStrike">
                          <a:solidFill>
                            <a:srgbClr val="000000"/>
                          </a:solidFill>
                          <a:effectLst/>
                          <a:latin typeface="Trebuchet MS" panose="020B0603020202020204" pitchFamily="34" charset="0"/>
                        </a:rPr>
                        <a:t>CBPT Applications </a:t>
                      </a:r>
                    </a:p>
                  </a:txBody>
                  <a:tcPr marL="1650" marR="1650" marT="165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gridSpan="4">
                  <a:txBody>
                    <a:bodyPr/>
                    <a:lstStyle/>
                    <a:p>
                      <a:pPr algn="ctr" fontAlgn="ctr">
                        <a:buNone/>
                      </a:pPr>
                      <a:r>
                        <a:rPr lang="en-US" sz="900" b="1" i="0" u="none" strike="noStrike">
                          <a:solidFill>
                            <a:srgbClr val="000000"/>
                          </a:solidFill>
                          <a:effectLst/>
                          <a:latin typeface="Trebuchet MS" panose="020B0603020202020204" pitchFamily="34" charset="0"/>
                        </a:rPr>
                        <a:t> </a:t>
                      </a:r>
                    </a:p>
                  </a:txBody>
                  <a:tcPr marL="1650" marR="1650" marT="165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342919049"/>
                  </a:ext>
                </a:extLst>
              </a:tr>
              <a:tr h="148526">
                <a:tc gridSpan="2">
                  <a:txBody>
                    <a:bodyPr/>
                    <a:lstStyle/>
                    <a:p>
                      <a:pPr algn="ctr" fontAlgn="b">
                        <a:buNone/>
                      </a:pPr>
                      <a:r>
                        <a:rPr lang="en-US" sz="900" b="0" i="0" u="none" strike="noStrike">
                          <a:solidFill>
                            <a:srgbClr val="000000"/>
                          </a:solidFill>
                          <a:effectLst/>
                          <a:latin typeface="Trebuchet MS" panose="020B0603020202020204" pitchFamily="34" charset="0"/>
                        </a:rPr>
                        <a:t>CAAP`</a:t>
                      </a:r>
                    </a:p>
                  </a:txBody>
                  <a:tcPr marL="1650" marR="1650" marT="16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900" b="0"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29-Dec-25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3260160701"/>
                  </a:ext>
                </a:extLst>
              </a:tr>
              <a:tr h="148526">
                <a:tc gridSpan="2">
                  <a:txBody>
                    <a:bodyPr/>
                    <a:lstStyle/>
                    <a:p>
                      <a:pPr algn="ctr" fontAlgn="b">
                        <a:buNone/>
                      </a:pPr>
                      <a:r>
                        <a:rPr lang="en-US" sz="900" b="0" i="0" u="none" strike="noStrike">
                          <a:solidFill>
                            <a:srgbClr val="000000"/>
                          </a:solidFill>
                          <a:effectLst/>
                          <a:latin typeface="Trebuchet MS" panose="020B0603020202020204" pitchFamily="34" charset="0"/>
                        </a:rPr>
                        <a:t>DDGS</a:t>
                      </a:r>
                    </a:p>
                  </a:txBody>
                  <a:tcPr marL="1650" marR="1650" marT="16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900" b="0"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29-Dec-25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09347099"/>
                  </a:ext>
                </a:extLst>
              </a:tr>
              <a:tr h="148526">
                <a:tc gridSpan="2">
                  <a:txBody>
                    <a:bodyPr/>
                    <a:lstStyle/>
                    <a:p>
                      <a:pPr algn="ctr" fontAlgn="b">
                        <a:buNone/>
                      </a:pPr>
                      <a:r>
                        <a:rPr lang="en-US" sz="900" b="0" i="0" u="none" strike="noStrike">
                          <a:solidFill>
                            <a:srgbClr val="000000"/>
                          </a:solidFill>
                          <a:effectLst/>
                          <a:latin typeface="Trebuchet MS" panose="020B0603020202020204" pitchFamily="34" charset="0"/>
                        </a:rPr>
                        <a:t>DM/LCMS</a:t>
                      </a:r>
                    </a:p>
                  </a:txBody>
                  <a:tcPr marL="1650" marR="1650" marT="16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900" b="0"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29-Dec-25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520466045"/>
                  </a:ext>
                </a:extLst>
              </a:tr>
              <a:tr h="148526">
                <a:tc gridSpan="2">
                  <a:txBody>
                    <a:bodyPr/>
                    <a:lstStyle/>
                    <a:p>
                      <a:pPr algn="ctr" fontAlgn="b">
                        <a:buNone/>
                      </a:pPr>
                      <a:r>
                        <a:rPr lang="en-US" sz="900" b="0" i="0" u="none" strike="noStrike">
                          <a:solidFill>
                            <a:srgbClr val="000000"/>
                          </a:solidFill>
                          <a:effectLst/>
                          <a:latin typeface="Trebuchet MS" panose="020B0603020202020204" pitchFamily="34" charset="0"/>
                        </a:rPr>
                        <a:t>Excalibur</a:t>
                      </a:r>
                    </a:p>
                  </a:txBody>
                  <a:tcPr marL="1650" marR="1650" marT="16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900" b="0"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29-Dec-25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562572433"/>
                  </a:ext>
                </a:extLst>
              </a:tr>
              <a:tr h="148526">
                <a:tc gridSpan="2">
                  <a:txBody>
                    <a:bodyPr/>
                    <a:lstStyle/>
                    <a:p>
                      <a:pPr algn="ctr" fontAlgn="b">
                        <a:buNone/>
                      </a:pPr>
                      <a:r>
                        <a:rPr lang="en-US" sz="900" b="0" i="0" u="none" strike="noStrike">
                          <a:solidFill>
                            <a:srgbClr val="000000"/>
                          </a:solidFill>
                          <a:effectLst/>
                          <a:latin typeface="Trebuchet MS" panose="020B0603020202020204" pitchFamily="34" charset="0"/>
                        </a:rPr>
                        <a:t>Lending API</a:t>
                      </a:r>
                    </a:p>
                  </a:txBody>
                  <a:tcPr marL="1650" marR="1650" marT="16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900" b="0"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29-Dec-25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133584744"/>
                  </a:ext>
                </a:extLst>
              </a:tr>
              <a:tr h="148526">
                <a:tc gridSpan="2">
                  <a:txBody>
                    <a:bodyPr/>
                    <a:lstStyle/>
                    <a:p>
                      <a:pPr algn="ctr" fontAlgn="b">
                        <a:buNone/>
                      </a:pPr>
                      <a:r>
                        <a:rPr lang="en-US" sz="900" b="0" i="0" u="none" strike="noStrike">
                          <a:solidFill>
                            <a:srgbClr val="000000"/>
                          </a:solidFill>
                          <a:effectLst/>
                          <a:latin typeface="Trebuchet MS" panose="020B0603020202020204" pitchFamily="34" charset="0"/>
                        </a:rPr>
                        <a:t>RPE</a:t>
                      </a:r>
                    </a:p>
                  </a:txBody>
                  <a:tcPr marL="1650" marR="1650" marT="16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900" b="0"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29-Dec-25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solidFill>
                      <a:srgbClr val="99CCFF"/>
                    </a:solid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900" b="0" i="0" u="none" strike="noStrike">
                        <a:solidFill>
                          <a:srgbClr val="000000"/>
                        </a:solidFill>
                        <a:effectLst/>
                        <a:latin typeface="Trebuchet MS" panose="020B0603020202020204" pitchFamily="34" charset="0"/>
                      </a:endParaRP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B050"/>
                    </a:solidFill>
                  </a:tcPr>
                </a:tc>
                <a:extLst>
                  <a:ext uri="{0D108BD9-81ED-4DB2-BD59-A6C34878D82A}">
                    <a16:rowId xmlns:a16="http://schemas.microsoft.com/office/drawing/2014/main" val="3089136981"/>
                  </a:ext>
                </a:extLst>
              </a:tr>
              <a:tr h="148526">
                <a:tc gridSpan="2">
                  <a:txBody>
                    <a:bodyPr/>
                    <a:lstStyle/>
                    <a:p>
                      <a:pPr algn="ctr" fontAlgn="b">
                        <a:buNone/>
                      </a:pPr>
                      <a:r>
                        <a:rPr lang="en-US" sz="900" b="0" i="0" u="none" strike="noStrike">
                          <a:solidFill>
                            <a:srgbClr val="000000"/>
                          </a:solidFill>
                          <a:effectLst/>
                          <a:latin typeface="Trebuchet MS" panose="020B0603020202020204" pitchFamily="34" charset="0"/>
                        </a:rPr>
                        <a:t>TABS</a:t>
                      </a:r>
                    </a:p>
                  </a:txBody>
                  <a:tcPr marL="1650" marR="1650" marT="16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900" b="0"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Trebuchet MS" panose="020B0603020202020204" pitchFamily="34" charset="0"/>
                        </a:rPr>
                        <a:t> </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29-Dec-25</a:t>
                      </a:r>
                    </a:p>
                  </a:txBody>
                  <a:tcPr marL="1650" marR="1650" marT="16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000000"/>
                          </a:solidFill>
                          <a:effectLst/>
                          <a:latin typeface="Trebuchet MS" panose="020B0603020202020204" pitchFamily="34" charset="0"/>
                        </a:rPr>
                        <a:t>16-Jan-26</a:t>
                      </a:r>
                    </a:p>
                  </a:txBody>
                  <a:tcPr marL="1650" marR="1650" marT="16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99CCFF"/>
                    </a:solid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Trebuchet MS" panose="020B0603020202020204" pitchFamily="34" charset="0"/>
                        </a:rPr>
                        <a:t> </a:t>
                      </a:r>
                    </a:p>
                  </a:txBody>
                  <a:tcPr marL="1650" marR="1650" marT="16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900" b="1" i="0" u="none" strike="noStrike">
                          <a:solidFill>
                            <a:srgbClr val="FFFFFF"/>
                          </a:solidFill>
                          <a:effectLst/>
                          <a:latin typeface="Trebuchet MS" panose="020B0603020202020204" pitchFamily="34" charset="0"/>
                        </a:rPr>
                        <a:t> </a:t>
                      </a:r>
                    </a:p>
                  </a:txBody>
                  <a:tcPr marL="1650" marR="1650" marT="16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777288953"/>
                  </a:ext>
                </a:extLst>
              </a:tr>
            </a:tbl>
          </a:graphicData>
        </a:graphic>
      </p:graphicFrame>
    </p:spTree>
    <p:extLst>
      <p:ext uri="{BB962C8B-B14F-4D97-AF65-F5344CB8AC3E}">
        <p14:creationId xmlns:p14="http://schemas.microsoft.com/office/powerpoint/2010/main" val="2886636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E3286-4B6D-1740-B86D-E0961F4BF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A3EA6-56D1-1A3C-4E34-B6E72958B2C4}"/>
              </a:ext>
            </a:extLst>
          </p:cNvPr>
          <p:cNvSpPr>
            <a:spLocks noGrp="1"/>
          </p:cNvSpPr>
          <p:nvPr>
            <p:ph type="title"/>
          </p:nvPr>
        </p:nvSpPr>
        <p:spPr>
          <a:xfrm>
            <a:off x="210502" y="179072"/>
            <a:ext cx="10933748" cy="569073"/>
          </a:xfrm>
        </p:spPr>
        <p:txBody>
          <a:bodyPr/>
          <a:lstStyle/>
          <a:p>
            <a:r>
              <a:rPr lang="en-CA" sz="2800"/>
              <a:t>February 1</a:t>
            </a:r>
            <a:r>
              <a:rPr lang="en-CA" sz="2800" baseline="30000"/>
              <a:t>st</a:t>
            </a:r>
            <a:r>
              <a:rPr lang="en-CA" sz="2800"/>
              <a:t> Release Infrastructure Dependencies </a:t>
            </a:r>
            <a:endParaRPr lang="en-US" sz="2800"/>
          </a:p>
        </p:txBody>
      </p:sp>
      <p:graphicFrame>
        <p:nvGraphicFramePr>
          <p:cNvPr id="3" name="Table 2">
            <a:extLst>
              <a:ext uri="{FF2B5EF4-FFF2-40B4-BE49-F238E27FC236}">
                <a16:creationId xmlns:a16="http://schemas.microsoft.com/office/drawing/2014/main" id="{E01E56D4-B47B-E4A4-D233-F0871608004C}"/>
              </a:ext>
            </a:extLst>
          </p:cNvPr>
          <p:cNvGraphicFramePr>
            <a:graphicFrameLocks noGrp="1"/>
          </p:cNvGraphicFramePr>
          <p:nvPr>
            <p:extLst>
              <p:ext uri="{D42A27DB-BD31-4B8C-83A1-F6EECF244321}">
                <p14:modId xmlns:p14="http://schemas.microsoft.com/office/powerpoint/2010/main" val="1641384046"/>
              </p:ext>
            </p:extLst>
          </p:nvPr>
        </p:nvGraphicFramePr>
        <p:xfrm>
          <a:off x="109755" y="748145"/>
          <a:ext cx="11667691" cy="1246447"/>
        </p:xfrm>
        <a:graphic>
          <a:graphicData uri="http://schemas.openxmlformats.org/drawingml/2006/table">
            <a:tbl>
              <a:tblPr firstRow="1" bandRow="1">
                <a:tableStyleId>{2D5ABB26-0587-4C30-8999-92F81FD0307C}</a:tableStyleId>
              </a:tblPr>
              <a:tblGrid>
                <a:gridCol w="263144">
                  <a:extLst>
                    <a:ext uri="{9D8B030D-6E8A-4147-A177-3AD203B41FA5}">
                      <a16:colId xmlns:a16="http://schemas.microsoft.com/office/drawing/2014/main" val="20000"/>
                    </a:ext>
                  </a:extLst>
                </a:gridCol>
                <a:gridCol w="1475084">
                  <a:extLst>
                    <a:ext uri="{9D8B030D-6E8A-4147-A177-3AD203B41FA5}">
                      <a16:colId xmlns:a16="http://schemas.microsoft.com/office/drawing/2014/main" val="20001"/>
                    </a:ext>
                  </a:extLst>
                </a:gridCol>
                <a:gridCol w="2939768">
                  <a:extLst>
                    <a:ext uri="{9D8B030D-6E8A-4147-A177-3AD203B41FA5}">
                      <a16:colId xmlns:a16="http://schemas.microsoft.com/office/drawing/2014/main" val="338062114"/>
                    </a:ext>
                  </a:extLst>
                </a:gridCol>
                <a:gridCol w="936775">
                  <a:extLst>
                    <a:ext uri="{9D8B030D-6E8A-4147-A177-3AD203B41FA5}">
                      <a16:colId xmlns:a16="http://schemas.microsoft.com/office/drawing/2014/main" val="20003"/>
                    </a:ext>
                  </a:extLst>
                </a:gridCol>
                <a:gridCol w="824649">
                  <a:extLst>
                    <a:ext uri="{9D8B030D-6E8A-4147-A177-3AD203B41FA5}">
                      <a16:colId xmlns:a16="http://schemas.microsoft.com/office/drawing/2014/main" val="20004"/>
                    </a:ext>
                  </a:extLst>
                </a:gridCol>
                <a:gridCol w="1308637">
                  <a:extLst>
                    <a:ext uri="{9D8B030D-6E8A-4147-A177-3AD203B41FA5}">
                      <a16:colId xmlns:a16="http://schemas.microsoft.com/office/drawing/2014/main" val="20005"/>
                    </a:ext>
                  </a:extLst>
                </a:gridCol>
                <a:gridCol w="1309434">
                  <a:extLst>
                    <a:ext uri="{9D8B030D-6E8A-4147-A177-3AD203B41FA5}">
                      <a16:colId xmlns:a16="http://schemas.microsoft.com/office/drawing/2014/main" val="20006"/>
                    </a:ext>
                  </a:extLst>
                </a:gridCol>
                <a:gridCol w="1222409">
                  <a:extLst>
                    <a:ext uri="{9D8B030D-6E8A-4147-A177-3AD203B41FA5}">
                      <a16:colId xmlns:a16="http://schemas.microsoft.com/office/drawing/2014/main" val="20007"/>
                    </a:ext>
                  </a:extLst>
                </a:gridCol>
                <a:gridCol w="1387791">
                  <a:extLst>
                    <a:ext uri="{9D8B030D-6E8A-4147-A177-3AD203B41FA5}">
                      <a16:colId xmlns:a16="http://schemas.microsoft.com/office/drawing/2014/main" val="20011"/>
                    </a:ext>
                  </a:extLst>
                </a:gridCol>
              </a:tblGrid>
              <a:tr h="445710">
                <a:tc>
                  <a:txBody>
                    <a:bodyPr/>
                    <a:lstStyle/>
                    <a:p>
                      <a:pPr algn="ctr">
                        <a:spcBef>
                          <a:spcPts val="100"/>
                        </a:spcBef>
                        <a:spcAft>
                          <a:spcPts val="100"/>
                        </a:spcAft>
                      </a:pPr>
                      <a:r>
                        <a:rPr lang="en-US" sz="1100" b="1">
                          <a:latin typeface="+mn-lt"/>
                        </a:rPr>
                        <a:t>#</a:t>
                      </a:r>
                      <a:endParaRPr lang="en-CA" sz="1100" b="1">
                        <a:latin typeface="+mn-lt"/>
                      </a:endParaRPr>
                    </a:p>
                  </a:txBody>
                  <a:tcPr marL="118872" marR="11887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algn="l">
                        <a:spcBef>
                          <a:spcPts val="100"/>
                        </a:spcBef>
                        <a:spcAft>
                          <a:spcPts val="100"/>
                        </a:spcAft>
                      </a:pPr>
                      <a:r>
                        <a:rPr lang="en-CA" sz="1100" b="1">
                          <a:latin typeface="+mn-lt"/>
                        </a:rPr>
                        <a:t>Project</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algn="ctr">
                        <a:spcBef>
                          <a:spcPts val="100"/>
                        </a:spcBef>
                        <a:spcAft>
                          <a:spcPts val="100"/>
                        </a:spcAft>
                      </a:pPr>
                      <a:r>
                        <a:rPr lang="en-CA" sz="1100" b="1">
                          <a:latin typeface="+mn-lt"/>
                        </a:rPr>
                        <a:t>Short Description</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algn="ctr">
                        <a:spcBef>
                          <a:spcPts val="100"/>
                        </a:spcBef>
                        <a:spcAft>
                          <a:spcPts val="100"/>
                        </a:spcAft>
                      </a:pPr>
                      <a:r>
                        <a:rPr lang="en-CA" sz="1100" b="1">
                          <a:latin typeface="+mn-lt"/>
                        </a:rPr>
                        <a:t>Apps</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Owner</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TO CIS #</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TO/DXC</a:t>
                      </a:r>
                      <a:r>
                        <a:rPr lang="en-CA" sz="1100" b="1" baseline="0">
                          <a:latin typeface="+mn-lt"/>
                        </a:rPr>
                        <a:t> PM</a:t>
                      </a:r>
                      <a:endParaRPr lang="en-CA" sz="1100" b="1">
                        <a:latin typeface="+mn-lt"/>
                      </a:endParaRP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Target Date</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Comments/</a:t>
                      </a:r>
                    </a:p>
                    <a:p>
                      <a:pPr marL="0" marR="0" indent="0" algn="ctr" defTabSz="914400" rtl="0" eaLnBrk="1" fontAlgn="auto" latinLnBrk="0" hangingPunct="1">
                        <a:lnSpc>
                          <a:spcPct val="100000"/>
                        </a:lnSpc>
                        <a:spcBef>
                          <a:spcPts val="100"/>
                        </a:spcBef>
                        <a:spcAft>
                          <a:spcPts val="100"/>
                        </a:spcAft>
                        <a:buClrTx/>
                        <a:buSzTx/>
                        <a:buFontTx/>
                        <a:buNone/>
                        <a:tabLst/>
                        <a:defRPr/>
                      </a:pPr>
                      <a:r>
                        <a:rPr lang="en-CA" sz="1100" b="1">
                          <a:latin typeface="+mn-lt"/>
                        </a:rPr>
                        <a:t>Status</a:t>
                      </a:r>
                    </a:p>
                  </a:txBody>
                  <a:tcPr marL="118872" marR="118872" anchor="ctr">
                    <a:lnL w="12700" cap="flat" cmpd="sng" algn="ctr">
                      <a:solidFill>
                        <a:schemeClr val="bg1">
                          <a:lumMod val="95000"/>
                        </a:schemeClr>
                      </a:solidFill>
                      <a:prstDash val="solid"/>
                      <a:round/>
                      <a:headEnd type="none" w="med" len="med"/>
                      <a:tailEnd type="none" w="med" len="med"/>
                    </a:lnL>
                    <a:lnR w="12700" cap="flat" cmpd="sng" algn="ctr">
                      <a:solidFill>
                        <a:srgbClr val="E7E7E7"/>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rgbClr val="D40139"/>
                      </a:solidFill>
                      <a:prstDash val="solid"/>
                      <a:round/>
                      <a:headEnd type="none" w="med" len="med"/>
                      <a:tailEnd type="none" w="med" len="med"/>
                    </a:lnB>
                  </a:tcPr>
                </a:tc>
                <a:extLst>
                  <a:ext uri="{0D108BD9-81ED-4DB2-BD59-A6C34878D82A}">
                    <a16:rowId xmlns:a16="http://schemas.microsoft.com/office/drawing/2014/main" val="10001"/>
                  </a:ext>
                </a:extLst>
              </a:tr>
              <a:tr h="794327">
                <a:tc>
                  <a:txBody>
                    <a:bodyPr/>
                    <a:lstStyle/>
                    <a:p>
                      <a:pPr algn="ctr" rtl="0" fontAlgn="ctr"/>
                      <a:r>
                        <a:rPr lang="en-CA" sz="900" b="0" i="0" u="none" strike="noStrike">
                          <a:solidFill>
                            <a:schemeClr val="tx1"/>
                          </a:solidFill>
                          <a:effectLst/>
                          <a:latin typeface="+mn-lt"/>
                        </a:rPr>
                        <a:t>1</a:t>
                      </a:r>
                      <a:endParaRPr lang="en-US" sz="900" b="0" i="0" u="none" strike="noStrike">
                        <a:solidFill>
                          <a:schemeClr val="tx1"/>
                        </a:solidFill>
                        <a:effectLst/>
                        <a:latin typeface="+mn-lt"/>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l" defTabSz="914400" rtl="0" eaLnBrk="1" fontAlgn="base" latinLnBrk="0" hangingPunct="1">
                        <a:lnSpc>
                          <a:spcPts val="1200"/>
                        </a:lnSpc>
                        <a:spcBef>
                          <a:spcPts val="0"/>
                        </a:spcBef>
                        <a:spcAft>
                          <a:spcPts val="0"/>
                        </a:spcAft>
                        <a:buClrTx/>
                        <a:buSzTx/>
                        <a:buFontTx/>
                        <a:buNone/>
                        <a:tabLst/>
                        <a:defRPr/>
                      </a:pPr>
                      <a:endParaRPr lang="sv-SE" sz="1000" b="0" i="0" u="none" strike="noStrike">
                        <a:solidFill>
                          <a:srgbClr val="000000"/>
                        </a:solidFill>
                        <a:effectLst/>
                        <a:latin typeface="Trebuchet MS" panose="020B0603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00" b="0" i="0" u="none" strike="noStrike" kern="1200">
                        <a:solidFill>
                          <a:schemeClr val="tx1"/>
                        </a:solidFill>
                        <a:effectLst/>
                        <a:latin typeface="+mn-lt"/>
                        <a:ea typeface="+mn-ea"/>
                        <a:cs typeface="+mn-cs"/>
                      </a:endParaRP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CA" sz="1000" b="0" i="0" u="none" strike="noStrike" kern="1200">
                        <a:solidFill>
                          <a:schemeClr val="tx1"/>
                        </a:solidFill>
                        <a:effectLst/>
                        <a:latin typeface="+mn-lt"/>
                        <a:ea typeface="+mn-ea"/>
                        <a:cs typeface="+mn-cs"/>
                      </a:endParaRP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CA" sz="1000" b="0" i="0" u="none" strike="noStrike" kern="1200">
                        <a:solidFill>
                          <a:schemeClr val="tx1"/>
                        </a:solidFill>
                        <a:effectLst/>
                        <a:latin typeface="+mn-lt"/>
                        <a:ea typeface="+mn-ea"/>
                        <a:cs typeface="+mn-cs"/>
                      </a:endParaRP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000" b="0" i="0" u="none" strike="noStrike" kern="1200">
                        <a:solidFill>
                          <a:schemeClr val="tx1"/>
                        </a:solidFill>
                        <a:effectLst/>
                        <a:latin typeface="+mn-lt"/>
                        <a:ea typeface="+mn-ea"/>
                        <a:cs typeface="+mn-cs"/>
                      </a:endParaRP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000" b="0" i="0" u="none" strike="noStrike" kern="1200" cap="none" spc="0" normalizeH="0" baseline="0" noProof="0">
                        <a:ln>
                          <a:noFill/>
                        </a:ln>
                        <a:solidFill>
                          <a:prstClr val="black"/>
                        </a:solidFill>
                        <a:effectLst/>
                        <a:uLnTx/>
                        <a:uFillTx/>
                        <a:latin typeface="+mn-lt"/>
                        <a:ea typeface="+mn-ea"/>
                        <a:cs typeface="+mn-cs"/>
                      </a:endParaRP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000" b="0" i="0" u="none" strike="noStrike" kern="1200">
                        <a:solidFill>
                          <a:schemeClr val="tx1"/>
                        </a:solidFill>
                        <a:effectLst/>
                        <a:latin typeface="+mn-lt"/>
                        <a:ea typeface="+mn-ea"/>
                        <a:cs typeface="+mn-cs"/>
                      </a:endParaRP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tc>
                  <a:txBody>
                    <a:bodyPr/>
                    <a:lstStyle/>
                    <a:p>
                      <a:pPr marL="0" marR="0" lvl="0" algn="ctr" defTabSz="914400" rtl="0" eaLnBrk="1" latinLnBrk="0" hangingPunct="1">
                        <a:spcBef>
                          <a:spcPts val="0"/>
                        </a:spcBef>
                        <a:spcAft>
                          <a:spcPts val="0"/>
                        </a:spcAft>
                        <a:buNone/>
                      </a:pPr>
                      <a:endParaRPr lang="sv-SE" sz="1000" b="0" i="0" u="none" strike="noStrike" kern="1200">
                        <a:solidFill>
                          <a:schemeClr val="tx1"/>
                        </a:solidFill>
                        <a:effectLst/>
                        <a:latin typeface="+mn-lt"/>
                        <a:ea typeface="+mn-ea"/>
                        <a:cs typeface="+mn-cs"/>
                      </a:endParaRPr>
                    </a:p>
                  </a:txBody>
                  <a:tcPr marL="9525" marR="9525" marT="18288" marB="18288" anchor="ctr">
                    <a:lnL w="12700" cap="flat" cmpd="sng" algn="ctr">
                      <a:solidFill>
                        <a:schemeClr val="bg1">
                          <a:lumMod val="95000"/>
                        </a:schemeClr>
                      </a:solidFill>
                      <a:prstDash val="solid"/>
                      <a:round/>
                      <a:headEnd type="none" w="med" len="med"/>
                      <a:tailEnd type="none" w="med" len="med"/>
                    </a:lnL>
                    <a:lnR w="12700" cap="flat" cmpd="sng" algn="ctr">
                      <a:solidFill>
                        <a:srgbClr val="E7E7E7"/>
                      </a:solidFill>
                      <a:prstDash val="solid"/>
                      <a:round/>
                      <a:headEnd type="none" w="med" len="med"/>
                      <a:tailEnd type="none" w="med" len="med"/>
                    </a:lnR>
                    <a:lnT w="12700" cap="flat" cmpd="sng" algn="ctr">
                      <a:solidFill>
                        <a:srgbClr val="D40139"/>
                      </a:solidFill>
                      <a:prstDash val="solid"/>
                      <a:round/>
                      <a:headEnd type="none" w="med" len="med"/>
                      <a:tailEnd type="none" w="med" len="med"/>
                    </a:lnT>
                    <a:lnB w="12700" cap="flat" cmpd="sng" algn="ctr">
                      <a:solidFill>
                        <a:srgbClr val="D40139"/>
                      </a:solidFill>
                      <a:prstDash val="solid"/>
                      <a:round/>
                      <a:headEnd type="none" w="med" len="med"/>
                      <a:tailEnd type="none" w="med" len="med"/>
                    </a:lnB>
                    <a:noFill/>
                  </a:tcPr>
                </a:tc>
                <a:extLst>
                  <a:ext uri="{0D108BD9-81ED-4DB2-BD59-A6C34878D82A}">
                    <a16:rowId xmlns:a16="http://schemas.microsoft.com/office/drawing/2014/main" val="1163387385"/>
                  </a:ext>
                </a:extLst>
              </a:tr>
            </a:tbl>
          </a:graphicData>
        </a:graphic>
      </p:graphicFrame>
    </p:spTree>
    <p:extLst>
      <p:ext uri="{BB962C8B-B14F-4D97-AF65-F5344CB8AC3E}">
        <p14:creationId xmlns:p14="http://schemas.microsoft.com/office/powerpoint/2010/main" val="1594960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8B219F-63E1-5F5A-4143-68E8ADB5B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592D8-B2E4-FE14-A47A-233DD28A0AB9}"/>
              </a:ext>
            </a:extLst>
          </p:cNvPr>
          <p:cNvSpPr>
            <a:spLocks noGrp="1"/>
          </p:cNvSpPr>
          <p:nvPr>
            <p:ph type="title"/>
          </p:nvPr>
        </p:nvSpPr>
        <p:spPr>
          <a:xfrm>
            <a:off x="297179" y="-2302"/>
            <a:ext cx="10933748" cy="841248"/>
          </a:xfrm>
        </p:spPr>
        <p:txBody>
          <a:bodyPr/>
          <a:lstStyle/>
          <a:p>
            <a:r>
              <a:rPr lang="en-CA"/>
              <a:t>February 1</a:t>
            </a:r>
            <a:r>
              <a:rPr lang="en-CA" baseline="30000"/>
              <a:t>st</a:t>
            </a:r>
            <a:r>
              <a:rPr lang="en-CA"/>
              <a:t> Release PIV – Initiatives with PIV</a:t>
            </a:r>
          </a:p>
        </p:txBody>
      </p:sp>
      <p:sp>
        <p:nvSpPr>
          <p:cNvPr id="3" name="Footer Placeholder 2">
            <a:extLst>
              <a:ext uri="{FF2B5EF4-FFF2-40B4-BE49-F238E27FC236}">
                <a16:creationId xmlns:a16="http://schemas.microsoft.com/office/drawing/2014/main" id="{EB0D1794-B639-0B44-E7A4-53E8FDD4E023}"/>
              </a:ext>
            </a:extLst>
          </p:cNvPr>
          <p:cNvSpPr>
            <a:spLocks noGrp="1"/>
          </p:cNvSpPr>
          <p:nvPr>
            <p:ph type="ftr" sz="quarter" idx="3"/>
          </p:nvPr>
        </p:nvSpPr>
        <p:spPr/>
        <p:txBody>
          <a:bodyPr/>
          <a:lstStyle/>
          <a:p>
            <a:pPr algn="ctr"/>
            <a:r>
              <a:rPr lang="en-US"/>
              <a:t>INTERNAL</a:t>
            </a:r>
          </a:p>
        </p:txBody>
      </p:sp>
      <p:graphicFrame>
        <p:nvGraphicFramePr>
          <p:cNvPr id="9" name="Table 8">
            <a:extLst>
              <a:ext uri="{FF2B5EF4-FFF2-40B4-BE49-F238E27FC236}">
                <a16:creationId xmlns:a16="http://schemas.microsoft.com/office/drawing/2014/main" id="{86757E9F-1B47-C41D-080A-ED3FEC361B51}"/>
              </a:ext>
            </a:extLst>
          </p:cNvPr>
          <p:cNvGraphicFramePr>
            <a:graphicFrameLocks noGrp="1"/>
          </p:cNvGraphicFramePr>
          <p:nvPr/>
        </p:nvGraphicFramePr>
        <p:xfrm>
          <a:off x="297179" y="838946"/>
          <a:ext cx="3644900" cy="723900"/>
        </p:xfrm>
        <a:graphic>
          <a:graphicData uri="http://schemas.openxmlformats.org/drawingml/2006/table">
            <a:tbl>
              <a:tblPr/>
              <a:tblGrid>
                <a:gridCol w="3175000">
                  <a:extLst>
                    <a:ext uri="{9D8B030D-6E8A-4147-A177-3AD203B41FA5}">
                      <a16:colId xmlns:a16="http://schemas.microsoft.com/office/drawing/2014/main" val="2148849341"/>
                    </a:ext>
                  </a:extLst>
                </a:gridCol>
                <a:gridCol w="215900">
                  <a:extLst>
                    <a:ext uri="{9D8B030D-6E8A-4147-A177-3AD203B41FA5}">
                      <a16:colId xmlns:a16="http://schemas.microsoft.com/office/drawing/2014/main" val="109520089"/>
                    </a:ext>
                  </a:extLst>
                </a:gridCol>
                <a:gridCol w="254000">
                  <a:extLst>
                    <a:ext uri="{9D8B030D-6E8A-4147-A177-3AD203B41FA5}">
                      <a16:colId xmlns:a16="http://schemas.microsoft.com/office/drawing/2014/main" val="3915147585"/>
                    </a:ext>
                  </a:extLst>
                </a:gridCol>
              </a:tblGrid>
              <a:tr h="190500">
                <a:tc>
                  <a:txBody>
                    <a:bodyPr/>
                    <a:lstStyle/>
                    <a:p>
                      <a:pPr algn="l" fontAlgn="b"/>
                      <a:r>
                        <a:rPr lang="en-CA" sz="1100" b="0" i="0" u="none" strike="noStrike">
                          <a:solidFill>
                            <a:srgbClr val="000000"/>
                          </a:solidFill>
                          <a:effectLst/>
                          <a:latin typeface="Arial" panose="020B0604020202020204" pitchFamily="34" charset="0"/>
                        </a:rPr>
                        <a:t>Initiatives Performing PIV</a:t>
                      </a:r>
                    </a:p>
                  </a:txBody>
                  <a:tcPr marL="6350" marR="6350" marT="6350" marB="0" anchor="b">
                    <a:lnL>
                      <a:noFill/>
                    </a:lnL>
                    <a:lnR>
                      <a:noFill/>
                    </a:lnR>
                    <a:lnT>
                      <a:noFill/>
                    </a:lnT>
                    <a:lnB>
                      <a:noFill/>
                    </a:lnB>
                    <a:solidFill>
                      <a:srgbClr val="A9D08E"/>
                    </a:solidFill>
                  </a:tcPr>
                </a:tc>
                <a:tc>
                  <a:txBody>
                    <a:bodyPr/>
                    <a:lstStyle/>
                    <a:p>
                      <a:pPr algn="r"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solidFill>
                      <a:srgbClr val="E2EFDA"/>
                    </a:solidFill>
                  </a:tcPr>
                </a:tc>
                <a:tc>
                  <a:txBody>
                    <a:bodyPr/>
                    <a:lstStyle/>
                    <a:p>
                      <a:pPr algn="l"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2521021991"/>
                  </a:ext>
                </a:extLst>
              </a:tr>
              <a:tr h="177800">
                <a:tc>
                  <a:txBody>
                    <a:bodyPr/>
                    <a:lstStyle/>
                    <a:p>
                      <a:pPr algn="l" fontAlgn="b"/>
                      <a:r>
                        <a:rPr lang="en-CA" sz="1100" b="0" i="0" u="none" strike="noStrike">
                          <a:solidFill>
                            <a:srgbClr val="000000"/>
                          </a:solidFill>
                          <a:effectLst/>
                          <a:latin typeface="Arial" panose="020B0604020202020204" pitchFamily="34" charset="0"/>
                        </a:rPr>
                        <a:t>Initiatives with PIV ON Implementation Day</a:t>
                      </a:r>
                    </a:p>
                  </a:txBody>
                  <a:tcPr marL="6350" marR="6350" marT="6350" marB="0" anchor="b">
                    <a:lnL>
                      <a:noFill/>
                    </a:lnL>
                    <a:lnR>
                      <a:noFill/>
                    </a:lnR>
                    <a:lnT>
                      <a:noFill/>
                    </a:lnT>
                    <a:lnB>
                      <a:noFill/>
                    </a:lnB>
                    <a:solidFill>
                      <a:srgbClr val="A9D08E"/>
                    </a:solidFill>
                  </a:tcPr>
                </a:tc>
                <a:tc>
                  <a:txBody>
                    <a:bodyPr/>
                    <a:lstStyle/>
                    <a:p>
                      <a:pPr algn="r"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solidFill>
                      <a:srgbClr val="E2EFDA"/>
                    </a:solidFill>
                  </a:tcPr>
                </a:tc>
                <a:tc>
                  <a:txBody>
                    <a:bodyPr/>
                    <a:lstStyle/>
                    <a:p>
                      <a:pPr algn="l"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1940030271"/>
                  </a:ext>
                </a:extLst>
              </a:tr>
              <a:tr h="177800">
                <a:tc>
                  <a:txBody>
                    <a:bodyPr/>
                    <a:lstStyle/>
                    <a:p>
                      <a:pPr algn="l" fontAlgn="b"/>
                      <a:r>
                        <a:rPr lang="en-CA" sz="1100" b="0" i="0" u="none" strike="noStrike">
                          <a:solidFill>
                            <a:srgbClr val="000000"/>
                          </a:solidFill>
                          <a:effectLst/>
                          <a:latin typeface="Arial" panose="020B0604020202020204" pitchFamily="34" charset="0"/>
                        </a:rPr>
                        <a:t>Initiatives Performing HC ON Implementation Day</a:t>
                      </a:r>
                    </a:p>
                  </a:txBody>
                  <a:tcPr marL="6350" marR="6350" marT="6350" marB="0" anchor="b">
                    <a:lnL>
                      <a:noFill/>
                    </a:lnL>
                    <a:lnR>
                      <a:noFill/>
                    </a:lnR>
                    <a:lnT>
                      <a:noFill/>
                    </a:lnT>
                    <a:lnB>
                      <a:noFill/>
                    </a:lnB>
                    <a:solidFill>
                      <a:srgbClr val="A9D08E"/>
                    </a:solidFill>
                  </a:tcPr>
                </a:tc>
                <a:tc>
                  <a:txBody>
                    <a:bodyPr/>
                    <a:lstStyle/>
                    <a:p>
                      <a:pPr algn="r"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solidFill>
                      <a:srgbClr val="E2EFDA"/>
                    </a:solidFill>
                  </a:tcPr>
                </a:tc>
                <a:tc>
                  <a:txBody>
                    <a:bodyPr/>
                    <a:lstStyle/>
                    <a:p>
                      <a:pPr algn="l"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25906154"/>
                  </a:ext>
                </a:extLst>
              </a:tr>
              <a:tr h="177800">
                <a:tc>
                  <a:txBody>
                    <a:bodyPr/>
                    <a:lstStyle/>
                    <a:p>
                      <a:pPr algn="l" fontAlgn="b"/>
                      <a:r>
                        <a:rPr lang="en-CA" sz="1100" b="0" i="0" u="none" strike="noStrike">
                          <a:solidFill>
                            <a:srgbClr val="000000"/>
                          </a:solidFill>
                          <a:effectLst/>
                          <a:latin typeface="Arial" panose="020B0604020202020204" pitchFamily="34" charset="0"/>
                        </a:rPr>
                        <a:t>Initiatives with PIV AFTER Implementation Day</a:t>
                      </a:r>
                    </a:p>
                  </a:txBody>
                  <a:tcPr marL="6350" marR="6350" marT="6350" marB="0" anchor="b">
                    <a:lnL>
                      <a:noFill/>
                    </a:lnL>
                    <a:lnR>
                      <a:noFill/>
                    </a:lnR>
                    <a:lnT>
                      <a:noFill/>
                    </a:lnT>
                    <a:lnB>
                      <a:noFill/>
                    </a:lnB>
                    <a:solidFill>
                      <a:srgbClr val="A9D08E"/>
                    </a:solidFill>
                  </a:tcPr>
                </a:tc>
                <a:tc>
                  <a:txBody>
                    <a:bodyPr/>
                    <a:lstStyle/>
                    <a:p>
                      <a:pPr algn="r"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solidFill>
                      <a:srgbClr val="E2EFDA"/>
                    </a:solidFill>
                  </a:tcPr>
                </a:tc>
                <a:tc>
                  <a:txBody>
                    <a:bodyPr/>
                    <a:lstStyle/>
                    <a:p>
                      <a:pPr algn="l"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3681588155"/>
                  </a:ext>
                </a:extLst>
              </a:tr>
            </a:tbl>
          </a:graphicData>
        </a:graphic>
      </p:graphicFrame>
      <p:graphicFrame>
        <p:nvGraphicFramePr>
          <p:cNvPr id="6" name="Table 5">
            <a:extLst>
              <a:ext uri="{FF2B5EF4-FFF2-40B4-BE49-F238E27FC236}">
                <a16:creationId xmlns:a16="http://schemas.microsoft.com/office/drawing/2014/main" id="{BC04EF5B-8BAF-5887-A9AB-80BEB2B617B8}"/>
              </a:ext>
            </a:extLst>
          </p:cNvPr>
          <p:cNvGraphicFramePr>
            <a:graphicFrameLocks noGrp="1"/>
          </p:cNvGraphicFramePr>
          <p:nvPr/>
        </p:nvGraphicFramePr>
        <p:xfrm>
          <a:off x="404701" y="1793091"/>
          <a:ext cx="11077798" cy="3365500"/>
        </p:xfrm>
        <a:graphic>
          <a:graphicData uri="http://schemas.openxmlformats.org/drawingml/2006/table">
            <a:tbl>
              <a:tblPr/>
              <a:tblGrid>
                <a:gridCol w="1105414">
                  <a:extLst>
                    <a:ext uri="{9D8B030D-6E8A-4147-A177-3AD203B41FA5}">
                      <a16:colId xmlns:a16="http://schemas.microsoft.com/office/drawing/2014/main" val="884843960"/>
                    </a:ext>
                  </a:extLst>
                </a:gridCol>
                <a:gridCol w="2258889">
                  <a:extLst>
                    <a:ext uri="{9D8B030D-6E8A-4147-A177-3AD203B41FA5}">
                      <a16:colId xmlns:a16="http://schemas.microsoft.com/office/drawing/2014/main" val="1312000671"/>
                    </a:ext>
                  </a:extLst>
                </a:gridCol>
                <a:gridCol w="704902">
                  <a:extLst>
                    <a:ext uri="{9D8B030D-6E8A-4147-A177-3AD203B41FA5}">
                      <a16:colId xmlns:a16="http://schemas.microsoft.com/office/drawing/2014/main" val="2908759758"/>
                    </a:ext>
                  </a:extLst>
                </a:gridCol>
                <a:gridCol w="1153475">
                  <a:extLst>
                    <a:ext uri="{9D8B030D-6E8A-4147-A177-3AD203B41FA5}">
                      <a16:colId xmlns:a16="http://schemas.microsoft.com/office/drawing/2014/main" val="782932203"/>
                    </a:ext>
                  </a:extLst>
                </a:gridCol>
                <a:gridCol w="688881">
                  <a:extLst>
                    <a:ext uri="{9D8B030D-6E8A-4147-A177-3AD203B41FA5}">
                      <a16:colId xmlns:a16="http://schemas.microsoft.com/office/drawing/2014/main" val="273675226"/>
                    </a:ext>
                  </a:extLst>
                </a:gridCol>
                <a:gridCol w="1041332">
                  <a:extLst>
                    <a:ext uri="{9D8B030D-6E8A-4147-A177-3AD203B41FA5}">
                      <a16:colId xmlns:a16="http://schemas.microsoft.com/office/drawing/2014/main" val="2003801422"/>
                    </a:ext>
                  </a:extLst>
                </a:gridCol>
                <a:gridCol w="833065">
                  <a:extLst>
                    <a:ext uri="{9D8B030D-6E8A-4147-A177-3AD203B41FA5}">
                      <a16:colId xmlns:a16="http://schemas.microsoft.com/office/drawing/2014/main" val="2106546877"/>
                    </a:ext>
                  </a:extLst>
                </a:gridCol>
                <a:gridCol w="822960">
                  <a:extLst>
                    <a:ext uri="{9D8B030D-6E8A-4147-A177-3AD203B41FA5}">
                      <a16:colId xmlns:a16="http://schemas.microsoft.com/office/drawing/2014/main" val="1694415915"/>
                    </a:ext>
                  </a:extLst>
                </a:gridCol>
                <a:gridCol w="822960">
                  <a:extLst>
                    <a:ext uri="{9D8B030D-6E8A-4147-A177-3AD203B41FA5}">
                      <a16:colId xmlns:a16="http://schemas.microsoft.com/office/drawing/2014/main" val="973860091"/>
                    </a:ext>
                  </a:extLst>
                </a:gridCol>
                <a:gridCol w="822960">
                  <a:extLst>
                    <a:ext uri="{9D8B030D-6E8A-4147-A177-3AD203B41FA5}">
                      <a16:colId xmlns:a16="http://schemas.microsoft.com/office/drawing/2014/main" val="4131764320"/>
                    </a:ext>
                  </a:extLst>
                </a:gridCol>
                <a:gridCol w="822960">
                  <a:extLst>
                    <a:ext uri="{9D8B030D-6E8A-4147-A177-3AD203B41FA5}">
                      <a16:colId xmlns:a16="http://schemas.microsoft.com/office/drawing/2014/main" val="1999155900"/>
                    </a:ext>
                  </a:extLst>
                </a:gridCol>
              </a:tblGrid>
              <a:tr h="425450">
                <a:tc>
                  <a:txBody>
                    <a:bodyPr/>
                    <a:lstStyle/>
                    <a:p>
                      <a:pPr algn="l" rtl="0" fontAlgn="b"/>
                      <a:r>
                        <a:rPr lang="en-US" sz="850" b="1" i="0" u="none" strike="noStrike">
                          <a:solidFill>
                            <a:schemeClr val="tx1"/>
                          </a:solidFill>
                          <a:effectLst/>
                          <a:latin typeface="Arial" panose="020B0604020202020204" pitchFamily="34" charset="0"/>
                        </a:rPr>
                        <a:t>Intake #</a:t>
                      </a:r>
                    </a:p>
                  </a:txBody>
                  <a:tcPr marL="6350" marR="6350" marT="6350" marB="0" anchor="b">
                    <a:lnL w="6350" cap="flat" cmpd="sng" algn="ctr">
                      <a:solidFill>
                        <a:srgbClr val="92D050"/>
                      </a:solidFill>
                      <a:prstDash val="solid"/>
                      <a:round/>
                      <a:headEnd type="none" w="med" len="med"/>
                      <a:tailEnd type="none" w="med" len="med"/>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l" rtl="0" fontAlgn="b"/>
                      <a:r>
                        <a:rPr lang="en-US" sz="850" b="1" i="0" u="none" strike="noStrike">
                          <a:solidFill>
                            <a:schemeClr val="tx1"/>
                          </a:solidFill>
                          <a:effectLst/>
                          <a:latin typeface="Arial" panose="020B0604020202020204" pitchFamily="34" charset="0"/>
                        </a:rPr>
                        <a:t>Initiative Name</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PM</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Change Type</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Required</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Planning</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Test Case Status</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Planning ETA</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on Imp. Date</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Business Health Check on Imp. day</a:t>
                      </a:r>
                    </a:p>
                  </a:txBody>
                  <a:tcPr marL="6350" marR="6350" marT="6350" marB="0" anchor="b">
                    <a:lnL>
                      <a:noFill/>
                    </a:lnL>
                    <a:lnR>
                      <a:noFill/>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850" b="1" i="0" u="none" strike="noStrike">
                          <a:solidFill>
                            <a:schemeClr val="tx1"/>
                          </a:solidFill>
                          <a:effectLst/>
                          <a:latin typeface="Arial" panose="020B0604020202020204" pitchFamily="34" charset="0"/>
                        </a:rPr>
                        <a:t>PIV After Imp. Date</a:t>
                      </a:r>
                    </a:p>
                  </a:txBody>
                  <a:tcPr marL="6350" marR="6350" marT="6350" marB="0" anchor="b">
                    <a:lnL>
                      <a:noFill/>
                    </a:lnL>
                    <a:lnR w="6350" cap="flat" cmpd="sng" algn="ctr">
                      <a:solidFill>
                        <a:srgbClr val="92D050"/>
                      </a:solidFill>
                      <a:prstDash val="solid"/>
                      <a:round/>
                      <a:headEnd type="none" w="med" len="med"/>
                      <a:tailEnd type="none" w="med" len="med"/>
                    </a:lnR>
                    <a:lnT w="6350" cap="flat" cmpd="sng" algn="ctr">
                      <a:solidFill>
                        <a:srgbClr val="92D050"/>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extLst>
                  <a:ext uri="{0D108BD9-81ED-4DB2-BD59-A6C34878D82A}">
                    <a16:rowId xmlns:a16="http://schemas.microsoft.com/office/drawing/2014/main" val="1886818980"/>
                  </a:ext>
                </a:extLst>
              </a:tr>
              <a:tr h="17780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2393184830"/>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225582742"/>
                  </a:ext>
                </a:extLst>
              </a:tr>
              <a:tr h="184150">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1494724420"/>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1373093126"/>
                  </a:ext>
                </a:extLst>
              </a:tr>
              <a:tr h="184150">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1175150748"/>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2364154437"/>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4250975602"/>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4039158968"/>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fr-FR"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1736133538"/>
                  </a:ext>
                </a:extLst>
              </a:tr>
              <a:tr h="184150">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2137288610"/>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607654778"/>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799689630"/>
                  </a:ext>
                </a:extLst>
              </a:tr>
              <a:tr h="184150">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909217915"/>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154189316"/>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425028568"/>
                  </a:ext>
                </a:extLst>
              </a:tr>
              <a:tr h="184150">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w="6350" cap="flat" cmpd="sng" algn="ctr">
                      <a:solidFill>
                        <a:srgbClr val="92D050"/>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0" marR="0" marT="0" marB="0" anchor="ctr">
                    <a:lnL>
                      <a:noFill/>
                    </a:lnL>
                    <a:lnR>
                      <a:noFill/>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chemeClr val="tx1"/>
                        </a:solidFill>
                        <a:effectLst/>
                        <a:latin typeface="Arial" panose="020B0604020202020204" pitchFamily="34" charset="0"/>
                      </a:endParaRPr>
                    </a:p>
                  </a:txBody>
                  <a:tcPr marL="0" marR="0" marT="0" marB="0" anchor="ctr">
                    <a:lnL>
                      <a:noFill/>
                    </a:lnL>
                    <a:lnR w="6350" cap="flat" cmpd="sng" algn="ctr">
                      <a:solidFill>
                        <a:srgbClr val="92D050"/>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92D050"/>
                      </a:solidFill>
                      <a:prstDash val="solid"/>
                      <a:round/>
                      <a:headEnd type="none" w="med" len="med"/>
                      <a:tailEnd type="none" w="med" len="med"/>
                    </a:lnB>
                    <a:solidFill>
                      <a:srgbClr val="FFFFFF"/>
                    </a:solidFill>
                  </a:tcPr>
                </a:tc>
                <a:extLst>
                  <a:ext uri="{0D108BD9-81ED-4DB2-BD59-A6C34878D82A}">
                    <a16:rowId xmlns:a16="http://schemas.microsoft.com/office/drawing/2014/main" val="3220877491"/>
                  </a:ext>
                </a:extLst>
              </a:tr>
            </a:tbl>
          </a:graphicData>
        </a:graphic>
      </p:graphicFrame>
    </p:spTree>
    <p:extLst>
      <p:ext uri="{BB962C8B-B14F-4D97-AF65-F5344CB8AC3E}">
        <p14:creationId xmlns:p14="http://schemas.microsoft.com/office/powerpoint/2010/main" val="12621556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E94AF6-7FCE-47EB-476E-DBA781172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D6C718-700C-BA75-59DD-F64FE02E73B2}"/>
              </a:ext>
            </a:extLst>
          </p:cNvPr>
          <p:cNvSpPr>
            <a:spLocks noGrp="1"/>
          </p:cNvSpPr>
          <p:nvPr>
            <p:ph type="title"/>
          </p:nvPr>
        </p:nvSpPr>
        <p:spPr>
          <a:xfrm>
            <a:off x="297179" y="0"/>
            <a:ext cx="10933748" cy="841248"/>
          </a:xfrm>
        </p:spPr>
        <p:txBody>
          <a:bodyPr/>
          <a:lstStyle/>
          <a:p>
            <a:r>
              <a:rPr lang="en-CA"/>
              <a:t>February 1</a:t>
            </a:r>
            <a:r>
              <a:rPr lang="en-CA" baseline="30000"/>
              <a:t>st</a:t>
            </a:r>
            <a:r>
              <a:rPr lang="en-CA"/>
              <a:t> Release PIV – Initiatives without PIV</a:t>
            </a:r>
          </a:p>
        </p:txBody>
      </p:sp>
      <p:sp>
        <p:nvSpPr>
          <p:cNvPr id="3" name="Footer Placeholder 2">
            <a:extLst>
              <a:ext uri="{FF2B5EF4-FFF2-40B4-BE49-F238E27FC236}">
                <a16:creationId xmlns:a16="http://schemas.microsoft.com/office/drawing/2014/main" id="{135965E0-B80F-C9C5-4C4D-7F74E8B6A215}"/>
              </a:ext>
            </a:extLst>
          </p:cNvPr>
          <p:cNvSpPr>
            <a:spLocks noGrp="1"/>
          </p:cNvSpPr>
          <p:nvPr>
            <p:ph type="ftr" sz="quarter" idx="3"/>
          </p:nvPr>
        </p:nvSpPr>
        <p:spPr/>
        <p:txBody>
          <a:bodyPr/>
          <a:lstStyle/>
          <a:p>
            <a:pPr algn="ctr"/>
            <a:r>
              <a:rPr lang="en-US"/>
              <a:t>INTERNAL</a:t>
            </a:r>
          </a:p>
        </p:txBody>
      </p:sp>
      <p:graphicFrame>
        <p:nvGraphicFramePr>
          <p:cNvPr id="4" name="Table 3">
            <a:extLst>
              <a:ext uri="{FF2B5EF4-FFF2-40B4-BE49-F238E27FC236}">
                <a16:creationId xmlns:a16="http://schemas.microsoft.com/office/drawing/2014/main" id="{2CB2FB19-4842-911F-2C54-A69D059F9F2F}"/>
              </a:ext>
            </a:extLst>
          </p:cNvPr>
          <p:cNvGraphicFramePr>
            <a:graphicFrameLocks noGrp="1"/>
          </p:cNvGraphicFramePr>
          <p:nvPr/>
        </p:nvGraphicFramePr>
        <p:xfrm>
          <a:off x="297179" y="1188412"/>
          <a:ext cx="10578923" cy="2599252"/>
        </p:xfrm>
        <a:graphic>
          <a:graphicData uri="http://schemas.openxmlformats.org/drawingml/2006/table">
            <a:tbl>
              <a:tblPr/>
              <a:tblGrid>
                <a:gridCol w="1019803">
                  <a:extLst>
                    <a:ext uri="{9D8B030D-6E8A-4147-A177-3AD203B41FA5}">
                      <a16:colId xmlns:a16="http://schemas.microsoft.com/office/drawing/2014/main" val="167540110"/>
                    </a:ext>
                  </a:extLst>
                </a:gridCol>
                <a:gridCol w="2083948">
                  <a:extLst>
                    <a:ext uri="{9D8B030D-6E8A-4147-A177-3AD203B41FA5}">
                      <a16:colId xmlns:a16="http://schemas.microsoft.com/office/drawing/2014/main" val="1968712390"/>
                    </a:ext>
                  </a:extLst>
                </a:gridCol>
                <a:gridCol w="650309">
                  <a:extLst>
                    <a:ext uri="{9D8B030D-6E8A-4147-A177-3AD203B41FA5}">
                      <a16:colId xmlns:a16="http://schemas.microsoft.com/office/drawing/2014/main" val="3876996284"/>
                    </a:ext>
                  </a:extLst>
                </a:gridCol>
                <a:gridCol w="1064143">
                  <a:extLst>
                    <a:ext uri="{9D8B030D-6E8A-4147-A177-3AD203B41FA5}">
                      <a16:colId xmlns:a16="http://schemas.microsoft.com/office/drawing/2014/main" val="138188574"/>
                    </a:ext>
                  </a:extLst>
                </a:gridCol>
                <a:gridCol w="822960">
                  <a:extLst>
                    <a:ext uri="{9D8B030D-6E8A-4147-A177-3AD203B41FA5}">
                      <a16:colId xmlns:a16="http://schemas.microsoft.com/office/drawing/2014/main" val="1359075812"/>
                    </a:ext>
                  </a:extLst>
                </a:gridCol>
                <a:gridCol w="822960">
                  <a:extLst>
                    <a:ext uri="{9D8B030D-6E8A-4147-A177-3AD203B41FA5}">
                      <a16:colId xmlns:a16="http://schemas.microsoft.com/office/drawing/2014/main" val="513563013"/>
                    </a:ext>
                  </a:extLst>
                </a:gridCol>
                <a:gridCol w="822960">
                  <a:extLst>
                    <a:ext uri="{9D8B030D-6E8A-4147-A177-3AD203B41FA5}">
                      <a16:colId xmlns:a16="http://schemas.microsoft.com/office/drawing/2014/main" val="954168545"/>
                    </a:ext>
                  </a:extLst>
                </a:gridCol>
                <a:gridCol w="822960">
                  <a:extLst>
                    <a:ext uri="{9D8B030D-6E8A-4147-A177-3AD203B41FA5}">
                      <a16:colId xmlns:a16="http://schemas.microsoft.com/office/drawing/2014/main" val="2458853652"/>
                    </a:ext>
                  </a:extLst>
                </a:gridCol>
                <a:gridCol w="822960">
                  <a:extLst>
                    <a:ext uri="{9D8B030D-6E8A-4147-A177-3AD203B41FA5}">
                      <a16:colId xmlns:a16="http://schemas.microsoft.com/office/drawing/2014/main" val="32498498"/>
                    </a:ext>
                  </a:extLst>
                </a:gridCol>
                <a:gridCol w="822960">
                  <a:extLst>
                    <a:ext uri="{9D8B030D-6E8A-4147-A177-3AD203B41FA5}">
                      <a16:colId xmlns:a16="http://schemas.microsoft.com/office/drawing/2014/main" val="3077213623"/>
                    </a:ext>
                  </a:extLst>
                </a:gridCol>
                <a:gridCol w="822960">
                  <a:extLst>
                    <a:ext uri="{9D8B030D-6E8A-4147-A177-3AD203B41FA5}">
                      <a16:colId xmlns:a16="http://schemas.microsoft.com/office/drawing/2014/main" val="4293976387"/>
                    </a:ext>
                  </a:extLst>
                </a:gridCol>
              </a:tblGrid>
              <a:tr h="338583">
                <a:tc>
                  <a:txBody>
                    <a:bodyPr/>
                    <a:lstStyle/>
                    <a:p>
                      <a:pPr algn="l" rtl="0" fontAlgn="b"/>
                      <a:r>
                        <a:rPr lang="en-US" sz="900" b="1" i="0" u="none" strike="noStrike">
                          <a:solidFill>
                            <a:srgbClr val="FFFFFF"/>
                          </a:solidFill>
                          <a:effectLst/>
                          <a:latin typeface="Arial" panose="020B0604020202020204" pitchFamily="34" charset="0"/>
                        </a:rPr>
                        <a:t>Intake #</a:t>
                      </a:r>
                    </a:p>
                  </a:txBody>
                  <a:tcPr marL="4841" marR="4841" marT="4841" marB="0" anchor="b">
                    <a:lnL w="12700" cap="flat" cmpd="sng" algn="ctr">
                      <a:solidFill>
                        <a:srgbClr val="ACCB99"/>
                      </a:solidFill>
                      <a:prstDash val="solid"/>
                      <a:round/>
                      <a:headEnd type="none" w="med" len="med"/>
                      <a:tailEnd type="none" w="med" len="med"/>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l" rtl="0" fontAlgn="b"/>
                      <a:r>
                        <a:rPr lang="en-US" sz="900" b="1" i="0" u="none" strike="noStrike">
                          <a:solidFill>
                            <a:srgbClr val="FFFFFF"/>
                          </a:solidFill>
                          <a:effectLst/>
                          <a:latin typeface="Arial" panose="020B0604020202020204" pitchFamily="34" charset="0"/>
                        </a:rPr>
                        <a:t>Initiative Name</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PM</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Change Type</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Required</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Planning</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Test Case Status</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Planning ETA</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on Imp. Date</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Business Health Check on Imp. day</a:t>
                      </a:r>
                    </a:p>
                  </a:txBody>
                  <a:tcPr marL="4841" marR="4841" marT="4841" marB="0" anchor="b">
                    <a:lnL>
                      <a:noFill/>
                    </a:lnL>
                    <a:lnR>
                      <a:noFill/>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tc>
                  <a:txBody>
                    <a:bodyPr/>
                    <a:lstStyle/>
                    <a:p>
                      <a:pPr algn="ctr" rtl="0" fontAlgn="b"/>
                      <a:r>
                        <a:rPr lang="en-US" sz="900" b="1" i="0" u="none" strike="noStrike">
                          <a:solidFill>
                            <a:srgbClr val="FFFFFF"/>
                          </a:solidFill>
                          <a:effectLst/>
                          <a:latin typeface="Arial" panose="020B0604020202020204" pitchFamily="34" charset="0"/>
                        </a:rPr>
                        <a:t>PIV After Imp. Date</a:t>
                      </a:r>
                    </a:p>
                  </a:txBody>
                  <a:tcPr marL="4841" marR="4841" marT="4841" marB="0" anchor="b">
                    <a:lnL>
                      <a:noFill/>
                    </a:lnL>
                    <a:lnR w="12700" cap="flat" cmpd="sng" algn="ctr">
                      <a:solidFill>
                        <a:srgbClr val="ACCB99"/>
                      </a:solidFill>
                      <a:prstDash val="solid"/>
                      <a:round/>
                      <a:headEnd type="none" w="med" len="med"/>
                      <a:tailEnd type="none" w="med" len="med"/>
                    </a:lnR>
                    <a:lnT w="12700" cap="flat" cmpd="sng" algn="ctr">
                      <a:solidFill>
                        <a:srgbClr val="ACCB99"/>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70AD47"/>
                    </a:solidFill>
                  </a:tcPr>
                </a:tc>
                <a:extLst>
                  <a:ext uri="{0D108BD9-81ED-4DB2-BD59-A6C34878D82A}">
                    <a16:rowId xmlns:a16="http://schemas.microsoft.com/office/drawing/2014/main" val="1733642584"/>
                  </a:ext>
                </a:extLst>
              </a:tr>
              <a:tr h="703170">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129380003"/>
                  </a:ext>
                </a:extLst>
              </a:tr>
              <a:tr h="419100">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2245574869"/>
                  </a:ext>
                </a:extLst>
              </a:tr>
              <a:tr h="249330">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s-E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013996431"/>
                  </a:ext>
                </a:extLst>
              </a:tr>
              <a:tr h="241300">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2258158039"/>
                  </a:ext>
                </a:extLst>
              </a:tr>
              <a:tr h="228600">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736421376"/>
                  </a:ext>
                </a:extLst>
              </a:tr>
              <a:tr h="341431">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w="12700" cap="flat" cmpd="sng" algn="ctr">
                      <a:solidFill>
                        <a:srgbClr val="ACCB99"/>
                      </a:solidFill>
                      <a:prstDash val="solid"/>
                      <a:round/>
                      <a:headEnd type="none" w="med" len="med"/>
                      <a:tailEnd type="none" w="med" len="med"/>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l"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rgbClr val="000000"/>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a:noFill/>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tc>
                  <a:txBody>
                    <a:bodyPr/>
                    <a:lstStyle/>
                    <a:p>
                      <a:pPr algn="ctr" rtl="0" fontAlgn="ctr"/>
                      <a:endParaRPr lang="en-US" sz="900" b="0" i="0" u="none" strike="noStrike">
                        <a:solidFill>
                          <a:schemeClr val="tx1"/>
                        </a:solidFill>
                        <a:effectLst/>
                        <a:latin typeface="Arial" panose="020B0604020202020204" pitchFamily="34" charset="0"/>
                      </a:endParaRPr>
                    </a:p>
                  </a:txBody>
                  <a:tcPr marL="4841" marR="4841" marT="4841" marB="0" anchor="ctr">
                    <a:lnL>
                      <a:noFill/>
                    </a:lnL>
                    <a:lnR w="12700" cap="flat" cmpd="sng" algn="ctr">
                      <a:solidFill>
                        <a:srgbClr val="ACCB99"/>
                      </a:solidFill>
                      <a:prstDash val="solid"/>
                      <a:round/>
                      <a:headEnd type="none" w="med" len="med"/>
                      <a:tailEnd type="none" w="med" len="med"/>
                    </a:lnR>
                    <a:lnT w="6350" cap="flat" cmpd="sng" algn="ctr">
                      <a:solidFill>
                        <a:srgbClr val="A9D08E"/>
                      </a:solidFill>
                      <a:prstDash val="solid"/>
                      <a:round/>
                      <a:headEnd type="none" w="med" len="med"/>
                      <a:tailEnd type="none" w="med" len="med"/>
                    </a:lnT>
                    <a:lnB w="6350" cap="flat" cmpd="sng" algn="ctr">
                      <a:solidFill>
                        <a:srgbClr val="A9D08E"/>
                      </a:solidFill>
                      <a:prstDash val="solid"/>
                      <a:round/>
                      <a:headEnd type="none" w="med" len="med"/>
                      <a:tailEnd type="none" w="med" len="med"/>
                    </a:lnB>
                    <a:solidFill>
                      <a:srgbClr val="FFFFFF"/>
                    </a:solidFill>
                  </a:tcPr>
                </a:tc>
                <a:extLst>
                  <a:ext uri="{0D108BD9-81ED-4DB2-BD59-A6C34878D82A}">
                    <a16:rowId xmlns:a16="http://schemas.microsoft.com/office/drawing/2014/main" val="3592563313"/>
                  </a:ext>
                </a:extLst>
              </a:tr>
            </a:tbl>
          </a:graphicData>
        </a:graphic>
      </p:graphicFrame>
      <p:graphicFrame>
        <p:nvGraphicFramePr>
          <p:cNvPr id="7" name="Table 6">
            <a:extLst>
              <a:ext uri="{FF2B5EF4-FFF2-40B4-BE49-F238E27FC236}">
                <a16:creationId xmlns:a16="http://schemas.microsoft.com/office/drawing/2014/main" id="{9C52C297-BC66-681F-2780-E309678AC0BB}"/>
              </a:ext>
            </a:extLst>
          </p:cNvPr>
          <p:cNvGraphicFramePr>
            <a:graphicFrameLocks noGrp="1"/>
          </p:cNvGraphicFramePr>
          <p:nvPr/>
        </p:nvGraphicFramePr>
        <p:xfrm>
          <a:off x="297179" y="838946"/>
          <a:ext cx="3644900" cy="190500"/>
        </p:xfrm>
        <a:graphic>
          <a:graphicData uri="http://schemas.openxmlformats.org/drawingml/2006/table">
            <a:tbl>
              <a:tblPr/>
              <a:tblGrid>
                <a:gridCol w="3175000">
                  <a:extLst>
                    <a:ext uri="{9D8B030D-6E8A-4147-A177-3AD203B41FA5}">
                      <a16:colId xmlns:a16="http://schemas.microsoft.com/office/drawing/2014/main" val="2148849341"/>
                    </a:ext>
                  </a:extLst>
                </a:gridCol>
                <a:gridCol w="215900">
                  <a:extLst>
                    <a:ext uri="{9D8B030D-6E8A-4147-A177-3AD203B41FA5}">
                      <a16:colId xmlns:a16="http://schemas.microsoft.com/office/drawing/2014/main" val="109520089"/>
                    </a:ext>
                  </a:extLst>
                </a:gridCol>
                <a:gridCol w="254000">
                  <a:extLst>
                    <a:ext uri="{9D8B030D-6E8A-4147-A177-3AD203B41FA5}">
                      <a16:colId xmlns:a16="http://schemas.microsoft.com/office/drawing/2014/main" val="3915147585"/>
                    </a:ext>
                  </a:extLst>
                </a:gridCol>
              </a:tblGrid>
              <a:tr h="190500">
                <a:tc>
                  <a:txBody>
                    <a:bodyPr/>
                    <a:lstStyle/>
                    <a:p>
                      <a:pPr algn="l" fontAlgn="b"/>
                      <a:r>
                        <a:rPr lang="en-CA" sz="1100" b="0" i="0" u="none" strike="noStrike">
                          <a:solidFill>
                            <a:srgbClr val="000000"/>
                          </a:solidFill>
                          <a:effectLst/>
                          <a:latin typeface="Arial" panose="020B0604020202020204" pitchFamily="34" charset="0"/>
                        </a:rPr>
                        <a:t>Initiatives without PIV</a:t>
                      </a:r>
                    </a:p>
                  </a:txBody>
                  <a:tcPr marL="6350" marR="6350" marT="6350" marB="0" anchor="b">
                    <a:lnL>
                      <a:noFill/>
                    </a:lnL>
                    <a:lnR>
                      <a:noFill/>
                    </a:lnR>
                    <a:lnT>
                      <a:noFill/>
                    </a:lnT>
                    <a:lnB>
                      <a:noFill/>
                    </a:lnB>
                    <a:solidFill>
                      <a:srgbClr val="A9D08E"/>
                    </a:solidFill>
                  </a:tcPr>
                </a:tc>
                <a:tc>
                  <a:txBody>
                    <a:bodyPr/>
                    <a:lstStyle/>
                    <a:p>
                      <a:pPr algn="r" fontAlgn="b"/>
                      <a:r>
                        <a:rPr lang="en-CA" sz="1000" b="0" i="0" u="none" strike="noStrike">
                          <a:solidFill>
                            <a:srgbClr val="000000"/>
                          </a:solidFill>
                          <a:effectLst/>
                          <a:latin typeface="Arial" panose="020B0604020202020204" pitchFamily="34" charset="0"/>
                        </a:rPr>
                        <a:t>17</a:t>
                      </a:r>
                    </a:p>
                  </a:txBody>
                  <a:tcPr marL="6350" marR="6350" marT="6350" marB="0" anchor="b">
                    <a:lnL>
                      <a:noFill/>
                    </a:lnL>
                    <a:lnR>
                      <a:noFill/>
                    </a:lnR>
                    <a:lnT>
                      <a:noFill/>
                    </a:lnT>
                    <a:lnB>
                      <a:noFill/>
                    </a:lnB>
                    <a:solidFill>
                      <a:srgbClr val="E2EFDA"/>
                    </a:solidFill>
                  </a:tcPr>
                </a:tc>
                <a:tc>
                  <a:txBody>
                    <a:bodyPr/>
                    <a:lstStyle/>
                    <a:p>
                      <a:pPr algn="l" fontAlgn="b"/>
                      <a:endParaRPr lang="en-CA" sz="10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2521021991"/>
                  </a:ext>
                </a:extLst>
              </a:tr>
            </a:tbl>
          </a:graphicData>
        </a:graphic>
      </p:graphicFrame>
    </p:spTree>
    <p:extLst>
      <p:ext uri="{BB962C8B-B14F-4D97-AF65-F5344CB8AC3E}">
        <p14:creationId xmlns:p14="http://schemas.microsoft.com/office/powerpoint/2010/main" val="36878953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67B076-029B-7A71-4075-0BCAA1F02B5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98822BE-967C-2234-D1C1-ABC6940AC872}"/>
              </a:ext>
            </a:extLst>
          </p:cNvPr>
          <p:cNvSpPr/>
          <p:nvPr/>
        </p:nvSpPr>
        <p:spPr>
          <a:xfrm>
            <a:off x="6556248" y="0"/>
            <a:ext cx="5330953" cy="1202926"/>
          </a:xfrm>
          <a:prstGeom prst="rect">
            <a:avLst/>
          </a:prstGeom>
          <a:solidFill>
            <a:schemeClr val="bg1"/>
          </a:solidFill>
        </p:spPr>
        <p:txBody>
          <a:bodyPr wrap="square" rtlCol="0" anchor="ctr">
            <a:spAutoFit/>
          </a:bodyPr>
          <a:lstStyle/>
          <a:p>
            <a:pPr algn="ctr"/>
            <a:endParaRPr lang="en-US" sz="1100"/>
          </a:p>
        </p:txBody>
      </p:sp>
      <p:graphicFrame>
        <p:nvGraphicFramePr>
          <p:cNvPr id="7" name="Table 2">
            <a:extLst>
              <a:ext uri="{FF2B5EF4-FFF2-40B4-BE49-F238E27FC236}">
                <a16:creationId xmlns:a16="http://schemas.microsoft.com/office/drawing/2014/main" id="{0DE65819-6B41-8A31-9B9B-E717E86FF177}"/>
              </a:ext>
            </a:extLst>
          </p:cNvPr>
          <p:cNvGraphicFramePr>
            <a:graphicFrameLocks noGrp="1"/>
          </p:cNvGraphicFramePr>
          <p:nvPr/>
        </p:nvGraphicFramePr>
        <p:xfrm>
          <a:off x="6786872" y="282198"/>
          <a:ext cx="5100328" cy="274320"/>
        </p:xfrm>
        <a:graphic>
          <a:graphicData uri="http://schemas.openxmlformats.org/drawingml/2006/table">
            <a:tbl>
              <a:tblPr firstRow="1" bandRow="1">
                <a:tableStyleId>{5940675A-B579-460E-94D1-54222C63F5DA}</a:tableStyleId>
              </a:tblPr>
              <a:tblGrid>
                <a:gridCol w="235223">
                  <a:extLst>
                    <a:ext uri="{9D8B030D-6E8A-4147-A177-3AD203B41FA5}">
                      <a16:colId xmlns:a16="http://schemas.microsoft.com/office/drawing/2014/main" val="2552748061"/>
                    </a:ext>
                  </a:extLst>
                </a:gridCol>
                <a:gridCol w="619612">
                  <a:extLst>
                    <a:ext uri="{9D8B030D-6E8A-4147-A177-3AD203B41FA5}">
                      <a16:colId xmlns:a16="http://schemas.microsoft.com/office/drawing/2014/main" val="2949818358"/>
                    </a:ext>
                  </a:extLst>
                </a:gridCol>
                <a:gridCol w="235223">
                  <a:extLst>
                    <a:ext uri="{9D8B030D-6E8A-4147-A177-3AD203B41FA5}">
                      <a16:colId xmlns:a16="http://schemas.microsoft.com/office/drawing/2014/main" val="3768384043"/>
                    </a:ext>
                  </a:extLst>
                </a:gridCol>
                <a:gridCol w="929419">
                  <a:extLst>
                    <a:ext uri="{9D8B030D-6E8A-4147-A177-3AD203B41FA5}">
                      <a16:colId xmlns:a16="http://schemas.microsoft.com/office/drawing/2014/main" val="3673821677"/>
                    </a:ext>
                  </a:extLst>
                </a:gridCol>
                <a:gridCol w="235223">
                  <a:extLst>
                    <a:ext uri="{9D8B030D-6E8A-4147-A177-3AD203B41FA5}">
                      <a16:colId xmlns:a16="http://schemas.microsoft.com/office/drawing/2014/main" val="1380191459"/>
                    </a:ext>
                  </a:extLst>
                </a:gridCol>
                <a:gridCol w="929419">
                  <a:extLst>
                    <a:ext uri="{9D8B030D-6E8A-4147-A177-3AD203B41FA5}">
                      <a16:colId xmlns:a16="http://schemas.microsoft.com/office/drawing/2014/main" val="2784429797"/>
                    </a:ext>
                  </a:extLst>
                </a:gridCol>
                <a:gridCol w="235223">
                  <a:extLst>
                    <a:ext uri="{9D8B030D-6E8A-4147-A177-3AD203B41FA5}">
                      <a16:colId xmlns:a16="http://schemas.microsoft.com/office/drawing/2014/main" val="906539283"/>
                    </a:ext>
                  </a:extLst>
                </a:gridCol>
                <a:gridCol w="929419">
                  <a:extLst>
                    <a:ext uri="{9D8B030D-6E8A-4147-A177-3AD203B41FA5}">
                      <a16:colId xmlns:a16="http://schemas.microsoft.com/office/drawing/2014/main" val="2265317318"/>
                    </a:ext>
                  </a:extLst>
                </a:gridCol>
                <a:gridCol w="235223">
                  <a:extLst>
                    <a:ext uri="{9D8B030D-6E8A-4147-A177-3AD203B41FA5}">
                      <a16:colId xmlns:a16="http://schemas.microsoft.com/office/drawing/2014/main" val="4095293917"/>
                    </a:ext>
                  </a:extLst>
                </a:gridCol>
                <a:gridCol w="516344">
                  <a:extLst>
                    <a:ext uri="{9D8B030D-6E8A-4147-A177-3AD203B41FA5}">
                      <a16:colId xmlns:a16="http://schemas.microsoft.com/office/drawing/2014/main" val="2870471116"/>
                    </a:ext>
                  </a:extLst>
                </a:gridCol>
              </a:tblGrid>
              <a:tr h="182880">
                <a:tc>
                  <a:txBody>
                    <a:bodyPr/>
                    <a:lstStyle/>
                    <a:p>
                      <a:pPr algn="ctr"/>
                      <a:r>
                        <a:rPr lang="en-CA" sz="600" b="1">
                          <a:solidFill>
                            <a:schemeClr val="bg1"/>
                          </a:solidFill>
                        </a:rPr>
                        <a:t>N</a:t>
                      </a:r>
                      <a:endParaRPr lang="en-US" sz="6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l"/>
                      <a:r>
                        <a:rPr lang="en-CA" sz="600">
                          <a:solidFill>
                            <a:schemeClr val="tx1"/>
                          </a:solidFill>
                        </a:rPr>
                        <a:t>Not Started</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solidFill>
                            <a:schemeClr val="bg1"/>
                          </a:solidFill>
                        </a:rPr>
                        <a:t>G</a:t>
                      </a:r>
                      <a:endParaRPr lang="en-US" sz="6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l"/>
                      <a:r>
                        <a:rPr lang="en-CA" sz="600">
                          <a:solidFill>
                            <a:schemeClr val="tx1"/>
                          </a:solidFill>
                        </a:rPr>
                        <a:t>In Progress/</a:t>
                      </a:r>
                    </a:p>
                    <a:p>
                      <a:pPr algn="l"/>
                      <a:r>
                        <a:rPr lang="en-CA" sz="600">
                          <a:solidFill>
                            <a:schemeClr val="tx1"/>
                          </a:solidFill>
                        </a:rPr>
                        <a:t>On Track</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t>Y</a:t>
                      </a:r>
                      <a:endParaRPr lang="en-US" sz="6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l"/>
                      <a:r>
                        <a:rPr lang="en-CA" sz="600">
                          <a:solidFill>
                            <a:schemeClr val="tx1"/>
                          </a:solidFill>
                        </a:rPr>
                        <a:t>May Miss Target Date</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solidFill>
                            <a:schemeClr val="bg1"/>
                          </a:solidFill>
                        </a:rPr>
                        <a:t>R</a:t>
                      </a:r>
                      <a:endParaRPr lang="en-US" sz="6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l"/>
                      <a:r>
                        <a:rPr lang="en-CA" sz="600">
                          <a:solidFill>
                            <a:schemeClr val="tx1"/>
                          </a:solidFill>
                        </a:rPr>
                        <a:t>Will Miss Target End</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600" b="1"/>
                        <a:t>C</a:t>
                      </a:r>
                      <a:endParaRPr lang="en-US" sz="6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600">
                          <a:solidFill>
                            <a:schemeClr val="tx1"/>
                          </a:solidFill>
                        </a:rPr>
                        <a:t>Complete</a:t>
                      </a:r>
                      <a:endParaRPr lang="en-US" sz="6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sp>
        <p:nvSpPr>
          <p:cNvPr id="2" name="Title 1">
            <a:extLst>
              <a:ext uri="{FF2B5EF4-FFF2-40B4-BE49-F238E27FC236}">
                <a16:creationId xmlns:a16="http://schemas.microsoft.com/office/drawing/2014/main" id="{5475DF92-F34E-6A1D-D395-366335194900}"/>
              </a:ext>
            </a:extLst>
          </p:cNvPr>
          <p:cNvSpPr>
            <a:spLocks noGrp="1"/>
          </p:cNvSpPr>
          <p:nvPr>
            <p:ph type="title"/>
          </p:nvPr>
        </p:nvSpPr>
        <p:spPr>
          <a:xfrm>
            <a:off x="353830" y="260322"/>
            <a:ext cx="10660404" cy="554846"/>
          </a:xfrm>
        </p:spPr>
        <p:txBody>
          <a:bodyPr/>
          <a:lstStyle/>
          <a:p>
            <a:r>
              <a:rPr lang="en-CA" sz="2800"/>
              <a:t>February 1</a:t>
            </a:r>
            <a:r>
              <a:rPr lang="en-CA" sz="2800" baseline="30000"/>
              <a:t>st</a:t>
            </a:r>
            <a:r>
              <a:rPr lang="en-CA" sz="2800"/>
              <a:t> Release Readiness</a:t>
            </a:r>
            <a:endParaRPr lang="en-US" sz="2800"/>
          </a:p>
        </p:txBody>
      </p:sp>
      <p:sp>
        <p:nvSpPr>
          <p:cNvPr id="3" name="TextBox 2">
            <a:extLst>
              <a:ext uri="{FF2B5EF4-FFF2-40B4-BE49-F238E27FC236}">
                <a16:creationId xmlns:a16="http://schemas.microsoft.com/office/drawing/2014/main" id="{BB155658-3286-AFC0-F960-A3D0F717D65C}"/>
              </a:ext>
            </a:extLst>
          </p:cNvPr>
          <p:cNvSpPr txBox="1"/>
          <p:nvPr/>
        </p:nvSpPr>
        <p:spPr>
          <a:xfrm rot="16200000">
            <a:off x="-190828" y="2078721"/>
            <a:ext cx="912499" cy="307778"/>
          </a:xfrm>
          <a:prstGeom prst="rect">
            <a:avLst/>
          </a:prstGeom>
          <a:solidFill>
            <a:schemeClr val="bg1">
              <a:lumMod val="50000"/>
            </a:schemeClr>
          </a:solidFill>
        </p:spPr>
        <p:txBody>
          <a:bodyPr wrap="square" rtlCol="0">
            <a:spAutoFit/>
          </a:bodyPr>
          <a:lstStyle/>
          <a:p>
            <a:pPr algn="ctr" defTabSz="757746" eaLnBrk="0" fontAlgn="base" hangingPunct="0">
              <a:spcBef>
                <a:spcPct val="0"/>
              </a:spcBef>
              <a:spcAft>
                <a:spcPct val="0"/>
              </a:spcAft>
              <a:defRPr/>
            </a:pPr>
            <a:r>
              <a:rPr lang="en-US" sz="1400" b="1">
                <a:solidFill>
                  <a:prstClr val="white"/>
                </a:solidFill>
                <a:cs typeface="Segoe UI" panose="020B0502040204020203" pitchFamily="34" charset="0"/>
              </a:rPr>
              <a:t>SCOPE</a:t>
            </a:r>
          </a:p>
        </p:txBody>
      </p:sp>
      <p:graphicFrame>
        <p:nvGraphicFramePr>
          <p:cNvPr id="4" name="Table 3">
            <a:extLst>
              <a:ext uri="{FF2B5EF4-FFF2-40B4-BE49-F238E27FC236}">
                <a16:creationId xmlns:a16="http://schemas.microsoft.com/office/drawing/2014/main" id="{FF7313A1-FBA5-84AE-A9EF-CE26EDBE250D}"/>
              </a:ext>
            </a:extLst>
          </p:cNvPr>
          <p:cNvGraphicFramePr>
            <a:graphicFrameLocks noGrp="1"/>
          </p:cNvGraphicFramePr>
          <p:nvPr/>
        </p:nvGraphicFramePr>
        <p:xfrm>
          <a:off x="466344" y="1776362"/>
          <a:ext cx="5350096" cy="912500"/>
        </p:xfrm>
        <a:graphic>
          <a:graphicData uri="http://schemas.openxmlformats.org/drawingml/2006/table">
            <a:tbl>
              <a:tblPr firstRow="1" bandRow="1"/>
              <a:tblGrid>
                <a:gridCol w="899926">
                  <a:extLst>
                    <a:ext uri="{9D8B030D-6E8A-4147-A177-3AD203B41FA5}">
                      <a16:colId xmlns:a16="http://schemas.microsoft.com/office/drawing/2014/main" val="20000"/>
                    </a:ext>
                  </a:extLst>
                </a:gridCol>
                <a:gridCol w="906302">
                  <a:extLst>
                    <a:ext uri="{9D8B030D-6E8A-4147-A177-3AD203B41FA5}">
                      <a16:colId xmlns:a16="http://schemas.microsoft.com/office/drawing/2014/main" val="20001"/>
                    </a:ext>
                  </a:extLst>
                </a:gridCol>
                <a:gridCol w="897153">
                  <a:extLst>
                    <a:ext uri="{9D8B030D-6E8A-4147-A177-3AD203B41FA5}">
                      <a16:colId xmlns:a16="http://schemas.microsoft.com/office/drawing/2014/main" val="20002"/>
                    </a:ext>
                  </a:extLst>
                </a:gridCol>
                <a:gridCol w="839569">
                  <a:extLst>
                    <a:ext uri="{9D8B030D-6E8A-4147-A177-3AD203B41FA5}">
                      <a16:colId xmlns:a16="http://schemas.microsoft.com/office/drawing/2014/main" val="20003"/>
                    </a:ext>
                  </a:extLst>
                </a:gridCol>
                <a:gridCol w="903573">
                  <a:extLst>
                    <a:ext uri="{9D8B030D-6E8A-4147-A177-3AD203B41FA5}">
                      <a16:colId xmlns:a16="http://schemas.microsoft.com/office/drawing/2014/main" val="20004"/>
                    </a:ext>
                  </a:extLst>
                </a:gridCol>
                <a:gridCol w="903573">
                  <a:extLst>
                    <a:ext uri="{9D8B030D-6E8A-4147-A177-3AD203B41FA5}">
                      <a16:colId xmlns:a16="http://schemas.microsoft.com/office/drawing/2014/main" val="20005"/>
                    </a:ext>
                  </a:extLst>
                </a:gridCol>
              </a:tblGrid>
              <a:tr h="522169">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algn="ctr"/>
                      <a:r>
                        <a:rPr lang="en-US" sz="1000" b="1">
                          <a:solidFill>
                            <a:schemeClr val="bg1"/>
                          </a:solidFill>
                          <a:latin typeface="+mn-lt"/>
                          <a:ea typeface="Tahoma" panose="020B0604030504040204" pitchFamily="34" charset="0"/>
                          <a:cs typeface="Segoe UI" panose="020B0502040204020203" pitchFamily="34" charset="0"/>
                        </a:rPr>
                        <a:t>Project/</a:t>
                      </a:r>
                    </a:p>
                    <a:p>
                      <a:pPr algn="ctr"/>
                      <a:r>
                        <a:rPr lang="en-US" sz="1000" b="1">
                          <a:solidFill>
                            <a:schemeClr val="bg1"/>
                          </a:solidFill>
                          <a:latin typeface="+mn-lt"/>
                          <a:ea typeface="Tahoma" panose="020B0604030504040204" pitchFamily="34" charset="0"/>
                          <a:cs typeface="Segoe UI" panose="020B0502040204020203" pitchFamily="34" charset="0"/>
                        </a:rPr>
                        <a:t>MOPS</a:t>
                      </a:r>
                    </a:p>
                  </a:txBody>
                  <a:tcPr marL="117349" marR="117349" marT="45135" marB="45135"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OR/</a:t>
                      </a:r>
                    </a:p>
                    <a:p>
                      <a:pPr algn="ctr"/>
                      <a:r>
                        <a:rPr lang="en-US" sz="1000" b="1">
                          <a:solidFill>
                            <a:schemeClr val="bg1"/>
                          </a:solidFill>
                          <a:latin typeface="+mn-lt"/>
                          <a:ea typeface="Tahoma" panose="020B0604030504040204" pitchFamily="34" charset="0"/>
                          <a:cs typeface="Segoe UI" panose="020B0502040204020203" pitchFamily="34" charset="0"/>
                        </a:rPr>
                        <a:t>Campaigns / </a:t>
                      </a:r>
                      <a:r>
                        <a:rPr lang="en-US" sz="1000" b="1" err="1">
                          <a:solidFill>
                            <a:schemeClr val="bg1"/>
                          </a:solidFill>
                          <a:latin typeface="+mn-lt"/>
                          <a:ea typeface="Tahoma" panose="020B0604030504040204" pitchFamily="34" charset="0"/>
                          <a:cs typeface="Segoe UI" panose="020B0502040204020203" pitchFamily="34" charset="0"/>
                        </a:rPr>
                        <a:t>Maint</a:t>
                      </a:r>
                      <a:r>
                        <a:rPr lang="en-US" sz="1000" b="1">
                          <a:solidFill>
                            <a:schemeClr val="bg1"/>
                          </a:solidFill>
                          <a:latin typeface="+mn-lt"/>
                          <a:ea typeface="Tahoma" panose="020B0604030504040204" pitchFamily="34" charset="0"/>
                          <a:cs typeface="Segoe UI" panose="020B0502040204020203" pitchFamily="34" charset="0"/>
                        </a:rPr>
                        <a:t>.</a:t>
                      </a:r>
                    </a:p>
                  </a:txBody>
                  <a:tcPr marL="117349" marR="117349" marT="45135" marB="45135" anchor="ctr" anchorCtr="1">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Incidents/</a:t>
                      </a:r>
                      <a:r>
                        <a:rPr lang="en-US" sz="1000" b="1" baseline="0">
                          <a:solidFill>
                            <a:schemeClr val="bg1"/>
                          </a:solidFill>
                          <a:latin typeface="+mn-lt"/>
                          <a:ea typeface="Tahoma" panose="020B0604030504040204" pitchFamily="34" charset="0"/>
                          <a:cs typeface="Segoe UI" panose="020B0502040204020203" pitchFamily="34" charset="0"/>
                        </a:rPr>
                        <a:t> PRB Records</a:t>
                      </a:r>
                      <a:endParaRPr lang="en-US" sz="1000" b="1">
                        <a:solidFill>
                          <a:schemeClr val="bg1"/>
                        </a:solidFill>
                        <a:latin typeface="+mn-lt"/>
                        <a:ea typeface="Tahoma" panose="020B0604030504040204" pitchFamily="34" charset="0"/>
                        <a:cs typeface="Segoe UI" panose="020B0502040204020203" pitchFamily="34" charset="0"/>
                      </a:endParaRP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CCR</a:t>
                      </a: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Others</a:t>
                      </a: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Total</a:t>
                      </a:r>
                    </a:p>
                  </a:txBody>
                  <a:tcPr marL="117349" marR="117349" marT="45135" marB="45135" anchor="ctr" anchorCtr="1">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365030">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0">
                          <a:solidFill>
                            <a:schemeClr val="tx1"/>
                          </a:solidFill>
                          <a:effectLst/>
                          <a:latin typeface="+mn-lt"/>
                          <a:ea typeface="Tahoma" panose="020B0604030504040204" pitchFamily="34" charset="0"/>
                          <a:cs typeface="Tahoma" panose="020B0604030504040204" pitchFamily="34" charset="0"/>
                        </a:rPr>
                        <a:t>23</a:t>
                      </a:r>
                      <a:endParaRPr lang="en-US" sz="1400" b="0">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0">
                          <a:solidFill>
                            <a:schemeClr val="tx1"/>
                          </a:solidFill>
                          <a:effectLst/>
                          <a:latin typeface="+mn-lt"/>
                          <a:ea typeface="Tahoma" panose="020B0604030504040204" pitchFamily="34" charset="0"/>
                          <a:cs typeface="Tahoma" panose="020B0604030504040204" pitchFamily="34" charset="0"/>
                        </a:rPr>
                        <a:t>3</a:t>
                      </a:r>
                      <a:endParaRPr lang="en-US" sz="1400" b="0">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0">
                          <a:solidFill>
                            <a:schemeClr val="tx1"/>
                          </a:solidFill>
                          <a:effectLst/>
                          <a:latin typeface="+mn-lt"/>
                          <a:ea typeface="Tahoma" panose="020B0604030504040204" pitchFamily="34" charset="0"/>
                          <a:cs typeface="Tahoma" panose="020B0604030504040204" pitchFamily="34" charset="0"/>
                        </a:rPr>
                        <a:t>25</a:t>
                      </a:r>
                      <a:endParaRPr lang="en-US" sz="1400" b="0">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0">
                          <a:solidFill>
                            <a:schemeClr val="tx1"/>
                          </a:solidFill>
                          <a:effectLst/>
                          <a:latin typeface="+mn-lt"/>
                          <a:ea typeface="Tahoma" panose="020B0604030504040204" pitchFamily="34" charset="0"/>
                          <a:cs typeface="Tahoma" panose="020B0604030504040204" pitchFamily="34" charset="0"/>
                        </a:rPr>
                        <a:t>-</a:t>
                      </a:r>
                      <a:endParaRPr lang="en-US" sz="1400" b="0">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0">
                          <a:solidFill>
                            <a:schemeClr val="tx1"/>
                          </a:solidFill>
                          <a:effectLst/>
                          <a:latin typeface="+mn-lt"/>
                          <a:ea typeface="Tahoma" panose="020B0604030504040204" pitchFamily="34" charset="0"/>
                          <a:cs typeface="Tahoma" panose="020B0604030504040204" pitchFamily="34" charset="0"/>
                        </a:rPr>
                        <a:t>-</a:t>
                      </a:r>
                      <a:endParaRPr lang="en-US" sz="1400" b="0">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a:solidFill>
                            <a:schemeClr val="tx1"/>
                          </a:solidFill>
                          <a:effectLst/>
                          <a:latin typeface="+mn-lt"/>
                          <a:ea typeface="Tahoma" panose="020B0604030504040204" pitchFamily="34" charset="0"/>
                          <a:cs typeface="Tahoma" panose="020B0604030504040204" pitchFamily="34" charset="0"/>
                        </a:rPr>
                        <a:t>51</a:t>
                      </a:r>
                      <a:endParaRPr lang="en-US" sz="1400" b="1">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30249177"/>
                  </a:ext>
                </a:extLst>
              </a:tr>
            </a:tbl>
          </a:graphicData>
        </a:graphic>
      </p:graphicFrame>
      <p:graphicFrame>
        <p:nvGraphicFramePr>
          <p:cNvPr id="9" name="Table 8">
            <a:extLst>
              <a:ext uri="{FF2B5EF4-FFF2-40B4-BE49-F238E27FC236}">
                <a16:creationId xmlns:a16="http://schemas.microsoft.com/office/drawing/2014/main" id="{109EEB03-E7B0-1C99-740C-873C5D094AEE}"/>
              </a:ext>
            </a:extLst>
          </p:cNvPr>
          <p:cNvGraphicFramePr>
            <a:graphicFrameLocks noGrp="1"/>
          </p:cNvGraphicFramePr>
          <p:nvPr/>
        </p:nvGraphicFramePr>
        <p:xfrm>
          <a:off x="96143" y="826705"/>
          <a:ext cx="5720296" cy="887198"/>
        </p:xfrm>
        <a:graphic>
          <a:graphicData uri="http://schemas.openxmlformats.org/drawingml/2006/table">
            <a:tbl>
              <a:tblPr firstRow="1" bandRow="1"/>
              <a:tblGrid>
                <a:gridCol w="823171">
                  <a:extLst>
                    <a:ext uri="{9D8B030D-6E8A-4147-A177-3AD203B41FA5}">
                      <a16:colId xmlns:a16="http://schemas.microsoft.com/office/drawing/2014/main" val="20000"/>
                    </a:ext>
                  </a:extLst>
                </a:gridCol>
                <a:gridCol w="829004">
                  <a:extLst>
                    <a:ext uri="{9D8B030D-6E8A-4147-A177-3AD203B41FA5}">
                      <a16:colId xmlns:a16="http://schemas.microsoft.com/office/drawing/2014/main" val="20001"/>
                    </a:ext>
                  </a:extLst>
                </a:gridCol>
                <a:gridCol w="820635">
                  <a:extLst>
                    <a:ext uri="{9D8B030D-6E8A-4147-A177-3AD203B41FA5}">
                      <a16:colId xmlns:a16="http://schemas.microsoft.com/office/drawing/2014/main" val="20002"/>
                    </a:ext>
                  </a:extLst>
                </a:gridCol>
                <a:gridCol w="767963">
                  <a:extLst>
                    <a:ext uri="{9D8B030D-6E8A-4147-A177-3AD203B41FA5}">
                      <a16:colId xmlns:a16="http://schemas.microsoft.com/office/drawing/2014/main" val="20003"/>
                    </a:ext>
                  </a:extLst>
                </a:gridCol>
                <a:gridCol w="826508">
                  <a:extLst>
                    <a:ext uri="{9D8B030D-6E8A-4147-A177-3AD203B41FA5}">
                      <a16:colId xmlns:a16="http://schemas.microsoft.com/office/drawing/2014/main" val="20004"/>
                    </a:ext>
                  </a:extLst>
                </a:gridCol>
                <a:gridCol w="714757">
                  <a:extLst>
                    <a:ext uri="{9D8B030D-6E8A-4147-A177-3AD203B41FA5}">
                      <a16:colId xmlns:a16="http://schemas.microsoft.com/office/drawing/2014/main" val="533329812"/>
                    </a:ext>
                  </a:extLst>
                </a:gridCol>
                <a:gridCol w="938258">
                  <a:extLst>
                    <a:ext uri="{9D8B030D-6E8A-4147-A177-3AD203B41FA5}">
                      <a16:colId xmlns:a16="http://schemas.microsoft.com/office/drawing/2014/main" val="20005"/>
                    </a:ext>
                  </a:extLst>
                </a:gridCol>
              </a:tblGrid>
              <a:tr h="495777">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algn="ctr"/>
                      <a:r>
                        <a:rPr lang="en-CA" sz="1000" b="1">
                          <a:solidFill>
                            <a:schemeClr val="bg1"/>
                          </a:solidFill>
                          <a:latin typeface="+mn-lt"/>
                          <a:ea typeface="Tahoma" panose="020B0604030504040204" pitchFamily="34" charset="0"/>
                          <a:cs typeface="Segoe UI" panose="020B0502040204020203" pitchFamily="34" charset="0"/>
                        </a:rPr>
                        <a:t>S</a:t>
                      </a:r>
                      <a:r>
                        <a:rPr lang="en-US" sz="1000" b="1">
                          <a:solidFill>
                            <a:schemeClr val="bg1"/>
                          </a:solidFill>
                          <a:latin typeface="+mn-lt"/>
                          <a:ea typeface="Tahoma" panose="020B0604030504040204" pitchFamily="34" charset="0"/>
                          <a:cs typeface="Segoe UI" panose="020B0502040204020203" pitchFamily="34" charset="0"/>
                        </a:rPr>
                        <a:t>cope</a:t>
                      </a:r>
                    </a:p>
                  </a:txBody>
                  <a:tcPr marL="117349" marR="117349" marT="45135" marB="45135"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Schedule</a:t>
                      </a:r>
                    </a:p>
                  </a:txBody>
                  <a:tcPr marL="117349" marR="117349" marT="45135" marB="45135" anchor="ctr" anchorCtr="1">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 </a:t>
                      </a:r>
                      <a:r>
                        <a:rPr lang="en-US" sz="1000" b="1" err="1">
                          <a:solidFill>
                            <a:schemeClr val="bg1"/>
                          </a:solidFill>
                          <a:latin typeface="+mn-lt"/>
                          <a:ea typeface="Tahoma" panose="020B0604030504040204" pitchFamily="34" charset="0"/>
                          <a:cs typeface="Segoe UI" panose="020B0502040204020203" pitchFamily="34" charset="0"/>
                        </a:rPr>
                        <a:t>Funct</a:t>
                      </a:r>
                      <a:r>
                        <a:rPr lang="en-US" sz="1000" b="1">
                          <a:solidFill>
                            <a:schemeClr val="bg1"/>
                          </a:solidFill>
                          <a:latin typeface="+mn-lt"/>
                          <a:ea typeface="Tahoma" panose="020B0604030504040204" pitchFamily="34" charset="0"/>
                          <a:cs typeface="Segoe UI" panose="020B0502040204020203" pitchFamily="34" charset="0"/>
                        </a:rPr>
                        <a:t>. Testing</a:t>
                      </a: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Env.</a:t>
                      </a: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CA" sz="1000" b="1">
                          <a:solidFill>
                            <a:schemeClr val="bg1"/>
                          </a:solidFill>
                          <a:latin typeface="+mn-lt"/>
                          <a:ea typeface="Tahoma" panose="020B0604030504040204" pitchFamily="34" charset="0"/>
                          <a:cs typeface="Segoe UI" panose="020B0502040204020203" pitchFamily="34" charset="0"/>
                        </a:rPr>
                        <a:t>Rel. R</a:t>
                      </a:r>
                      <a:r>
                        <a:rPr lang="en-US" sz="1000" b="1" err="1">
                          <a:solidFill>
                            <a:schemeClr val="bg1"/>
                          </a:solidFill>
                          <a:latin typeface="+mn-lt"/>
                          <a:ea typeface="Tahoma" panose="020B0604030504040204" pitchFamily="34" charset="0"/>
                          <a:cs typeface="Segoe UI" panose="020B0502040204020203" pitchFamily="34" charset="0"/>
                        </a:rPr>
                        <a:t>eadiness</a:t>
                      </a:r>
                      <a:endParaRPr lang="en-US" sz="1000" b="1">
                        <a:solidFill>
                          <a:schemeClr val="bg1"/>
                        </a:solidFill>
                        <a:latin typeface="+mn-lt"/>
                        <a:ea typeface="Tahoma" panose="020B0604030504040204" pitchFamily="34" charset="0"/>
                        <a:cs typeface="Segoe UI" panose="020B0502040204020203" pitchFamily="34" charset="0"/>
                      </a:endParaRP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a:solidFill>
                            <a:schemeClr val="bg1"/>
                          </a:solidFill>
                          <a:latin typeface="+mn-lt"/>
                          <a:ea typeface="Tahoma" panose="020B0604030504040204" pitchFamily="34" charset="0"/>
                          <a:cs typeface="Segoe UI" panose="020B0502040204020203" pitchFamily="34" charset="0"/>
                        </a:rPr>
                        <a:t>Code Freeze </a:t>
                      </a:r>
                    </a:p>
                  </a:txBody>
                  <a:tcPr marL="117349" marR="117349" marT="45135" marB="45135"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CA" sz="1000" b="1">
                          <a:solidFill>
                            <a:schemeClr val="bg1"/>
                          </a:solidFill>
                          <a:latin typeface="+mn-lt"/>
                          <a:ea typeface="Tahoma" panose="020B0604030504040204" pitchFamily="34" charset="0"/>
                          <a:cs typeface="Segoe UI" panose="020B0502040204020203" pitchFamily="34" charset="0"/>
                        </a:rPr>
                        <a:t>Overall Status</a:t>
                      </a:r>
                      <a:endParaRPr lang="en-US" sz="1000" b="1">
                        <a:solidFill>
                          <a:schemeClr val="bg1"/>
                        </a:solidFill>
                        <a:latin typeface="+mn-lt"/>
                        <a:ea typeface="Tahoma" panose="020B0604030504040204" pitchFamily="34" charset="0"/>
                        <a:cs typeface="Segoe UI" panose="020B0502040204020203" pitchFamily="34" charset="0"/>
                      </a:endParaRPr>
                    </a:p>
                  </a:txBody>
                  <a:tcPr marL="117349" marR="117349" marT="45135" marB="45135" anchor="ctr" anchorCtr="1">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391421">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a:solidFill>
                            <a:schemeClr val="bg1"/>
                          </a:solidFill>
                          <a:effectLst/>
                          <a:latin typeface="+mn-lt"/>
                          <a:ea typeface="Tahoma" panose="020B0604030504040204" pitchFamily="34" charset="0"/>
                          <a:cs typeface="Tahoma" panose="020B0604030504040204" pitchFamily="34" charset="0"/>
                        </a:rPr>
                        <a:t>G</a:t>
                      </a:r>
                      <a:endParaRPr lang="en-US" sz="1400" b="1">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a:solidFill>
                            <a:schemeClr val="bg1"/>
                          </a:solidFill>
                          <a:effectLst/>
                          <a:latin typeface="+mn-lt"/>
                          <a:ea typeface="Tahoma" panose="020B0604030504040204" pitchFamily="34" charset="0"/>
                          <a:cs typeface="Tahoma" panose="020B0604030504040204" pitchFamily="34" charset="0"/>
                        </a:rPr>
                        <a:t>G</a:t>
                      </a:r>
                      <a:endParaRPr lang="en-US" sz="1400" b="1">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kern="1200">
                          <a:solidFill>
                            <a:schemeClr val="bg1"/>
                          </a:solidFill>
                          <a:effectLst/>
                          <a:latin typeface="+mn-lt"/>
                          <a:ea typeface="Tahoma" panose="020B0604030504040204" pitchFamily="34" charset="0"/>
                          <a:cs typeface="Tahoma" panose="020B0604030504040204" pitchFamily="34" charset="0"/>
                        </a:rPr>
                        <a:t>G</a:t>
                      </a:r>
                      <a:endParaRPr lang="en-US" sz="1400" b="1" kern="1200">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kern="1200">
                          <a:solidFill>
                            <a:schemeClr val="bg1"/>
                          </a:solidFill>
                          <a:effectLst/>
                          <a:latin typeface="+mn-lt"/>
                          <a:ea typeface="Tahoma" panose="020B0604030504040204" pitchFamily="34" charset="0"/>
                          <a:cs typeface="Tahoma" panose="020B0604030504040204" pitchFamily="34" charset="0"/>
                        </a:rPr>
                        <a:t>G</a:t>
                      </a:r>
                      <a:endParaRPr lang="en-US" sz="1400" b="1" kern="1200">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kern="1200">
                          <a:solidFill>
                            <a:schemeClr val="bg1"/>
                          </a:solidFill>
                          <a:effectLst/>
                          <a:latin typeface="+mn-lt"/>
                          <a:ea typeface="Tahoma" panose="020B0604030504040204" pitchFamily="34" charset="0"/>
                          <a:cs typeface="Tahoma" panose="020B0604030504040204" pitchFamily="34" charset="0"/>
                        </a:rPr>
                        <a:t>G</a:t>
                      </a:r>
                      <a:endParaRPr lang="en-US" sz="1400" b="1" kern="1200">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kern="1200">
                          <a:solidFill>
                            <a:schemeClr val="bg1"/>
                          </a:solidFill>
                          <a:effectLst/>
                          <a:latin typeface="+mn-lt"/>
                          <a:ea typeface="Tahoma" panose="020B0604030504040204" pitchFamily="34" charset="0"/>
                          <a:cs typeface="Tahoma" panose="020B0604030504040204" pitchFamily="34" charset="0"/>
                        </a:rPr>
                        <a:t>G</a:t>
                      </a:r>
                      <a:endParaRPr lang="en-US" sz="1400" b="1" kern="1200">
                        <a:solidFill>
                          <a:schemeClr val="bg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indent="0" algn="ctr" defTabSz="871865" rtl="0" eaLnBrk="1" fontAlgn="base" latinLnBrk="0" hangingPunct="1">
                        <a:lnSpc>
                          <a:spcPct val="100000"/>
                        </a:lnSpc>
                        <a:spcBef>
                          <a:spcPts val="0"/>
                        </a:spcBef>
                        <a:spcAft>
                          <a:spcPts val="0"/>
                        </a:spcAft>
                        <a:buClrTx/>
                        <a:buSzTx/>
                        <a:buFontTx/>
                        <a:buNone/>
                        <a:tabLst/>
                        <a:defRPr/>
                      </a:pPr>
                      <a:r>
                        <a:rPr lang="en-CA" sz="1400" b="1" kern="1200">
                          <a:solidFill>
                            <a:schemeClr val="tx1"/>
                          </a:solidFill>
                          <a:effectLst/>
                          <a:latin typeface="+mn-lt"/>
                          <a:ea typeface="Tahoma" panose="020B0604030504040204" pitchFamily="34" charset="0"/>
                          <a:cs typeface="Tahoma" panose="020B0604030504040204" pitchFamily="34" charset="0"/>
                        </a:rPr>
                        <a:t>Y</a:t>
                      </a:r>
                      <a:endParaRPr lang="en-US" sz="1400" b="1" kern="1200">
                        <a:solidFill>
                          <a:schemeClr val="tx1"/>
                        </a:solidFill>
                        <a:effectLst/>
                        <a:latin typeface="+mn-lt"/>
                        <a:ea typeface="Tahoma" panose="020B0604030504040204" pitchFamily="34" charset="0"/>
                        <a:cs typeface="Tahoma" panose="020B0604030504040204" pitchFamily="34" charset="0"/>
                      </a:endParaRPr>
                    </a:p>
                  </a:txBody>
                  <a:tcPr marL="117349" marR="117349" marT="940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430249177"/>
                  </a:ext>
                </a:extLst>
              </a:tr>
            </a:tbl>
          </a:graphicData>
        </a:graphic>
      </p:graphicFrame>
      <p:graphicFrame>
        <p:nvGraphicFramePr>
          <p:cNvPr id="11" name="Table 10">
            <a:extLst>
              <a:ext uri="{FF2B5EF4-FFF2-40B4-BE49-F238E27FC236}">
                <a16:creationId xmlns:a16="http://schemas.microsoft.com/office/drawing/2014/main" id="{DC6BB785-FDAD-560A-EE39-BE0E02484817}"/>
              </a:ext>
            </a:extLst>
          </p:cNvPr>
          <p:cNvGraphicFramePr>
            <a:graphicFrameLocks noGrp="1"/>
          </p:cNvGraphicFramePr>
          <p:nvPr/>
        </p:nvGraphicFramePr>
        <p:xfrm>
          <a:off x="5927974" y="817965"/>
          <a:ext cx="5777958" cy="5393790"/>
        </p:xfrm>
        <a:graphic>
          <a:graphicData uri="http://schemas.openxmlformats.org/drawingml/2006/table">
            <a:tbl>
              <a:tblPr firstRow="1" bandRow="1">
                <a:tableStyleId>{5C22544A-7EE6-4342-B048-85BDC9FD1C3A}</a:tableStyleId>
              </a:tblPr>
              <a:tblGrid>
                <a:gridCol w="840198">
                  <a:extLst>
                    <a:ext uri="{9D8B030D-6E8A-4147-A177-3AD203B41FA5}">
                      <a16:colId xmlns:a16="http://schemas.microsoft.com/office/drawing/2014/main" val="3940713770"/>
                    </a:ext>
                  </a:extLst>
                </a:gridCol>
                <a:gridCol w="3474720">
                  <a:extLst>
                    <a:ext uri="{9D8B030D-6E8A-4147-A177-3AD203B41FA5}">
                      <a16:colId xmlns:a16="http://schemas.microsoft.com/office/drawing/2014/main" val="1678557957"/>
                    </a:ext>
                  </a:extLst>
                </a:gridCol>
                <a:gridCol w="457200">
                  <a:extLst>
                    <a:ext uri="{9D8B030D-6E8A-4147-A177-3AD203B41FA5}">
                      <a16:colId xmlns:a16="http://schemas.microsoft.com/office/drawing/2014/main" val="2654559020"/>
                    </a:ext>
                  </a:extLst>
                </a:gridCol>
                <a:gridCol w="457200">
                  <a:extLst>
                    <a:ext uri="{9D8B030D-6E8A-4147-A177-3AD203B41FA5}">
                      <a16:colId xmlns:a16="http://schemas.microsoft.com/office/drawing/2014/main" val="1781440560"/>
                    </a:ext>
                  </a:extLst>
                </a:gridCol>
                <a:gridCol w="548640">
                  <a:extLst>
                    <a:ext uri="{9D8B030D-6E8A-4147-A177-3AD203B41FA5}">
                      <a16:colId xmlns:a16="http://schemas.microsoft.com/office/drawing/2014/main" val="330516256"/>
                    </a:ext>
                  </a:extLst>
                </a:gridCol>
              </a:tblGrid>
              <a:tr h="319615">
                <a:tc>
                  <a:txBody>
                    <a:bodyPr/>
                    <a:lstStyle/>
                    <a:p>
                      <a:pPr algn="ctr"/>
                      <a:r>
                        <a:rPr lang="en-CA" sz="1000" b="1" i="0" u="none" strike="noStrike" kern="1200">
                          <a:solidFill>
                            <a:srgbClr val="FFFFFF"/>
                          </a:solidFill>
                          <a:effectLst/>
                          <a:latin typeface="+mn-lt"/>
                          <a:ea typeface="+mn-ea"/>
                          <a:cs typeface="+mn-cs"/>
                        </a:rPr>
                        <a:t>ACTIVITY</a:t>
                      </a:r>
                      <a:endParaRPr lang="en-US" sz="1000" b="1" i="0" u="none" strike="noStrike" kern="1200">
                        <a:solidFill>
                          <a:srgbClr val="FFFFFF"/>
                        </a:solidFill>
                        <a:effectLst/>
                        <a:latin typeface="+mn-lt"/>
                        <a:ea typeface="+mn-ea"/>
                        <a:cs typeface="+mn-cs"/>
                      </a:endParaRPr>
                    </a:p>
                  </a:txBody>
                  <a:tcPr marL="90268" marR="90268" marT="45135" marB="45135" anchor="ctr">
                    <a:solidFill>
                      <a:schemeClr val="bg1">
                        <a:lumMod val="50000"/>
                      </a:schemeClr>
                    </a:solidFill>
                  </a:tcPr>
                </a:tc>
                <a:tc>
                  <a:txBody>
                    <a:bodyPr/>
                    <a:lstStyle/>
                    <a:p>
                      <a:pPr algn="ctr"/>
                      <a:r>
                        <a:rPr lang="en-CA" sz="1000" b="1" i="0" u="none" strike="noStrike" kern="1200">
                          <a:solidFill>
                            <a:srgbClr val="FFFFFF"/>
                          </a:solidFill>
                          <a:effectLst/>
                          <a:latin typeface="+mn-lt"/>
                          <a:ea typeface="+mn-ea"/>
                          <a:cs typeface="+mn-cs"/>
                        </a:rPr>
                        <a:t>DETAILS</a:t>
                      </a:r>
                      <a:endParaRPr lang="en-US" sz="1000" b="1" i="0" u="none" strike="noStrike" kern="1200">
                        <a:solidFill>
                          <a:srgbClr val="FFFFFF"/>
                        </a:solidFill>
                        <a:effectLst/>
                        <a:latin typeface="+mn-lt"/>
                        <a:ea typeface="+mn-ea"/>
                        <a:cs typeface="+mn-cs"/>
                      </a:endParaRPr>
                    </a:p>
                  </a:txBody>
                  <a:tcPr marL="90268" marR="90268" marT="45135" marB="45135" anchor="ctr">
                    <a:solidFill>
                      <a:schemeClr val="bg1">
                        <a:lumMod val="50000"/>
                      </a:schemeClr>
                    </a:solidFill>
                  </a:tcPr>
                </a:tc>
                <a:tc>
                  <a:txBody>
                    <a:bodyPr/>
                    <a:lstStyle/>
                    <a:p>
                      <a:pPr marL="0" algn="ctr" defTabSz="871865" rtl="0" eaLnBrk="1" latinLnBrk="0" hangingPunct="1"/>
                      <a:r>
                        <a:rPr lang="en-CA" sz="1000" b="1" i="0" u="none" strike="noStrike" kern="1200">
                          <a:solidFill>
                            <a:srgbClr val="FFFFFF"/>
                          </a:solidFill>
                          <a:effectLst/>
                          <a:latin typeface="+mn-lt"/>
                          <a:ea typeface="+mn-ea"/>
                          <a:cs typeface="+mn-cs"/>
                        </a:rPr>
                        <a:t>TARGET</a:t>
                      </a:r>
                      <a:endParaRPr lang="en-US" sz="1000" b="1" i="0" u="none" strike="noStrike" kern="1200">
                        <a:solidFill>
                          <a:srgbClr val="FFFFFF"/>
                        </a:solidFill>
                        <a:effectLst/>
                        <a:latin typeface="+mn-lt"/>
                        <a:ea typeface="+mn-ea"/>
                        <a:cs typeface="+mn-cs"/>
                      </a:endParaRPr>
                    </a:p>
                  </a:txBody>
                  <a:tcPr marL="90268" marR="90268" marT="45135" marB="45135" anchor="ctr">
                    <a:solidFill>
                      <a:schemeClr val="bg1">
                        <a:lumMod val="50000"/>
                      </a:schemeClr>
                    </a:solidFill>
                  </a:tcPr>
                </a:tc>
                <a:tc>
                  <a:txBody>
                    <a:bodyPr/>
                    <a:lstStyle/>
                    <a:p>
                      <a:pPr marL="0" algn="ctr" defTabSz="871865" rtl="0" eaLnBrk="1" latinLnBrk="0" hangingPunct="1"/>
                      <a:r>
                        <a:rPr lang="en-CA" sz="1000" b="1" i="0" u="none" strike="noStrike" kern="1200">
                          <a:solidFill>
                            <a:srgbClr val="FFFFFF"/>
                          </a:solidFill>
                          <a:effectLst/>
                          <a:latin typeface="+mn-lt"/>
                          <a:ea typeface="+mn-ea"/>
                          <a:cs typeface="+mn-cs"/>
                        </a:rPr>
                        <a:t>ETA</a:t>
                      </a:r>
                      <a:endParaRPr lang="en-US" sz="1000" b="1" i="0" u="none" strike="noStrike" kern="1200">
                        <a:solidFill>
                          <a:srgbClr val="FFFFFF"/>
                        </a:solidFill>
                        <a:effectLst/>
                        <a:latin typeface="+mn-lt"/>
                        <a:ea typeface="+mn-ea"/>
                        <a:cs typeface="+mn-cs"/>
                      </a:endParaRPr>
                    </a:p>
                  </a:txBody>
                  <a:tcPr marL="90268" marR="90268" marT="45135" marB="45135" anchor="ctr">
                    <a:solidFill>
                      <a:schemeClr val="bg1">
                        <a:lumMod val="50000"/>
                      </a:schemeClr>
                    </a:solidFill>
                  </a:tcPr>
                </a:tc>
                <a:tc>
                  <a:txBody>
                    <a:bodyPr/>
                    <a:lstStyle/>
                    <a:p>
                      <a:pPr marL="0" algn="ctr" defTabSz="871865" rtl="0" eaLnBrk="1" latinLnBrk="0" hangingPunct="1"/>
                      <a:r>
                        <a:rPr lang="en-CA" sz="1000" b="1" i="0" u="none" strike="noStrike" kern="1200">
                          <a:solidFill>
                            <a:srgbClr val="FFFFFF"/>
                          </a:solidFill>
                          <a:effectLst/>
                          <a:latin typeface="+mn-lt"/>
                          <a:ea typeface="+mn-ea"/>
                          <a:cs typeface="+mn-cs"/>
                        </a:rPr>
                        <a:t>%</a:t>
                      </a:r>
                      <a:endParaRPr lang="en-US" sz="1000" b="1" i="0" u="none" strike="noStrike" kern="1200">
                        <a:solidFill>
                          <a:srgbClr val="FFFFFF"/>
                        </a:solidFill>
                        <a:effectLst/>
                        <a:latin typeface="+mn-lt"/>
                        <a:ea typeface="+mn-ea"/>
                        <a:cs typeface="+mn-cs"/>
                      </a:endParaRPr>
                    </a:p>
                  </a:txBody>
                  <a:tcPr marL="90268" marR="90268" marT="45135" marB="45135" anchor="ctr">
                    <a:solidFill>
                      <a:schemeClr val="bg1">
                        <a:lumMod val="50000"/>
                      </a:schemeClr>
                    </a:solidFill>
                  </a:tcPr>
                </a:tc>
                <a:extLst>
                  <a:ext uri="{0D108BD9-81ED-4DB2-BD59-A6C34878D82A}">
                    <a16:rowId xmlns:a16="http://schemas.microsoft.com/office/drawing/2014/main" val="232394825"/>
                  </a:ext>
                </a:extLst>
              </a:tr>
              <a:tr h="0">
                <a:tc>
                  <a:txBody>
                    <a:bodyPr/>
                    <a:lstStyle/>
                    <a:p>
                      <a:r>
                        <a:rPr lang="en-CA" sz="800" b="1" i="0" u="none" strike="noStrike" kern="1200">
                          <a:solidFill>
                            <a:srgbClr val="000000"/>
                          </a:solidFill>
                          <a:effectLst/>
                          <a:latin typeface="Trebuchet MS" panose="020B0603020202020204" pitchFamily="34" charset="0"/>
                          <a:ea typeface="Tahoma"/>
                          <a:cs typeface="Tahoma"/>
                        </a:rPr>
                        <a:t>Design Review</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i="0" u="none" strike="noStrike" kern="1200">
                          <a:solidFill>
                            <a:srgbClr val="000000"/>
                          </a:solidFill>
                          <a:effectLst/>
                          <a:latin typeface="Trebuchet MS" panose="020B0603020202020204" pitchFamily="34" charset="0"/>
                          <a:ea typeface="Tahoma"/>
                          <a:cs typeface="Tahoma"/>
                        </a:rPr>
                        <a:t>Completed:	</a:t>
                      </a:r>
                      <a:r>
                        <a:rPr lang="en-CA" sz="800"/>
                        <a:t>All Apps</a:t>
                      </a:r>
                      <a:endParaRPr lang="en-US" sz="800"/>
                    </a:p>
                  </a:txBody>
                  <a:tcPr marL="90268" marR="90268">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25 May</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27 Jun</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100%</a:t>
                      </a:r>
                    </a:p>
                  </a:txBody>
                  <a:tcPr marL="90268" marR="90268">
                    <a:solidFill>
                      <a:srgbClr val="F2F2F2"/>
                    </a:solidFill>
                  </a:tcPr>
                </a:tc>
                <a:extLst>
                  <a:ext uri="{0D108BD9-81ED-4DB2-BD59-A6C34878D82A}">
                    <a16:rowId xmlns:a16="http://schemas.microsoft.com/office/drawing/2014/main" val="1370953055"/>
                  </a:ext>
                </a:extLst>
              </a:tr>
              <a:tr h="0">
                <a:tc>
                  <a:txBody>
                    <a:bodyPr/>
                    <a:lstStyle/>
                    <a:p>
                      <a:r>
                        <a:rPr lang="en-CA" sz="800" b="1" i="0" u="none" strike="noStrike" kern="1200">
                          <a:solidFill>
                            <a:srgbClr val="000000"/>
                          </a:solidFill>
                          <a:effectLst/>
                          <a:latin typeface="Trebuchet MS" panose="020B0603020202020204" pitchFamily="34" charset="0"/>
                          <a:ea typeface="Tahoma"/>
                          <a:cs typeface="Tahoma"/>
                        </a:rPr>
                        <a:t>Code Review</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i="0" u="none" strike="noStrike" kern="1200">
                          <a:solidFill>
                            <a:srgbClr val="000000"/>
                          </a:solidFill>
                          <a:effectLst/>
                          <a:latin typeface="Trebuchet MS" panose="020B0603020202020204" pitchFamily="34" charset="0"/>
                          <a:ea typeface="Tahoma"/>
                          <a:cs typeface="Tahoma"/>
                        </a:rPr>
                        <a:t>Completed:	</a:t>
                      </a:r>
                      <a:r>
                        <a:rPr lang="en-CA" sz="800"/>
                        <a:t>All Apps</a:t>
                      </a:r>
                      <a:endParaRPr lang="en-US" sz="800"/>
                    </a:p>
                  </a:txBody>
                  <a:tcPr marL="90268" marR="90268">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25 May</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17 Jul</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Trebuchet MS" panose="020B0603020202020204" pitchFamily="34" charset="0"/>
                          <a:ea typeface="Tahoma" panose="020B0604030504040204" pitchFamily="34" charset="0"/>
                          <a:cs typeface="Tahoma" panose="020B0604030504040204" pitchFamily="34" charset="0"/>
                        </a:rPr>
                        <a:t>100%</a:t>
                      </a:r>
                    </a:p>
                  </a:txBody>
                  <a:tcPr marL="90268" marR="90268">
                    <a:solidFill>
                      <a:srgbClr val="F2F2F2"/>
                    </a:solidFill>
                  </a:tcPr>
                </a:tc>
                <a:extLst>
                  <a:ext uri="{0D108BD9-81ED-4DB2-BD59-A6C34878D82A}">
                    <a16:rowId xmlns:a16="http://schemas.microsoft.com/office/drawing/2014/main" val="2352501163"/>
                  </a:ext>
                </a:extLst>
              </a:tr>
              <a:tr h="0">
                <a:tc>
                  <a:txBody>
                    <a:bodyPr/>
                    <a:lstStyle/>
                    <a:p>
                      <a:r>
                        <a:rPr lang="en-CA" sz="800" b="1" i="0" u="none" strike="noStrike" kern="1200">
                          <a:solidFill>
                            <a:srgbClr val="000000"/>
                          </a:solidFill>
                          <a:effectLst/>
                          <a:latin typeface="Trebuchet MS" panose="020B0603020202020204" pitchFamily="34" charset="0"/>
                          <a:ea typeface="Tahoma"/>
                          <a:cs typeface="Tahoma"/>
                        </a:rPr>
                        <a:t>Diff Report Review (Final)</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i="0" u="none" strike="noStrike" kern="1200">
                          <a:solidFill>
                            <a:srgbClr val="000000"/>
                          </a:solidFill>
                          <a:effectLst/>
                          <a:latin typeface="Trebuchet MS" panose="020B0603020202020204" pitchFamily="34" charset="0"/>
                          <a:ea typeface="Tahoma"/>
                          <a:cs typeface="Tahoma"/>
                        </a:rPr>
                        <a:t>Completed:	</a:t>
                      </a:r>
                      <a:r>
                        <a:rPr lang="en-CA" sz="800"/>
                        <a:t>All Apps</a:t>
                      </a:r>
                      <a:endParaRPr lang="en-US" sz="800"/>
                    </a:p>
                  </a:txBody>
                  <a:tcPr marL="90268" marR="90268">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22 Jun</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17 Jul</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Trebuchet MS" panose="020B0603020202020204" pitchFamily="34" charset="0"/>
                          <a:ea typeface="Tahoma" panose="020B0604030504040204" pitchFamily="34" charset="0"/>
                          <a:cs typeface="Tahoma" panose="020B0604030504040204" pitchFamily="34" charset="0"/>
                        </a:rPr>
                        <a:t>100%</a:t>
                      </a:r>
                    </a:p>
                  </a:txBody>
                  <a:tcPr marL="90268" marR="90268">
                    <a:solidFill>
                      <a:srgbClr val="F2F2F2"/>
                    </a:solidFill>
                  </a:tcPr>
                </a:tc>
                <a:extLst>
                  <a:ext uri="{0D108BD9-81ED-4DB2-BD59-A6C34878D82A}">
                    <a16:rowId xmlns:a16="http://schemas.microsoft.com/office/drawing/2014/main" val="1762979797"/>
                  </a:ext>
                </a:extLst>
              </a:tr>
              <a:tr h="337652">
                <a:tc rowSpan="2">
                  <a:txBody>
                    <a:bodyPr/>
                    <a:lstStyle/>
                    <a:p>
                      <a:r>
                        <a:rPr lang="en-US" sz="800" b="1" kern="1200">
                          <a:latin typeface="+mn-lt"/>
                          <a:ea typeface="Tahoma"/>
                          <a:cs typeface="Tahoma"/>
                        </a:rPr>
                        <a:t>Infra Readiness Status</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CA" sz="800" b="1" i="0" u="none" strike="noStrike">
                          <a:solidFill>
                            <a:srgbClr val="000000"/>
                          </a:solidFill>
                          <a:effectLst/>
                          <a:latin typeface="Trebuchet MS" panose="020B0603020202020204" pitchFamily="34" charset="0"/>
                        </a:rPr>
                        <a:t>2918 | SFMC  Phase 2 Deposit Use Case  WS2</a:t>
                      </a:r>
                      <a:r>
                        <a:rPr lang="en-CA" sz="800" b="1" i="0" u="none" strike="noStrike" kern="1200">
                          <a:solidFill>
                            <a:schemeClr val="tx1"/>
                          </a:solidFill>
                          <a:effectLst/>
                          <a:latin typeface="+mn-lt"/>
                          <a:ea typeface="+mn-ea"/>
                          <a:cs typeface="+mn-cs"/>
                        </a:rPr>
                        <a:t>:</a:t>
                      </a:r>
                    </a:p>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CA" sz="800" b="0" i="0" u="none" strike="noStrike" kern="1200">
                          <a:solidFill>
                            <a:schemeClr val="tx1"/>
                          </a:solidFill>
                          <a:effectLst/>
                          <a:latin typeface="+mn-lt"/>
                          <a:ea typeface="+mn-ea"/>
                          <a:cs typeface="+mn-cs"/>
                        </a:rPr>
                        <a:t>Feedhub setup and code deployment</a:t>
                      </a:r>
                    </a:p>
                    <a:p>
                      <a:pPr marL="0" marR="0" lvl="0" indent="0" algn="l" defTabSz="914400" rtl="0" eaLnBrk="1" fontAlgn="ctr" latinLnBrk="0" hangingPunct="1">
                        <a:lnSpc>
                          <a:spcPct val="100000"/>
                        </a:lnSpc>
                        <a:spcBef>
                          <a:spcPts val="0"/>
                        </a:spcBef>
                        <a:spcAft>
                          <a:spcPts val="0"/>
                        </a:spcAft>
                        <a:buClrTx/>
                        <a:buSzTx/>
                        <a:buFontTx/>
                        <a:buNone/>
                        <a:tabLst/>
                        <a:defRPr/>
                      </a:pPr>
                      <a:r>
                        <a:rPr lang="en-CA" sz="800" b="1" i="0" u="none" strike="noStrike" kern="1200">
                          <a:solidFill>
                            <a:schemeClr val="tx1"/>
                          </a:solidFill>
                          <a:effectLst/>
                          <a:latin typeface="+mn-lt"/>
                          <a:ea typeface="+mn-ea"/>
                          <a:cs typeface="+mn-cs"/>
                        </a:rPr>
                        <a:t>Complete</a:t>
                      </a:r>
                      <a:endParaRPr lang="en-CA" sz="800" b="0" i="0" u="none" strike="noStrike" kern="1200">
                        <a:solidFill>
                          <a:schemeClr val="tx1"/>
                        </a:solidFill>
                        <a:effectLst/>
                        <a:latin typeface="+mn-lt"/>
                        <a:ea typeface="+mn-ea"/>
                        <a:cs typeface="+mn-cs"/>
                      </a:endParaRPr>
                    </a:p>
                  </a:txBody>
                  <a:tcPr marL="112836" marR="112836">
                    <a:solidFill>
                      <a:schemeClr val="bg1">
                        <a:lumMod val="95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14 Jul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endParaRPr>
                    </a:p>
                  </a:txBody>
                  <a:tcPr marL="90268" marR="90268">
                    <a:solidFill>
                      <a:srgbClr val="F2F2F2"/>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14 Jul</a:t>
                      </a:r>
                    </a:p>
                  </a:txBody>
                  <a:tcPr marL="90268" marR="90268">
                    <a:solidFill>
                      <a:srgbClr val="F2F2F2"/>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prstClr val="black"/>
                          </a:solidFill>
                          <a:effectLst/>
                          <a:uLnTx/>
                          <a:uFillTx/>
                          <a:latin typeface="Trebuchet MS" panose="020B0603020202020204" pitchFamily="34" charset="0"/>
                          <a:ea typeface="Tahoma" panose="020B0604030504040204" pitchFamily="34" charset="0"/>
                          <a:cs typeface="Tahoma" panose="020B0604030504040204" pitchFamily="34" charset="0"/>
                        </a:rPr>
                        <a:t>100%</a:t>
                      </a:r>
                    </a:p>
                  </a:txBody>
                  <a:tcPr marL="90268" marR="90268">
                    <a:solidFill>
                      <a:srgbClr val="F2F2F2"/>
                    </a:solidFill>
                  </a:tcPr>
                </a:tc>
                <a:extLst>
                  <a:ext uri="{0D108BD9-81ED-4DB2-BD59-A6C34878D82A}">
                    <a16:rowId xmlns:a16="http://schemas.microsoft.com/office/drawing/2014/main" val="2538939013"/>
                  </a:ext>
                </a:extLst>
              </a:tr>
              <a:tr h="365760">
                <a:tc vMerge="1">
                  <a:txBody>
                    <a:bodyPr/>
                    <a:lstStyle/>
                    <a:p>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1" i="0" u="none" strike="noStrike">
                          <a:solidFill>
                            <a:srgbClr val="000000"/>
                          </a:solidFill>
                          <a:effectLst/>
                          <a:latin typeface="Trebuchet MS" panose="020B0603020202020204" pitchFamily="34" charset="0"/>
                        </a:rPr>
                        <a:t>3553 | CRM to M-Mortgage:</a:t>
                      </a:r>
                    </a:p>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CA" sz="800" b="0" i="0" u="none" strike="noStrike" kern="1200">
                          <a:solidFill>
                            <a:schemeClr val="tx1"/>
                          </a:solidFill>
                          <a:effectLst/>
                          <a:latin typeface="+mn-lt"/>
                          <a:ea typeface="+mn-ea"/>
                          <a:cs typeface="+mn-cs"/>
                        </a:rPr>
                        <a:t>Enable new end points</a:t>
                      </a:r>
                    </a:p>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CA" sz="800" b="1" i="0" u="none" strike="noStrike" kern="1200">
                          <a:solidFill>
                            <a:schemeClr val="tx1"/>
                          </a:solidFill>
                          <a:effectLst/>
                          <a:latin typeface="+mn-lt"/>
                          <a:ea typeface="+mn-ea"/>
                          <a:cs typeface="+mn-cs"/>
                        </a:rPr>
                        <a:t>Complete</a:t>
                      </a:r>
                      <a:endParaRPr lang="en-CA" sz="800" b="0" i="0" u="none" strike="noStrike" kern="1200">
                        <a:solidFill>
                          <a:schemeClr val="tx1"/>
                        </a:solidFill>
                        <a:effectLst/>
                        <a:latin typeface="+mn-lt"/>
                        <a:ea typeface="+mn-ea"/>
                        <a:cs typeface="+mn-cs"/>
                      </a:endParaRPr>
                    </a:p>
                  </a:txBody>
                  <a:tcPr marL="112836" marR="112836">
                    <a:solidFill>
                      <a:schemeClr val="bg1">
                        <a:lumMod val="95000"/>
                      </a:schemeClr>
                    </a:solidFill>
                  </a:tcPr>
                </a:tc>
                <a:tc vMerge="1">
                  <a:txBody>
                    <a:bodyPr/>
                    <a:lstStyle/>
                    <a:p>
                      <a:endParaRPr lang="en-US"/>
                    </a:p>
                  </a:txBody>
                  <a:tcPr/>
                </a:tc>
                <a:tc vMerge="1">
                  <a:txBody>
                    <a:bodyPr/>
                    <a:lstStyle/>
                    <a:p>
                      <a:endParaRPr lang="en-US"/>
                    </a:p>
                  </a:txBody>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endParaRPr>
                    </a:p>
                  </a:txBody>
                  <a:tcPr marL="90268" marR="90268">
                    <a:solidFill>
                      <a:srgbClr val="A6A6A6"/>
                    </a:solidFill>
                  </a:tcPr>
                </a:tc>
                <a:extLst>
                  <a:ext uri="{0D108BD9-81ED-4DB2-BD59-A6C34878D82A}">
                    <a16:rowId xmlns:a16="http://schemas.microsoft.com/office/drawing/2014/main" val="141185626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kern="1200">
                          <a:solidFill>
                            <a:schemeClr val="dk1"/>
                          </a:solidFill>
                          <a:latin typeface="Trebuchet MS" panose="020B0603020202020204" pitchFamily="34" charset="0"/>
                          <a:ea typeface="Tahoma"/>
                          <a:cs typeface="Tahoma"/>
                        </a:rPr>
                        <a:t>ADM External Review</a:t>
                      </a:r>
                      <a:endParaRPr lang="en-US" sz="800" b="1" i="0" u="none" strike="noStrike" kern="1200">
                        <a:solidFill>
                          <a:srgbClr val="000000"/>
                        </a:solidFill>
                        <a:effectLst/>
                        <a:latin typeface="Trebuchet MS" panose="020B0603020202020204" pitchFamily="34" charset="0"/>
                        <a:ea typeface="Tahoma"/>
                        <a:cs typeface="Tahoma"/>
                      </a:endParaRPr>
                    </a:p>
                  </a:txBody>
                  <a:tcPr marL="90268" marR="90268">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i="0" u="none" strike="noStrike" kern="1200">
                          <a:solidFill>
                            <a:srgbClr val="000000"/>
                          </a:solidFill>
                          <a:effectLst/>
                          <a:latin typeface="Trebuchet MS" panose="020B0603020202020204" pitchFamily="34" charset="0"/>
                          <a:ea typeface="Tahoma"/>
                          <a:cs typeface="Tahoma"/>
                        </a:rPr>
                        <a:t>Completed:	</a:t>
                      </a:r>
                      <a:r>
                        <a:rPr lang="en-CA" sz="800"/>
                        <a:t>All Apps</a:t>
                      </a:r>
                      <a:endParaRPr lang="en-US" sz="800"/>
                    </a:p>
                  </a:txBody>
                  <a:tcPr marL="112836" marR="112836">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22 Jun</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17 Jul</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100%</a:t>
                      </a:r>
                    </a:p>
                  </a:txBody>
                  <a:tcPr marL="90268" marR="90268">
                    <a:solidFill>
                      <a:srgbClr val="F2F2F2"/>
                    </a:solidFill>
                  </a:tcPr>
                </a:tc>
                <a:extLst>
                  <a:ext uri="{0D108BD9-81ED-4DB2-BD59-A6C34878D82A}">
                    <a16:rowId xmlns:a16="http://schemas.microsoft.com/office/drawing/2014/main" val="13849786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a:solidFill>
                            <a:schemeClr val="dk1"/>
                          </a:solidFill>
                          <a:latin typeface="Trebuchet MS" panose="020B0603020202020204" pitchFamily="34" charset="0"/>
                          <a:ea typeface="Tahoma"/>
                          <a:cs typeface="Tahoma"/>
                        </a:rPr>
                        <a:t>ADM Operational Review</a:t>
                      </a:r>
                    </a:p>
                  </a:txBody>
                  <a:tcPr marL="90268" marR="90268">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i="0" u="none" strike="noStrike" kern="1200">
                          <a:solidFill>
                            <a:srgbClr val="000000"/>
                          </a:solidFill>
                          <a:effectLst/>
                          <a:latin typeface="Trebuchet MS" panose="020B0603020202020204" pitchFamily="34" charset="0"/>
                          <a:ea typeface="Tahoma"/>
                          <a:cs typeface="Tahoma"/>
                        </a:rPr>
                        <a:t>Completed:	</a:t>
                      </a:r>
                      <a:r>
                        <a:rPr lang="en-CA" sz="800"/>
                        <a:t>All Apps</a:t>
                      </a:r>
                      <a:endParaRPr lang="en-US" sz="800"/>
                    </a:p>
                  </a:txBody>
                  <a:tcPr marL="112836" marR="112836">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22 Jun</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27 Jun</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100%</a:t>
                      </a:r>
                    </a:p>
                  </a:txBody>
                  <a:tcPr marL="90268" marR="90268">
                    <a:solidFill>
                      <a:srgbClr val="F2F2F2"/>
                    </a:solidFill>
                  </a:tcPr>
                </a:tc>
                <a:extLst>
                  <a:ext uri="{0D108BD9-81ED-4DB2-BD59-A6C34878D82A}">
                    <a16:rowId xmlns:a16="http://schemas.microsoft.com/office/drawing/2014/main" val="1267491756"/>
                  </a:ext>
                </a:extLst>
              </a:tr>
              <a:tr h="3857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00" b="1" kern="1200">
                          <a:solidFill>
                            <a:schemeClr val="dk1"/>
                          </a:solidFill>
                          <a:latin typeface="Trebuchet MS" panose="020B0603020202020204" pitchFamily="34" charset="0"/>
                          <a:ea typeface="Tahoma"/>
                          <a:cs typeface="Tahoma"/>
                        </a:rPr>
                        <a:t>QA Regression and External Review</a:t>
                      </a:r>
                      <a:endParaRPr lang="en-US" sz="800" b="1" kern="1200">
                        <a:solidFill>
                          <a:schemeClr val="dk1"/>
                        </a:solidFill>
                        <a:latin typeface="Trebuchet MS" panose="020B0603020202020204" pitchFamily="34" charset="0"/>
                        <a:ea typeface="Tahoma"/>
                        <a:cs typeface="Tahoma"/>
                      </a:endParaRPr>
                    </a:p>
                  </a:txBody>
                  <a:tcPr marL="90268" marR="90268">
                    <a:solidFill>
                      <a:schemeClr val="bg1">
                        <a:lumMod val="95000"/>
                      </a:schemeClr>
                    </a:solidFill>
                  </a:tcPr>
                </a:tc>
                <a:tc>
                  <a:txBody>
                    <a:bodyPr/>
                    <a:lstStyle/>
                    <a:p>
                      <a:pPr marL="0" marR="0" lvl="0" indent="0" algn="l">
                        <a:spcBef>
                          <a:spcPts val="0"/>
                        </a:spcBef>
                        <a:spcAft>
                          <a:spcPts val="0"/>
                        </a:spcAft>
                        <a:buFont typeface="Symbol" panose="05050102010706020507" pitchFamily="18" charset="2"/>
                        <a:buNone/>
                      </a:pPr>
                      <a:r>
                        <a:rPr lang="en-CA" sz="800" b="1" kern="1200">
                          <a:solidFill>
                            <a:schemeClr val="dk1"/>
                          </a:solidFill>
                          <a:latin typeface="Trebuchet MS" panose="020B0603020202020204" pitchFamily="34" charset="0"/>
                          <a:ea typeface="Tahoma"/>
                          <a:cs typeface="Tahoma"/>
                        </a:rPr>
                        <a:t>QA Regression Testing</a:t>
                      </a:r>
                      <a:r>
                        <a:rPr lang="en-CA" sz="800" b="0" kern="1200">
                          <a:solidFill>
                            <a:schemeClr val="dk1"/>
                          </a:solidFill>
                          <a:latin typeface="Trebuchet MS" panose="020B0603020202020204" pitchFamily="34" charset="0"/>
                          <a:ea typeface="Tahoma"/>
                          <a:cs typeface="Tahoma"/>
                        </a:rPr>
                        <a:t> – 4513 / 4513 TC’s</a:t>
                      </a:r>
                    </a:p>
                    <a:p>
                      <a:pPr marL="0" marR="0" lvl="0" indent="0" algn="l">
                        <a:spcBef>
                          <a:spcPts val="0"/>
                        </a:spcBef>
                        <a:spcAft>
                          <a:spcPts val="0"/>
                        </a:spcAft>
                        <a:buFont typeface="Symbol" panose="05050102010706020507" pitchFamily="18" charset="2"/>
                        <a:buNone/>
                      </a:pPr>
                      <a:endParaRPr lang="en-CA" sz="800" b="0" kern="1200">
                        <a:solidFill>
                          <a:schemeClr val="dk1"/>
                        </a:solidFill>
                        <a:latin typeface="Trebuchet MS" panose="020B0603020202020204" pitchFamily="34" charset="0"/>
                        <a:ea typeface="Tahoma"/>
                        <a:cs typeface="Tahoma"/>
                      </a:endParaRPr>
                    </a:p>
                    <a:p>
                      <a:pPr marL="0" marR="0" lvl="0" indent="0" algn="l">
                        <a:spcBef>
                          <a:spcPts val="0"/>
                        </a:spcBef>
                        <a:spcAft>
                          <a:spcPts val="0"/>
                        </a:spcAft>
                        <a:buFont typeface="Symbol" panose="05050102010706020507" pitchFamily="18" charset="2"/>
                        <a:buNone/>
                      </a:pPr>
                      <a:r>
                        <a:rPr lang="en-CA" sz="800" b="1" kern="1200">
                          <a:solidFill>
                            <a:schemeClr val="dk1"/>
                          </a:solidFill>
                          <a:latin typeface="Trebuchet MS" panose="020B0603020202020204" pitchFamily="34" charset="0"/>
                          <a:ea typeface="Tahoma"/>
                          <a:cs typeface="Tahoma"/>
                        </a:rPr>
                        <a:t>QA External Review</a:t>
                      </a:r>
                      <a:r>
                        <a:rPr lang="en-CA" sz="800" b="0" kern="1200">
                          <a:solidFill>
                            <a:schemeClr val="dk1"/>
                          </a:solidFill>
                          <a:latin typeface="Trebuchet MS" panose="020B0603020202020204" pitchFamily="34" charset="0"/>
                          <a:ea typeface="Tahoma"/>
                          <a:cs typeface="Tahoma"/>
                        </a:rPr>
                        <a:t> – 51 / 51 projects</a:t>
                      </a:r>
                    </a:p>
                  </a:txBody>
                  <a:tcPr marL="112836" marR="112836">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11 Jul</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11 Jul</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100%</a:t>
                      </a:r>
                    </a:p>
                  </a:txBody>
                  <a:tcPr marL="90268" marR="90268">
                    <a:solidFill>
                      <a:srgbClr val="F2F2F2"/>
                    </a:solidFill>
                  </a:tcPr>
                </a:tc>
                <a:extLst>
                  <a:ext uri="{0D108BD9-81ED-4DB2-BD59-A6C34878D82A}">
                    <a16:rowId xmlns:a16="http://schemas.microsoft.com/office/drawing/2014/main" val="458042284"/>
                  </a:ext>
                </a:extLst>
              </a:tr>
              <a:tr h="457200">
                <a:tc>
                  <a:txBody>
                    <a:bodyPr/>
                    <a:lstStyle/>
                    <a:p>
                      <a:pPr marL="0" marR="0" lvl="0" indent="0" algn="l" defTabSz="1149256" rtl="0" eaLnBrk="1" fontAlgn="auto" latinLnBrk="0" hangingPunct="1">
                        <a:lnSpc>
                          <a:spcPct val="100000"/>
                        </a:lnSpc>
                        <a:spcBef>
                          <a:spcPts val="0"/>
                        </a:spcBef>
                        <a:spcAft>
                          <a:spcPts val="0"/>
                        </a:spcAft>
                        <a:buClrTx/>
                        <a:buSzTx/>
                        <a:buFontTx/>
                        <a:buNone/>
                        <a:tabLst/>
                        <a:defRPr/>
                      </a:pPr>
                      <a:r>
                        <a:rPr lang="en-US" sz="800" b="1" kern="1200">
                          <a:latin typeface="+mn-lt"/>
                          <a:ea typeface="Tahoma"/>
                          <a:cs typeface="Tahoma"/>
                        </a:rPr>
                        <a:t>PIV Planning</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0" marR="0" lvl="0" indent="0" algn="l" defTabSz="1149256" rtl="0" eaLnBrk="1" fontAlgn="auto" latinLnBrk="0" hangingPunct="1">
                        <a:lnSpc>
                          <a:spcPct val="100000"/>
                        </a:lnSpc>
                        <a:spcBef>
                          <a:spcPts val="0"/>
                        </a:spcBef>
                        <a:spcAft>
                          <a:spcPts val="0"/>
                        </a:spcAft>
                        <a:buClrTx/>
                        <a:buSzTx/>
                        <a:buFontTx/>
                        <a:buNone/>
                        <a:tabLst/>
                        <a:defRPr/>
                      </a:pPr>
                      <a:r>
                        <a:rPr lang="en-CA" sz="800" b="1" kern="1200">
                          <a:solidFill>
                            <a:schemeClr val="dk1"/>
                          </a:solidFill>
                          <a:latin typeface="Trebuchet MS" panose="020B0603020202020204" pitchFamily="34" charset="0"/>
                          <a:ea typeface="Tahoma"/>
                          <a:cs typeface="Tahoma"/>
                        </a:rPr>
                        <a:t>PIV TC’s Execution in Test Env</a:t>
                      </a:r>
                      <a:r>
                        <a:rPr lang="en-CA" sz="800" b="0" kern="1200">
                          <a:solidFill>
                            <a:schemeClr val="dk1"/>
                          </a:solidFill>
                          <a:latin typeface="Trebuchet MS" panose="020B0603020202020204" pitchFamily="34" charset="0"/>
                          <a:ea typeface="Tahoma"/>
                          <a:cs typeface="Tahoma"/>
                        </a:rPr>
                        <a:t> – Complete</a:t>
                      </a:r>
                    </a:p>
                    <a:p>
                      <a:pPr marL="0" marR="0" lvl="0" indent="0" algn="l" defTabSz="1149256" rtl="0" eaLnBrk="1" fontAlgn="auto" latinLnBrk="0" hangingPunct="1">
                        <a:lnSpc>
                          <a:spcPct val="100000"/>
                        </a:lnSpc>
                        <a:spcBef>
                          <a:spcPts val="0"/>
                        </a:spcBef>
                        <a:spcAft>
                          <a:spcPts val="0"/>
                        </a:spcAft>
                        <a:buClrTx/>
                        <a:buSzTx/>
                        <a:buFontTx/>
                        <a:buNone/>
                        <a:tabLst/>
                        <a:defRPr/>
                      </a:pPr>
                      <a:r>
                        <a:rPr lang="en-CA" sz="800" b="1" kern="1200">
                          <a:solidFill>
                            <a:schemeClr val="dk1"/>
                          </a:solidFill>
                          <a:latin typeface="Trebuchet MS" panose="020B0603020202020204" pitchFamily="34" charset="0"/>
                          <a:ea typeface="Tahoma"/>
                          <a:cs typeface="Tahoma"/>
                        </a:rPr>
                        <a:t>PIV Users confirmation</a:t>
                      </a:r>
                      <a:r>
                        <a:rPr lang="en-CA" sz="800" b="0" kern="1200">
                          <a:solidFill>
                            <a:schemeClr val="dk1"/>
                          </a:solidFill>
                          <a:latin typeface="Trebuchet MS" panose="020B0603020202020204" pitchFamily="34" charset="0"/>
                          <a:ea typeface="Tahoma"/>
                          <a:cs typeface="Tahoma"/>
                        </a:rPr>
                        <a:t> – Complete</a:t>
                      </a:r>
                    </a:p>
                    <a:p>
                      <a:pPr marL="0" marR="0" lvl="0" indent="0" algn="l" defTabSz="1149256" rtl="0" eaLnBrk="1" fontAlgn="auto" latinLnBrk="0" hangingPunct="1">
                        <a:lnSpc>
                          <a:spcPct val="100000"/>
                        </a:lnSpc>
                        <a:spcBef>
                          <a:spcPts val="0"/>
                        </a:spcBef>
                        <a:spcAft>
                          <a:spcPts val="0"/>
                        </a:spcAft>
                        <a:buClrTx/>
                        <a:buSzTx/>
                        <a:buFontTx/>
                        <a:buNone/>
                        <a:tabLst/>
                        <a:defRPr/>
                      </a:pPr>
                      <a:r>
                        <a:rPr lang="en-CA" sz="800" b="1" kern="1200">
                          <a:solidFill>
                            <a:schemeClr val="dk1"/>
                          </a:solidFill>
                          <a:latin typeface="Trebuchet MS" panose="020B0603020202020204" pitchFamily="34" charset="0"/>
                          <a:ea typeface="Tahoma"/>
                          <a:cs typeface="Tahoma"/>
                        </a:rPr>
                        <a:t>ADM/QC support for PIV</a:t>
                      </a:r>
                      <a:r>
                        <a:rPr lang="en-CA" sz="800" b="0" kern="1200">
                          <a:solidFill>
                            <a:schemeClr val="dk1"/>
                          </a:solidFill>
                          <a:latin typeface="Trebuchet MS" panose="020B0603020202020204" pitchFamily="34" charset="0"/>
                          <a:ea typeface="Tahoma"/>
                          <a:cs typeface="Tahoma"/>
                        </a:rPr>
                        <a:t> – Complete</a:t>
                      </a:r>
                    </a:p>
                  </a:txBody>
                  <a:tcPr marL="112836" marR="112836">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11 Jul</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16 Jul</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100%</a:t>
                      </a:r>
                    </a:p>
                  </a:txBody>
                  <a:tcPr marL="90268" marR="90268">
                    <a:solidFill>
                      <a:srgbClr val="F2F2F2"/>
                    </a:solidFill>
                  </a:tcPr>
                </a:tc>
                <a:extLst>
                  <a:ext uri="{0D108BD9-81ED-4DB2-BD59-A6C34878D82A}">
                    <a16:rowId xmlns:a16="http://schemas.microsoft.com/office/drawing/2014/main" val="174280950"/>
                  </a:ext>
                </a:extLst>
              </a:tr>
              <a:tr h="914400">
                <a:tc>
                  <a:txBody>
                    <a:bodyPr/>
                    <a:lstStyle/>
                    <a:p>
                      <a:r>
                        <a:rPr lang="en-CA" sz="800" b="1" kern="1200">
                          <a:latin typeface="+mn-lt"/>
                          <a:ea typeface="Tahoma"/>
                          <a:cs typeface="Tahoma"/>
                        </a:rPr>
                        <a:t>Impl Readiness</a:t>
                      </a:r>
                      <a:endParaRPr lang="en-US" sz="800" b="1" kern="1200">
                        <a:solidFill>
                          <a:schemeClr val="dk1"/>
                        </a:solidFill>
                        <a:latin typeface="+mn-lt"/>
                        <a:ea typeface="Tahoma"/>
                        <a:cs typeface="Tahoma"/>
                      </a:endParaRPr>
                    </a:p>
                  </a:txBody>
                  <a:tcPr marL="90268" marR="90268">
                    <a:solidFill>
                      <a:schemeClr val="bg1">
                        <a:lumMod val="95000"/>
                      </a:schemeClr>
                    </a:solidFill>
                  </a:tcPr>
                </a:tc>
                <a:tc>
                  <a:txBody>
                    <a:bodyPr/>
                    <a:lstStyle/>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kern="1200">
                          <a:solidFill>
                            <a:schemeClr val="dk1"/>
                          </a:solidFill>
                          <a:latin typeface="Trebuchet MS" panose="020B0603020202020204" pitchFamily="34" charset="0"/>
                          <a:ea typeface="Tahoma"/>
                          <a:cs typeface="Tahoma"/>
                        </a:rPr>
                        <a:t>Backout Matrix review – Complete</a:t>
                      </a: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800" b="0" kern="1200">
                          <a:solidFill>
                            <a:schemeClr val="dk1"/>
                          </a:solidFill>
                          <a:latin typeface="Trebuchet MS" panose="020B0603020202020204" pitchFamily="34" charset="0"/>
                          <a:ea typeface="Tahoma"/>
                          <a:cs typeface="Tahoma"/>
                        </a:rPr>
                        <a:t>Backout testing scenario walkthrough and Testing – </a:t>
                      </a:r>
                      <a:r>
                        <a:rPr lang="en-US" sz="800" b="0" kern="1200">
                          <a:solidFill>
                            <a:schemeClr val="dk1"/>
                          </a:solidFill>
                          <a:highlight>
                            <a:srgbClr val="FFFF00"/>
                          </a:highlight>
                          <a:latin typeface="Trebuchet MS" panose="020B0603020202020204" pitchFamily="34" charset="0"/>
                          <a:ea typeface="Tahoma"/>
                          <a:cs typeface="Tahoma"/>
                        </a:rPr>
                        <a:t>In Progress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kern="1200">
                          <a:solidFill>
                            <a:schemeClr val="dk1"/>
                          </a:solidFill>
                          <a:latin typeface="Trebuchet MS" panose="020B0603020202020204" pitchFamily="34" charset="0"/>
                          <a:ea typeface="Tahoma"/>
                          <a:cs typeface="Tahoma"/>
                        </a:rPr>
                        <a:t>MIP walkthrough and Sign Off – Complete</a:t>
                      </a: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800" b="0" kern="1200">
                          <a:solidFill>
                            <a:schemeClr val="dk1"/>
                          </a:solidFill>
                          <a:latin typeface="Trebuchet MS" panose="020B0603020202020204" pitchFamily="34" charset="0"/>
                          <a:ea typeface="Tahoma"/>
                          <a:cs typeface="Tahoma"/>
                        </a:rPr>
                        <a:t>Change Records and Resource Alignment – </a:t>
                      </a:r>
                      <a:r>
                        <a:rPr lang="en-US" sz="800" b="0" kern="1200">
                          <a:solidFill>
                            <a:schemeClr val="dk1"/>
                          </a:solidFill>
                          <a:highlight>
                            <a:srgbClr val="FFFF00"/>
                          </a:highlight>
                          <a:latin typeface="Trebuchet MS" panose="020B0603020202020204" pitchFamily="34" charset="0"/>
                          <a:ea typeface="Tahoma"/>
                          <a:cs typeface="Tahoma"/>
                        </a:rPr>
                        <a:t>In Progress</a:t>
                      </a:r>
                      <a:endParaRPr lang="en-CA" sz="800" b="0" kern="1200">
                        <a:solidFill>
                          <a:schemeClr val="dk1"/>
                        </a:solidFill>
                        <a:highlight>
                          <a:srgbClr val="FFFF00"/>
                        </a:highlight>
                        <a:latin typeface="Trebuchet MS" panose="020B0603020202020204" pitchFamily="34" charset="0"/>
                        <a:ea typeface="Tahoma"/>
                        <a:cs typeface="Tahoma"/>
                      </a:endParaRP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800" b="0" kern="1200">
                          <a:solidFill>
                            <a:schemeClr val="dk1"/>
                          </a:solidFill>
                          <a:latin typeface="Trebuchet MS" panose="020B0603020202020204" pitchFamily="34" charset="0"/>
                          <a:ea typeface="Tahoma"/>
                          <a:cs typeface="Tahoma"/>
                        </a:rPr>
                        <a:t>SCM – </a:t>
                      </a:r>
                      <a:r>
                        <a:rPr lang="en-US" sz="800" b="0" kern="1200">
                          <a:solidFill>
                            <a:schemeClr val="dk1"/>
                          </a:solidFill>
                          <a:latin typeface="Trebuchet MS" panose="020B0603020202020204" pitchFamily="34" charset="0"/>
                          <a:ea typeface="Tahoma"/>
                          <a:cs typeface="Tahoma"/>
                        </a:rPr>
                        <a:t>Complete</a:t>
                      </a: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800" b="0" kern="1200">
                          <a:solidFill>
                            <a:schemeClr val="dk1"/>
                          </a:solidFill>
                          <a:latin typeface="Trebuchet MS" panose="020B0603020202020204" pitchFamily="34" charset="0"/>
                          <a:ea typeface="Tahoma"/>
                          <a:cs typeface="Tahoma"/>
                        </a:rPr>
                        <a:t>ACP – </a:t>
                      </a:r>
                      <a:r>
                        <a:rPr lang="en-US" sz="800" b="0" kern="1200">
                          <a:solidFill>
                            <a:schemeClr val="dk1"/>
                          </a:solidFill>
                          <a:latin typeface="Trebuchet MS" panose="020B0603020202020204" pitchFamily="34" charset="0"/>
                          <a:ea typeface="Tahoma"/>
                          <a:cs typeface="Tahoma"/>
                        </a:rPr>
                        <a:t>Complete</a:t>
                      </a: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800" b="0" kern="1200">
                          <a:solidFill>
                            <a:schemeClr val="dk1"/>
                          </a:solidFill>
                          <a:latin typeface="Trebuchet MS" panose="020B0603020202020204" pitchFamily="34" charset="0"/>
                          <a:ea typeface="Tahoma"/>
                          <a:cs typeface="Tahoma"/>
                        </a:rPr>
                        <a:t>OP Docs - </a:t>
                      </a:r>
                      <a:r>
                        <a:rPr lang="en-US" sz="800" b="0" kern="1200">
                          <a:solidFill>
                            <a:schemeClr val="dk1"/>
                          </a:solidFill>
                          <a:latin typeface="Trebuchet MS" panose="020B0603020202020204" pitchFamily="34" charset="0"/>
                          <a:ea typeface="Tahoma"/>
                          <a:cs typeface="Tahoma"/>
                        </a:rPr>
                        <a:t>Complete</a:t>
                      </a:r>
                      <a:endParaRPr lang="en-CA" sz="800" b="0" kern="1200">
                        <a:solidFill>
                          <a:schemeClr val="dk1"/>
                        </a:solidFill>
                        <a:latin typeface="Trebuchet MS" panose="020B0603020202020204" pitchFamily="34" charset="0"/>
                        <a:ea typeface="Tahoma"/>
                        <a:cs typeface="Tahoma"/>
                      </a:endParaRPr>
                    </a:p>
                  </a:txBody>
                  <a:tcPr marL="112836" marR="112836">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18 Jul</a:t>
                      </a:r>
                    </a:p>
                  </a:txBody>
                  <a:tcPr marL="90268" marR="90268">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bg1"/>
                          </a:solidFill>
                          <a:effectLst/>
                          <a:uLnTx/>
                          <a:uFillTx/>
                          <a:latin typeface="Trebuchet MS" panose="020B0603020202020204" pitchFamily="34" charset="0"/>
                          <a:ea typeface="Tahoma" panose="020B0604030504040204" pitchFamily="34" charset="0"/>
                          <a:cs typeface="Tahoma" panose="020B0604030504040204" pitchFamily="34" charset="0"/>
                        </a:rPr>
                        <a:t>18 Jul</a:t>
                      </a:r>
                    </a:p>
                  </a:txBody>
                  <a:tcPr marL="90268" marR="90268">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tx1"/>
                          </a:solidFill>
                          <a:effectLst/>
                          <a:uLnTx/>
                          <a:uFillTx/>
                          <a:latin typeface="Trebuchet MS" panose="020B0603020202020204" pitchFamily="34" charset="0"/>
                          <a:ea typeface="Tahoma" panose="020B0604030504040204" pitchFamily="34" charset="0"/>
                          <a:cs typeface="Tahoma" panose="020B0604030504040204" pitchFamily="34" charset="0"/>
                        </a:rPr>
                        <a:t>85%</a:t>
                      </a:r>
                    </a:p>
                  </a:txBody>
                  <a:tcPr marL="90268" marR="90268">
                    <a:solidFill>
                      <a:srgbClr val="F2F2F2"/>
                    </a:solidFill>
                  </a:tcPr>
                </a:tc>
                <a:extLst>
                  <a:ext uri="{0D108BD9-81ED-4DB2-BD59-A6C34878D82A}">
                    <a16:rowId xmlns:a16="http://schemas.microsoft.com/office/drawing/2014/main" val="1625735921"/>
                  </a:ext>
                </a:extLst>
              </a:tr>
            </a:tbl>
          </a:graphicData>
        </a:graphic>
      </p:graphicFrame>
      <p:sp>
        <p:nvSpPr>
          <p:cNvPr id="12" name="TextBox 11">
            <a:extLst>
              <a:ext uri="{FF2B5EF4-FFF2-40B4-BE49-F238E27FC236}">
                <a16:creationId xmlns:a16="http://schemas.microsoft.com/office/drawing/2014/main" id="{048BD185-8051-E6F0-6023-9FA65516AC37}"/>
              </a:ext>
            </a:extLst>
          </p:cNvPr>
          <p:cNvSpPr txBox="1"/>
          <p:nvPr/>
        </p:nvSpPr>
        <p:spPr>
          <a:xfrm rot="16200000">
            <a:off x="-854706" y="3717557"/>
            <a:ext cx="2240259" cy="307779"/>
          </a:xfrm>
          <a:prstGeom prst="rect">
            <a:avLst/>
          </a:prstGeom>
          <a:solidFill>
            <a:schemeClr val="bg1">
              <a:lumMod val="50000"/>
            </a:schemeClr>
          </a:solidFill>
        </p:spPr>
        <p:txBody>
          <a:bodyPr wrap="square" rtlCol="0">
            <a:spAutoFit/>
          </a:bodyPr>
          <a:lstStyle/>
          <a:p>
            <a:pPr algn="ctr" defTabSz="757746" eaLnBrk="0" fontAlgn="base" hangingPunct="0">
              <a:spcBef>
                <a:spcPct val="0"/>
              </a:spcBef>
              <a:spcAft>
                <a:spcPct val="0"/>
              </a:spcAft>
              <a:defRPr/>
            </a:pPr>
            <a:r>
              <a:rPr lang="en-US" sz="1400" b="1">
                <a:solidFill>
                  <a:prstClr val="white"/>
                </a:solidFill>
                <a:cs typeface="Segoe UI" panose="020B0502040204020203" pitchFamily="34" charset="0"/>
              </a:rPr>
              <a:t>FOCUS</a:t>
            </a:r>
          </a:p>
        </p:txBody>
      </p:sp>
      <p:sp>
        <p:nvSpPr>
          <p:cNvPr id="13" name="TextBox 12">
            <a:extLst>
              <a:ext uri="{FF2B5EF4-FFF2-40B4-BE49-F238E27FC236}">
                <a16:creationId xmlns:a16="http://schemas.microsoft.com/office/drawing/2014/main" id="{C3D7EAB3-E348-E04A-7AC9-E3EABDF30182}"/>
              </a:ext>
            </a:extLst>
          </p:cNvPr>
          <p:cNvSpPr txBox="1"/>
          <p:nvPr/>
        </p:nvSpPr>
        <p:spPr>
          <a:xfrm rot="16200000">
            <a:off x="-313434" y="5479006"/>
            <a:ext cx="1157718" cy="307777"/>
          </a:xfrm>
          <a:prstGeom prst="rect">
            <a:avLst/>
          </a:prstGeom>
          <a:solidFill>
            <a:schemeClr val="bg1">
              <a:lumMod val="50000"/>
            </a:schemeClr>
          </a:solidFill>
        </p:spPr>
        <p:txBody>
          <a:bodyPr wrap="square" rtlCol="0">
            <a:spAutoFit/>
          </a:bodyPr>
          <a:lstStyle/>
          <a:p>
            <a:pPr algn="ctr" defTabSz="757746" eaLnBrk="0" fontAlgn="base" hangingPunct="0">
              <a:spcBef>
                <a:spcPct val="0"/>
              </a:spcBef>
              <a:spcAft>
                <a:spcPct val="0"/>
              </a:spcAft>
              <a:defRPr/>
            </a:pPr>
            <a:r>
              <a:rPr lang="en-US" sz="1400" b="1">
                <a:solidFill>
                  <a:prstClr val="white"/>
                </a:solidFill>
                <a:cs typeface="Segoe UI" panose="020B0502040204020203" pitchFamily="34" charset="0"/>
              </a:rPr>
              <a:t>ISSUE</a:t>
            </a:r>
          </a:p>
        </p:txBody>
      </p:sp>
      <p:graphicFrame>
        <p:nvGraphicFramePr>
          <p:cNvPr id="5" name="Table 4">
            <a:extLst>
              <a:ext uri="{FF2B5EF4-FFF2-40B4-BE49-F238E27FC236}">
                <a16:creationId xmlns:a16="http://schemas.microsoft.com/office/drawing/2014/main" id="{0AC35C65-78E6-09D1-BA72-65B8913B4E37}"/>
              </a:ext>
            </a:extLst>
          </p:cNvPr>
          <p:cNvGraphicFramePr>
            <a:graphicFrameLocks noGrp="1"/>
          </p:cNvGraphicFramePr>
          <p:nvPr/>
        </p:nvGraphicFramePr>
        <p:xfrm>
          <a:off x="462971" y="5054038"/>
          <a:ext cx="5350096" cy="1157717"/>
        </p:xfrm>
        <a:graphic>
          <a:graphicData uri="http://schemas.openxmlformats.org/drawingml/2006/table">
            <a:tbl>
              <a:tblPr firstRow="1" bandRow="1"/>
              <a:tblGrid>
                <a:gridCol w="5350096">
                  <a:extLst>
                    <a:ext uri="{9D8B030D-6E8A-4147-A177-3AD203B41FA5}">
                      <a16:colId xmlns:a16="http://schemas.microsoft.com/office/drawing/2014/main" val="4247662929"/>
                    </a:ext>
                  </a:extLst>
                </a:gridCol>
              </a:tblGrid>
              <a:tr h="1157717">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900" b="1" u="sng">
                          <a:latin typeface="Arial" panose="020B0604020202020204" pitchFamily="34" charset="0"/>
                          <a:cs typeface="Arial" panose="020B0604020202020204" pitchFamily="34" charset="0"/>
                        </a:rPr>
                        <a:t>None</a:t>
                      </a:r>
                    </a:p>
                  </a:txBody>
                  <a:tcPr marL="72214" marR="72214"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32368190"/>
                  </a:ext>
                </a:extLst>
              </a:tr>
            </a:tbl>
          </a:graphicData>
        </a:graphic>
      </p:graphicFrame>
      <p:graphicFrame>
        <p:nvGraphicFramePr>
          <p:cNvPr id="6" name="Table 5">
            <a:extLst>
              <a:ext uri="{FF2B5EF4-FFF2-40B4-BE49-F238E27FC236}">
                <a16:creationId xmlns:a16="http://schemas.microsoft.com/office/drawing/2014/main" id="{561C76CA-0095-29A2-2CBA-880DB9CFD308}"/>
              </a:ext>
            </a:extLst>
          </p:cNvPr>
          <p:cNvGraphicFramePr>
            <a:graphicFrameLocks noGrp="1"/>
          </p:cNvGraphicFramePr>
          <p:nvPr/>
        </p:nvGraphicFramePr>
        <p:xfrm>
          <a:off x="462972" y="2751321"/>
          <a:ext cx="5350095" cy="2240258"/>
        </p:xfrm>
        <a:graphic>
          <a:graphicData uri="http://schemas.openxmlformats.org/drawingml/2006/table">
            <a:tbl>
              <a:tblPr firstRow="1" bandRow="1"/>
              <a:tblGrid>
                <a:gridCol w="4139539">
                  <a:extLst>
                    <a:ext uri="{9D8B030D-6E8A-4147-A177-3AD203B41FA5}">
                      <a16:colId xmlns:a16="http://schemas.microsoft.com/office/drawing/2014/main" val="3485863420"/>
                    </a:ext>
                  </a:extLst>
                </a:gridCol>
                <a:gridCol w="1210556">
                  <a:extLst>
                    <a:ext uri="{9D8B030D-6E8A-4147-A177-3AD203B41FA5}">
                      <a16:colId xmlns:a16="http://schemas.microsoft.com/office/drawing/2014/main" val="2322899994"/>
                    </a:ext>
                  </a:extLst>
                </a:gridCol>
              </a:tblGrid>
              <a:tr h="259058">
                <a:tc>
                  <a:txBody>
                    <a:bodyPr/>
                    <a:lstStyle/>
                    <a:p>
                      <a:pPr algn="ctr" rtl="0" fontAlgn="ctr"/>
                      <a:r>
                        <a:rPr lang="en-CA" sz="1000" b="1" i="0" u="none" strike="noStrike">
                          <a:solidFill>
                            <a:srgbClr val="FFFFFF"/>
                          </a:solidFill>
                          <a:effectLst/>
                          <a:latin typeface="+mn-lt"/>
                        </a:rPr>
                        <a:t>KEY INITIATIVES</a:t>
                      </a:r>
                      <a:endParaRPr lang="en-US" sz="1000" b="1" i="0" u="none" strike="noStrike">
                        <a:solidFill>
                          <a:srgbClr val="FFFFFF"/>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50000"/>
                      </a:schemeClr>
                    </a:solidFill>
                  </a:tcPr>
                </a:tc>
                <a:tc>
                  <a:txBody>
                    <a:bodyPr/>
                    <a:lstStyle/>
                    <a:p>
                      <a:pPr algn="ctr" rtl="0" fontAlgn="ctr"/>
                      <a:r>
                        <a:rPr lang="en-US" sz="1000" b="1" i="0" u="none" strike="noStrike">
                          <a:solidFill>
                            <a:srgbClr val="FFFFFF"/>
                          </a:solidFill>
                          <a:effectLst/>
                          <a:latin typeface="+mn-lt"/>
                        </a:rPr>
                        <a:t>APPS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04787489"/>
                  </a:ext>
                </a:extLst>
              </a:tr>
              <a:tr h="1118611">
                <a:tc>
                  <a:txBody>
                    <a:bodyPr/>
                    <a:lstStyle/>
                    <a:p>
                      <a:pPr marL="171450" lvl="0" indent="-171450">
                        <a:buFont typeface="Arial" panose="020B0604020202020204" pitchFamily="34" charset="0"/>
                        <a:buChar char="•"/>
                      </a:pPr>
                      <a:r>
                        <a:rPr lang="en-CA" sz="1000" kern="1200">
                          <a:solidFill>
                            <a:schemeClr val="tx1"/>
                          </a:solidFill>
                          <a:effectLst/>
                          <a:latin typeface="+mn-lt"/>
                          <a:ea typeface="+mn-ea"/>
                          <a:cs typeface="+mn-cs"/>
                        </a:rPr>
                        <a:t>3082 | Hopper Group 2 - CA Calculators</a:t>
                      </a:r>
                    </a:p>
                    <a:p>
                      <a:pPr marL="171450" lvl="0" indent="-171450">
                        <a:buFont typeface="Arial" panose="020B0604020202020204" pitchFamily="34" charset="0"/>
                        <a:buChar char="•"/>
                      </a:pPr>
                      <a:r>
                        <a:rPr lang="en-CA" sz="1000" b="0" i="0" u="none" strike="noStrike">
                          <a:solidFill>
                            <a:srgbClr val="000000"/>
                          </a:solidFill>
                          <a:effectLst/>
                          <a:latin typeface="Trebuchet MS" panose="020B0603020202020204" pitchFamily="34" charset="0"/>
                        </a:rPr>
                        <a:t>3215, 3216, 3297 | HPP CLP Controls</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3366 | OSFI MVP 8.2 and 1E</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3553 | CRM to M-Mortgage</a:t>
                      </a:r>
                    </a:p>
                    <a:p>
                      <a:pPr marL="171450" lvl="0" indent="-171450">
                        <a:buFont typeface="Arial" panose="020B0604020202020204" pitchFamily="34" charset="0"/>
                        <a:buChar char="•"/>
                      </a:pPr>
                      <a:r>
                        <a:rPr lang="en-CA" sz="1000" b="0" i="0" u="none" strike="noStrike">
                          <a:solidFill>
                            <a:srgbClr val="000000"/>
                          </a:solidFill>
                          <a:effectLst/>
                          <a:latin typeface="Trebuchet MS" panose="020B0603020202020204" pitchFamily="34" charset="0"/>
                        </a:rPr>
                        <a:t>3624 | RESL - Update to maximum amortization for insured new construction, condo changes</a:t>
                      </a:r>
                    </a:p>
                    <a:p>
                      <a:pPr marL="171450" lvl="0" indent="-171450">
                        <a:buFont typeface="Arial" panose="020B0604020202020204" pitchFamily="34" charset="0"/>
                        <a:buChar char="•"/>
                      </a:pPr>
                      <a:r>
                        <a:rPr lang="en-CA" sz="1000" b="0" i="0" u="none" strike="noStrike">
                          <a:solidFill>
                            <a:srgbClr val="000000"/>
                          </a:solidFill>
                          <a:effectLst/>
                          <a:latin typeface="Trebuchet MS" panose="020B0603020202020204" pitchFamily="34" charset="0"/>
                        </a:rPr>
                        <a:t>3745 | Project JEDI (Release 1/2 - July)</a:t>
                      </a:r>
                    </a:p>
                    <a:p>
                      <a:pPr marL="171450" lvl="0" indent="-171450">
                        <a:buFont typeface="Arial" panose="020B0604020202020204" pitchFamily="34" charset="0"/>
                        <a:buChar char="•"/>
                      </a:pPr>
                      <a:r>
                        <a:rPr lang="en-CA" sz="1000" b="0" i="0" u="none" strike="noStrike">
                          <a:solidFill>
                            <a:srgbClr val="000000"/>
                          </a:solidFill>
                          <a:effectLst/>
                          <a:latin typeface="Trebuchet MS" panose="020B0603020202020204" pitchFamily="34" charset="0"/>
                        </a:rPr>
                        <a:t>3750 | C3 - Include Data Elements in Lending BI &amp; EDH</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3843, 3686 | RESL MOD POD- July</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3907 | F25 Revenue Program</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4033 | Hopper 3 &amp; 5 OSFI projects</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4102 | Shift Left - MVP1</a:t>
                      </a:r>
                    </a:p>
                    <a:p>
                      <a:pPr marL="171450" lvl="0" indent="-171450">
                        <a:buFont typeface="Arial" panose="020B0604020202020204" pitchFamily="34" charset="0"/>
                        <a:buChar char="•"/>
                      </a:pPr>
                      <a:r>
                        <a:rPr lang="en-US" sz="1000" b="0" i="0" u="none" strike="noStrike">
                          <a:solidFill>
                            <a:srgbClr val="000000"/>
                          </a:solidFill>
                          <a:effectLst/>
                          <a:latin typeface="Trebuchet MS" panose="020B0603020202020204" pitchFamily="34" charset="0"/>
                        </a:rPr>
                        <a:t>4105 | Client at Risk</a:t>
                      </a:r>
                    </a:p>
                  </a:txBody>
                  <a:tcPr marL="72214" marR="72214"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rtl="0" fontAlgn="ctr"/>
                      <a:r>
                        <a:rPr lang="en-US" sz="1000" b="0" i="0" u="none" strike="noStrike">
                          <a:solidFill>
                            <a:srgbClr val="000000"/>
                          </a:solidFill>
                          <a:effectLst/>
                          <a:latin typeface="Trebuchet MS" panose="020B0603020202020204" pitchFamily="34" charset="0"/>
                          <a:ea typeface="Tahoma" panose="020B0604030504040204" pitchFamily="34" charset="0"/>
                          <a:cs typeface="Tahoma" panose="020B0604030504040204" pitchFamily="34" charset="0"/>
                        </a:rPr>
                        <a:t>CBPT: 20</a:t>
                      </a:r>
                    </a:p>
                    <a:p>
                      <a:pPr algn="l" rtl="0" fontAlgn="ctr"/>
                      <a:r>
                        <a:rPr lang="en-US" sz="1000" b="0" i="0" u="none" strike="noStrike">
                          <a:solidFill>
                            <a:srgbClr val="000000"/>
                          </a:solidFill>
                          <a:effectLst/>
                          <a:latin typeface="Trebuchet MS" panose="020B0603020202020204" pitchFamily="34" charset="0"/>
                          <a:ea typeface="Tahoma" panose="020B0604030504040204" pitchFamily="34" charset="0"/>
                          <a:cs typeface="Tahoma" panose="020B0604030504040204" pitchFamily="34" charset="0"/>
                        </a:rPr>
                        <a:t>Non CBPT: 8</a:t>
                      </a:r>
                    </a:p>
                  </a:txBody>
                  <a:tcPr marL="72214" marR="72214"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32368190"/>
                  </a:ext>
                </a:extLst>
              </a:tr>
            </a:tbl>
          </a:graphicData>
        </a:graphic>
      </p:graphicFrame>
    </p:spTree>
    <p:extLst>
      <p:ext uri="{BB962C8B-B14F-4D97-AF65-F5344CB8AC3E}">
        <p14:creationId xmlns:p14="http://schemas.microsoft.com/office/powerpoint/2010/main" val="38773207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A9CFA42-7EB9-A5B5-FF2C-E823047CE0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004C2-D058-E0D6-6AD8-A7876FB82224}"/>
              </a:ext>
            </a:extLst>
          </p:cNvPr>
          <p:cNvSpPr>
            <a:spLocks noGrp="1"/>
          </p:cNvSpPr>
          <p:nvPr>
            <p:ph type="title"/>
          </p:nvPr>
        </p:nvSpPr>
        <p:spPr>
          <a:xfrm>
            <a:off x="353830" y="260322"/>
            <a:ext cx="10660404" cy="554846"/>
          </a:xfrm>
        </p:spPr>
        <p:txBody>
          <a:bodyPr/>
          <a:lstStyle/>
          <a:p>
            <a:r>
              <a:rPr lang="en-CA" sz="2800"/>
              <a:t>February 1</a:t>
            </a:r>
            <a:r>
              <a:rPr lang="en-CA" sz="2800" baseline="30000"/>
              <a:t>st</a:t>
            </a:r>
            <a:r>
              <a:rPr lang="en-CA" sz="2800"/>
              <a:t> Release Project Backout Matrix</a:t>
            </a:r>
            <a:endParaRPr lang="en-US" sz="2800"/>
          </a:p>
        </p:txBody>
      </p:sp>
    </p:spTree>
    <p:extLst>
      <p:ext uri="{BB962C8B-B14F-4D97-AF65-F5344CB8AC3E}">
        <p14:creationId xmlns:p14="http://schemas.microsoft.com/office/powerpoint/2010/main" val="28118198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AEC46-00F1-96DB-B048-8C4349BF748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73E2489-D454-EA71-6E4D-5352C0C5018B}"/>
              </a:ext>
            </a:extLst>
          </p:cNvPr>
          <p:cNvSpPr>
            <a:spLocks noGrp="1"/>
          </p:cNvSpPr>
          <p:nvPr>
            <p:ph type="title"/>
          </p:nvPr>
        </p:nvSpPr>
        <p:spPr>
          <a:xfrm>
            <a:off x="297179" y="136305"/>
            <a:ext cx="10933748" cy="581983"/>
          </a:xfrm>
        </p:spPr>
        <p:txBody>
          <a:bodyPr/>
          <a:lstStyle/>
          <a:p>
            <a:r>
              <a:rPr lang="en-CA" sz="2800"/>
              <a:t>February 1</a:t>
            </a:r>
            <a:r>
              <a:rPr lang="en-CA" sz="2800" baseline="30000"/>
              <a:t>st</a:t>
            </a:r>
            <a:r>
              <a:rPr lang="en-CA" sz="2800"/>
              <a:t> </a:t>
            </a:r>
            <a:r>
              <a:rPr kumimoji="0" lang="en-CA" sz="2800" b="1" i="0" u="none" strike="noStrike" kern="1200" cap="none" spc="0" normalizeH="0" baseline="0" noProof="0">
                <a:ln>
                  <a:noFill/>
                </a:ln>
                <a:solidFill>
                  <a:srgbClr val="D40139"/>
                </a:solidFill>
                <a:effectLst/>
                <a:uLnTx/>
                <a:uFillTx/>
                <a:latin typeface="Trebuchet MS"/>
                <a:ea typeface="+mj-ea"/>
                <a:cs typeface="+mj-cs"/>
              </a:rPr>
              <a:t>Release </a:t>
            </a:r>
            <a:r>
              <a:rPr lang="en-CA" sz="2800"/>
              <a:t>Out of Release Scope</a:t>
            </a:r>
            <a:endParaRPr lang="en-US" sz="2800"/>
          </a:p>
        </p:txBody>
      </p:sp>
      <p:graphicFrame>
        <p:nvGraphicFramePr>
          <p:cNvPr id="13" name="Table 2">
            <a:extLst>
              <a:ext uri="{FF2B5EF4-FFF2-40B4-BE49-F238E27FC236}">
                <a16:creationId xmlns:a16="http://schemas.microsoft.com/office/drawing/2014/main" id="{CDAEF5A3-7621-AB24-CC8E-EA6D264FEB16}"/>
              </a:ext>
            </a:extLst>
          </p:cNvPr>
          <p:cNvGraphicFramePr>
            <a:graphicFrameLocks noGrp="1"/>
          </p:cNvGraphicFramePr>
          <p:nvPr/>
        </p:nvGraphicFramePr>
        <p:xfrm>
          <a:off x="6992189" y="702296"/>
          <a:ext cx="4588193" cy="182880"/>
        </p:xfrm>
        <a:graphic>
          <a:graphicData uri="http://schemas.openxmlformats.org/drawingml/2006/table">
            <a:tbl>
              <a:tblPr firstRow="1" bandRow="1"/>
              <a:tblGrid>
                <a:gridCol w="208280">
                  <a:extLst>
                    <a:ext uri="{9D8B030D-6E8A-4147-A177-3AD203B41FA5}">
                      <a16:colId xmlns:a16="http://schemas.microsoft.com/office/drawing/2014/main" val="2552748061"/>
                    </a:ext>
                  </a:extLst>
                </a:gridCol>
                <a:gridCol w="548640">
                  <a:extLst>
                    <a:ext uri="{9D8B030D-6E8A-4147-A177-3AD203B41FA5}">
                      <a16:colId xmlns:a16="http://schemas.microsoft.com/office/drawing/2014/main" val="2949818358"/>
                    </a:ext>
                  </a:extLst>
                </a:gridCol>
                <a:gridCol w="208280">
                  <a:extLst>
                    <a:ext uri="{9D8B030D-6E8A-4147-A177-3AD203B41FA5}">
                      <a16:colId xmlns:a16="http://schemas.microsoft.com/office/drawing/2014/main" val="3768384043"/>
                    </a:ext>
                  </a:extLst>
                </a:gridCol>
                <a:gridCol w="822960">
                  <a:extLst>
                    <a:ext uri="{9D8B030D-6E8A-4147-A177-3AD203B41FA5}">
                      <a16:colId xmlns:a16="http://schemas.microsoft.com/office/drawing/2014/main" val="3673821677"/>
                    </a:ext>
                  </a:extLst>
                </a:gridCol>
                <a:gridCol w="208280">
                  <a:extLst>
                    <a:ext uri="{9D8B030D-6E8A-4147-A177-3AD203B41FA5}">
                      <a16:colId xmlns:a16="http://schemas.microsoft.com/office/drawing/2014/main" val="1380191459"/>
                    </a:ext>
                  </a:extLst>
                </a:gridCol>
                <a:gridCol w="771843">
                  <a:extLst>
                    <a:ext uri="{9D8B030D-6E8A-4147-A177-3AD203B41FA5}">
                      <a16:colId xmlns:a16="http://schemas.microsoft.com/office/drawing/2014/main" val="2784429797"/>
                    </a:ext>
                  </a:extLst>
                </a:gridCol>
                <a:gridCol w="208280">
                  <a:extLst>
                    <a:ext uri="{9D8B030D-6E8A-4147-A177-3AD203B41FA5}">
                      <a16:colId xmlns:a16="http://schemas.microsoft.com/office/drawing/2014/main" val="906539283"/>
                    </a:ext>
                  </a:extLst>
                </a:gridCol>
                <a:gridCol w="822960">
                  <a:extLst>
                    <a:ext uri="{9D8B030D-6E8A-4147-A177-3AD203B41FA5}">
                      <a16:colId xmlns:a16="http://schemas.microsoft.com/office/drawing/2014/main" val="2265317318"/>
                    </a:ext>
                  </a:extLst>
                </a:gridCol>
                <a:gridCol w="240030">
                  <a:extLst>
                    <a:ext uri="{9D8B030D-6E8A-4147-A177-3AD203B41FA5}">
                      <a16:colId xmlns:a16="http://schemas.microsoft.com/office/drawing/2014/main" val="4285212843"/>
                    </a:ext>
                  </a:extLst>
                </a:gridCol>
                <a:gridCol w="548640">
                  <a:extLst>
                    <a:ext uri="{9D8B030D-6E8A-4147-A177-3AD203B41FA5}">
                      <a16:colId xmlns:a16="http://schemas.microsoft.com/office/drawing/2014/main" val="3048000558"/>
                    </a:ext>
                  </a:extLst>
                </a:gridCol>
              </a:tblGrid>
              <a:tr h="182880">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N</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Not Started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G</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In Progress, On Track</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Y</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May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R</a:t>
                      </a:r>
                      <a:endParaRPr lang="en-US" sz="5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Will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C</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Complete</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sp>
        <p:nvSpPr>
          <p:cNvPr id="6" name="Rectangle 5">
            <a:hlinkClick r:id="rId3" action="ppaction://hlinksldjump"/>
            <a:extLst>
              <a:ext uri="{FF2B5EF4-FFF2-40B4-BE49-F238E27FC236}">
                <a16:creationId xmlns:a16="http://schemas.microsoft.com/office/drawing/2014/main" id="{CE31D031-E614-8E87-E43B-7B9ED213EFB4}"/>
              </a:ext>
            </a:extLst>
          </p:cNvPr>
          <p:cNvSpPr/>
          <p:nvPr/>
        </p:nvSpPr>
        <p:spPr>
          <a:xfrm>
            <a:off x="286909" y="1732946"/>
            <a:ext cx="11293473" cy="1892826"/>
          </a:xfrm>
          <a:prstGeom prst="rect">
            <a:avLst/>
          </a:prstGeom>
          <a:ln>
            <a:solidFill>
              <a:schemeClr val="tx1"/>
            </a:solidFill>
          </a:ln>
        </p:spPr>
        <p:txBody>
          <a:bodyPr wrap="square" anchor="t">
            <a:spAutoFit/>
          </a:bodyPr>
          <a:lstStyle/>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Trebuchet MS"/>
                <a:ea typeface="+mn-ea"/>
                <a:cs typeface="+mn-cs"/>
              </a:rPr>
              <a:t>Summary:</a:t>
            </a:r>
            <a:endParaRPr lang="en-US" sz="1200" b="1">
              <a:solidFill>
                <a:srgbClr val="D40139"/>
              </a:solidFill>
              <a:latin typeface="Trebuchet MS"/>
            </a:endParaRP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Trebuchet MS"/>
              </a:rPr>
              <a:t>None</a:t>
            </a:r>
            <a:endParaRPr kumimoji="0" lang="en-US" sz="1200" i="0" u="none" strike="noStrike" kern="1200" cap="none" spc="0" normalizeH="0" baseline="0" noProof="0">
              <a:ln>
                <a:noFill/>
              </a:ln>
              <a:effectLst/>
              <a:uLnTx/>
              <a:uFillTx/>
              <a:latin typeface="Trebuchet MS"/>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Trebuchet MS"/>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Trebuchet MS"/>
                <a:ea typeface="+mn-ea"/>
                <a:cs typeface="+mn-cs"/>
              </a:rPr>
              <a:t>Open Risks / Issues:</a:t>
            </a: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Trebuchet MS"/>
              </a:rPr>
              <a:t>None</a:t>
            </a:r>
            <a:r>
              <a:rPr kumimoji="0" lang="en-US" sz="1200" i="0" u="none" strike="noStrike" kern="1200" cap="none" spc="0" normalizeH="0" baseline="0" noProof="0">
                <a:ln>
                  <a:noFill/>
                </a:ln>
                <a:effectLst/>
                <a:uLnTx/>
                <a:uFillTx/>
                <a:latin typeface="Trebuchet MS"/>
                <a:ea typeface="+mn-ea"/>
                <a:cs typeface="+mn-cs"/>
              </a:rPr>
              <a:t> </a:t>
            </a:r>
            <a:endParaRPr kumimoji="0" lang="en-CA" sz="1200" i="0" u="none" strike="noStrike" kern="1200" cap="none" spc="0" normalizeH="0" baseline="0" noProof="0">
              <a:ln>
                <a:noFill/>
              </a:ln>
              <a:effectLst/>
              <a:uLnTx/>
              <a:uFillTx/>
              <a:latin typeface="Trebuchet MS"/>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CA" sz="1200" b="1" i="0" u="none" strike="noStrike" kern="1200" cap="none" spc="0" normalizeH="0" baseline="0" noProof="0">
              <a:ln>
                <a:noFill/>
              </a:ln>
              <a:solidFill>
                <a:srgbClr val="D40139"/>
              </a:solidFill>
              <a:effectLst/>
              <a:uLnTx/>
              <a:uFillTx/>
              <a:latin typeface="Trebuchet MS"/>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40139"/>
                </a:solidFill>
                <a:effectLst/>
                <a:uLnTx/>
                <a:uFillTx/>
                <a:latin typeface="Trebuchet MS"/>
                <a:ea typeface="+mn-ea"/>
                <a:cs typeface="+mn-cs"/>
              </a:rPr>
              <a:t>Awareness:</a:t>
            </a: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Trebuchet MS"/>
              </a:rPr>
              <a:t>None</a:t>
            </a:r>
            <a:endParaRPr kumimoji="0" lang="en-US" sz="1200" i="0" u="none" strike="noStrike" kern="1200" cap="none" spc="0" normalizeH="0" baseline="0" noProof="0">
              <a:ln>
                <a:noFill/>
              </a:ln>
              <a:effectLst/>
              <a:uLnTx/>
              <a:uFillTx/>
              <a:latin typeface="Trebuchet MS"/>
              <a:ea typeface="+mn-ea"/>
              <a:cs typeface="+mn-cs"/>
            </a:endParaRPr>
          </a:p>
          <a:p>
            <a:pPr marL="0" marR="0" lvl="0" indent="0" algn="l" defTabSz="1199693"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D40139"/>
              </a:solidFill>
              <a:effectLst/>
              <a:uLnTx/>
              <a:uFillTx/>
              <a:latin typeface="Trebuchet MS"/>
              <a:ea typeface="+mn-ea"/>
              <a:cs typeface="+mn-cs"/>
            </a:endParaRPr>
          </a:p>
          <a:p>
            <a:pPr marL="171450" marR="0" lvl="0" indent="-171450" algn="l" defTabSz="119969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900" b="0" i="0" u="none" strike="noStrike" kern="1200" cap="none" spc="0" normalizeH="0" baseline="0" noProof="0">
              <a:ln>
                <a:noFill/>
              </a:ln>
              <a:solidFill>
                <a:prstClr val="black"/>
              </a:solidFill>
              <a:effectLst/>
              <a:uLnTx/>
              <a:uFillTx/>
              <a:latin typeface="Trebuchet MS"/>
              <a:ea typeface="+mn-ea"/>
              <a:cs typeface="+mn-cs"/>
            </a:endParaRPr>
          </a:p>
        </p:txBody>
      </p:sp>
      <p:graphicFrame>
        <p:nvGraphicFramePr>
          <p:cNvPr id="2" name="Table 1">
            <a:extLst>
              <a:ext uri="{FF2B5EF4-FFF2-40B4-BE49-F238E27FC236}">
                <a16:creationId xmlns:a16="http://schemas.microsoft.com/office/drawing/2014/main" id="{1D3DB3A2-8DC1-4714-5A87-AFDF19EFDEAC}"/>
              </a:ext>
            </a:extLst>
          </p:cNvPr>
          <p:cNvGraphicFramePr>
            <a:graphicFrameLocks noGrp="1"/>
          </p:cNvGraphicFramePr>
          <p:nvPr/>
        </p:nvGraphicFramePr>
        <p:xfrm>
          <a:off x="286909" y="1026095"/>
          <a:ext cx="11268970" cy="502095"/>
        </p:xfrm>
        <a:graphic>
          <a:graphicData uri="http://schemas.openxmlformats.org/drawingml/2006/table">
            <a:tbl>
              <a:tblPr/>
              <a:tblGrid>
                <a:gridCol w="274320">
                  <a:extLst>
                    <a:ext uri="{9D8B030D-6E8A-4147-A177-3AD203B41FA5}">
                      <a16:colId xmlns:a16="http://schemas.microsoft.com/office/drawing/2014/main" val="2344290904"/>
                    </a:ext>
                  </a:extLst>
                </a:gridCol>
                <a:gridCol w="208280">
                  <a:extLst>
                    <a:ext uri="{9D8B030D-6E8A-4147-A177-3AD203B41FA5}">
                      <a16:colId xmlns:a16="http://schemas.microsoft.com/office/drawing/2014/main" val="1608390335"/>
                    </a:ext>
                  </a:extLst>
                </a:gridCol>
                <a:gridCol w="817594">
                  <a:extLst>
                    <a:ext uri="{9D8B030D-6E8A-4147-A177-3AD203B41FA5}">
                      <a16:colId xmlns:a16="http://schemas.microsoft.com/office/drawing/2014/main" val="2969487447"/>
                    </a:ext>
                  </a:extLst>
                </a:gridCol>
                <a:gridCol w="4480560">
                  <a:extLst>
                    <a:ext uri="{9D8B030D-6E8A-4147-A177-3AD203B41FA5}">
                      <a16:colId xmlns:a16="http://schemas.microsoft.com/office/drawing/2014/main" val="991839446"/>
                    </a:ext>
                  </a:extLst>
                </a:gridCol>
                <a:gridCol w="883377">
                  <a:extLst>
                    <a:ext uri="{9D8B030D-6E8A-4147-A177-3AD203B41FA5}">
                      <a16:colId xmlns:a16="http://schemas.microsoft.com/office/drawing/2014/main" val="2171947543"/>
                    </a:ext>
                  </a:extLst>
                </a:gridCol>
                <a:gridCol w="634821">
                  <a:extLst>
                    <a:ext uri="{9D8B030D-6E8A-4147-A177-3AD203B41FA5}">
                      <a16:colId xmlns:a16="http://schemas.microsoft.com/office/drawing/2014/main" val="3113330620"/>
                    </a:ext>
                  </a:extLst>
                </a:gridCol>
                <a:gridCol w="571500">
                  <a:extLst>
                    <a:ext uri="{9D8B030D-6E8A-4147-A177-3AD203B41FA5}">
                      <a16:colId xmlns:a16="http://schemas.microsoft.com/office/drawing/2014/main" val="4244941905"/>
                    </a:ext>
                  </a:extLst>
                </a:gridCol>
                <a:gridCol w="464924">
                  <a:extLst>
                    <a:ext uri="{9D8B030D-6E8A-4147-A177-3AD203B41FA5}">
                      <a16:colId xmlns:a16="http://schemas.microsoft.com/office/drawing/2014/main" val="1512630808"/>
                    </a:ext>
                  </a:extLst>
                </a:gridCol>
                <a:gridCol w="506626">
                  <a:extLst>
                    <a:ext uri="{9D8B030D-6E8A-4147-A177-3AD203B41FA5}">
                      <a16:colId xmlns:a16="http://schemas.microsoft.com/office/drawing/2014/main" val="178472737"/>
                    </a:ext>
                  </a:extLst>
                </a:gridCol>
                <a:gridCol w="2426968">
                  <a:extLst>
                    <a:ext uri="{9D8B030D-6E8A-4147-A177-3AD203B41FA5}">
                      <a16:colId xmlns:a16="http://schemas.microsoft.com/office/drawing/2014/main" val="3256006816"/>
                    </a:ext>
                  </a:extLst>
                </a:gridCol>
              </a:tblGrid>
              <a:tr h="0">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C</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T</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Imp</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1270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DEBF7"/>
                    </a:solidFill>
                  </a:tcPr>
                </a:tc>
                <a:tc>
                  <a:txBody>
                    <a:bodyPr/>
                    <a:lstStyle/>
                    <a:p>
                      <a:pPr algn="l" fontAlgn="base">
                        <a:lnSpc>
                          <a:spcPts val="1200"/>
                        </a:lnSpc>
                        <a:buNone/>
                      </a:pPr>
                      <a:r>
                        <a:rPr lang="en-CA" sz="1000" b="1" i="0" u="none" strike="noStrike">
                          <a:solidFill>
                            <a:srgbClr val="000000"/>
                          </a:solidFill>
                          <a:effectLst/>
                          <a:latin typeface="Trebuchet MS" panose="020B0603020202020204" pitchFamily="34" charset="0"/>
                        </a:rPr>
                        <a:t>Item</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PM</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Type</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REQ</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DEV</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DEBF7"/>
                    </a:solidFill>
                  </a:tcPr>
                </a:tc>
                <a:tc>
                  <a:txBody>
                    <a:bodyPr/>
                    <a:lstStyle/>
                    <a:p>
                      <a:pPr algn="ctr" fontAlgn="base">
                        <a:lnSpc>
                          <a:spcPts val="1200"/>
                        </a:lnSpc>
                        <a:buNone/>
                      </a:pPr>
                      <a:r>
                        <a:rPr lang="en-CA" sz="1000" b="1" i="0" u="none" strike="noStrike">
                          <a:solidFill>
                            <a:srgbClr val="000000"/>
                          </a:solidFill>
                          <a:effectLst/>
                          <a:latin typeface="Trebuchet MS" panose="020B0603020202020204" pitchFamily="34" charset="0"/>
                        </a:rPr>
                        <a:t>QA</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DEBF7"/>
                    </a:solidFill>
                  </a:tcPr>
                </a:tc>
                <a:tc>
                  <a:txBody>
                    <a:bodyPr/>
                    <a:lstStyle/>
                    <a:p>
                      <a:pPr algn="l" fontAlgn="base">
                        <a:lnSpc>
                          <a:spcPts val="1200"/>
                        </a:lnSpc>
                        <a:buNone/>
                      </a:pPr>
                      <a:r>
                        <a:rPr lang="en-CA" sz="1000" b="1" i="0" u="none" strike="noStrike">
                          <a:solidFill>
                            <a:srgbClr val="000000"/>
                          </a:solidFill>
                          <a:effectLst/>
                          <a:latin typeface="Trebuchet MS" panose="020B0603020202020204" pitchFamily="34" charset="0"/>
                        </a:rPr>
                        <a:t>Apps</a:t>
                      </a:r>
                      <a:r>
                        <a:rPr lang="en-CA" sz="1000" b="0" i="0">
                          <a:solidFill>
                            <a:srgbClr val="000000"/>
                          </a:solidFill>
                          <a:effectLst/>
                          <a:latin typeface="Trebuchet MS" panose="020B0603020202020204" pitchFamily="34" charset="0"/>
                        </a:rPr>
                        <a:t>​</a:t>
                      </a: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DEBF7"/>
                    </a:solidFill>
                  </a:tcPr>
                </a:tc>
                <a:extLst>
                  <a:ext uri="{0D108BD9-81ED-4DB2-BD59-A6C34878D82A}">
                    <a16:rowId xmlns:a16="http://schemas.microsoft.com/office/drawing/2014/main" val="123580793"/>
                  </a:ext>
                </a:extLst>
              </a:tr>
              <a:tr h="190500">
                <a:tc>
                  <a:txBody>
                    <a:bodyPr/>
                    <a:lstStyle/>
                    <a:p>
                      <a:pPr algn="ctr" fontAlgn="base">
                        <a:lnSpc>
                          <a:spcPts val="1200"/>
                        </a:lnSpc>
                        <a:buNone/>
                      </a:pPr>
                      <a:endParaRPr lang="en-CA" b="0" i="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ase">
                        <a:lnSpc>
                          <a:spcPts val="1200"/>
                        </a:lnSpc>
                        <a:buNone/>
                      </a:pPr>
                      <a:endParaRPr lang="en-CA" b="0" i="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ase">
                        <a:lnSpc>
                          <a:spcPts val="1200"/>
                        </a:lnSpc>
                        <a:buNone/>
                      </a:pPr>
                      <a:endParaRPr lang="en-CA" sz="1000" b="0" i="0" u="none" strike="noStrike" kern="1200">
                        <a:solidFill>
                          <a:srgbClr val="000000"/>
                        </a:solidFill>
                        <a:effectLst/>
                        <a:latin typeface="Trebuchet MS" panose="020B0603020202020204" pitchFamily="34" charset="0"/>
                        <a:ea typeface="+mn-ea"/>
                        <a:cs typeface="+mn-cs"/>
                      </a:endParaRPr>
                    </a:p>
                  </a:txBody>
                  <a:tcPr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ase">
                        <a:lnSpc>
                          <a:spcPts val="1200"/>
                        </a:lnSpc>
                        <a:buNone/>
                      </a:pPr>
                      <a:r>
                        <a:rPr lang="en-US" sz="1000" b="0" i="0" u="none" strike="noStrike" kern="1200">
                          <a:solidFill>
                            <a:srgbClr val="000000"/>
                          </a:solidFill>
                          <a:effectLst/>
                          <a:latin typeface="Trebuchet MS" panose="020B0603020202020204" pitchFamily="34" charset="0"/>
                          <a:ea typeface="+mn-ea"/>
                          <a:cs typeface="+mn-cs"/>
                        </a:rPr>
                        <a:t>None</a:t>
                      </a: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fontAlgn="base" latinLnBrk="0" hangingPunct="1">
                        <a:lnSpc>
                          <a:spcPts val="1200"/>
                        </a:lnSpc>
                        <a:buNone/>
                      </a:pPr>
                      <a:endParaRPr lang="en-CA" sz="1000" b="0" i="0" u="none" strike="noStrike" kern="1200">
                        <a:solidFill>
                          <a:srgbClr val="000000"/>
                        </a:solidFill>
                        <a:effectLst/>
                        <a:latin typeface="Trebuchet MS" panose="020B0603020202020204" pitchFamily="34"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ase" latinLnBrk="0" hangingPunct="1">
                        <a:lnSpc>
                          <a:spcPts val="1200"/>
                        </a:lnSpc>
                        <a:buNone/>
                      </a:pPr>
                      <a:endParaRPr lang="en-CA" sz="1000" b="0" i="0" u="none" strike="noStrike" kern="1200">
                        <a:solidFill>
                          <a:srgbClr val="000000"/>
                        </a:solidFill>
                        <a:effectLst/>
                        <a:latin typeface="Trebuchet MS" panose="020B0603020202020204" pitchFamily="34" charset="0"/>
                        <a:ea typeface="+mn-ea"/>
                        <a:cs typeface="+mn-cs"/>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lnSpc>
                          <a:spcPts val="1200"/>
                        </a:lnSpc>
                        <a:buNone/>
                      </a:pPr>
                      <a:endParaRPr lang="en-CA" b="0" i="0">
                        <a:solidFill>
                          <a:srgbClr val="000000"/>
                        </a:solidFill>
                        <a:effectLst/>
                      </a:endParaRPr>
                    </a:p>
                  </a:txBody>
                  <a:tcPr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ase">
                        <a:lnSpc>
                          <a:spcPts val="1200"/>
                        </a:lnSpc>
                        <a:buNone/>
                      </a:pPr>
                      <a:endParaRPr lang="en-CA" b="0" i="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ase" latinLnBrk="0" hangingPunct="1">
                        <a:lnSpc>
                          <a:spcPts val="1200"/>
                        </a:lnSpc>
                        <a:buNone/>
                      </a:pPr>
                      <a:endParaRPr lang="en-CA" sz="1000" b="1" i="0" u="none" strike="noStrike" kern="1200">
                        <a:solidFill>
                          <a:schemeClr val="bg1"/>
                        </a:solidFill>
                        <a:effectLst/>
                        <a:latin typeface="Trebuchet MS" panose="020B0603020202020204" pitchFamily="34" charset="0"/>
                        <a:ea typeface="+mn-ea"/>
                        <a:cs typeface="+mn-cs"/>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914400" rtl="0" eaLnBrk="1" fontAlgn="base" latinLnBrk="0" hangingPunct="1">
                        <a:lnSpc>
                          <a:spcPts val="1200"/>
                        </a:lnSpc>
                        <a:buNone/>
                      </a:pPr>
                      <a:endParaRPr lang="en-CA" sz="1000" b="0" i="0" u="none" strike="noStrike" kern="1200">
                        <a:solidFill>
                          <a:srgbClr val="000000"/>
                        </a:solidFill>
                        <a:effectLst/>
                        <a:latin typeface="Trebuchet MS" panose="020B0603020202020204" pitchFamily="34" charset="0"/>
                        <a:ea typeface="+mn-ea"/>
                        <a:cs typeface="+mn-cs"/>
                      </a:endParaRPr>
                    </a:p>
                  </a:txBody>
                  <a:tcPr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3295688"/>
                  </a:ext>
                </a:extLst>
              </a:tr>
            </a:tbl>
          </a:graphicData>
        </a:graphic>
      </p:graphicFrame>
      <p:sp>
        <p:nvSpPr>
          <p:cNvPr id="3" name="Rectangle 1">
            <a:extLst>
              <a:ext uri="{FF2B5EF4-FFF2-40B4-BE49-F238E27FC236}">
                <a16:creationId xmlns:a16="http://schemas.microsoft.com/office/drawing/2014/main" id="{2158042F-2137-9940-AC5D-AD4A59252EC9}"/>
              </a:ext>
            </a:extLst>
          </p:cNvPr>
          <p:cNvSpPr>
            <a:spLocks noChangeArrowheads="1"/>
          </p:cNvSpPr>
          <p:nvPr/>
        </p:nvSpPr>
        <p:spPr bwMode="auto">
          <a:xfrm>
            <a:off x="378643" y="394489"/>
            <a:ext cx="1759237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1873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8A1FBB-5FEA-77D8-3F98-535B1E8DE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9AC0F-A0C4-8E86-06D9-D03BA4C7B070}"/>
              </a:ext>
            </a:extLst>
          </p:cNvPr>
          <p:cNvSpPr>
            <a:spLocks noGrp="1"/>
          </p:cNvSpPr>
          <p:nvPr>
            <p:ph type="title"/>
          </p:nvPr>
        </p:nvSpPr>
        <p:spPr>
          <a:xfrm>
            <a:off x="353830" y="260322"/>
            <a:ext cx="10660404" cy="554846"/>
          </a:xfrm>
        </p:spPr>
        <p:txBody>
          <a:bodyPr/>
          <a:lstStyle/>
          <a:p>
            <a:r>
              <a:rPr lang="en-CA" sz="2800"/>
              <a:t>February 1</a:t>
            </a:r>
            <a:r>
              <a:rPr lang="en-CA" sz="2800" baseline="30000"/>
              <a:t>st</a:t>
            </a:r>
            <a:r>
              <a:rPr lang="en-CA" sz="2800"/>
              <a:t> </a:t>
            </a:r>
            <a:r>
              <a:rPr lang="en-CA" sz="2800">
                <a:solidFill>
                  <a:srgbClr val="D40139"/>
                </a:solidFill>
              </a:rPr>
              <a:t>Release </a:t>
            </a:r>
            <a:r>
              <a:rPr lang="en-CA" sz="2800"/>
              <a:t>Projects Backout Testing </a:t>
            </a:r>
            <a:endParaRPr lang="en-US" sz="2800"/>
          </a:p>
        </p:txBody>
      </p:sp>
      <p:graphicFrame>
        <p:nvGraphicFramePr>
          <p:cNvPr id="4" name="Table 3">
            <a:extLst>
              <a:ext uri="{FF2B5EF4-FFF2-40B4-BE49-F238E27FC236}">
                <a16:creationId xmlns:a16="http://schemas.microsoft.com/office/drawing/2014/main" id="{7E1B644A-D49A-E834-AF8B-5B6C1D1495A0}"/>
              </a:ext>
            </a:extLst>
          </p:cNvPr>
          <p:cNvGraphicFramePr>
            <a:graphicFrameLocks noGrp="1"/>
          </p:cNvGraphicFramePr>
          <p:nvPr/>
        </p:nvGraphicFramePr>
        <p:xfrm>
          <a:off x="437904" y="1105603"/>
          <a:ext cx="5959058" cy="747344"/>
        </p:xfrm>
        <a:graphic>
          <a:graphicData uri="http://schemas.openxmlformats.org/drawingml/2006/table">
            <a:tbl>
              <a:tblPr firstRow="1" bandRow="1">
                <a:tableStyleId>{5940675A-B579-460E-94D1-54222C63F5DA}</a:tableStyleId>
              </a:tblPr>
              <a:tblGrid>
                <a:gridCol w="630135">
                  <a:extLst>
                    <a:ext uri="{9D8B030D-6E8A-4147-A177-3AD203B41FA5}">
                      <a16:colId xmlns:a16="http://schemas.microsoft.com/office/drawing/2014/main" val="3502640996"/>
                    </a:ext>
                  </a:extLst>
                </a:gridCol>
                <a:gridCol w="624253">
                  <a:extLst>
                    <a:ext uri="{9D8B030D-6E8A-4147-A177-3AD203B41FA5}">
                      <a16:colId xmlns:a16="http://schemas.microsoft.com/office/drawing/2014/main" val="2734795740"/>
                    </a:ext>
                  </a:extLst>
                </a:gridCol>
                <a:gridCol w="4704670">
                  <a:extLst>
                    <a:ext uri="{9D8B030D-6E8A-4147-A177-3AD203B41FA5}">
                      <a16:colId xmlns:a16="http://schemas.microsoft.com/office/drawing/2014/main" val="2401932686"/>
                    </a:ext>
                  </a:extLst>
                </a:gridCol>
              </a:tblGrid>
              <a:tr h="0">
                <a:tc>
                  <a:txBody>
                    <a:bodyPr/>
                    <a:lstStyle/>
                    <a:p>
                      <a:pPr algn="ctr"/>
                      <a:r>
                        <a:rPr lang="en-CA" sz="780" b="1">
                          <a:latin typeface="+mn-lt"/>
                          <a:cs typeface="Arial" panose="020B0604020202020204" pitchFamily="34" charset="0"/>
                        </a:rPr>
                        <a:t>Status</a:t>
                      </a:r>
                      <a:endParaRPr lang="en-US" sz="780" b="1">
                        <a:latin typeface="+mn-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780" b="1">
                          <a:latin typeface="+mn-lt"/>
                          <a:cs typeface="Arial" panose="020B0604020202020204" pitchFamily="34" charset="0"/>
                        </a:rPr>
                        <a:t>Phase</a:t>
                      </a:r>
                      <a:endParaRPr lang="en-US" sz="780" b="1">
                        <a:latin typeface="+mn-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780" b="1">
                          <a:latin typeface="+mn-lt"/>
                          <a:cs typeface="Arial" panose="020B0604020202020204" pitchFamily="34" charset="0"/>
                        </a:rPr>
                        <a:t> Item</a:t>
                      </a:r>
                      <a:endParaRPr lang="en-US" sz="780" b="1">
                        <a:latin typeface="+mn-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19580"/>
                  </a:ext>
                </a:extLst>
              </a:tr>
              <a:tr h="537032">
                <a:tc>
                  <a:txBody>
                    <a:bodyPr/>
                    <a:lstStyle/>
                    <a:p>
                      <a:pPr algn="ctr"/>
                      <a:endParaRPr lang="en-US" sz="730" b="1">
                        <a:solidFill>
                          <a:schemeClr val="bg1"/>
                        </a:solidFill>
                        <a:latin typeface="+mn-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730" b="1">
                        <a:latin typeface="+mn-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730" b="0" i="0" u="none" strike="noStrike" kern="1200" noProof="0">
                        <a:solidFill>
                          <a:srgbClr val="000000"/>
                        </a:solidFill>
                        <a:effectLst/>
                        <a:latin typeface="Trebuchet MS" panose="020B0603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4611915"/>
                  </a:ext>
                </a:extLst>
              </a:tr>
            </a:tbl>
          </a:graphicData>
        </a:graphic>
      </p:graphicFrame>
    </p:spTree>
    <p:extLst>
      <p:ext uri="{BB962C8B-B14F-4D97-AF65-F5344CB8AC3E}">
        <p14:creationId xmlns:p14="http://schemas.microsoft.com/office/powerpoint/2010/main" val="30290809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3C5D23-F88E-E2DB-299D-547E15BF0DE4}"/>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218994F7-9A8C-5017-79AF-2D14AEEB1BEE}"/>
              </a:ext>
            </a:extLst>
          </p:cNvPr>
          <p:cNvGraphicFramePr>
            <a:graphicFrameLocks noGrp="1"/>
          </p:cNvGraphicFramePr>
          <p:nvPr>
            <p:ph idx="1"/>
            <p:extLst>
              <p:ext uri="{D42A27DB-BD31-4B8C-83A1-F6EECF244321}">
                <p14:modId xmlns:p14="http://schemas.microsoft.com/office/powerpoint/2010/main" val="2334499558"/>
              </p:ext>
            </p:extLst>
          </p:nvPr>
        </p:nvGraphicFramePr>
        <p:xfrm>
          <a:off x="297180" y="755337"/>
          <a:ext cx="11104045" cy="5146496"/>
        </p:xfrm>
        <a:graphic>
          <a:graphicData uri="http://schemas.openxmlformats.org/drawingml/2006/table">
            <a:tbl>
              <a:tblPr firstRow="1" bandRow="1">
                <a:tableStyleId>{2A488322-F2BA-4B5B-9748-0D474271808F}</a:tableStyleId>
              </a:tblPr>
              <a:tblGrid>
                <a:gridCol w="4065834">
                  <a:extLst>
                    <a:ext uri="{9D8B030D-6E8A-4147-A177-3AD203B41FA5}">
                      <a16:colId xmlns:a16="http://schemas.microsoft.com/office/drawing/2014/main" val="1181093207"/>
                    </a:ext>
                  </a:extLst>
                </a:gridCol>
                <a:gridCol w="7038211">
                  <a:extLst>
                    <a:ext uri="{9D8B030D-6E8A-4147-A177-3AD203B41FA5}">
                      <a16:colId xmlns:a16="http://schemas.microsoft.com/office/drawing/2014/main" val="1244493739"/>
                    </a:ext>
                  </a:extLst>
                </a:gridCol>
              </a:tblGrid>
              <a:tr h="341045">
                <a:tc>
                  <a:txBody>
                    <a:bodyPr/>
                    <a:lstStyle/>
                    <a:p>
                      <a:pPr algn="ctr"/>
                      <a:r>
                        <a:rPr lang="en-CA" sz="1200" b="1"/>
                        <a:t>Application</a:t>
                      </a:r>
                      <a:endParaRPr lang="en-US"/>
                    </a:p>
                  </a:txBody>
                  <a:tcPr marT="91440" marB="91440" anchor="ctr"/>
                </a:tc>
                <a:tc>
                  <a:txBody>
                    <a:bodyPr/>
                    <a:lstStyle/>
                    <a:p>
                      <a:pPr marL="0" marR="0" algn="ctr" defTabSz="914400" rtl="0" eaLnBrk="1" latinLnBrk="0" hangingPunct="1">
                        <a:spcBef>
                          <a:spcPts val="0"/>
                        </a:spcBef>
                        <a:spcAft>
                          <a:spcPts val="0"/>
                        </a:spcAft>
                      </a:pPr>
                      <a:r>
                        <a:rPr lang="en-CA" sz="1200" b="1" kern="1200">
                          <a:solidFill>
                            <a:schemeClr val="lt1"/>
                          </a:solidFill>
                        </a:rPr>
                        <a:t>Tech Lead</a:t>
                      </a:r>
                      <a:endParaRPr lang="en-US"/>
                    </a:p>
                  </a:txBody>
                  <a:tcPr marT="91440" marB="91440" anchor="ctr"/>
                </a:tc>
                <a:extLst>
                  <a:ext uri="{0D108BD9-81ED-4DB2-BD59-A6C34878D82A}">
                    <a16:rowId xmlns:a16="http://schemas.microsoft.com/office/drawing/2014/main" val="3957539819"/>
                  </a:ext>
                </a:extLst>
              </a:tr>
              <a:tr h="1767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2012670244"/>
                  </a:ext>
                </a:extLst>
              </a:tr>
              <a:tr h="13650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312148132"/>
                  </a:ext>
                </a:extLst>
              </a:tr>
              <a:tr h="28148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257918542"/>
                  </a:ext>
                </a:extLst>
              </a:tr>
              <a:tr h="219416">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2329468855"/>
                  </a:ext>
                </a:extLst>
              </a:tr>
              <a:tr h="18389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3570476607"/>
                  </a:ext>
                </a:extLst>
              </a:tr>
              <a:tr h="25200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2869312949"/>
                  </a:ext>
                </a:extLst>
              </a:tr>
              <a:tr h="26250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2827576960"/>
                  </a:ext>
                </a:extLst>
              </a:tr>
              <a:tr h="32203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3239632124"/>
                  </a:ext>
                </a:extLst>
              </a:tr>
              <a:tr h="45859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3667299205"/>
                  </a:ext>
                </a:extLst>
              </a:tr>
              <a:tr h="192926">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2489261290"/>
                  </a:ext>
                </a:extLst>
              </a:tr>
              <a:tr h="2217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3482879388"/>
                  </a:ext>
                </a:extLst>
              </a:tr>
              <a:tr h="28148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2265729731"/>
                  </a:ext>
                </a:extLst>
              </a:tr>
              <a:tr h="3700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a:ln>
                          <a:noFill/>
                        </a:ln>
                        <a:solidFill>
                          <a:srgbClr val="000000"/>
                        </a:solidFill>
                        <a:effectLst/>
                        <a:uLnTx/>
                        <a:uFillTx/>
                        <a:latin typeface="+mn-lt"/>
                        <a:ea typeface="+mn-ea"/>
                        <a:cs typeface="Arial" panose="020B0604020202020204" pitchFamily="34" charset="0"/>
                      </a:endParaRPr>
                    </a:p>
                  </a:txBody>
                  <a:tcPr marL="0" marR="0" marT="0" marB="0" anchor="ctr" anchorCtr="1"/>
                </a:tc>
                <a:extLst>
                  <a:ext uri="{0D108BD9-81ED-4DB2-BD59-A6C34878D82A}">
                    <a16:rowId xmlns:a16="http://schemas.microsoft.com/office/drawing/2014/main" val="3936136598"/>
                  </a:ext>
                </a:extLst>
              </a:tr>
              <a:tr h="322034">
                <a:tc>
                  <a:txBody>
                    <a:bodyPr/>
                    <a:lstStyle/>
                    <a:p>
                      <a:pPr marL="0" marR="0" algn="ctr">
                        <a:buNone/>
                      </a:pPr>
                      <a:endParaRPr kumimoji="0" lang="en-US" sz="900" b="0" i="0" u="none" strike="noStrike" kern="1200" cap="none" spc="0" normalizeH="0" baseline="0">
                        <a:ln>
                          <a:noFill/>
                        </a:ln>
                        <a:solidFill>
                          <a:srgbClr val="000000"/>
                        </a:solidFill>
                        <a:effectLst/>
                        <a:uLnTx/>
                        <a:uFillTx/>
                        <a:latin typeface="Trebuchet MS"/>
                        <a:ea typeface="+mn-ea"/>
                        <a:cs typeface="Arial" panose="020B0604020202020204" pitchFamily="34" charset="0"/>
                      </a:endParaRPr>
                    </a:p>
                  </a:txBody>
                  <a:tcPr marL="0" marR="0" marT="0" marB="0" anchor="ctr" anchorCtr="1"/>
                </a:tc>
                <a:tc>
                  <a:txBody>
                    <a:bodyPr/>
                    <a:lstStyle/>
                    <a:p>
                      <a:pPr marL="0" marR="0" algn="ctr">
                        <a:buNone/>
                      </a:pPr>
                      <a:endParaRPr kumimoji="0" lang="en-US" sz="900" b="0" i="0" u="none" strike="noStrike" kern="1200" cap="none" spc="0" normalizeH="0" baseline="0">
                        <a:ln>
                          <a:noFill/>
                        </a:ln>
                        <a:solidFill>
                          <a:srgbClr val="000000"/>
                        </a:solidFill>
                        <a:effectLst/>
                        <a:uLnTx/>
                        <a:uFillTx/>
                        <a:latin typeface="Trebuchet MS"/>
                        <a:ea typeface="+mn-ea"/>
                        <a:cs typeface="Arial" panose="020B0604020202020204" pitchFamily="34" charset="0"/>
                      </a:endParaRPr>
                    </a:p>
                  </a:txBody>
                  <a:tcPr marL="0" marR="0" marT="0" marB="0" anchor="ctr" anchorCtr="1"/>
                </a:tc>
                <a:extLst>
                  <a:ext uri="{0D108BD9-81ED-4DB2-BD59-A6C34878D82A}">
                    <a16:rowId xmlns:a16="http://schemas.microsoft.com/office/drawing/2014/main" val="529598291"/>
                  </a:ext>
                </a:extLst>
              </a:tr>
              <a:tr h="322034">
                <a:tc>
                  <a:txBody>
                    <a:bodyPr/>
                    <a:lstStyle/>
                    <a:p>
                      <a:pPr marL="0" marR="0" algn="ctr">
                        <a:buNone/>
                      </a:pPr>
                      <a:endParaRPr kumimoji="0" lang="en-US" sz="900" b="0" i="0" u="none" strike="noStrike" kern="1200" cap="none" spc="0" normalizeH="0" baseline="0">
                        <a:ln>
                          <a:noFill/>
                        </a:ln>
                        <a:solidFill>
                          <a:srgbClr val="000000"/>
                        </a:solidFill>
                        <a:effectLst/>
                        <a:uLnTx/>
                        <a:uFillTx/>
                        <a:latin typeface="Trebuchet MS"/>
                        <a:ea typeface="+mn-ea"/>
                        <a:cs typeface="Arial" panose="020B0604020202020204" pitchFamily="34" charset="0"/>
                      </a:endParaRPr>
                    </a:p>
                  </a:txBody>
                  <a:tcPr marL="0" marR="0" marT="0" marB="0" anchor="ctr" anchorCtr="1"/>
                </a:tc>
                <a:tc>
                  <a:txBody>
                    <a:bodyPr/>
                    <a:lstStyle/>
                    <a:p>
                      <a:pPr marL="0" marR="0" algn="ctr">
                        <a:buNone/>
                      </a:pPr>
                      <a:endParaRPr kumimoji="0" lang="en-US" sz="900" b="0" i="0" u="none" strike="noStrike" kern="1200" cap="none" spc="0" normalizeH="0" baseline="0">
                        <a:ln>
                          <a:noFill/>
                        </a:ln>
                        <a:solidFill>
                          <a:srgbClr val="000000"/>
                        </a:solidFill>
                        <a:effectLst/>
                        <a:uLnTx/>
                        <a:uFillTx/>
                        <a:latin typeface="Trebuchet MS"/>
                        <a:ea typeface="+mn-ea"/>
                        <a:cs typeface="Arial" panose="020B0604020202020204" pitchFamily="34" charset="0"/>
                      </a:endParaRPr>
                    </a:p>
                  </a:txBody>
                  <a:tcPr marL="0" marR="0" marT="0" marB="0" anchor="ctr" anchorCtr="1"/>
                </a:tc>
                <a:extLst>
                  <a:ext uri="{0D108BD9-81ED-4DB2-BD59-A6C34878D82A}">
                    <a16:rowId xmlns:a16="http://schemas.microsoft.com/office/drawing/2014/main" val="391075533"/>
                  </a:ext>
                </a:extLst>
              </a:tr>
              <a:tr h="227917">
                <a:tc>
                  <a:txBody>
                    <a:bodyPr/>
                    <a:lstStyle/>
                    <a:p>
                      <a:pPr marL="0" marR="0" algn="ctr">
                        <a:buNone/>
                      </a:pPr>
                      <a:endParaRPr kumimoji="0" lang="en-US" sz="900" b="0" i="0" u="none" strike="noStrike" kern="1200" cap="none" spc="0" normalizeH="0" baseline="0">
                        <a:ln>
                          <a:noFill/>
                        </a:ln>
                        <a:solidFill>
                          <a:srgbClr val="000000"/>
                        </a:solidFill>
                        <a:effectLst/>
                        <a:uLnTx/>
                        <a:uFillTx/>
                        <a:latin typeface="Trebuchet MS"/>
                        <a:ea typeface="+mn-ea"/>
                        <a:cs typeface="Arial" panose="020B0604020202020204" pitchFamily="34" charset="0"/>
                      </a:endParaRPr>
                    </a:p>
                  </a:txBody>
                  <a:tcPr marL="0" marR="0" marT="0" marB="0" anchor="ctr" anchorCtr="1"/>
                </a:tc>
                <a:tc>
                  <a:txBody>
                    <a:bodyPr/>
                    <a:lstStyle/>
                    <a:p>
                      <a:pPr marL="0" marR="0" algn="ctr">
                        <a:buNone/>
                      </a:pPr>
                      <a:endParaRPr kumimoji="0" lang="en-US" sz="900" b="0" i="0" u="none" strike="noStrike" kern="1200" cap="none" spc="0" normalizeH="0" baseline="0">
                        <a:ln>
                          <a:noFill/>
                        </a:ln>
                        <a:solidFill>
                          <a:srgbClr val="000000"/>
                        </a:solidFill>
                        <a:effectLst/>
                        <a:uLnTx/>
                        <a:uFillTx/>
                        <a:latin typeface="Trebuchet MS"/>
                        <a:ea typeface="+mn-ea"/>
                        <a:cs typeface="Arial" panose="020B0604020202020204" pitchFamily="34" charset="0"/>
                      </a:endParaRPr>
                    </a:p>
                  </a:txBody>
                  <a:tcPr marL="0" marR="0" marT="0" marB="0" anchor="ctr" anchorCtr="1"/>
                </a:tc>
                <a:extLst>
                  <a:ext uri="{0D108BD9-81ED-4DB2-BD59-A6C34878D82A}">
                    <a16:rowId xmlns:a16="http://schemas.microsoft.com/office/drawing/2014/main" val="2466399591"/>
                  </a:ext>
                </a:extLst>
              </a:tr>
              <a:tr h="281482">
                <a:tc>
                  <a:txBody>
                    <a:bodyPr/>
                    <a:lstStyle/>
                    <a:p>
                      <a:pPr marL="0" marR="0" algn="ctr">
                        <a:buNone/>
                      </a:pPr>
                      <a:endParaRPr kumimoji="0" lang="en-US" sz="900" b="0" i="0" u="none" strike="noStrike" kern="1200" cap="none" spc="0" normalizeH="0" baseline="0">
                        <a:ln>
                          <a:noFill/>
                        </a:ln>
                        <a:solidFill>
                          <a:srgbClr val="000000"/>
                        </a:solidFill>
                        <a:effectLst/>
                        <a:uLnTx/>
                        <a:uFillTx/>
                        <a:latin typeface="Trebuchet MS"/>
                        <a:ea typeface="+mn-ea"/>
                        <a:cs typeface="Arial" panose="020B0604020202020204" pitchFamily="34" charset="0"/>
                      </a:endParaRPr>
                    </a:p>
                  </a:txBody>
                  <a:tcPr marL="0" marR="0" marT="0" marB="0" anchor="ctr" anchorCtr="1"/>
                </a:tc>
                <a:tc>
                  <a:txBody>
                    <a:bodyPr/>
                    <a:lstStyle/>
                    <a:p>
                      <a:pPr marL="0" marR="0" algn="ctr">
                        <a:buNone/>
                      </a:pPr>
                      <a:endParaRPr kumimoji="0" lang="en-US" sz="900" b="0" i="0" u="none" strike="noStrike" kern="1200" cap="none" spc="0" normalizeH="0" baseline="0">
                        <a:ln>
                          <a:noFill/>
                        </a:ln>
                        <a:solidFill>
                          <a:srgbClr val="000000"/>
                        </a:solidFill>
                        <a:effectLst/>
                        <a:uLnTx/>
                        <a:uFillTx/>
                        <a:latin typeface="Trebuchet MS"/>
                        <a:ea typeface="+mn-ea"/>
                        <a:cs typeface="Arial" panose="020B0604020202020204" pitchFamily="34" charset="0"/>
                      </a:endParaRPr>
                    </a:p>
                  </a:txBody>
                  <a:tcPr marL="0" marR="0" marT="0" marB="0" anchor="ctr" anchorCtr="1"/>
                </a:tc>
                <a:extLst>
                  <a:ext uri="{0D108BD9-81ED-4DB2-BD59-A6C34878D82A}">
                    <a16:rowId xmlns:a16="http://schemas.microsoft.com/office/drawing/2014/main" val="3378479865"/>
                  </a:ext>
                </a:extLst>
              </a:tr>
              <a:tr h="267204">
                <a:tc>
                  <a:txBody>
                    <a:bodyPr/>
                    <a:lstStyle/>
                    <a:p>
                      <a:pPr marL="0" marR="0" algn="ctr">
                        <a:buNone/>
                      </a:pPr>
                      <a:endParaRPr kumimoji="0" lang="en-US" sz="900" b="0" i="0" u="none" strike="noStrike" kern="1200" cap="none" spc="0" normalizeH="0" baseline="0">
                        <a:ln>
                          <a:noFill/>
                        </a:ln>
                        <a:solidFill>
                          <a:srgbClr val="000000"/>
                        </a:solidFill>
                        <a:effectLst/>
                        <a:uLnTx/>
                        <a:uFillTx/>
                        <a:latin typeface="Trebuchet MS"/>
                        <a:ea typeface="+mn-ea"/>
                        <a:cs typeface="Arial" panose="020B0604020202020204" pitchFamily="34" charset="0"/>
                      </a:endParaRPr>
                    </a:p>
                  </a:txBody>
                  <a:tcPr marL="0" marR="0" marT="0" marB="0" anchor="ctr" anchorCtr="1"/>
                </a:tc>
                <a:tc>
                  <a:txBody>
                    <a:bodyPr/>
                    <a:lstStyle/>
                    <a:p>
                      <a:pPr marL="0" marR="0" algn="ctr">
                        <a:buNone/>
                      </a:pPr>
                      <a:endParaRPr kumimoji="0" lang="en-US" sz="900" b="0" i="0" u="none" strike="noStrike" kern="1200" cap="none" spc="0" normalizeH="0" baseline="0">
                        <a:ln>
                          <a:noFill/>
                        </a:ln>
                        <a:solidFill>
                          <a:srgbClr val="000000"/>
                        </a:solidFill>
                        <a:effectLst/>
                        <a:uLnTx/>
                        <a:uFillTx/>
                        <a:latin typeface="Trebuchet MS"/>
                        <a:ea typeface="+mn-ea"/>
                        <a:cs typeface="Arial" panose="020B0604020202020204" pitchFamily="34" charset="0"/>
                      </a:endParaRPr>
                    </a:p>
                  </a:txBody>
                  <a:tcPr marL="0" marR="0" marT="0" marB="0" anchor="ctr" anchorCtr="1"/>
                </a:tc>
                <a:extLst>
                  <a:ext uri="{0D108BD9-81ED-4DB2-BD59-A6C34878D82A}">
                    <a16:rowId xmlns:a16="http://schemas.microsoft.com/office/drawing/2014/main" val="2340358296"/>
                  </a:ext>
                </a:extLst>
              </a:tr>
            </a:tbl>
          </a:graphicData>
        </a:graphic>
      </p:graphicFrame>
      <p:sp>
        <p:nvSpPr>
          <p:cNvPr id="5" name="Title 1">
            <a:extLst>
              <a:ext uri="{FF2B5EF4-FFF2-40B4-BE49-F238E27FC236}">
                <a16:creationId xmlns:a16="http://schemas.microsoft.com/office/drawing/2014/main" id="{6850D766-4361-964B-6F03-58BB71DDC36D}"/>
              </a:ext>
            </a:extLst>
          </p:cNvPr>
          <p:cNvSpPr txBox="1">
            <a:spLocks/>
          </p:cNvSpPr>
          <p:nvPr/>
        </p:nvSpPr>
        <p:spPr>
          <a:xfrm>
            <a:off x="297180" y="115807"/>
            <a:ext cx="10933748" cy="581983"/>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lvl="0">
              <a:defRPr/>
            </a:pPr>
            <a:r>
              <a:rPr lang="en-CA" sz="2800"/>
              <a:t>February 1</a:t>
            </a:r>
            <a:r>
              <a:rPr lang="en-CA" sz="2800" baseline="30000"/>
              <a:t>st</a:t>
            </a:r>
            <a:r>
              <a:rPr lang="en-CA" sz="2800"/>
              <a:t> </a:t>
            </a:r>
            <a:r>
              <a:rPr lang="en-CA" sz="2800">
                <a:solidFill>
                  <a:srgbClr val="D40139"/>
                </a:solidFill>
              </a:rPr>
              <a:t>Release </a:t>
            </a:r>
            <a:r>
              <a:rPr kumimoji="0" lang="en-CA" sz="2800" b="1" i="0" u="none" strike="noStrike" kern="1200" cap="none" spc="0" normalizeH="0" baseline="0" noProof="0">
                <a:ln>
                  <a:noFill/>
                </a:ln>
                <a:solidFill>
                  <a:srgbClr val="D40139"/>
                </a:solidFill>
                <a:effectLst/>
                <a:uLnTx/>
                <a:uFillTx/>
                <a:latin typeface="Trebuchet MS"/>
                <a:ea typeface="+mj-ea"/>
                <a:cs typeface="+mj-cs"/>
              </a:rPr>
              <a:t>ADM Leads (Draft)</a:t>
            </a:r>
            <a:endParaRPr kumimoji="0" lang="en-US" sz="2800" b="1" i="0" u="none" strike="noStrike" kern="1200" cap="none" spc="0" normalizeH="0" baseline="0" noProof="0">
              <a:ln>
                <a:noFill/>
              </a:ln>
              <a:solidFill>
                <a:srgbClr val="D40139"/>
              </a:solidFill>
              <a:effectLst/>
              <a:uLnTx/>
              <a:uFillTx/>
              <a:latin typeface="Trebuchet MS"/>
              <a:ea typeface="+mj-ea"/>
              <a:cs typeface="+mj-cs"/>
            </a:endParaRPr>
          </a:p>
        </p:txBody>
      </p:sp>
    </p:spTree>
    <p:extLst>
      <p:ext uri="{BB962C8B-B14F-4D97-AF65-F5344CB8AC3E}">
        <p14:creationId xmlns:p14="http://schemas.microsoft.com/office/powerpoint/2010/main" val="41260535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980CAA1-DA53-9917-82E6-24DDD4CEECA8}"/>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376511C5-A9EE-B8CC-8546-7CA04B446A07}"/>
              </a:ext>
            </a:extLst>
          </p:cNvPr>
          <p:cNvGraphicFramePr>
            <a:graphicFrameLocks noGrp="1"/>
          </p:cNvGraphicFramePr>
          <p:nvPr>
            <p:ph idx="1"/>
          </p:nvPr>
        </p:nvGraphicFramePr>
        <p:xfrm>
          <a:off x="310570" y="697790"/>
          <a:ext cx="11266060" cy="4438534"/>
        </p:xfrm>
        <a:graphic>
          <a:graphicData uri="http://schemas.openxmlformats.org/drawingml/2006/table">
            <a:tbl>
              <a:tblPr firstRow="1" bandRow="1">
                <a:tableStyleId>{2A488322-F2BA-4B5B-9748-0D474271808F}</a:tableStyleId>
              </a:tblPr>
              <a:tblGrid>
                <a:gridCol w="1119324">
                  <a:extLst>
                    <a:ext uri="{9D8B030D-6E8A-4147-A177-3AD203B41FA5}">
                      <a16:colId xmlns:a16="http://schemas.microsoft.com/office/drawing/2014/main" val="2486246951"/>
                    </a:ext>
                  </a:extLst>
                </a:gridCol>
                <a:gridCol w="1241698">
                  <a:extLst>
                    <a:ext uri="{9D8B030D-6E8A-4147-A177-3AD203B41FA5}">
                      <a16:colId xmlns:a16="http://schemas.microsoft.com/office/drawing/2014/main" val="1707083591"/>
                    </a:ext>
                  </a:extLst>
                </a:gridCol>
                <a:gridCol w="1946590">
                  <a:extLst>
                    <a:ext uri="{9D8B030D-6E8A-4147-A177-3AD203B41FA5}">
                      <a16:colId xmlns:a16="http://schemas.microsoft.com/office/drawing/2014/main" val="3674080757"/>
                    </a:ext>
                  </a:extLst>
                </a:gridCol>
                <a:gridCol w="2429004">
                  <a:extLst>
                    <a:ext uri="{9D8B030D-6E8A-4147-A177-3AD203B41FA5}">
                      <a16:colId xmlns:a16="http://schemas.microsoft.com/office/drawing/2014/main" val="700112739"/>
                    </a:ext>
                  </a:extLst>
                </a:gridCol>
                <a:gridCol w="4529444">
                  <a:extLst>
                    <a:ext uri="{9D8B030D-6E8A-4147-A177-3AD203B41FA5}">
                      <a16:colId xmlns:a16="http://schemas.microsoft.com/office/drawing/2014/main" val="1814946742"/>
                    </a:ext>
                  </a:extLst>
                </a:gridCol>
              </a:tblGrid>
              <a:tr h="221274">
                <a:tc>
                  <a:txBody>
                    <a:bodyPr/>
                    <a:lstStyle/>
                    <a:p>
                      <a:pPr algn="ctr"/>
                      <a:r>
                        <a:rPr lang="en-CA" sz="1100"/>
                        <a:t>App / Group</a:t>
                      </a:r>
                      <a:endParaRPr lang="en-US" sz="1100">
                        <a:latin typeface="+mn-lt"/>
                      </a:endParaRPr>
                    </a:p>
                  </a:txBody>
                  <a:tcPr anchor="ctr"/>
                </a:tc>
                <a:tc>
                  <a:txBody>
                    <a:bodyPr/>
                    <a:lstStyle/>
                    <a:p>
                      <a:pPr algn="ctr"/>
                      <a:r>
                        <a:rPr lang="en-CA" sz="1100"/>
                        <a:t>PM/Lead</a:t>
                      </a:r>
                      <a:endParaRPr lang="en-US" sz="1100">
                        <a:latin typeface="+mn-lt"/>
                      </a:endParaRPr>
                    </a:p>
                  </a:txBody>
                  <a:tcPr anchor="ctr"/>
                </a:tc>
                <a:tc>
                  <a:txBody>
                    <a:bodyPr/>
                    <a:lstStyle/>
                    <a:p>
                      <a:pPr algn="ctr"/>
                      <a:r>
                        <a:rPr lang="en-CA" sz="1100"/>
                        <a:t>Available 5am-12pm</a:t>
                      </a:r>
                      <a:endParaRPr lang="en-CA" sz="1100">
                        <a:latin typeface="+mn-lt"/>
                      </a:endParaRPr>
                    </a:p>
                  </a:txBody>
                  <a:tcPr anchor="ctr"/>
                </a:tc>
                <a:tc>
                  <a:txBody>
                    <a:bodyPr/>
                    <a:lstStyle/>
                    <a:p>
                      <a:pPr algn="ctr"/>
                      <a:r>
                        <a:rPr lang="en-CA" sz="1100"/>
                        <a:t>Changes planned</a:t>
                      </a:r>
                      <a:endParaRPr lang="en-CA" sz="1100">
                        <a:latin typeface="+mn-lt"/>
                      </a:endParaRPr>
                    </a:p>
                  </a:txBody>
                  <a:tcPr anchor="ctr"/>
                </a:tc>
                <a:tc>
                  <a:txBody>
                    <a:bodyPr/>
                    <a:lstStyle/>
                    <a:p>
                      <a:pPr algn="ctr"/>
                      <a:r>
                        <a:rPr lang="en-CA" sz="1100"/>
                        <a:t>Contact Name &amp; Phone Number</a:t>
                      </a:r>
                      <a:endParaRPr lang="en-US" sz="1100">
                        <a:latin typeface="+mn-lt"/>
                      </a:endParaRPr>
                    </a:p>
                  </a:txBody>
                  <a:tcPr anchor="ctr"/>
                </a:tc>
                <a:extLst>
                  <a:ext uri="{0D108BD9-81ED-4DB2-BD59-A6C34878D82A}">
                    <a16:rowId xmlns:a16="http://schemas.microsoft.com/office/drawing/2014/main" val="3571902798"/>
                  </a:ext>
                </a:extLst>
              </a:tr>
              <a:tr h="557894">
                <a:tc>
                  <a:txBody>
                    <a:bodyPr/>
                    <a:lstStyle/>
                    <a:p>
                      <a:pPr algn="l" rtl="0" fontAlgn="ctr"/>
                      <a:r>
                        <a:rPr lang="en-CA" sz="1000" b="0" u="none" strike="noStrike">
                          <a:solidFill>
                            <a:srgbClr val="000000"/>
                          </a:solidFill>
                          <a:effectLst/>
                        </a:rPr>
                        <a:t>ECIF Services</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r>
                        <a:rPr lang="fr-FR" sz="1000" kern="1200">
                          <a:solidFill>
                            <a:schemeClr val="dk1"/>
                          </a:solidFill>
                          <a:effectLst/>
                          <a:latin typeface="+mn-lt"/>
                          <a:ea typeface="+mn-ea"/>
                          <a:cs typeface="+mn-cs"/>
                        </a:rPr>
                        <a:t>a. </a:t>
                      </a:r>
                      <a:r>
                        <a:rPr lang="fr-FR" sz="1000" u="sng" kern="1200">
                          <a:solidFill>
                            <a:schemeClr val="dk1"/>
                          </a:solidFill>
                          <a:effectLst/>
                          <a:latin typeface="+mn-lt"/>
                          <a:ea typeface="+mn-ea"/>
                          <a:cs typeface="+mn-cs"/>
                          <a:hlinkClick r:id="rId3"/>
                        </a:rPr>
                        <a:t>Mailbox.ECIFBaseEssential@cibc.com</a:t>
                      </a:r>
                      <a:r>
                        <a:rPr lang="en-CA" sz="1000" kern="1200">
                          <a:solidFill>
                            <a:schemeClr val="dk1"/>
                          </a:solidFill>
                          <a:effectLst/>
                          <a:latin typeface="+mn-lt"/>
                          <a:ea typeface="+mn-ea"/>
                          <a:cs typeface="+mn-cs"/>
                        </a:rPr>
                        <a:t> </a:t>
                      </a:r>
                      <a:r>
                        <a:rPr lang="fr-FR" sz="1000" kern="1200">
                          <a:solidFill>
                            <a:schemeClr val="dk1"/>
                          </a:solidFill>
                          <a:effectLst/>
                          <a:latin typeface="+mn-lt"/>
                          <a:ea typeface="+mn-ea"/>
                          <a:cs typeface="+mn-cs"/>
                        </a:rPr>
                        <a:t>/ Pager - 416 725 7107 (24*7 Support)​</a:t>
                      </a:r>
                      <a:endParaRPr lang="en-US" sz="1000" kern="1200">
                        <a:solidFill>
                          <a:schemeClr val="dk1"/>
                        </a:solidFill>
                        <a:effectLst/>
                        <a:latin typeface="+mn-lt"/>
                        <a:ea typeface="+mn-ea"/>
                        <a:cs typeface="+mn-cs"/>
                      </a:endParaRPr>
                    </a:p>
                    <a:p>
                      <a:r>
                        <a:rPr lang="fr-FR" sz="1000" kern="1200">
                          <a:solidFill>
                            <a:schemeClr val="dk1"/>
                          </a:solidFill>
                          <a:effectLst/>
                          <a:latin typeface="+mn-lt"/>
                          <a:ea typeface="+mn-ea"/>
                          <a:cs typeface="+mn-cs"/>
                        </a:rPr>
                        <a:t>b. </a:t>
                      </a:r>
                      <a:r>
                        <a:rPr lang="fr-FR" sz="1000" u="sng" kern="1200">
                          <a:solidFill>
                            <a:schemeClr val="dk1"/>
                          </a:solidFill>
                          <a:effectLst/>
                          <a:latin typeface="+mn-lt"/>
                          <a:ea typeface="+mn-ea"/>
                          <a:cs typeface="+mn-cs"/>
                          <a:hlinkClick r:id="rId4"/>
                        </a:rPr>
                        <a:t>harish1.kumar@cibc.com</a:t>
                      </a:r>
                      <a:r>
                        <a:rPr lang="en-US" sz="1000" u="none" strike="noStrike" kern="1200">
                          <a:solidFill>
                            <a:schemeClr val="dk1"/>
                          </a:solidFill>
                          <a:effectLst/>
                          <a:latin typeface="+mn-lt"/>
                          <a:ea typeface="+mn-ea"/>
                          <a:cs typeface="+mn-cs"/>
                        </a:rPr>
                        <a:t> </a:t>
                      </a:r>
                      <a:r>
                        <a:rPr lang="fr-FR" sz="1000" kern="1200">
                          <a:solidFill>
                            <a:schemeClr val="dk1"/>
                          </a:solidFill>
                          <a:effectLst/>
                          <a:latin typeface="+mn-lt"/>
                          <a:ea typeface="+mn-ea"/>
                          <a:cs typeface="+mn-cs"/>
                        </a:rPr>
                        <a:t>|  647-270-2619</a:t>
                      </a:r>
                      <a:endParaRPr lang="en-US" sz="1000" kern="1200">
                        <a:solidFill>
                          <a:schemeClr val="dk1"/>
                        </a:solidFill>
                        <a:effectLst/>
                        <a:latin typeface="+mn-lt"/>
                        <a:ea typeface="+mn-ea"/>
                        <a:cs typeface="+mn-cs"/>
                      </a:endParaRPr>
                    </a:p>
                    <a:p>
                      <a:r>
                        <a:rPr lang="en-US" sz="1000" kern="1200">
                          <a:solidFill>
                            <a:schemeClr val="dk1"/>
                          </a:solidFill>
                          <a:effectLst/>
                          <a:latin typeface="+mn-lt"/>
                          <a:ea typeface="+mn-ea"/>
                          <a:cs typeface="+mn-cs"/>
                        </a:rPr>
                        <a:t>c. </a:t>
                      </a:r>
                      <a:r>
                        <a:rPr lang="en-US" sz="1000" u="sng" kern="1200">
                          <a:solidFill>
                            <a:schemeClr val="dk1"/>
                          </a:solidFill>
                          <a:effectLst/>
                          <a:latin typeface="+mn-lt"/>
                          <a:ea typeface="+mn-ea"/>
                          <a:cs typeface="+mn-cs"/>
                          <a:hlinkClick r:id="rId5"/>
                        </a:rPr>
                        <a:t>AdeshKumar.Bhati@CIBC.com</a:t>
                      </a:r>
                      <a:r>
                        <a:rPr lang="en-US" sz="1000" kern="1200">
                          <a:solidFill>
                            <a:schemeClr val="dk1"/>
                          </a:solidFill>
                          <a:effectLst/>
                          <a:latin typeface="+mn-lt"/>
                          <a:ea typeface="+mn-ea"/>
                          <a:cs typeface="+mn-cs"/>
                        </a:rPr>
                        <a:t> / Adesh Kumar Bhati, (416-272-3493)</a:t>
                      </a:r>
                    </a:p>
                  </a:txBody>
                  <a:tcPr marT="182880" marB="91440" anchor="ctr"/>
                </a:tc>
                <a:extLst>
                  <a:ext uri="{0D108BD9-81ED-4DB2-BD59-A6C34878D82A}">
                    <a16:rowId xmlns:a16="http://schemas.microsoft.com/office/drawing/2014/main" val="1534647818"/>
                  </a:ext>
                </a:extLst>
              </a:tr>
              <a:tr h="342669">
                <a:tc>
                  <a:txBody>
                    <a:bodyPr/>
                    <a:lstStyle/>
                    <a:p>
                      <a:pPr algn="l" rtl="0" fontAlgn="ctr"/>
                      <a:r>
                        <a:rPr lang="en-CA" sz="1000" b="0" u="none" strike="noStrike">
                          <a:solidFill>
                            <a:srgbClr val="000000"/>
                          </a:solidFill>
                          <a:effectLst/>
                        </a:rPr>
                        <a:t>CGMI</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rPr>
                        <a:t>Ken Plowman</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rPr>
                        <a:t>Telephone 416-640-8927 | Cell 416-315-9413</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rPr>
                        <a:t>Toll Free 866-414-9109 x 8927</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hlinkClick r:id="rId6"/>
                        </a:rPr>
                        <a:t>ken.plowman@canadaguaranty.ca</a:t>
                      </a:r>
                      <a:r>
                        <a:rPr lang="en-CA" sz="1000" kern="1200">
                          <a:solidFill>
                            <a:schemeClr val="tx1"/>
                          </a:solidFill>
                          <a:effectLst/>
                          <a:latin typeface="+mn-lt"/>
                          <a:ea typeface="+mn-ea"/>
                          <a:cs typeface="+mn-cs"/>
                        </a:rPr>
                        <a:t> </a:t>
                      </a:r>
                    </a:p>
                  </a:txBody>
                  <a:tcPr marT="182880" marB="91440" anchor="ctr"/>
                </a:tc>
                <a:extLst>
                  <a:ext uri="{0D108BD9-81ED-4DB2-BD59-A6C34878D82A}">
                    <a16:rowId xmlns:a16="http://schemas.microsoft.com/office/drawing/2014/main" val="403363805"/>
                  </a:ext>
                </a:extLst>
              </a:tr>
              <a:tr h="377468">
                <a:tc>
                  <a:txBody>
                    <a:bodyPr/>
                    <a:lstStyle/>
                    <a:p>
                      <a:pPr marL="0" algn="l" defTabSz="914400" rtl="0" eaLnBrk="1" fontAlgn="ctr" latinLnBrk="0" hangingPunct="1"/>
                      <a:r>
                        <a:rPr lang="en-CA" sz="1000" b="0" u="none" strike="noStrike" kern="1200">
                          <a:solidFill>
                            <a:srgbClr val="000000"/>
                          </a:solidFill>
                          <a:effectLst/>
                        </a:rPr>
                        <a:t>CMHC</a:t>
                      </a:r>
                      <a:endParaRPr lang="en-CA" sz="1000" b="0" i="0" u="none" strike="noStrike" kern="1200">
                        <a:solidFill>
                          <a:srgbClr val="000000"/>
                        </a:solidFill>
                        <a:effectLst/>
                        <a:latin typeface="+mn-lt"/>
                        <a:ea typeface="+mn-ea"/>
                        <a:cs typeface="+mn-cs"/>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lvl="0" indent="0">
                        <a:spcBef>
                          <a:spcPts val="0"/>
                        </a:spcBef>
                        <a:spcAft>
                          <a:spcPts val="0"/>
                        </a:spcAft>
                        <a:buFont typeface="+mj-lt"/>
                        <a:buNone/>
                      </a:pPr>
                      <a:r>
                        <a:rPr lang="en-CA" sz="1000" kern="1200">
                          <a:solidFill>
                            <a:schemeClr val="tx1"/>
                          </a:solidFill>
                          <a:effectLst/>
                          <a:latin typeface="+mn-lt"/>
                          <a:ea typeface="+mn-ea"/>
                          <a:cs typeface="+mn-cs"/>
                        </a:rPr>
                        <a:t>On Call: (613) 292-2880</a:t>
                      </a:r>
                    </a:p>
                  </a:txBody>
                  <a:tcPr marT="182880" marB="91440" anchor="ctr"/>
                </a:tc>
                <a:extLst>
                  <a:ext uri="{0D108BD9-81ED-4DB2-BD59-A6C34878D82A}">
                    <a16:rowId xmlns:a16="http://schemas.microsoft.com/office/drawing/2014/main" val="278203015"/>
                  </a:ext>
                </a:extLst>
              </a:tr>
              <a:tr h="377468">
                <a:tc>
                  <a:txBody>
                    <a:bodyPr/>
                    <a:lstStyle/>
                    <a:p>
                      <a:pPr algn="l" rtl="0" fontAlgn="ctr"/>
                      <a:r>
                        <a:rPr lang="en-CA" sz="1000" b="0" u="none" strike="noStrike">
                          <a:solidFill>
                            <a:srgbClr val="000000"/>
                          </a:solidFill>
                          <a:effectLst/>
                        </a:rPr>
                        <a:t>GEMI</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r>
                        <a:rPr lang="en-CA" sz="1000" b="0">
                          <a:effectLst/>
                        </a:rPr>
                        <a:t>Level 1:​​​</a:t>
                      </a:r>
                    </a:p>
                    <a:p>
                      <a:r>
                        <a:rPr lang="en-CA" sz="1000" b="0">
                          <a:effectLst/>
                        </a:rPr>
                        <a:t>productionsupport@sagen.ca </a:t>
                      </a:r>
                    </a:p>
                    <a:p>
                      <a:r>
                        <a:rPr lang="en-CA" sz="1000" b="0">
                          <a:effectLst/>
                        </a:rPr>
                        <a:t>Level 2:​​​</a:t>
                      </a:r>
                    </a:p>
                    <a:p>
                      <a:r>
                        <a:rPr lang="en-CA" sz="1000" b="0">
                          <a:effectLst/>
                          <a:hlinkClick r:id="rId7"/>
                        </a:rPr>
                        <a:t>Sabri.Madaoui@Sagen.ca</a:t>
                      </a:r>
                      <a:r>
                        <a:rPr lang="pt-BR" sz="1000" b="0">
                          <a:effectLst/>
                        </a:rPr>
                        <a:t> | 416-986-7156</a:t>
                      </a:r>
                    </a:p>
                  </a:txBody>
                  <a:tcPr anchor="ctr"/>
                </a:tc>
                <a:extLst>
                  <a:ext uri="{0D108BD9-81ED-4DB2-BD59-A6C34878D82A}">
                    <a16:rowId xmlns:a16="http://schemas.microsoft.com/office/drawing/2014/main" val="3126654484"/>
                  </a:ext>
                </a:extLst>
              </a:tr>
              <a:tr h="430414">
                <a:tc>
                  <a:txBody>
                    <a:bodyPr/>
                    <a:lstStyle/>
                    <a:p>
                      <a:pPr algn="l" rtl="0" fontAlgn="ctr"/>
                      <a:r>
                        <a:rPr lang="en-CA" sz="1000" b="0" u="none" strike="noStrike">
                          <a:solidFill>
                            <a:srgbClr val="000000"/>
                          </a:solidFill>
                          <a:effectLst/>
                        </a:rPr>
                        <a:t>TransUnion</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a:spcBef>
                          <a:spcPts val="0"/>
                        </a:spcBef>
                        <a:spcAft>
                          <a:spcPts val="0"/>
                        </a:spcAft>
                      </a:pPr>
                      <a:r>
                        <a:rPr lang="fr-FR" sz="1000" kern="1200">
                          <a:solidFill>
                            <a:schemeClr val="tx1"/>
                          </a:solidFill>
                          <a:effectLst/>
                          <a:latin typeface="+mn-lt"/>
                          <a:ea typeface="+mn-ea"/>
                          <a:cs typeface="+mn-cs"/>
                          <a:hlinkClick r:id="rId8"/>
                        </a:rPr>
                        <a:t>servicedesk@transunion.ca</a:t>
                      </a:r>
                      <a:r>
                        <a:rPr lang="fr-FR" sz="1000" kern="1200">
                          <a:solidFill>
                            <a:schemeClr val="tx1"/>
                          </a:solidFill>
                          <a:effectLst/>
                          <a:latin typeface="+mn-lt"/>
                          <a:ea typeface="+mn-ea"/>
                          <a:cs typeface="+mn-cs"/>
                        </a:rPr>
                        <a:t> | Support Desk: 905-570-1952</a:t>
                      </a:r>
                      <a:endParaRPr lang="en-CA" sz="1000" kern="1200">
                        <a:solidFill>
                          <a:schemeClr val="tx1"/>
                        </a:solidFill>
                        <a:effectLst/>
                        <a:latin typeface="+mn-lt"/>
                        <a:ea typeface="+mn-ea"/>
                        <a:cs typeface="+mn-cs"/>
                      </a:endParaRPr>
                    </a:p>
                  </a:txBody>
                  <a:tcPr marT="182880" marB="91440" anchor="ctr"/>
                </a:tc>
                <a:extLst>
                  <a:ext uri="{0D108BD9-81ED-4DB2-BD59-A6C34878D82A}">
                    <a16:rowId xmlns:a16="http://schemas.microsoft.com/office/drawing/2014/main" val="3946806855"/>
                  </a:ext>
                </a:extLst>
              </a:tr>
              <a:tr h="377468">
                <a:tc>
                  <a:txBody>
                    <a:bodyPr/>
                    <a:lstStyle/>
                    <a:p>
                      <a:pPr algn="l" rtl="0" fontAlgn="ctr"/>
                      <a:r>
                        <a:rPr lang="en-CA" sz="1000" b="0" u="none" strike="noStrike">
                          <a:solidFill>
                            <a:srgbClr val="000000"/>
                          </a:solidFill>
                          <a:effectLst/>
                        </a:rPr>
                        <a:t>Equifax</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Anisah</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a:solidFill>
                            <a:schemeClr val="tx1"/>
                          </a:solidFill>
                          <a:effectLst/>
                          <a:latin typeface="+mn-lt"/>
                          <a:ea typeface="+mn-ea"/>
                          <a:cs typeface="+mn-cs"/>
                        </a:rPr>
                        <a:t>Support Desk: 1-800-387-9986 </a:t>
                      </a:r>
                    </a:p>
                  </a:txBody>
                  <a:tcPr marT="182880" marB="91440" anchor="ctr"/>
                </a:tc>
                <a:extLst>
                  <a:ext uri="{0D108BD9-81ED-4DB2-BD59-A6C34878D82A}">
                    <a16:rowId xmlns:a16="http://schemas.microsoft.com/office/drawing/2014/main" val="2272077427"/>
                  </a:ext>
                </a:extLst>
              </a:tr>
              <a:tr h="377468">
                <a:tc>
                  <a:txBody>
                    <a:bodyPr/>
                    <a:lstStyle/>
                    <a:p>
                      <a:pPr algn="l" rtl="0" fontAlgn="ctr"/>
                      <a:r>
                        <a:rPr lang="en-CA" sz="1000" b="0" u="none" strike="noStrike">
                          <a:solidFill>
                            <a:srgbClr val="000000"/>
                          </a:solidFill>
                          <a:effectLst/>
                        </a:rPr>
                        <a:t>TEM</a:t>
                      </a:r>
                      <a:endParaRPr lang="en-CA" sz="1000" b="0" i="0" u="none" strike="noStrike">
                        <a:solidFill>
                          <a:srgbClr val="000000"/>
                        </a:solidFill>
                        <a:effectLst/>
                        <a:latin typeface="+mn-lt"/>
                      </a:endParaRPr>
                    </a:p>
                  </a:txBody>
                  <a:tcPr marL="18288" marR="6350" marT="182880" marB="91440" anchor="ctr"/>
                </a:tc>
                <a:tc>
                  <a:txBody>
                    <a:bodyPr/>
                    <a:lstStyle/>
                    <a:p>
                      <a:pPr marL="0" marR="0" algn="ctr" fontAlgn="base">
                        <a:lnSpc>
                          <a:spcPct val="107000"/>
                        </a:lnSpc>
                        <a:spcBef>
                          <a:spcPts val="0"/>
                        </a:spcBef>
                        <a:spcAft>
                          <a:spcPts val="0"/>
                        </a:spcAft>
                      </a:pPr>
                      <a:r>
                        <a:rPr kumimoji="0" lang="en-US" sz="1000" b="0" i="0" u="none" strike="noStrike" kern="1200" cap="none" spc="0" normalizeH="0" baseline="0">
                          <a:ln>
                            <a:noFill/>
                          </a:ln>
                          <a:solidFill>
                            <a:prstClr val="black"/>
                          </a:solidFill>
                          <a:effectLst/>
                          <a:uLnTx/>
                          <a:uFillTx/>
                          <a:latin typeface="+mn-lt"/>
                          <a:ea typeface="+mn-ea"/>
                          <a:cs typeface="+mn-cs"/>
                        </a:rPr>
                        <a:t>Tina Mallick</a:t>
                      </a:r>
                    </a:p>
                  </a:txBody>
                  <a:tcPr marL="0" marR="0" marT="0" marB="0" anchor="ctr"/>
                </a:tc>
                <a:tc>
                  <a:txBody>
                    <a:bodyPr/>
                    <a:lstStyle/>
                    <a:p>
                      <a:pPr marL="0" marR="0" algn="ctr" fontAlgn="base">
                        <a:lnSpc>
                          <a:spcPct val="107000"/>
                        </a:lnSpc>
                        <a:spcBef>
                          <a:spcPts val="0"/>
                        </a:spcBef>
                        <a:spcAft>
                          <a:spcPts val="0"/>
                        </a:spcAft>
                      </a:pPr>
                      <a:endParaRPr kumimoji="0" lang="en-US" sz="1000" b="0" i="0" u="none" strike="noStrike" kern="1200" cap="none" spc="0" normalizeH="0" baseline="0">
                        <a:ln>
                          <a:noFill/>
                        </a:ln>
                        <a:solidFill>
                          <a:prstClr val="black"/>
                        </a:solidFill>
                        <a:effectLst/>
                        <a:uLnTx/>
                        <a:uFillTx/>
                        <a:latin typeface="+mn-lt"/>
                        <a:ea typeface="+mn-ea"/>
                        <a:cs typeface="+mn-cs"/>
                      </a:endParaRPr>
                    </a:p>
                  </a:txBody>
                  <a:tcPr marL="0" marR="0" marT="0" marB="0" anchor="ctr"/>
                </a:tc>
                <a:tc>
                  <a:txBody>
                    <a:bodyPr/>
                    <a:lstStyle/>
                    <a:p>
                      <a:pPr marL="0" marR="0" algn="ctr" fontAlgn="base">
                        <a:lnSpc>
                          <a:spcPct val="107000"/>
                        </a:lnSpc>
                        <a:spcBef>
                          <a:spcPts val="0"/>
                        </a:spcBef>
                        <a:spcAft>
                          <a:spcPts val="0"/>
                        </a:spcAft>
                      </a:pPr>
                      <a:endParaRPr kumimoji="0" lang="en-US" sz="1000" b="0" i="0" u="none" strike="noStrike" kern="1200" cap="none" spc="0" normalizeH="0" baseline="0">
                        <a:ln>
                          <a:noFill/>
                        </a:ln>
                        <a:solidFill>
                          <a:prstClr val="black"/>
                        </a:solidFill>
                        <a:effectLst/>
                        <a:uLnTx/>
                        <a:uFillTx/>
                        <a:latin typeface="+mn-lt"/>
                        <a:ea typeface="+mn-ea"/>
                        <a:cs typeface="+mn-cs"/>
                      </a:endParaRPr>
                    </a:p>
                  </a:txBody>
                  <a:tcPr marL="0" marR="0" marT="0" marB="0" anchor="ctr"/>
                </a:tc>
                <a:tc>
                  <a:txBody>
                    <a:bodyPr/>
                    <a:lstStyle/>
                    <a:p>
                      <a:pPr marL="0" marR="0" fontAlgn="base">
                        <a:lnSpc>
                          <a:spcPct val="107000"/>
                        </a:lnSpc>
                        <a:spcBef>
                          <a:spcPts val="0"/>
                        </a:spcBef>
                        <a:spcAft>
                          <a:spcPts val="0"/>
                        </a:spcAft>
                      </a:pPr>
                      <a:r>
                        <a:rPr kumimoji="0" lang="en-US" sz="1000" b="0" i="0" u="none" strike="noStrike" kern="1200" cap="none" spc="0" normalizeH="0" baseline="0">
                          <a:ln>
                            <a:noFill/>
                          </a:ln>
                          <a:solidFill>
                            <a:prstClr val="black"/>
                          </a:solidFill>
                          <a:effectLst/>
                          <a:uLnTx/>
                          <a:uFillTx/>
                          <a:latin typeface="+mn-lt"/>
                          <a:ea typeface="+mn-ea"/>
                          <a:cs typeface="+mn-cs"/>
                        </a:rPr>
                        <a:t>   P1, T4, (+91 8697310205</a:t>
                      </a:r>
                    </a:p>
                  </a:txBody>
                  <a:tcPr marL="0" marR="0" marT="0" marB="0" anchor="ctr"/>
                </a:tc>
                <a:extLst>
                  <a:ext uri="{0D108BD9-81ED-4DB2-BD59-A6C34878D82A}">
                    <a16:rowId xmlns:a16="http://schemas.microsoft.com/office/drawing/2014/main" val="3347288025"/>
                  </a:ext>
                </a:extLst>
              </a:tr>
            </a:tbl>
          </a:graphicData>
        </a:graphic>
      </p:graphicFrame>
      <p:sp>
        <p:nvSpPr>
          <p:cNvPr id="5" name="Title 1">
            <a:extLst>
              <a:ext uri="{FF2B5EF4-FFF2-40B4-BE49-F238E27FC236}">
                <a16:creationId xmlns:a16="http://schemas.microsoft.com/office/drawing/2014/main" id="{E726E996-B796-5088-BA3D-43464DDA3785}"/>
              </a:ext>
            </a:extLst>
          </p:cNvPr>
          <p:cNvSpPr txBox="1">
            <a:spLocks/>
          </p:cNvSpPr>
          <p:nvPr/>
        </p:nvSpPr>
        <p:spPr>
          <a:xfrm>
            <a:off x="297180" y="115807"/>
            <a:ext cx="10933748" cy="581983"/>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lvl="0">
              <a:defRPr/>
            </a:pPr>
            <a:r>
              <a:rPr lang="en-CA" sz="2800"/>
              <a:t>February 1</a:t>
            </a:r>
            <a:r>
              <a:rPr lang="en-CA" sz="2800" baseline="30000"/>
              <a:t>st</a:t>
            </a:r>
            <a:r>
              <a:rPr lang="en-CA" sz="2800"/>
              <a:t> </a:t>
            </a:r>
            <a:r>
              <a:rPr kumimoji="0" lang="en-CA" sz="2800" b="1" i="0" u="none" strike="noStrike" kern="1200" cap="none" spc="0" normalizeH="0" baseline="0" noProof="0">
                <a:ln>
                  <a:noFill/>
                </a:ln>
                <a:solidFill>
                  <a:srgbClr val="D40139"/>
                </a:solidFill>
                <a:effectLst/>
                <a:uLnTx/>
                <a:uFillTx/>
                <a:latin typeface="Trebuchet MS"/>
                <a:ea typeface="+mj-ea"/>
                <a:cs typeface="+mj-cs"/>
              </a:rPr>
              <a:t>Release App Availability </a:t>
            </a:r>
            <a:endParaRPr kumimoji="0" lang="en-US" sz="2800" b="1" i="0" u="none" strike="noStrike" kern="1200" cap="none" spc="0" normalizeH="0" baseline="0" noProof="0">
              <a:ln>
                <a:noFill/>
              </a:ln>
              <a:solidFill>
                <a:srgbClr val="D40139"/>
              </a:solidFill>
              <a:effectLst/>
              <a:uLnTx/>
              <a:uFillTx/>
              <a:latin typeface="Trebuchet MS"/>
              <a:ea typeface="+mj-ea"/>
              <a:cs typeface="+mj-cs"/>
            </a:endParaRPr>
          </a:p>
        </p:txBody>
      </p:sp>
    </p:spTree>
    <p:extLst>
      <p:ext uri="{BB962C8B-B14F-4D97-AF65-F5344CB8AC3E}">
        <p14:creationId xmlns:p14="http://schemas.microsoft.com/office/powerpoint/2010/main" val="1647594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D550-043F-2568-803D-50885425F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E22931-A21D-0916-1D8B-AB1166E2ECD5}"/>
              </a:ext>
            </a:extLst>
          </p:cNvPr>
          <p:cNvSpPr>
            <a:spLocks noGrp="1"/>
          </p:cNvSpPr>
          <p:nvPr>
            <p:ph type="title"/>
          </p:nvPr>
        </p:nvSpPr>
        <p:spPr>
          <a:xfrm>
            <a:off x="154304" y="68040"/>
            <a:ext cx="10933748" cy="667872"/>
          </a:xfrm>
        </p:spPr>
        <p:txBody>
          <a:bodyPr/>
          <a:lstStyle/>
          <a:p>
            <a:r>
              <a:rPr lang="en-CA"/>
              <a:t>February 1</a:t>
            </a:r>
            <a:r>
              <a:rPr lang="en-CA" baseline="30000"/>
              <a:t>st</a:t>
            </a:r>
            <a:r>
              <a:rPr lang="en-CA"/>
              <a:t> Outstanding Items</a:t>
            </a:r>
          </a:p>
        </p:txBody>
      </p:sp>
      <p:sp>
        <p:nvSpPr>
          <p:cNvPr id="3" name="Footer Placeholder 2">
            <a:extLst>
              <a:ext uri="{FF2B5EF4-FFF2-40B4-BE49-F238E27FC236}">
                <a16:creationId xmlns:a16="http://schemas.microsoft.com/office/drawing/2014/main" id="{DF58C36A-4071-4232-077A-427A1E0F34DD}"/>
              </a:ext>
            </a:extLst>
          </p:cNvPr>
          <p:cNvSpPr>
            <a:spLocks noGrp="1"/>
          </p:cNvSpPr>
          <p:nvPr>
            <p:ph type="ftr" sz="quarter" idx="3"/>
          </p:nvPr>
        </p:nvSpPr>
        <p:spPr/>
        <p:txBody>
          <a:bodyPr/>
          <a:lstStyle/>
          <a:p>
            <a:pPr algn="ctr"/>
            <a:r>
              <a:rPr lang="en-US"/>
              <a:t>INTERNAL</a:t>
            </a:r>
          </a:p>
        </p:txBody>
      </p:sp>
      <p:graphicFrame>
        <p:nvGraphicFramePr>
          <p:cNvPr id="5" name="Table 4">
            <a:extLst>
              <a:ext uri="{FF2B5EF4-FFF2-40B4-BE49-F238E27FC236}">
                <a16:creationId xmlns:a16="http://schemas.microsoft.com/office/drawing/2014/main" id="{A12E982C-9423-1CB1-4F8E-68FC3666E825}"/>
              </a:ext>
            </a:extLst>
          </p:cNvPr>
          <p:cNvGraphicFramePr>
            <a:graphicFrameLocks noGrp="1"/>
          </p:cNvGraphicFramePr>
          <p:nvPr/>
        </p:nvGraphicFramePr>
        <p:xfrm>
          <a:off x="154304" y="1090238"/>
          <a:ext cx="11590020" cy="2208699"/>
        </p:xfrm>
        <a:graphic>
          <a:graphicData uri="http://schemas.openxmlformats.org/drawingml/2006/table">
            <a:tbl>
              <a:tblPr/>
              <a:tblGrid>
                <a:gridCol w="602835">
                  <a:extLst>
                    <a:ext uri="{9D8B030D-6E8A-4147-A177-3AD203B41FA5}">
                      <a16:colId xmlns:a16="http://schemas.microsoft.com/office/drawing/2014/main" val="2233060804"/>
                    </a:ext>
                  </a:extLst>
                </a:gridCol>
                <a:gridCol w="2681503">
                  <a:extLst>
                    <a:ext uri="{9D8B030D-6E8A-4147-A177-3AD203B41FA5}">
                      <a16:colId xmlns:a16="http://schemas.microsoft.com/office/drawing/2014/main" val="3087656114"/>
                    </a:ext>
                  </a:extLst>
                </a:gridCol>
                <a:gridCol w="816548">
                  <a:extLst>
                    <a:ext uri="{9D8B030D-6E8A-4147-A177-3AD203B41FA5}">
                      <a16:colId xmlns:a16="http://schemas.microsoft.com/office/drawing/2014/main" val="2608845093"/>
                    </a:ext>
                  </a:extLst>
                </a:gridCol>
                <a:gridCol w="806467">
                  <a:extLst>
                    <a:ext uri="{9D8B030D-6E8A-4147-A177-3AD203B41FA5}">
                      <a16:colId xmlns:a16="http://schemas.microsoft.com/office/drawing/2014/main" val="1143513882"/>
                    </a:ext>
                  </a:extLst>
                </a:gridCol>
                <a:gridCol w="1421398">
                  <a:extLst>
                    <a:ext uri="{9D8B030D-6E8A-4147-A177-3AD203B41FA5}">
                      <a16:colId xmlns:a16="http://schemas.microsoft.com/office/drawing/2014/main" val="408013638"/>
                    </a:ext>
                  </a:extLst>
                </a:gridCol>
                <a:gridCol w="841671">
                  <a:extLst>
                    <a:ext uri="{9D8B030D-6E8A-4147-A177-3AD203B41FA5}">
                      <a16:colId xmlns:a16="http://schemas.microsoft.com/office/drawing/2014/main" val="926638160"/>
                    </a:ext>
                  </a:extLst>
                </a:gridCol>
                <a:gridCol w="628650">
                  <a:extLst>
                    <a:ext uri="{9D8B030D-6E8A-4147-A177-3AD203B41FA5}">
                      <a16:colId xmlns:a16="http://schemas.microsoft.com/office/drawing/2014/main" val="1179039653"/>
                    </a:ext>
                  </a:extLst>
                </a:gridCol>
                <a:gridCol w="3790948">
                  <a:extLst>
                    <a:ext uri="{9D8B030D-6E8A-4147-A177-3AD203B41FA5}">
                      <a16:colId xmlns:a16="http://schemas.microsoft.com/office/drawing/2014/main" val="4091756543"/>
                    </a:ext>
                  </a:extLst>
                </a:gridCol>
              </a:tblGrid>
              <a:tr h="245411">
                <a:tc>
                  <a:txBody>
                    <a:bodyPr/>
                    <a:lstStyle/>
                    <a:p>
                      <a:pPr algn="l" rtl="0" fontAlgn="ctr">
                        <a:buNone/>
                      </a:pPr>
                      <a:r>
                        <a:rPr lang="en-US" sz="1000" b="1" i="0" u="none" strike="noStrike">
                          <a:solidFill>
                            <a:srgbClr val="FFFFFF"/>
                          </a:solidFill>
                          <a:effectLst/>
                          <a:latin typeface="Arial" panose="020B0604020202020204" pitchFamily="34" charset="0"/>
                        </a:rPr>
                        <a:t>Intake #</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Initiative Name</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PM</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Director</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CIRA Status</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UAT Status</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ctr" rtl="0" fontAlgn="ctr">
                        <a:buNone/>
                      </a:pPr>
                      <a:r>
                        <a:rPr lang="en-US" sz="1000" b="1" i="0" u="none" strike="noStrike">
                          <a:solidFill>
                            <a:srgbClr val="FFFFFF"/>
                          </a:solidFill>
                          <a:effectLst/>
                          <a:latin typeface="Arial" panose="020B0604020202020204" pitchFamily="34" charset="0"/>
                        </a:rPr>
                        <a:t>Gated</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ctr" rtl="0" fontAlgn="ctr">
                        <a:buNone/>
                      </a:pPr>
                      <a:r>
                        <a:rPr lang="en-US" sz="1000" b="1" i="0" u="none" strike="noStrike">
                          <a:solidFill>
                            <a:srgbClr val="FFFFFF"/>
                          </a:solidFill>
                          <a:effectLst/>
                          <a:latin typeface="Arial" panose="020B0604020202020204" pitchFamily="34" charset="0"/>
                        </a:rPr>
                        <a:t>Notes</a:t>
                      </a: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extLst>
                  <a:ext uri="{0D108BD9-81ED-4DB2-BD59-A6C34878D82A}">
                    <a16:rowId xmlns:a16="http://schemas.microsoft.com/office/drawing/2014/main" val="3348718319"/>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4029765276"/>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FF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4253833889"/>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519145842"/>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FF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2024473530"/>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1441183422"/>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2542316970"/>
                  </a:ext>
                </a:extLst>
              </a:tr>
              <a:tr h="245411">
                <a:tc>
                  <a:txBody>
                    <a:bodyPr/>
                    <a:lstStyle/>
                    <a:p>
                      <a:pPr algn="l"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289855460"/>
                  </a:ext>
                </a:extLst>
              </a:tr>
              <a:tr h="245411">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rtl="0" fontAlgn="ctr">
                        <a:buNone/>
                      </a:pPr>
                      <a:endParaRPr lang="en-US"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rtl="0" fontAlgn="ctr">
                        <a:buNone/>
                      </a:pPr>
                      <a:endParaRPr lang="en-CA" sz="1000" b="0" i="0" u="none" strike="noStrike">
                        <a:solidFill>
                          <a:srgbClr val="000000"/>
                        </a:solidFill>
                        <a:effectLst/>
                        <a:latin typeface="Arial" panose="020B0604020202020204" pitchFamily="34" charset="0"/>
                      </a:endParaRPr>
                    </a:p>
                  </a:txBody>
                  <a:tcPr marL="2622" marR="2622" marT="262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1916638635"/>
                  </a:ext>
                </a:extLst>
              </a:tr>
            </a:tbl>
          </a:graphicData>
        </a:graphic>
      </p:graphicFrame>
      <p:graphicFrame>
        <p:nvGraphicFramePr>
          <p:cNvPr id="9" name="Table 8">
            <a:extLst>
              <a:ext uri="{FF2B5EF4-FFF2-40B4-BE49-F238E27FC236}">
                <a16:creationId xmlns:a16="http://schemas.microsoft.com/office/drawing/2014/main" id="{71F42E11-85EB-062A-996D-9706B233C2A8}"/>
              </a:ext>
            </a:extLst>
          </p:cNvPr>
          <p:cNvGraphicFramePr>
            <a:graphicFrameLocks noGrp="1"/>
          </p:cNvGraphicFramePr>
          <p:nvPr/>
        </p:nvGraphicFramePr>
        <p:xfrm>
          <a:off x="1042066" y="4109774"/>
          <a:ext cx="5080255" cy="1293840"/>
        </p:xfrm>
        <a:graphic>
          <a:graphicData uri="http://schemas.openxmlformats.org/drawingml/2006/table">
            <a:tbl>
              <a:tblPr/>
              <a:tblGrid>
                <a:gridCol w="712588">
                  <a:extLst>
                    <a:ext uri="{9D8B030D-6E8A-4147-A177-3AD203B41FA5}">
                      <a16:colId xmlns:a16="http://schemas.microsoft.com/office/drawing/2014/main" val="3347234884"/>
                    </a:ext>
                  </a:extLst>
                </a:gridCol>
                <a:gridCol w="1771650">
                  <a:extLst>
                    <a:ext uri="{9D8B030D-6E8A-4147-A177-3AD203B41FA5}">
                      <a16:colId xmlns:a16="http://schemas.microsoft.com/office/drawing/2014/main" val="2797133919"/>
                    </a:ext>
                  </a:extLst>
                </a:gridCol>
                <a:gridCol w="933450">
                  <a:extLst>
                    <a:ext uri="{9D8B030D-6E8A-4147-A177-3AD203B41FA5}">
                      <a16:colId xmlns:a16="http://schemas.microsoft.com/office/drawing/2014/main" val="1061833883"/>
                    </a:ext>
                  </a:extLst>
                </a:gridCol>
                <a:gridCol w="1662567">
                  <a:extLst>
                    <a:ext uri="{9D8B030D-6E8A-4147-A177-3AD203B41FA5}">
                      <a16:colId xmlns:a16="http://schemas.microsoft.com/office/drawing/2014/main" val="4184142395"/>
                    </a:ext>
                  </a:extLst>
                </a:gridCol>
              </a:tblGrid>
              <a:tr h="103654">
                <a:tc>
                  <a:txBody>
                    <a:bodyPr/>
                    <a:lstStyle/>
                    <a:p>
                      <a:pPr algn="l" rtl="0" fontAlgn="ctr">
                        <a:buNone/>
                      </a:pPr>
                      <a:r>
                        <a:rPr lang="en-US" sz="1000" b="1" i="0" u="none" strike="noStrike">
                          <a:solidFill>
                            <a:srgbClr val="FFFFFF"/>
                          </a:solidFill>
                          <a:effectLst/>
                          <a:latin typeface="Arial" panose="020B0604020202020204" pitchFamily="34" charset="0"/>
                        </a:rPr>
                        <a:t>Item</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Application/Scope</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Status</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Notes</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extLst>
                  <a:ext uri="{0D108BD9-81ED-4DB2-BD59-A6C34878D82A}">
                    <a16:rowId xmlns:a16="http://schemas.microsoft.com/office/drawing/2014/main" val="3875196083"/>
                  </a:ext>
                </a:extLst>
              </a:tr>
              <a:tr h="207309">
                <a:tc>
                  <a:txBody>
                    <a:bodyPr/>
                    <a:lstStyle/>
                    <a:p>
                      <a:pPr algn="l" rtl="0" fontAlgn="ctr">
                        <a:buNone/>
                      </a:pPr>
                      <a:r>
                        <a:rPr lang="en-US" sz="1000" b="1" i="0" u="none" strike="noStrike">
                          <a:solidFill>
                            <a:srgbClr val="000000"/>
                          </a:solidFill>
                          <a:effectLst/>
                          <a:latin typeface="Arial" panose="020B0604020202020204" pitchFamily="34" charset="0"/>
                        </a:rPr>
                        <a:t>Backout testing</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US"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CA"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extLst>
                  <a:ext uri="{0D108BD9-81ED-4DB2-BD59-A6C34878D82A}">
                    <a16:rowId xmlns:a16="http://schemas.microsoft.com/office/drawing/2014/main" val="3360190115"/>
                  </a:ext>
                </a:extLst>
              </a:tr>
              <a:tr h="207309">
                <a:tc>
                  <a:txBody>
                    <a:bodyPr/>
                    <a:lstStyle/>
                    <a:p>
                      <a:pPr algn="l" rtl="0" fontAlgn="ctr">
                        <a:buNone/>
                      </a:pPr>
                      <a:r>
                        <a:rPr lang="en-CA" sz="1000" b="1" i="0" u="none" strike="noStrike">
                          <a:solidFill>
                            <a:srgbClr val="000000"/>
                          </a:solidFill>
                          <a:effectLst/>
                          <a:latin typeface="Arial" panose="020B0604020202020204" pitchFamily="34" charset="0"/>
                        </a:rPr>
                        <a:t>ACP</a:t>
                      </a:r>
                      <a:endParaRPr lang="en-US" sz="1000" b="1"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US"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CA"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extLst>
                  <a:ext uri="{0D108BD9-81ED-4DB2-BD59-A6C34878D82A}">
                    <a16:rowId xmlns:a16="http://schemas.microsoft.com/office/drawing/2014/main" val="1886051858"/>
                  </a:ext>
                </a:extLst>
              </a:tr>
              <a:tr h="207309">
                <a:tc>
                  <a:txBody>
                    <a:bodyPr/>
                    <a:lstStyle/>
                    <a:p>
                      <a:pPr algn="l" rtl="0" fontAlgn="ctr">
                        <a:buNone/>
                      </a:pPr>
                      <a:r>
                        <a:rPr lang="en-CA" sz="1000" b="1" i="0" u="none" strike="noStrike">
                          <a:solidFill>
                            <a:srgbClr val="000000"/>
                          </a:solidFill>
                          <a:effectLst/>
                          <a:latin typeface="Arial" panose="020B0604020202020204" pitchFamily="34" charset="0"/>
                        </a:rPr>
                        <a:t>OSI</a:t>
                      </a:r>
                      <a:endParaRPr lang="en-US" sz="1000" b="1"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US"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CA"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extLst>
                  <a:ext uri="{0D108BD9-81ED-4DB2-BD59-A6C34878D82A}">
                    <a16:rowId xmlns:a16="http://schemas.microsoft.com/office/drawing/2014/main" val="2080366839"/>
                  </a:ext>
                </a:extLst>
              </a:tr>
              <a:tr h="207309">
                <a:tc>
                  <a:txBody>
                    <a:bodyPr/>
                    <a:lstStyle/>
                    <a:p>
                      <a:pPr algn="l" rtl="0" fontAlgn="ctr">
                        <a:buNone/>
                      </a:pPr>
                      <a:r>
                        <a:rPr lang="en-CA" sz="1000" b="1" i="0" u="none" strike="noStrike">
                          <a:solidFill>
                            <a:srgbClr val="000000"/>
                          </a:solidFill>
                          <a:effectLst/>
                          <a:latin typeface="Arial" panose="020B0604020202020204" pitchFamily="34" charset="0"/>
                        </a:rPr>
                        <a:t>SCM</a:t>
                      </a:r>
                      <a:endParaRPr lang="en-US" sz="1000" b="1"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US"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CA"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extLst>
                  <a:ext uri="{0D108BD9-81ED-4DB2-BD59-A6C34878D82A}">
                    <a16:rowId xmlns:a16="http://schemas.microsoft.com/office/drawing/2014/main" val="371020750"/>
                  </a:ext>
                </a:extLst>
              </a:tr>
              <a:tr h="207309">
                <a:tc>
                  <a:txBody>
                    <a:bodyPr/>
                    <a:lstStyle/>
                    <a:p>
                      <a:pPr algn="l" rtl="0" fontAlgn="ctr">
                        <a:buNone/>
                      </a:pPr>
                      <a:endParaRPr lang="en-US" sz="1000" b="1"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US"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ctr">
                        <a:buNone/>
                      </a:pPr>
                      <a:endParaRPr lang="en-US" sz="1000" b="0" i="0" u="none" strike="noStrike">
                        <a:solidFill>
                          <a:schemeClr val="tx1"/>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tc>
                  <a:txBody>
                    <a:bodyPr/>
                    <a:lstStyle/>
                    <a:p>
                      <a:pPr algn="l" rtl="0" fontAlgn="b">
                        <a:buNone/>
                      </a:pPr>
                      <a:endParaRPr lang="en-CA" sz="1000" b="0" i="0" u="none" strike="noStrike">
                        <a:solidFill>
                          <a:srgbClr val="000000"/>
                        </a:solidFill>
                        <a:effectLst/>
                        <a:latin typeface="Arial" panose="020B0604020202020204" pitchFamily="34" charset="0"/>
                      </a:endParaRP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bg1"/>
                    </a:solidFill>
                  </a:tcPr>
                </a:tc>
                <a:extLst>
                  <a:ext uri="{0D108BD9-81ED-4DB2-BD59-A6C34878D82A}">
                    <a16:rowId xmlns:a16="http://schemas.microsoft.com/office/drawing/2014/main" val="1785790163"/>
                  </a:ext>
                </a:extLst>
              </a:tr>
            </a:tbl>
          </a:graphicData>
        </a:graphic>
      </p:graphicFrame>
      <p:graphicFrame>
        <p:nvGraphicFramePr>
          <p:cNvPr id="10" name="Table 9">
            <a:extLst>
              <a:ext uri="{FF2B5EF4-FFF2-40B4-BE49-F238E27FC236}">
                <a16:creationId xmlns:a16="http://schemas.microsoft.com/office/drawing/2014/main" id="{A0B94197-BE64-08B3-FCE8-2EDEC50BF707}"/>
              </a:ext>
            </a:extLst>
          </p:cNvPr>
          <p:cNvGraphicFramePr>
            <a:graphicFrameLocks noGrp="1"/>
          </p:cNvGraphicFramePr>
          <p:nvPr/>
        </p:nvGraphicFramePr>
        <p:xfrm>
          <a:off x="6985638" y="4109774"/>
          <a:ext cx="4769103" cy="773106"/>
        </p:xfrm>
        <a:graphic>
          <a:graphicData uri="http://schemas.openxmlformats.org/drawingml/2006/table">
            <a:tbl>
              <a:tblPr/>
              <a:tblGrid>
                <a:gridCol w="1781510">
                  <a:extLst>
                    <a:ext uri="{9D8B030D-6E8A-4147-A177-3AD203B41FA5}">
                      <a16:colId xmlns:a16="http://schemas.microsoft.com/office/drawing/2014/main" val="3347234884"/>
                    </a:ext>
                  </a:extLst>
                </a:gridCol>
                <a:gridCol w="2987593">
                  <a:extLst>
                    <a:ext uri="{9D8B030D-6E8A-4147-A177-3AD203B41FA5}">
                      <a16:colId xmlns:a16="http://schemas.microsoft.com/office/drawing/2014/main" val="1061833883"/>
                    </a:ext>
                  </a:extLst>
                </a:gridCol>
              </a:tblGrid>
              <a:tr h="106235">
                <a:tc>
                  <a:txBody>
                    <a:bodyPr/>
                    <a:lstStyle/>
                    <a:p>
                      <a:pPr algn="l" rtl="0" fontAlgn="ctr">
                        <a:buNone/>
                      </a:pPr>
                      <a:r>
                        <a:rPr lang="en-US" sz="1000" b="1" i="0" u="none" strike="noStrike">
                          <a:solidFill>
                            <a:srgbClr val="FFFFFF"/>
                          </a:solidFill>
                          <a:effectLst/>
                          <a:latin typeface="Arial" panose="020B0604020202020204" pitchFamily="34" charset="0"/>
                        </a:rPr>
                        <a:t>Item</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rtl="0" fontAlgn="ctr">
                        <a:buNone/>
                      </a:pPr>
                      <a:r>
                        <a:rPr lang="en-US" sz="1000" b="1" i="0" u="none" strike="noStrike">
                          <a:solidFill>
                            <a:srgbClr val="FFFFFF"/>
                          </a:solidFill>
                          <a:effectLst/>
                          <a:latin typeface="Arial" panose="020B0604020202020204" pitchFamily="34" charset="0"/>
                        </a:rPr>
                        <a:t>Open Risks</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extLst>
                  <a:ext uri="{0D108BD9-81ED-4DB2-BD59-A6C34878D82A}">
                    <a16:rowId xmlns:a16="http://schemas.microsoft.com/office/drawing/2014/main" val="3875196083"/>
                  </a:ext>
                </a:extLst>
              </a:tr>
              <a:tr h="307027">
                <a:tc>
                  <a:txBody>
                    <a:bodyPr/>
                    <a:lstStyle/>
                    <a:p>
                      <a:pPr algn="l" rtl="0" fontAlgn="ctr">
                        <a:buNone/>
                      </a:pPr>
                      <a:r>
                        <a:rPr lang="en-US" sz="1000" b="1" i="0" u="none" strike="noStrike">
                          <a:solidFill>
                            <a:srgbClr val="000000"/>
                          </a:solidFill>
                          <a:effectLst/>
                          <a:latin typeface="Arial" panose="020B0604020202020204" pitchFamily="34" charset="0"/>
                        </a:rPr>
                        <a:t>Core Banking Release</a:t>
                      </a:r>
                    </a:p>
                    <a:p>
                      <a:pPr algn="l" rtl="0" fontAlgn="ctr">
                        <a:buNone/>
                      </a:pPr>
                      <a:r>
                        <a:rPr lang="en-US" sz="1000" b="0" i="0" u="none" strike="noStrike">
                          <a:solidFill>
                            <a:srgbClr val="000000"/>
                          </a:solidFill>
                          <a:effectLst/>
                          <a:latin typeface="Arial" panose="020B0604020202020204" pitchFamily="34" charset="0"/>
                        </a:rPr>
                        <a:t>SCR Gate</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CA" sz="1000" b="0" i="0" u="none" strike="noStrike" kern="1200">
                          <a:solidFill>
                            <a:srgbClr val="000000"/>
                          </a:solidFill>
                          <a:effectLst/>
                          <a:latin typeface="Arial" panose="020B0604020202020204" pitchFamily="34" charset="0"/>
                          <a:ea typeface="+mn-ea"/>
                          <a:cs typeface="+mn-cs"/>
                        </a:rPr>
                        <a:t>UAT</a:t>
                      </a:r>
                    </a:p>
                    <a:p>
                      <a:pPr marL="171450" indent="-171450" algn="l" rtl="0" fontAlgn="ctr">
                        <a:buFont typeface="Arial" panose="020B0604020202020204" pitchFamily="34" charset="0"/>
                        <a:buChar char="•"/>
                      </a:pPr>
                      <a:r>
                        <a:rPr lang="en-US" sz="1000" b="0" i="0" u="none" strike="noStrike" kern="1200">
                          <a:solidFill>
                            <a:srgbClr val="000000"/>
                          </a:solidFill>
                          <a:effectLst/>
                          <a:latin typeface="Arial" panose="020B0604020202020204" pitchFamily="34" charset="0"/>
                          <a:ea typeface="+mn-ea"/>
                          <a:cs typeface="+mn-cs"/>
                        </a:rPr>
                        <a:t>CIRA</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384645883"/>
                  </a:ext>
                </a:extLst>
              </a:tr>
              <a:tr h="209518">
                <a:tc>
                  <a:txBody>
                    <a:bodyPr/>
                    <a:lstStyle/>
                    <a:p>
                      <a:pPr algn="l" rtl="0" fontAlgn="ctr">
                        <a:buNone/>
                      </a:pPr>
                      <a:r>
                        <a:rPr lang="en-US" sz="1000" b="1" i="0" u="none" strike="noStrike">
                          <a:solidFill>
                            <a:srgbClr val="000000"/>
                          </a:solidFill>
                          <a:effectLst/>
                          <a:latin typeface="Arial" panose="020B0604020202020204" pitchFamily="34" charset="0"/>
                        </a:rPr>
                        <a:t>EDTS Tungsten</a:t>
                      </a:r>
                    </a:p>
                    <a:p>
                      <a:pPr algn="l" rtl="0" fontAlgn="ctr">
                        <a:buNone/>
                      </a:pPr>
                      <a:r>
                        <a:rPr lang="en-US" sz="1000" b="0" i="0" u="none" strike="noStrike">
                          <a:solidFill>
                            <a:srgbClr val="000000"/>
                          </a:solidFill>
                          <a:effectLst/>
                          <a:latin typeface="Arial" panose="020B0604020202020204" pitchFamily="34" charset="0"/>
                        </a:rPr>
                        <a:t>WMF Gate</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CA" sz="1000" b="0" i="0" u="none" strike="noStrike" kern="1200">
                          <a:solidFill>
                            <a:srgbClr val="000000"/>
                          </a:solidFill>
                          <a:effectLst/>
                          <a:latin typeface="Arial" panose="020B0604020202020204" pitchFamily="34" charset="0"/>
                          <a:ea typeface="+mn-ea"/>
                          <a:cs typeface="+mn-cs"/>
                        </a:rPr>
                        <a:t>UAT</a:t>
                      </a:r>
                    </a:p>
                  </a:txBody>
                  <a:tcPr marL="3702" marR="3702" marT="3702" marB="0" anchor="ctr">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695872240"/>
                  </a:ext>
                </a:extLst>
              </a:tr>
            </a:tbl>
          </a:graphicData>
        </a:graphic>
      </p:graphicFrame>
      <p:sp>
        <p:nvSpPr>
          <p:cNvPr id="4" name="TextBox 3">
            <a:extLst>
              <a:ext uri="{FF2B5EF4-FFF2-40B4-BE49-F238E27FC236}">
                <a16:creationId xmlns:a16="http://schemas.microsoft.com/office/drawing/2014/main" id="{89234A5B-9857-3503-65E9-93723C89C454}"/>
              </a:ext>
            </a:extLst>
          </p:cNvPr>
          <p:cNvSpPr txBox="1"/>
          <p:nvPr/>
        </p:nvSpPr>
        <p:spPr>
          <a:xfrm>
            <a:off x="6122321" y="4024063"/>
            <a:ext cx="902811" cy="369332"/>
          </a:xfrm>
          <a:prstGeom prst="rect">
            <a:avLst/>
          </a:prstGeom>
          <a:noFill/>
        </p:spPr>
        <p:txBody>
          <a:bodyPr wrap="none" rtlCol="0">
            <a:spAutoFit/>
          </a:bodyPr>
          <a:lstStyle/>
          <a:p>
            <a:r>
              <a:rPr lang="en-CA" sz="1800" b="1">
                <a:latin typeface="Arial" panose="020B0604020202020204" pitchFamily="34" charset="0"/>
                <a:cs typeface="Arial" panose="020B0604020202020204" pitchFamily="34" charset="0"/>
              </a:rPr>
              <a:t>Gates:</a:t>
            </a:r>
            <a:endParaRPr lang="en-US" sz="1800" b="1">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39C1C64-3124-EC5C-60A6-A104CDFA7ECC}"/>
              </a:ext>
            </a:extLst>
          </p:cNvPr>
          <p:cNvSpPr txBox="1"/>
          <p:nvPr/>
        </p:nvSpPr>
        <p:spPr>
          <a:xfrm>
            <a:off x="132459" y="649677"/>
            <a:ext cx="1172116" cy="369332"/>
          </a:xfrm>
          <a:prstGeom prst="rect">
            <a:avLst/>
          </a:prstGeom>
          <a:noFill/>
        </p:spPr>
        <p:txBody>
          <a:bodyPr wrap="none" rtlCol="0">
            <a:spAutoFit/>
          </a:bodyPr>
          <a:lstStyle/>
          <a:p>
            <a:r>
              <a:rPr lang="en-CA" sz="1800" b="1">
                <a:latin typeface="Arial" panose="020B0604020202020204" pitchFamily="34" charset="0"/>
                <a:cs typeface="Arial" panose="020B0604020202020204" pitchFamily="34" charset="0"/>
              </a:rPr>
              <a:t>Projects:</a:t>
            </a:r>
            <a:endParaRPr lang="en-US" sz="1800" b="1">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81EC776-557E-39C5-8088-AD6605DB0314}"/>
              </a:ext>
            </a:extLst>
          </p:cNvPr>
          <p:cNvSpPr txBox="1"/>
          <p:nvPr/>
        </p:nvSpPr>
        <p:spPr>
          <a:xfrm>
            <a:off x="132459" y="4004188"/>
            <a:ext cx="1467404" cy="646331"/>
          </a:xfrm>
          <a:prstGeom prst="rect">
            <a:avLst/>
          </a:prstGeom>
          <a:noFill/>
        </p:spPr>
        <p:txBody>
          <a:bodyPr wrap="square" rtlCol="0">
            <a:spAutoFit/>
          </a:bodyPr>
          <a:lstStyle/>
          <a:p>
            <a:r>
              <a:rPr lang="en-CA" sz="1800" b="1">
                <a:latin typeface="Arial" panose="020B0604020202020204" pitchFamily="34" charset="0"/>
                <a:cs typeface="Arial" panose="020B0604020202020204" pitchFamily="34" charset="0"/>
              </a:rPr>
              <a:t>Other Items:</a:t>
            </a:r>
            <a:endParaRPr lang="en-US" sz="18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07276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32224-E36A-D8FD-56D0-898B5E0C406A}"/>
              </a:ext>
            </a:extLst>
          </p:cNvPr>
          <p:cNvSpPr>
            <a:spLocks noGrp="1"/>
          </p:cNvSpPr>
          <p:nvPr>
            <p:ph type="title"/>
          </p:nvPr>
        </p:nvSpPr>
        <p:spPr>
          <a:xfrm>
            <a:off x="125046" y="101391"/>
            <a:ext cx="11637108" cy="700135"/>
          </a:xfrm>
        </p:spPr>
        <p:txBody>
          <a:bodyPr/>
          <a:lstStyle/>
          <a:p>
            <a:r>
              <a:rPr lang="en-CA"/>
              <a:t>September COINS, Deposit and Lending Release - Scheduling</a:t>
            </a:r>
          </a:p>
        </p:txBody>
      </p:sp>
      <p:sp>
        <p:nvSpPr>
          <p:cNvPr id="3" name="Footer Placeholder 2">
            <a:extLst>
              <a:ext uri="{FF2B5EF4-FFF2-40B4-BE49-F238E27FC236}">
                <a16:creationId xmlns:a16="http://schemas.microsoft.com/office/drawing/2014/main" id="{5183F2E4-3C9F-8D26-8FB0-D1DF3BAB25B1}"/>
              </a:ext>
            </a:extLst>
          </p:cNvPr>
          <p:cNvSpPr>
            <a:spLocks noGrp="1"/>
          </p:cNvSpPr>
          <p:nvPr>
            <p:ph type="ftr" sz="quarter" idx="3"/>
          </p:nvPr>
        </p:nvSpPr>
        <p:spPr/>
        <p:txBody>
          <a:bodyPr/>
          <a:lstStyle/>
          <a:p>
            <a:pPr algn="ctr"/>
            <a:r>
              <a:rPr lang="en-US"/>
              <a:t>INTERNAL</a:t>
            </a:r>
          </a:p>
        </p:txBody>
      </p:sp>
      <p:graphicFrame>
        <p:nvGraphicFramePr>
          <p:cNvPr id="8" name="Table 7">
            <a:extLst>
              <a:ext uri="{FF2B5EF4-FFF2-40B4-BE49-F238E27FC236}">
                <a16:creationId xmlns:a16="http://schemas.microsoft.com/office/drawing/2014/main" id="{998AA012-4B57-35F5-494D-F756D881CDBA}"/>
              </a:ext>
            </a:extLst>
          </p:cNvPr>
          <p:cNvGraphicFramePr>
            <a:graphicFrameLocks noGrp="1"/>
          </p:cNvGraphicFramePr>
          <p:nvPr>
            <p:extLst>
              <p:ext uri="{D42A27DB-BD31-4B8C-83A1-F6EECF244321}">
                <p14:modId xmlns:p14="http://schemas.microsoft.com/office/powerpoint/2010/main" val="2479197464"/>
              </p:ext>
            </p:extLst>
          </p:nvPr>
        </p:nvGraphicFramePr>
        <p:xfrm>
          <a:off x="2325116" y="4679232"/>
          <a:ext cx="9437039" cy="2077377"/>
        </p:xfrm>
        <a:graphic>
          <a:graphicData uri="http://schemas.openxmlformats.org/drawingml/2006/table">
            <a:tbl>
              <a:tblPr firstRow="1" firstCol="1" bandRow="1">
                <a:tableStyleId>{F2DE63D5-997A-4646-A377-4702673A728D}</a:tableStyleId>
              </a:tblPr>
              <a:tblGrid>
                <a:gridCol w="3017520">
                  <a:extLst>
                    <a:ext uri="{9D8B030D-6E8A-4147-A177-3AD203B41FA5}">
                      <a16:colId xmlns:a16="http://schemas.microsoft.com/office/drawing/2014/main" val="3980761322"/>
                    </a:ext>
                  </a:extLst>
                </a:gridCol>
                <a:gridCol w="1298879">
                  <a:extLst>
                    <a:ext uri="{9D8B030D-6E8A-4147-A177-3AD203B41FA5}">
                      <a16:colId xmlns:a16="http://schemas.microsoft.com/office/drawing/2014/main" val="1528668674"/>
                    </a:ext>
                  </a:extLst>
                </a:gridCol>
                <a:gridCol w="3931920">
                  <a:extLst>
                    <a:ext uri="{9D8B030D-6E8A-4147-A177-3AD203B41FA5}">
                      <a16:colId xmlns:a16="http://schemas.microsoft.com/office/drawing/2014/main" val="2309712601"/>
                    </a:ext>
                  </a:extLst>
                </a:gridCol>
                <a:gridCol w="1188720">
                  <a:extLst>
                    <a:ext uri="{9D8B030D-6E8A-4147-A177-3AD203B41FA5}">
                      <a16:colId xmlns:a16="http://schemas.microsoft.com/office/drawing/2014/main" val="2564866125"/>
                    </a:ext>
                  </a:extLst>
                </a:gridCol>
              </a:tblGrid>
              <a:tr h="132546">
                <a:tc>
                  <a:txBody>
                    <a:bodyPr/>
                    <a:lstStyle/>
                    <a:p>
                      <a:pPr algn="l" fontAlgn="ctr"/>
                      <a:r>
                        <a:rPr lang="en-CA" sz="1000" u="none" strike="noStrike">
                          <a:effectLst/>
                        </a:rPr>
                        <a:t>Initiative</a:t>
                      </a:r>
                      <a:endParaRPr lang="en-CA" sz="1000" b="1" i="0" u="none" strike="noStrike">
                        <a:solidFill>
                          <a:srgbClr val="FFFFFF"/>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PM</a:t>
                      </a:r>
                      <a:endParaRPr lang="en-CA" sz="1000" b="1" i="0" u="none" strike="noStrike">
                        <a:solidFill>
                          <a:srgbClr val="FFFFFF"/>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l" fontAlgn="ctr"/>
                      <a:r>
                        <a:rPr lang="en-CA" sz="1000" u="none" strike="noStrike">
                          <a:effectLst/>
                        </a:rPr>
                        <a:t>Apps </a:t>
                      </a:r>
                      <a:endParaRPr lang="en-CA" sz="1000" b="1" i="0" u="none" strike="noStrike">
                        <a:solidFill>
                          <a:srgbClr val="FFFFFF"/>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Current Imp Date</a:t>
                      </a:r>
                      <a:endParaRPr lang="en-CA" sz="1000" b="1" i="0" u="none" strike="noStrike">
                        <a:solidFill>
                          <a:srgbClr val="FFFFFF"/>
                        </a:solidFill>
                        <a:effectLst/>
                        <a:latin typeface="Arial" panose="020B0604020202020204" pitchFamily="34" charset="0"/>
                        <a:cs typeface="Arial" panose="020B0604020202020204" pitchFamily="34" charset="0"/>
                      </a:endParaRPr>
                    </a:p>
                  </a:txBody>
                  <a:tcPr marL="4196" marR="4196" marT="4196" marB="0" anchor="ctr"/>
                </a:tc>
                <a:extLst>
                  <a:ext uri="{0D108BD9-81ED-4DB2-BD59-A6C34878D82A}">
                    <a16:rowId xmlns:a16="http://schemas.microsoft.com/office/drawing/2014/main" val="3172676379"/>
                  </a:ext>
                </a:extLst>
              </a:tr>
              <a:tr h="209602">
                <a:tc>
                  <a:txBody>
                    <a:bodyPr/>
                    <a:lstStyle/>
                    <a:p>
                      <a:pPr algn="l" fontAlgn="ctr"/>
                      <a:r>
                        <a:rPr lang="en-CA" sz="1000" b="0" u="none" strike="noStrike">
                          <a:effectLst/>
                        </a:rPr>
                        <a:t>4149 | NSOD forms Update ( Addendum letter)</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Onkar Kang</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l" fontAlgn="ctr"/>
                      <a:r>
                        <a:rPr lang="en-CA" sz="1000" u="none" strike="noStrike">
                          <a:effectLst/>
                        </a:rPr>
                        <a:t>PCA/SAV</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7-Sep</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extLst>
                  <a:ext uri="{0D108BD9-81ED-4DB2-BD59-A6C34878D82A}">
                    <a16:rowId xmlns:a16="http://schemas.microsoft.com/office/drawing/2014/main" val="3159235006"/>
                  </a:ext>
                </a:extLst>
              </a:tr>
              <a:tr h="132546">
                <a:tc>
                  <a:txBody>
                    <a:bodyPr/>
                    <a:lstStyle/>
                    <a:p>
                      <a:pPr algn="l" fontAlgn="ctr"/>
                      <a:r>
                        <a:rPr lang="en-CA" sz="1000" b="0" u="none" strike="noStrike">
                          <a:effectLst/>
                        </a:rPr>
                        <a:t>2754 | RAMP2 MVP1b - Unified Product Shelf</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Ifeanyi Okeke</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l" fontAlgn="ctr"/>
                      <a:r>
                        <a:rPr lang="en-CA" sz="1000" u="none" strike="noStrike">
                          <a:effectLst/>
                        </a:rPr>
                        <a:t>CIBC R.Term, DDGS, Forms Management, KC</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7-Sep</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extLst>
                  <a:ext uri="{0D108BD9-81ED-4DB2-BD59-A6C34878D82A}">
                    <a16:rowId xmlns:a16="http://schemas.microsoft.com/office/drawing/2014/main" val="2834640151"/>
                  </a:ext>
                </a:extLst>
              </a:tr>
              <a:tr h="234338">
                <a:tc>
                  <a:txBody>
                    <a:bodyPr/>
                    <a:lstStyle/>
                    <a:p>
                      <a:pPr algn="l" fontAlgn="ctr"/>
                      <a:r>
                        <a:rPr lang="en-CA" sz="1000" b="0" u="none" strike="noStrike">
                          <a:effectLst/>
                          <a:highlight>
                            <a:srgbClr val="FFFF00"/>
                          </a:highlight>
                        </a:rPr>
                        <a:t>16355 | Bill 72 - COPS Monthly Fixed Fee in QC</a:t>
                      </a:r>
                      <a:endParaRPr lang="en-CA" sz="1000" b="0" i="0" u="none" strike="noStrike">
                        <a:solidFill>
                          <a:srgbClr val="000000"/>
                        </a:solidFill>
                        <a:effectLst/>
                        <a:highlight>
                          <a:srgbClr val="FFFF00"/>
                        </a:highligh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Princy Gopalan</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l" fontAlgn="b"/>
                      <a:r>
                        <a:rPr lang="en-CA" sz="1000" u="none" strike="noStrike">
                          <a:effectLst/>
                        </a:rPr>
                        <a:t>COLT, PCA/SAV, STB, EDTS, ECM, ENVOY, COMPASS-AIM, GOW, eBanking</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b"/>
                </a:tc>
                <a:tc>
                  <a:txBody>
                    <a:bodyPr/>
                    <a:lstStyle/>
                    <a:p>
                      <a:pPr algn="ctr" fontAlgn="ctr"/>
                      <a:r>
                        <a:rPr lang="en-CA" sz="1000" u="none" strike="noStrike">
                          <a:effectLst/>
                        </a:rPr>
                        <a:t>21-Sep</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extLst>
                  <a:ext uri="{0D108BD9-81ED-4DB2-BD59-A6C34878D82A}">
                    <a16:rowId xmlns:a16="http://schemas.microsoft.com/office/drawing/2014/main" val="3774140466"/>
                  </a:ext>
                </a:extLst>
              </a:tr>
              <a:tr h="132546">
                <a:tc>
                  <a:txBody>
                    <a:bodyPr/>
                    <a:lstStyle/>
                    <a:p>
                      <a:pPr algn="l" fontAlgn="ctr"/>
                      <a:r>
                        <a:rPr lang="en-CA" sz="1000" b="0" u="none" strike="noStrike">
                          <a:effectLst/>
                        </a:rPr>
                        <a:t>3366 | MVP8.2 1D</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Ozgur Durdu</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l" fontAlgn="ctr"/>
                      <a:r>
                        <a:rPr lang="en-CA" sz="1000" u="none" strike="noStrike">
                          <a:effectLst/>
                        </a:rPr>
                        <a:t>LCMS</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21-Sep</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extLst>
                  <a:ext uri="{0D108BD9-81ED-4DB2-BD59-A6C34878D82A}">
                    <a16:rowId xmlns:a16="http://schemas.microsoft.com/office/drawing/2014/main" val="1845062551"/>
                  </a:ext>
                </a:extLst>
              </a:tr>
              <a:tr h="132546">
                <a:tc>
                  <a:txBody>
                    <a:bodyPr/>
                    <a:lstStyle/>
                    <a:p>
                      <a:pPr algn="l" fontAlgn="ctr"/>
                      <a:r>
                        <a:rPr lang="en-CA" sz="1000" b="0" u="none" strike="noStrike">
                          <a:effectLst/>
                          <a:highlight>
                            <a:srgbClr val="FFFF00"/>
                          </a:highlight>
                        </a:rPr>
                        <a:t>3745 | Project JEDI (release 2/2 - Sep)</a:t>
                      </a:r>
                      <a:endParaRPr lang="en-CA" sz="1000" b="0" i="0" u="none" strike="noStrike">
                        <a:solidFill>
                          <a:srgbClr val="000000"/>
                        </a:solidFill>
                        <a:effectLst/>
                        <a:highlight>
                          <a:srgbClr val="FFFF00"/>
                        </a:highligh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Sidhartha Bishoi</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l" fontAlgn="ctr"/>
                      <a:r>
                        <a:rPr lang="fr-FR" sz="1000" u="none" strike="noStrike">
                          <a:effectLst/>
                        </a:rPr>
                        <a:t>RPE, COLT, PCA/SAV, COINS, FX, CI, DDGS, STB, ECM</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21-Sep</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extLst>
                  <a:ext uri="{0D108BD9-81ED-4DB2-BD59-A6C34878D82A}">
                    <a16:rowId xmlns:a16="http://schemas.microsoft.com/office/drawing/2014/main" val="1678204299"/>
                  </a:ext>
                </a:extLst>
              </a:tr>
              <a:tr h="234338">
                <a:tc>
                  <a:txBody>
                    <a:bodyPr/>
                    <a:lstStyle/>
                    <a:p>
                      <a:pPr algn="l" fontAlgn="ctr"/>
                      <a:r>
                        <a:rPr lang="en-CA" sz="1000" b="0" u="none" strike="noStrike">
                          <a:effectLst/>
                          <a:highlight>
                            <a:srgbClr val="FFFF00"/>
                          </a:highlight>
                        </a:rPr>
                        <a:t>3718 | OSFI MVP5.2</a:t>
                      </a:r>
                      <a:endParaRPr lang="en-CA" sz="1000" b="0" i="0" u="none" strike="noStrike">
                        <a:solidFill>
                          <a:srgbClr val="000000"/>
                        </a:solidFill>
                        <a:effectLst/>
                        <a:highlight>
                          <a:srgbClr val="FFFF00"/>
                        </a:highligh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Jill Craig</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l" fontAlgn="ctr"/>
                      <a:r>
                        <a:rPr lang="en-CA" sz="1000" u="none" strike="noStrike">
                          <a:effectLst/>
                        </a:rPr>
                        <a:t>Excalibur, CLASS, Lending API, CAAP, PostEdge, COINS (Host Facilities)</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21-Sep</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extLst>
                  <a:ext uri="{0D108BD9-81ED-4DB2-BD59-A6C34878D82A}">
                    <a16:rowId xmlns:a16="http://schemas.microsoft.com/office/drawing/2014/main" val="2337112853"/>
                  </a:ext>
                </a:extLst>
              </a:tr>
              <a:tr h="314403">
                <a:tc>
                  <a:txBody>
                    <a:bodyPr/>
                    <a:lstStyle/>
                    <a:p>
                      <a:pPr algn="l" fontAlgn="ctr"/>
                      <a:r>
                        <a:rPr lang="en-CA" sz="1000" b="0" u="none" strike="noStrike">
                          <a:effectLst/>
                        </a:rPr>
                        <a:t>3084 | Hopper 4</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Stephen Priestly</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l" fontAlgn="ctr"/>
                      <a:r>
                        <a:rPr lang="en-CA" sz="1000" u="none" strike="noStrike">
                          <a:effectLst/>
                        </a:rPr>
                        <a:t>DM, LCMS, Excalibur, CAAP, Lending API, CLASS, mMortgage, TABS, EDH, EDSF, CIW, ECIF, GOW, MI Lending, Lending BI</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21-Sep</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extLst>
                  <a:ext uri="{0D108BD9-81ED-4DB2-BD59-A6C34878D82A}">
                    <a16:rowId xmlns:a16="http://schemas.microsoft.com/office/drawing/2014/main" val="3460264759"/>
                  </a:ext>
                </a:extLst>
              </a:tr>
              <a:tr h="261855">
                <a:tc>
                  <a:txBody>
                    <a:bodyPr/>
                    <a:lstStyle/>
                    <a:p>
                      <a:pPr algn="l" fontAlgn="ctr"/>
                      <a:r>
                        <a:rPr lang="en-CA" sz="1000" b="0" u="none" strike="noStrike">
                          <a:effectLst/>
                        </a:rPr>
                        <a:t>16298 | Migrate historical document from FileNet to ECM</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Sumit</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l" fontAlgn="ctr"/>
                      <a:r>
                        <a:rPr lang="en-CA" sz="1000" u="none" strike="noStrike">
                          <a:effectLst/>
                        </a:rPr>
                        <a:t>CLASS, Excalibur, Target, ECM</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tc>
                  <a:txBody>
                    <a:bodyPr/>
                    <a:lstStyle/>
                    <a:p>
                      <a:pPr algn="ctr" fontAlgn="ctr"/>
                      <a:r>
                        <a:rPr lang="en-CA" sz="1000" u="none" strike="noStrike">
                          <a:effectLst/>
                        </a:rPr>
                        <a:t>21-Sep</a:t>
                      </a:r>
                      <a:endParaRPr lang="en-CA" sz="1000" b="0" i="0" u="none" strike="noStrike">
                        <a:solidFill>
                          <a:srgbClr val="000000"/>
                        </a:solidFill>
                        <a:effectLst/>
                        <a:latin typeface="Arial" panose="020B0604020202020204" pitchFamily="34" charset="0"/>
                        <a:cs typeface="Arial" panose="020B0604020202020204" pitchFamily="34" charset="0"/>
                      </a:endParaRPr>
                    </a:p>
                  </a:txBody>
                  <a:tcPr marL="4196" marR="4196" marT="4196" marB="0" anchor="ctr"/>
                </a:tc>
                <a:extLst>
                  <a:ext uri="{0D108BD9-81ED-4DB2-BD59-A6C34878D82A}">
                    <a16:rowId xmlns:a16="http://schemas.microsoft.com/office/drawing/2014/main" val="701091322"/>
                  </a:ext>
                </a:extLst>
              </a:tr>
            </a:tbl>
          </a:graphicData>
        </a:graphic>
      </p:graphicFrame>
      <p:sp>
        <p:nvSpPr>
          <p:cNvPr id="9" name="TextBox 8">
            <a:extLst>
              <a:ext uri="{FF2B5EF4-FFF2-40B4-BE49-F238E27FC236}">
                <a16:creationId xmlns:a16="http://schemas.microsoft.com/office/drawing/2014/main" id="{98997C56-CD0F-3AC5-DFDD-60395180CA3E}"/>
              </a:ext>
            </a:extLst>
          </p:cNvPr>
          <p:cNvSpPr txBox="1"/>
          <p:nvPr/>
        </p:nvSpPr>
        <p:spPr>
          <a:xfrm>
            <a:off x="125046" y="739301"/>
            <a:ext cx="9232314" cy="646331"/>
          </a:xfrm>
          <a:prstGeom prst="rect">
            <a:avLst/>
          </a:prstGeom>
          <a:noFill/>
        </p:spPr>
        <p:txBody>
          <a:bodyPr wrap="square" rtlCol="0">
            <a:spAutoFit/>
          </a:bodyPr>
          <a:lstStyle/>
          <a:p>
            <a:pPr marR="0" lvl="0"/>
            <a:r>
              <a:rPr lang="en-CA" sz="1200" b="1">
                <a:effectLst/>
                <a:latin typeface="Arial" panose="020B0604020202020204" pitchFamily="34" charset="0"/>
                <a:ea typeface="Times New Roman" panose="02020603050405020304" pitchFamily="18" charset="0"/>
                <a:cs typeface="Arial" panose="020B0604020202020204" pitchFamily="34" charset="0"/>
              </a:rPr>
              <a:t>The Request: Push Sept COINS Release out 2-weeks</a:t>
            </a:r>
          </a:p>
          <a:p>
            <a:pPr fontAlgn="ctr"/>
            <a:r>
              <a:rPr lang="en-CA" sz="1200" b="0" u="none" strike="noStrike">
                <a:effectLst/>
                <a:latin typeface="Arial" panose="020B0604020202020204" pitchFamily="34" charset="0"/>
                <a:cs typeface="Arial" panose="020B0604020202020204" pitchFamily="34" charset="0"/>
              </a:rPr>
              <a:t>JEDI and Bill C72 require </a:t>
            </a:r>
            <a:r>
              <a:rPr lang="en-CA" sz="1200">
                <a:solidFill>
                  <a:srgbClr val="000000"/>
                </a:solidFill>
                <a:latin typeface="Arial" panose="020B0604020202020204" pitchFamily="34" charset="0"/>
                <a:cs typeface="Arial" panose="020B0604020202020204" pitchFamily="34" charset="0"/>
              </a:rPr>
              <a:t>current September Deposit (COINS) Release to target Sept 20-21 weekend to align with project schedules. </a:t>
            </a:r>
          </a:p>
          <a:p>
            <a:pPr fontAlgn="ctr"/>
            <a:r>
              <a:rPr lang="en-CA" sz="1200">
                <a:solidFill>
                  <a:srgbClr val="000000"/>
                </a:solidFill>
                <a:latin typeface="Arial" panose="020B0604020202020204" pitchFamily="34" charset="0"/>
                <a:cs typeface="Arial" panose="020B0604020202020204" pitchFamily="34" charset="0"/>
              </a:rPr>
              <a:t>JEDI cannot be deployed prior to Sept 21 and Bill 72 has a dependency on JEDI.</a:t>
            </a:r>
          </a:p>
        </p:txBody>
      </p:sp>
      <p:sp>
        <p:nvSpPr>
          <p:cNvPr id="10" name="TextBox 9">
            <a:extLst>
              <a:ext uri="{FF2B5EF4-FFF2-40B4-BE49-F238E27FC236}">
                <a16:creationId xmlns:a16="http://schemas.microsoft.com/office/drawing/2014/main" id="{D09D005B-37B4-9BFB-6EAE-D56FE9990E82}"/>
              </a:ext>
            </a:extLst>
          </p:cNvPr>
          <p:cNvSpPr txBox="1"/>
          <p:nvPr/>
        </p:nvSpPr>
        <p:spPr>
          <a:xfrm>
            <a:off x="9386199" y="708859"/>
            <a:ext cx="2523312" cy="769441"/>
          </a:xfrm>
          <a:prstGeom prst="rect">
            <a:avLst/>
          </a:prstGeom>
          <a:noFill/>
        </p:spPr>
        <p:txBody>
          <a:bodyPr wrap="square" rtlCol="0">
            <a:spAutoFit/>
          </a:bodyPr>
          <a:lstStyle>
            <a:defPPr>
              <a:defRPr lang="en-US"/>
            </a:defPPr>
            <a:lvl1pPr fontAlgn="ctr">
              <a:defRPr sz="1100" b="1">
                <a:solidFill>
                  <a:srgbClr val="000000"/>
                </a:solidFill>
                <a:latin typeface="Arial" panose="020B0604020202020204" pitchFamily="34" charset="0"/>
                <a:cs typeface="Arial" panose="020B0604020202020204" pitchFamily="34" charset="0"/>
              </a:defRPr>
            </a:lvl1pPr>
          </a:lstStyle>
          <a:p>
            <a:r>
              <a:rPr lang="en-CA"/>
              <a:t>Current Release Schedule</a:t>
            </a:r>
            <a:r>
              <a:rPr lang="en-CA" b="0"/>
              <a:t>:</a:t>
            </a:r>
            <a:br>
              <a:rPr lang="en-CA" b="0"/>
            </a:br>
            <a:r>
              <a:rPr lang="en-CA" b="0"/>
              <a:t>Sept 6-7 - COINS &amp; Deposit Release</a:t>
            </a:r>
            <a:br>
              <a:rPr lang="en-CA" b="0"/>
            </a:br>
            <a:r>
              <a:rPr lang="en-CA" b="0"/>
              <a:t>Sept 14 - COINS Mass</a:t>
            </a:r>
            <a:br>
              <a:rPr lang="en-CA" b="0"/>
            </a:br>
            <a:r>
              <a:rPr lang="en-CA" b="0"/>
              <a:t>Sept 20-21 - Lending Release</a:t>
            </a:r>
          </a:p>
        </p:txBody>
      </p:sp>
      <p:graphicFrame>
        <p:nvGraphicFramePr>
          <p:cNvPr id="4" name="Table 3">
            <a:extLst>
              <a:ext uri="{FF2B5EF4-FFF2-40B4-BE49-F238E27FC236}">
                <a16:creationId xmlns:a16="http://schemas.microsoft.com/office/drawing/2014/main" id="{4334DD75-5473-B75D-DBF0-6F88A82E4837}"/>
              </a:ext>
            </a:extLst>
          </p:cNvPr>
          <p:cNvGraphicFramePr>
            <a:graphicFrameLocks noGrp="1"/>
          </p:cNvGraphicFramePr>
          <p:nvPr>
            <p:extLst>
              <p:ext uri="{D42A27DB-BD31-4B8C-83A1-F6EECF244321}">
                <p14:modId xmlns:p14="http://schemas.microsoft.com/office/powerpoint/2010/main" val="1505975146"/>
              </p:ext>
            </p:extLst>
          </p:nvPr>
        </p:nvGraphicFramePr>
        <p:xfrm>
          <a:off x="172718" y="1520232"/>
          <a:ext cx="11589436" cy="3093720"/>
        </p:xfrm>
        <a:graphic>
          <a:graphicData uri="http://schemas.openxmlformats.org/drawingml/2006/table">
            <a:tbl>
              <a:tblPr firstRow="1" bandRow="1">
                <a:tableStyleId>{F2DE63D5-997A-4646-A377-4702673A728D}</a:tableStyleId>
              </a:tblPr>
              <a:tblGrid>
                <a:gridCol w="3694432">
                  <a:extLst>
                    <a:ext uri="{9D8B030D-6E8A-4147-A177-3AD203B41FA5}">
                      <a16:colId xmlns:a16="http://schemas.microsoft.com/office/drawing/2014/main" val="2486584122"/>
                    </a:ext>
                  </a:extLst>
                </a:gridCol>
                <a:gridCol w="7895004">
                  <a:extLst>
                    <a:ext uri="{9D8B030D-6E8A-4147-A177-3AD203B41FA5}">
                      <a16:colId xmlns:a16="http://schemas.microsoft.com/office/drawing/2014/main" val="282229364"/>
                    </a:ext>
                  </a:extLst>
                </a:gridCol>
              </a:tblGrid>
              <a:tr h="153837">
                <a:tc>
                  <a:txBody>
                    <a:bodyPr/>
                    <a:lstStyle/>
                    <a:p>
                      <a:pPr algn="ctr"/>
                      <a:r>
                        <a:rPr lang="en-CA" sz="1200">
                          <a:latin typeface="Arial" panose="020B0604020202020204" pitchFamily="34" charset="0"/>
                          <a:cs typeface="Arial" panose="020B0604020202020204" pitchFamily="34" charset="0"/>
                        </a:rPr>
                        <a:t>Options</a:t>
                      </a:r>
                      <a:endParaRPr lang="en-US" sz="1200">
                        <a:latin typeface="Arial" panose="020B0604020202020204" pitchFamily="34" charset="0"/>
                        <a:cs typeface="Arial" panose="020B0604020202020204" pitchFamily="34" charset="0"/>
                      </a:endParaRPr>
                    </a:p>
                  </a:txBody>
                  <a:tcPr anchor="ctr"/>
                </a:tc>
                <a:tc>
                  <a:txBody>
                    <a:bodyPr/>
                    <a:lstStyle/>
                    <a:p>
                      <a:pPr algn="ctr"/>
                      <a:r>
                        <a:rPr lang="en-CA" sz="1200">
                          <a:latin typeface="Arial" panose="020B0604020202020204" pitchFamily="34" charset="0"/>
                          <a:cs typeface="Arial" panose="020B0604020202020204" pitchFamily="34" charset="0"/>
                        </a:rPr>
                        <a:t>Impacts</a:t>
                      </a:r>
                      <a:endParaRPr lang="en-US" sz="12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017421292"/>
                  </a:ext>
                </a:extLst>
              </a:tr>
              <a:tr h="370840">
                <a:tc>
                  <a:txBody>
                    <a:bodyPr/>
                    <a:lstStyle/>
                    <a:p>
                      <a:pPr marR="0" lvl="0"/>
                      <a:r>
                        <a:rPr lang="en-CA" sz="1200" b="1">
                          <a:solidFill>
                            <a:srgbClr val="00B050"/>
                          </a:solidFill>
                          <a:effectLst/>
                          <a:latin typeface="Arial" panose="020B0604020202020204" pitchFamily="34" charset="0"/>
                          <a:ea typeface="Times New Roman" panose="02020603050405020304" pitchFamily="18" charset="0"/>
                          <a:cs typeface="Arial" panose="020B0604020202020204" pitchFamily="34" charset="0"/>
                        </a:rPr>
                        <a:t>Scenario </a:t>
                      </a:r>
                      <a:r>
                        <a:rPr lang="en-CA" sz="1200" b="1">
                          <a:solidFill>
                            <a:srgbClr val="00B050"/>
                          </a:solidFill>
                          <a:latin typeface="Arial" panose="020B0604020202020204" pitchFamily="34" charset="0"/>
                          <a:cs typeface="Arial" panose="020B0604020202020204" pitchFamily="34" charset="0"/>
                        </a:rPr>
                        <a:t>1 - No COINS Pilot, All Combined</a:t>
                      </a:r>
                    </a:p>
                    <a:p>
                      <a:pPr marL="111125" marR="0" lvl="0" indent="-111125">
                        <a:buFont typeface="Symbol" panose="05050102010706020507" pitchFamily="18" charset="2"/>
                        <a:buChar char=""/>
                      </a:pPr>
                      <a:r>
                        <a:rPr lang="en-CA" sz="900">
                          <a:effectLst/>
                          <a:latin typeface="Arial" panose="020B0604020202020204" pitchFamily="34" charset="0"/>
                          <a:ea typeface="Aptos" panose="020B0004020202020204" pitchFamily="34" charset="0"/>
                          <a:cs typeface="Arial" panose="020B0604020202020204" pitchFamily="34" charset="0"/>
                        </a:rPr>
                        <a:t>Sept 20-21 - COINS Mass, Deposits, Lending Release</a:t>
                      </a:r>
                    </a:p>
                    <a:p>
                      <a:pPr marR="0" lvl="0"/>
                      <a:endParaRPr lang="en-CA" sz="1100">
                        <a:effectLst/>
                        <a:latin typeface="Arial" panose="020B0604020202020204" pitchFamily="34" charset="0"/>
                        <a:ea typeface="Aptos" panose="020B00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txBody>
                  <a:tcPr/>
                </a:tc>
                <a:tc>
                  <a:txBody>
                    <a:bodyPr/>
                    <a:lstStyle/>
                    <a:p>
                      <a:pPr marL="171450" indent="-171450">
                        <a:buFont typeface="Arial" panose="020B0604020202020204" pitchFamily="34" charset="0"/>
                        <a:buChar char="•"/>
                      </a:pPr>
                      <a:r>
                        <a:rPr lang="en-CA" sz="1000">
                          <a:latin typeface="Arial" panose="020B0604020202020204" pitchFamily="34" charset="0"/>
                          <a:ea typeface="Aptos" panose="020B0004020202020204" pitchFamily="34" charset="0"/>
                          <a:cs typeface="Arial" panose="020B0604020202020204" pitchFamily="34" charset="0"/>
                        </a:rPr>
                        <a:t>First time w/ COINS as No Pilot</a:t>
                      </a:r>
                    </a:p>
                    <a:p>
                      <a:pPr marL="171450" indent="-171450">
                        <a:buFont typeface="Arial" panose="020B0604020202020204" pitchFamily="34" charset="0"/>
                        <a:buChar char="•"/>
                      </a:pPr>
                      <a:r>
                        <a:rPr lang="en-CA" sz="1000">
                          <a:latin typeface="Arial" panose="020B0604020202020204" pitchFamily="34" charset="0"/>
                          <a:ea typeface="Aptos" panose="020B0004020202020204" pitchFamily="34" charset="0"/>
                          <a:cs typeface="Arial" panose="020B0604020202020204" pitchFamily="34" charset="0"/>
                        </a:rPr>
                        <a:t>First time COINS Mass during a release weekend – requires careful implementation alignment</a:t>
                      </a:r>
                    </a:p>
                    <a:p>
                      <a:pPr marL="171450" indent="-171450">
                        <a:buFont typeface="Arial" panose="020B0604020202020204" pitchFamily="34" charset="0"/>
                        <a:buChar char="•"/>
                      </a:pPr>
                      <a:r>
                        <a:rPr lang="en-CA" sz="1000">
                          <a:latin typeface="Arial" panose="020B0604020202020204" pitchFamily="34" charset="0"/>
                          <a:ea typeface="Aptos" panose="020B0004020202020204" pitchFamily="34" charset="0"/>
                          <a:cs typeface="Arial" panose="020B0604020202020204" pitchFamily="34" charset="0"/>
                        </a:rPr>
                        <a:t>COINS has good history of successful releases with no backouts. </a:t>
                      </a:r>
                    </a:p>
                    <a:p>
                      <a:pPr marL="171450" indent="-171450">
                        <a:buFont typeface="Arial" panose="020B0604020202020204" pitchFamily="34" charset="0"/>
                        <a:buChar char="•"/>
                      </a:pPr>
                      <a:r>
                        <a:rPr lang="en-CA" sz="1000">
                          <a:latin typeface="Arial" panose="020B0604020202020204" pitchFamily="34" charset="0"/>
                          <a:ea typeface="Aptos" panose="020B0004020202020204" pitchFamily="34" charset="0"/>
                          <a:cs typeface="Arial" panose="020B0604020202020204" pitchFamily="34" charset="0"/>
                        </a:rPr>
                        <a:t>Overall risk to the release would be Low.</a:t>
                      </a:r>
                    </a:p>
                    <a:p>
                      <a:pPr marL="171450" indent="-171450">
                        <a:buFont typeface="Arial" panose="020B0604020202020204" pitchFamily="34" charset="0"/>
                        <a:buChar char="•"/>
                      </a:pPr>
                      <a:r>
                        <a:rPr lang="en-CA" sz="1000" i="1">
                          <a:latin typeface="Arial" panose="020B0604020202020204" pitchFamily="34" charset="0"/>
                          <a:cs typeface="Arial" panose="020B0604020202020204" pitchFamily="34" charset="0"/>
                        </a:rPr>
                        <a:t>Unexplored: possibility of keeping pilot very short; example Pilot Fri/Sat, Mass Sat/Sun</a:t>
                      </a:r>
                      <a:endParaRPr lang="en-US" sz="1000" i="1">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40408286"/>
                  </a:ext>
                </a:extLst>
              </a:tr>
              <a:tr h="370840">
                <a:tc>
                  <a:txBody>
                    <a:bodyPr/>
                    <a:lstStyle/>
                    <a:p>
                      <a:pPr marR="0" lvl="0"/>
                      <a:r>
                        <a:rPr lang="en-CA" sz="1200" b="1">
                          <a:solidFill>
                            <a:srgbClr val="0070C0"/>
                          </a:solidFill>
                          <a:effectLst/>
                          <a:latin typeface="Arial" panose="020B0604020202020204" pitchFamily="34" charset="0"/>
                          <a:ea typeface="Times New Roman" panose="02020603050405020304" pitchFamily="18" charset="0"/>
                          <a:cs typeface="Arial" panose="020B0604020202020204" pitchFamily="34" charset="0"/>
                        </a:rPr>
                        <a:t>Scenario 2 - </a:t>
                      </a:r>
                      <a:r>
                        <a:rPr lang="en-CA" sz="1200" b="1">
                          <a:solidFill>
                            <a:srgbClr val="0070C0"/>
                          </a:solidFill>
                          <a:latin typeface="Arial" panose="020B0604020202020204" pitchFamily="34" charset="0"/>
                          <a:cs typeface="Arial" panose="020B0604020202020204" pitchFamily="34" charset="0"/>
                        </a:rPr>
                        <a:t>Historically made 2-week shift</a:t>
                      </a:r>
                    </a:p>
                    <a:p>
                      <a:pPr marL="111125" marR="0" lvl="0" indent="-111125">
                        <a:buFont typeface="Symbol" panose="05050102010706020507" pitchFamily="18" charset="2"/>
                        <a:buChar char=""/>
                      </a:pPr>
                      <a:r>
                        <a:rPr lang="en-CA" sz="1000">
                          <a:effectLst/>
                          <a:latin typeface="Arial" panose="020B0604020202020204" pitchFamily="34" charset="0"/>
                          <a:ea typeface="Times New Roman" panose="02020603050405020304" pitchFamily="18" charset="0"/>
                          <a:cs typeface="Arial" panose="020B0604020202020204" pitchFamily="34" charset="0"/>
                        </a:rPr>
                        <a:t>Sept 20-21 - COINS Pilot &amp; Deposit Release</a:t>
                      </a:r>
                    </a:p>
                    <a:p>
                      <a:pPr marL="111125" marR="0" lvl="0" indent="-111125">
                        <a:buFont typeface="Symbol" panose="05050102010706020507" pitchFamily="18" charset="2"/>
                        <a:buChar char=""/>
                      </a:pPr>
                      <a:r>
                        <a:rPr lang="en-CA" sz="1000">
                          <a:effectLst/>
                          <a:latin typeface="Arial" panose="020B0604020202020204" pitchFamily="34" charset="0"/>
                          <a:ea typeface="Times New Roman" panose="02020603050405020304" pitchFamily="18" charset="0"/>
                          <a:cs typeface="Arial" panose="020B0604020202020204" pitchFamily="34" charset="0"/>
                        </a:rPr>
                        <a:t>Sept 28 - COINS Mass</a:t>
                      </a:r>
                    </a:p>
                    <a:p>
                      <a:pPr marL="111125" marR="0" lvl="0" indent="-111125">
                        <a:buFont typeface="Symbol" panose="05050102010706020507" pitchFamily="18" charset="2"/>
                        <a:buChar char=""/>
                      </a:pPr>
                      <a:r>
                        <a:rPr lang="en-CA" sz="1000">
                          <a:effectLst/>
                          <a:latin typeface="Arial" panose="020B0604020202020204" pitchFamily="34" charset="0"/>
                          <a:ea typeface="Times New Roman" panose="02020603050405020304" pitchFamily="18" charset="0"/>
                          <a:cs typeface="Arial" panose="020B0604020202020204" pitchFamily="34" charset="0"/>
                        </a:rPr>
                        <a:t>Oct 4-5 - Lending Release</a:t>
                      </a:r>
                    </a:p>
                    <a:p>
                      <a:pPr marL="0" marR="0" lvl="0" indent="0">
                        <a:buFont typeface="Symbol" panose="05050102010706020507" pitchFamily="18" charset="2"/>
                        <a:buNone/>
                      </a:pPr>
                      <a:endParaRPr lang="en-CA" sz="1100">
                        <a:effectLst/>
                        <a:latin typeface="Arial" panose="020B0604020202020204" pitchFamily="34" charset="0"/>
                        <a:ea typeface="Times New Roman" panose="02020603050405020304" pitchFamily="18" charset="0"/>
                        <a:cs typeface="Arial" panose="020B0604020202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00">
                          <a:latin typeface="Arial" panose="020B0604020202020204" pitchFamily="34" charset="0"/>
                          <a:ea typeface="Times New Roman" panose="02020603050405020304" pitchFamily="18" charset="0"/>
                          <a:cs typeface="Arial" panose="020B0604020202020204" pitchFamily="34" charset="0"/>
                        </a:rPr>
                        <a:t>Lending Release would be required to push out 2-weeks to Oct 4-5 weekend.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00">
                          <a:effectLst/>
                          <a:latin typeface="Arial" panose="020B0604020202020204" pitchFamily="34" charset="0"/>
                          <a:ea typeface="Times New Roman" panose="02020603050405020304" pitchFamily="18" charset="0"/>
                          <a:cs typeface="Arial" panose="020B0604020202020204" pitchFamily="34" charset="0"/>
                        </a:rPr>
                        <a:t>Test environment for following November release will be impacted. Assessment required on whether this can be absorbed or if release has to push out.</a:t>
                      </a:r>
                    </a:p>
                  </a:txBody>
                  <a:tcPr/>
                </a:tc>
                <a:extLst>
                  <a:ext uri="{0D108BD9-81ED-4DB2-BD59-A6C34878D82A}">
                    <a16:rowId xmlns:a16="http://schemas.microsoft.com/office/drawing/2014/main" val="4049552578"/>
                  </a:ext>
                </a:extLst>
              </a:tr>
              <a:tr h="370840">
                <a:tc>
                  <a:txBody>
                    <a:bodyPr/>
                    <a:lstStyle/>
                    <a:p>
                      <a:pPr marR="0" lvl="0"/>
                      <a:r>
                        <a:rPr lang="en-CA" sz="1200" b="1">
                          <a:solidFill>
                            <a:srgbClr val="0070C0"/>
                          </a:solidFill>
                          <a:effectLst/>
                          <a:latin typeface="Arial" panose="020B0604020202020204" pitchFamily="34" charset="0"/>
                          <a:ea typeface="Times New Roman" panose="02020603050405020304" pitchFamily="18" charset="0"/>
                          <a:cs typeface="Arial" panose="020B0604020202020204" pitchFamily="34" charset="0"/>
                        </a:rPr>
                        <a:t>Scenario 3 - </a:t>
                      </a:r>
                      <a:r>
                        <a:rPr lang="en-CA" sz="1200" b="1">
                          <a:solidFill>
                            <a:srgbClr val="0070C0"/>
                          </a:solidFill>
                          <a:latin typeface="Arial" panose="020B0604020202020204" pitchFamily="34" charset="0"/>
                          <a:cs typeface="Arial" panose="020B0604020202020204" pitchFamily="34" charset="0"/>
                        </a:rPr>
                        <a:t>CLASS to Implement all OSFI changes in COINS Pilot</a:t>
                      </a:r>
                    </a:p>
                    <a:p>
                      <a:pPr marL="111125" marR="0" lvl="0" indent="-111125">
                        <a:buFont typeface="Symbol" panose="05050102010706020507" pitchFamily="18" charset="2"/>
                        <a:buChar char=""/>
                      </a:pPr>
                      <a:r>
                        <a:rPr lang="en-CA" sz="1000">
                          <a:effectLst/>
                          <a:latin typeface="Arial" panose="020B0604020202020204" pitchFamily="34" charset="0"/>
                          <a:ea typeface="Aptos" panose="020B0004020202020204" pitchFamily="34" charset="0"/>
                          <a:cs typeface="Arial" panose="020B0604020202020204" pitchFamily="34" charset="0"/>
                        </a:rPr>
                        <a:t>Sept 20-21 - COINS Pilot, Deposits, CLASS only </a:t>
                      </a:r>
                      <a:r>
                        <a:rPr lang="en-CA" sz="1000" i="1">
                          <a:effectLst/>
                          <a:latin typeface="Arial" panose="020B0604020202020204" pitchFamily="34" charset="0"/>
                          <a:ea typeface="Aptos" panose="020B0004020202020204" pitchFamily="34" charset="0"/>
                          <a:cs typeface="Arial" panose="020B0604020202020204" pitchFamily="34" charset="0"/>
                        </a:rPr>
                        <a:t>or all Lending (pending assessment)</a:t>
                      </a:r>
                    </a:p>
                    <a:p>
                      <a:pPr marL="111125" marR="0" lvl="0" indent="-111125">
                        <a:buFont typeface="Symbol" panose="05050102010706020507" pitchFamily="18" charset="2"/>
                        <a:buChar char=""/>
                      </a:pPr>
                      <a:r>
                        <a:rPr lang="en-CA" sz="1000">
                          <a:effectLst/>
                          <a:latin typeface="Arial" panose="020B0604020202020204" pitchFamily="34" charset="0"/>
                          <a:ea typeface="Aptos" panose="020B0004020202020204" pitchFamily="34" charset="0"/>
                          <a:cs typeface="Arial" panose="020B0604020202020204" pitchFamily="34" charset="0"/>
                        </a:rPr>
                        <a:t>Sept 27 - COINS Mass</a:t>
                      </a:r>
                    </a:p>
                    <a:p>
                      <a:pPr marL="111125" marR="0" lvl="0" indent="-111125">
                        <a:buFont typeface="Symbol" panose="05050102010706020507" pitchFamily="18" charset="2"/>
                        <a:buChar char=""/>
                      </a:pPr>
                      <a:r>
                        <a:rPr lang="en-CA" sz="1000" i="1">
                          <a:effectLst/>
                          <a:latin typeface="Arial" panose="020B0604020202020204" pitchFamily="34" charset="0"/>
                          <a:ea typeface="Aptos" panose="020B0004020202020204" pitchFamily="34" charset="0"/>
                          <a:cs typeface="Arial" panose="020B0604020202020204" pitchFamily="34" charset="0"/>
                        </a:rPr>
                        <a:t>Oct 4-5 – Rest of Lending Release (in case necessary)</a:t>
                      </a:r>
                      <a:endParaRPr lang="en-CA" sz="1100" i="1">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00">
                          <a:latin typeface="Arial" panose="020B0604020202020204" pitchFamily="34" charset="0"/>
                          <a:ea typeface="Aptos" panose="020B0004020202020204" pitchFamily="34" charset="0"/>
                          <a:cs typeface="Arial" panose="020B0604020202020204" pitchFamily="34" charset="0"/>
                        </a:rPr>
                        <a:t>In this scenario OSFI CLASS changes that would have been split across 2 releases would be combined and go with the first COINS Pilot release.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00">
                          <a:latin typeface="Arial" panose="020B0604020202020204" pitchFamily="34" charset="0"/>
                          <a:ea typeface="Aptos" panose="020B0004020202020204" pitchFamily="34" charset="0"/>
                          <a:cs typeface="Arial" panose="020B0604020202020204" pitchFamily="34" charset="0"/>
                        </a:rPr>
                        <a:t>Remainder of the non-GDF changes in Lending release would be implemented 2-weeks later on Oct 4-5 weekend.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00">
                          <a:effectLst/>
                          <a:latin typeface="Arial" panose="020B0604020202020204" pitchFamily="34" charset="0"/>
                          <a:ea typeface="Times New Roman" panose="02020603050405020304" pitchFamily="18" charset="0"/>
                          <a:cs typeface="Arial" panose="020B0604020202020204" pitchFamily="34" charset="0"/>
                        </a:rPr>
                        <a:t>Test environment for following November release will be impacted. Assessment required on whether this can be absorbed or if release has to push out.</a:t>
                      </a:r>
                      <a:endParaRPr lang="en-CA" sz="1000">
                        <a:effectLst/>
                        <a:latin typeface="Arial" panose="020B0604020202020204" pitchFamily="34" charset="0"/>
                        <a:ea typeface="Aptos" panose="020B0004020202020204" pitchFamily="34" charset="0"/>
                        <a:cs typeface="Arial" panose="020B0604020202020204" pitchFamily="34" charset="0"/>
                      </a:endParaRPr>
                    </a:p>
                    <a:p>
                      <a:endParaRPr lang="en-US"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2876399"/>
                  </a:ext>
                </a:extLst>
              </a:tr>
            </a:tbl>
          </a:graphicData>
        </a:graphic>
      </p:graphicFrame>
      <p:sp>
        <p:nvSpPr>
          <p:cNvPr id="11" name="TextBox 10">
            <a:extLst>
              <a:ext uri="{FF2B5EF4-FFF2-40B4-BE49-F238E27FC236}">
                <a16:creationId xmlns:a16="http://schemas.microsoft.com/office/drawing/2014/main" id="{36B25698-11A4-69CB-9ED5-1DC6DA4941A3}"/>
              </a:ext>
            </a:extLst>
          </p:cNvPr>
          <p:cNvSpPr txBox="1"/>
          <p:nvPr/>
        </p:nvSpPr>
        <p:spPr>
          <a:xfrm>
            <a:off x="754234" y="4866091"/>
            <a:ext cx="2208954" cy="769441"/>
          </a:xfrm>
          <a:prstGeom prst="rect">
            <a:avLst/>
          </a:prstGeom>
          <a:noFill/>
        </p:spPr>
        <p:txBody>
          <a:bodyPr wrap="square" rtlCol="0">
            <a:spAutoFit/>
          </a:bodyPr>
          <a:lstStyle/>
          <a:p>
            <a:pPr fontAlgn="ctr"/>
            <a:r>
              <a:rPr lang="en-CA" sz="1100" b="1">
                <a:solidFill>
                  <a:srgbClr val="000000"/>
                </a:solidFill>
                <a:latin typeface="Arial" panose="020B0604020202020204" pitchFamily="34" charset="0"/>
                <a:cs typeface="Arial" panose="020B0604020202020204" pitchFamily="34" charset="0"/>
              </a:rPr>
              <a:t>Impacted Scope:</a:t>
            </a:r>
          </a:p>
          <a:p>
            <a:pPr marL="171450" indent="-171450" fontAlgn="ctr">
              <a:buFont typeface="Arial" panose="020B0604020202020204" pitchFamily="34" charset="0"/>
              <a:buChar char="•"/>
            </a:pPr>
            <a:r>
              <a:rPr lang="en-CA" sz="1100">
                <a:solidFill>
                  <a:srgbClr val="000000"/>
                </a:solidFill>
                <a:latin typeface="Arial" panose="020B0604020202020204" pitchFamily="34" charset="0"/>
                <a:cs typeface="Arial" panose="020B0604020202020204" pitchFamily="34" charset="0"/>
              </a:rPr>
              <a:t>3745 – JEDI</a:t>
            </a:r>
          </a:p>
          <a:p>
            <a:pPr marL="171450" indent="-171450" fontAlgn="ctr">
              <a:buFont typeface="Arial" panose="020B0604020202020204" pitchFamily="34" charset="0"/>
              <a:buChar char="•"/>
            </a:pPr>
            <a:r>
              <a:rPr lang="en-CA" sz="1100">
                <a:solidFill>
                  <a:srgbClr val="000000"/>
                </a:solidFill>
                <a:latin typeface="Arial" panose="020B0604020202020204" pitchFamily="34" charset="0"/>
                <a:cs typeface="Arial" panose="020B0604020202020204" pitchFamily="34" charset="0"/>
              </a:rPr>
              <a:t>16355 – Bill C72</a:t>
            </a:r>
          </a:p>
          <a:p>
            <a:pPr marL="171450" indent="-171450" fontAlgn="ctr">
              <a:buFont typeface="Arial" panose="020B0604020202020204" pitchFamily="34" charset="0"/>
              <a:buChar char="•"/>
            </a:pPr>
            <a:r>
              <a:rPr lang="en-CA" sz="1100">
                <a:solidFill>
                  <a:srgbClr val="000000"/>
                </a:solidFill>
                <a:latin typeface="Arial" panose="020B0604020202020204" pitchFamily="34" charset="0"/>
                <a:cs typeface="Arial" panose="020B0604020202020204" pitchFamily="34" charset="0"/>
              </a:rPr>
              <a:t>OSFI MVP 5.2</a:t>
            </a:r>
          </a:p>
        </p:txBody>
      </p:sp>
    </p:spTree>
    <p:extLst>
      <p:ext uri="{BB962C8B-B14F-4D97-AF65-F5344CB8AC3E}">
        <p14:creationId xmlns:p14="http://schemas.microsoft.com/office/powerpoint/2010/main" val="11335648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528209-5D85-C233-966F-BD8CA4404BB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2A68B6B-9F0B-2BF3-4584-8482B1818CF9}"/>
              </a:ext>
            </a:extLst>
          </p:cNvPr>
          <p:cNvSpPr>
            <a:spLocks noGrp="1"/>
          </p:cNvSpPr>
          <p:nvPr>
            <p:ph type="title"/>
          </p:nvPr>
        </p:nvSpPr>
        <p:spPr>
          <a:xfrm>
            <a:off x="297180" y="219075"/>
            <a:ext cx="10933748" cy="581983"/>
          </a:xfrm>
        </p:spPr>
        <p:txBody>
          <a:bodyPr/>
          <a:lstStyle/>
          <a:p>
            <a:r>
              <a:rPr lang="en-CA" sz="2800"/>
              <a:t>September Release Scope</a:t>
            </a:r>
            <a:endParaRPr lang="en-US" sz="2800"/>
          </a:p>
        </p:txBody>
      </p:sp>
      <p:graphicFrame>
        <p:nvGraphicFramePr>
          <p:cNvPr id="13" name="Table 2">
            <a:extLst>
              <a:ext uri="{FF2B5EF4-FFF2-40B4-BE49-F238E27FC236}">
                <a16:creationId xmlns:a16="http://schemas.microsoft.com/office/drawing/2014/main" id="{604DE926-DF1D-1B3E-6203-E677EBB492E5}"/>
              </a:ext>
            </a:extLst>
          </p:cNvPr>
          <p:cNvGraphicFramePr>
            <a:graphicFrameLocks noGrp="1"/>
          </p:cNvGraphicFramePr>
          <p:nvPr/>
        </p:nvGraphicFramePr>
        <p:xfrm>
          <a:off x="6948023" y="219075"/>
          <a:ext cx="4588193" cy="182880"/>
        </p:xfrm>
        <a:graphic>
          <a:graphicData uri="http://schemas.openxmlformats.org/drawingml/2006/table">
            <a:tbl>
              <a:tblPr firstRow="1" bandRow="1"/>
              <a:tblGrid>
                <a:gridCol w="208280">
                  <a:extLst>
                    <a:ext uri="{9D8B030D-6E8A-4147-A177-3AD203B41FA5}">
                      <a16:colId xmlns:a16="http://schemas.microsoft.com/office/drawing/2014/main" val="2552748061"/>
                    </a:ext>
                  </a:extLst>
                </a:gridCol>
                <a:gridCol w="548640">
                  <a:extLst>
                    <a:ext uri="{9D8B030D-6E8A-4147-A177-3AD203B41FA5}">
                      <a16:colId xmlns:a16="http://schemas.microsoft.com/office/drawing/2014/main" val="2949818358"/>
                    </a:ext>
                  </a:extLst>
                </a:gridCol>
                <a:gridCol w="208280">
                  <a:extLst>
                    <a:ext uri="{9D8B030D-6E8A-4147-A177-3AD203B41FA5}">
                      <a16:colId xmlns:a16="http://schemas.microsoft.com/office/drawing/2014/main" val="3768384043"/>
                    </a:ext>
                  </a:extLst>
                </a:gridCol>
                <a:gridCol w="822960">
                  <a:extLst>
                    <a:ext uri="{9D8B030D-6E8A-4147-A177-3AD203B41FA5}">
                      <a16:colId xmlns:a16="http://schemas.microsoft.com/office/drawing/2014/main" val="3673821677"/>
                    </a:ext>
                  </a:extLst>
                </a:gridCol>
                <a:gridCol w="208280">
                  <a:extLst>
                    <a:ext uri="{9D8B030D-6E8A-4147-A177-3AD203B41FA5}">
                      <a16:colId xmlns:a16="http://schemas.microsoft.com/office/drawing/2014/main" val="1380191459"/>
                    </a:ext>
                  </a:extLst>
                </a:gridCol>
                <a:gridCol w="771843">
                  <a:extLst>
                    <a:ext uri="{9D8B030D-6E8A-4147-A177-3AD203B41FA5}">
                      <a16:colId xmlns:a16="http://schemas.microsoft.com/office/drawing/2014/main" val="2784429797"/>
                    </a:ext>
                  </a:extLst>
                </a:gridCol>
                <a:gridCol w="208280">
                  <a:extLst>
                    <a:ext uri="{9D8B030D-6E8A-4147-A177-3AD203B41FA5}">
                      <a16:colId xmlns:a16="http://schemas.microsoft.com/office/drawing/2014/main" val="906539283"/>
                    </a:ext>
                  </a:extLst>
                </a:gridCol>
                <a:gridCol w="822960">
                  <a:extLst>
                    <a:ext uri="{9D8B030D-6E8A-4147-A177-3AD203B41FA5}">
                      <a16:colId xmlns:a16="http://schemas.microsoft.com/office/drawing/2014/main" val="2265317318"/>
                    </a:ext>
                  </a:extLst>
                </a:gridCol>
                <a:gridCol w="240030">
                  <a:extLst>
                    <a:ext uri="{9D8B030D-6E8A-4147-A177-3AD203B41FA5}">
                      <a16:colId xmlns:a16="http://schemas.microsoft.com/office/drawing/2014/main" val="4285212843"/>
                    </a:ext>
                  </a:extLst>
                </a:gridCol>
                <a:gridCol w="548640">
                  <a:extLst>
                    <a:ext uri="{9D8B030D-6E8A-4147-A177-3AD203B41FA5}">
                      <a16:colId xmlns:a16="http://schemas.microsoft.com/office/drawing/2014/main" val="3048000558"/>
                    </a:ext>
                  </a:extLst>
                </a:gridCol>
              </a:tblGrid>
              <a:tr h="182880">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N</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Not Started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G</a:t>
                      </a:r>
                      <a:endParaRPr lang="en-US" sz="500" b="1">
                        <a:solidFill>
                          <a:schemeClr val="bg1"/>
                        </a:solidFill>
                      </a:endParaRPr>
                    </a:p>
                  </a:txBody>
                  <a:tcPr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In Progress, On Track</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Y</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May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solidFill>
                            <a:schemeClr val="bg1"/>
                          </a:solidFill>
                        </a:rPr>
                        <a:t>R</a:t>
                      </a:r>
                      <a:endParaRPr lang="en-US" sz="500" b="1">
                        <a:solidFill>
                          <a:schemeClr val="bg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Will Miss Target End</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ctr"/>
                      <a:r>
                        <a:rPr lang="en-CA" sz="500" b="1"/>
                        <a:t>C</a:t>
                      </a:r>
                      <a:endParaRPr lang="en-US" sz="500" b="1"/>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rebuchet MS"/>
                        </a:defRPr>
                      </a:lvl1pPr>
                      <a:lvl2pPr marL="457200" algn="l" defTabSz="914400" rtl="0" eaLnBrk="1" latinLnBrk="0" hangingPunct="1">
                        <a:defRPr sz="1800" kern="1200">
                          <a:solidFill>
                            <a:schemeClr val="tx1"/>
                          </a:solidFill>
                          <a:latin typeface="Trebuchet MS"/>
                        </a:defRPr>
                      </a:lvl2pPr>
                      <a:lvl3pPr marL="914400" algn="l" defTabSz="914400" rtl="0" eaLnBrk="1" latinLnBrk="0" hangingPunct="1">
                        <a:defRPr sz="1800" kern="1200">
                          <a:solidFill>
                            <a:schemeClr val="tx1"/>
                          </a:solidFill>
                          <a:latin typeface="Trebuchet MS"/>
                        </a:defRPr>
                      </a:lvl3pPr>
                      <a:lvl4pPr marL="1371600" algn="l" defTabSz="914400" rtl="0" eaLnBrk="1" latinLnBrk="0" hangingPunct="1">
                        <a:defRPr sz="1800" kern="1200">
                          <a:solidFill>
                            <a:schemeClr val="tx1"/>
                          </a:solidFill>
                          <a:latin typeface="Trebuchet MS"/>
                        </a:defRPr>
                      </a:lvl4pPr>
                      <a:lvl5pPr marL="1828800" algn="l" defTabSz="914400" rtl="0" eaLnBrk="1" latinLnBrk="0" hangingPunct="1">
                        <a:defRPr sz="1800" kern="1200">
                          <a:solidFill>
                            <a:schemeClr val="tx1"/>
                          </a:solidFill>
                          <a:latin typeface="Trebuchet MS"/>
                        </a:defRPr>
                      </a:lvl5pPr>
                      <a:lvl6pPr marL="2286000" algn="l" defTabSz="914400" rtl="0" eaLnBrk="1" latinLnBrk="0" hangingPunct="1">
                        <a:defRPr sz="1800" kern="1200">
                          <a:solidFill>
                            <a:schemeClr val="tx1"/>
                          </a:solidFill>
                          <a:latin typeface="Trebuchet MS"/>
                        </a:defRPr>
                      </a:lvl6pPr>
                      <a:lvl7pPr marL="2743200" algn="l" defTabSz="914400" rtl="0" eaLnBrk="1" latinLnBrk="0" hangingPunct="1">
                        <a:defRPr sz="1800" kern="1200">
                          <a:solidFill>
                            <a:schemeClr val="tx1"/>
                          </a:solidFill>
                          <a:latin typeface="Trebuchet MS"/>
                        </a:defRPr>
                      </a:lvl7pPr>
                      <a:lvl8pPr marL="3200400" algn="l" defTabSz="914400" rtl="0" eaLnBrk="1" latinLnBrk="0" hangingPunct="1">
                        <a:defRPr sz="1800" kern="1200">
                          <a:solidFill>
                            <a:schemeClr val="tx1"/>
                          </a:solidFill>
                          <a:latin typeface="Trebuchet MS"/>
                        </a:defRPr>
                      </a:lvl8pPr>
                      <a:lvl9pPr marL="3657600" algn="l" defTabSz="914400" rtl="0" eaLnBrk="1" latinLnBrk="0" hangingPunct="1">
                        <a:defRPr sz="1800" kern="1200">
                          <a:solidFill>
                            <a:schemeClr val="tx1"/>
                          </a:solidFill>
                          <a:latin typeface="Trebuchet MS"/>
                        </a:defRPr>
                      </a:lvl9pPr>
                    </a:lstStyle>
                    <a:p>
                      <a:pPr algn="l"/>
                      <a:r>
                        <a:rPr lang="en-CA" sz="500">
                          <a:solidFill>
                            <a:schemeClr val="tx1"/>
                          </a:solidFill>
                        </a:rPr>
                        <a:t>Complete</a:t>
                      </a:r>
                      <a:endParaRPr lang="en-US" sz="500">
                        <a:solidFill>
                          <a:schemeClr val="tx1"/>
                        </a:solidFill>
                      </a:endParaRPr>
                    </a:p>
                  </a:txBody>
                  <a:tcPr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393361"/>
                  </a:ext>
                </a:extLst>
              </a:tr>
            </a:tbl>
          </a:graphicData>
        </a:graphic>
      </p:graphicFrame>
      <p:graphicFrame>
        <p:nvGraphicFramePr>
          <p:cNvPr id="4" name="Table 3">
            <a:extLst>
              <a:ext uri="{FF2B5EF4-FFF2-40B4-BE49-F238E27FC236}">
                <a16:creationId xmlns:a16="http://schemas.microsoft.com/office/drawing/2014/main" id="{CB4E9485-CA47-ADA2-B27B-59D4B34B31F6}"/>
              </a:ext>
            </a:extLst>
          </p:cNvPr>
          <p:cNvGraphicFramePr>
            <a:graphicFrameLocks noGrp="1"/>
          </p:cNvGraphicFramePr>
          <p:nvPr>
            <p:extLst>
              <p:ext uri="{D42A27DB-BD31-4B8C-83A1-F6EECF244321}">
                <p14:modId xmlns:p14="http://schemas.microsoft.com/office/powerpoint/2010/main" val="676290421"/>
              </p:ext>
            </p:extLst>
          </p:nvPr>
        </p:nvGraphicFramePr>
        <p:xfrm>
          <a:off x="296862" y="1130183"/>
          <a:ext cx="10559259" cy="472812"/>
        </p:xfrm>
        <a:graphic>
          <a:graphicData uri="http://schemas.openxmlformats.org/drawingml/2006/table">
            <a:tbl>
              <a:tblPr/>
              <a:tblGrid>
                <a:gridCol w="3657600">
                  <a:extLst>
                    <a:ext uri="{9D8B030D-6E8A-4147-A177-3AD203B41FA5}">
                      <a16:colId xmlns:a16="http://schemas.microsoft.com/office/drawing/2014/main" val="1555836112"/>
                    </a:ext>
                  </a:extLst>
                </a:gridCol>
                <a:gridCol w="915968">
                  <a:extLst>
                    <a:ext uri="{9D8B030D-6E8A-4147-A177-3AD203B41FA5}">
                      <a16:colId xmlns:a16="http://schemas.microsoft.com/office/drawing/2014/main" val="1099049348"/>
                    </a:ext>
                  </a:extLst>
                </a:gridCol>
                <a:gridCol w="1082508">
                  <a:extLst>
                    <a:ext uri="{9D8B030D-6E8A-4147-A177-3AD203B41FA5}">
                      <a16:colId xmlns:a16="http://schemas.microsoft.com/office/drawing/2014/main" val="3151180337"/>
                    </a:ext>
                  </a:extLst>
                </a:gridCol>
                <a:gridCol w="707794">
                  <a:extLst>
                    <a:ext uri="{9D8B030D-6E8A-4147-A177-3AD203B41FA5}">
                      <a16:colId xmlns:a16="http://schemas.microsoft.com/office/drawing/2014/main" val="3022862623"/>
                    </a:ext>
                  </a:extLst>
                </a:gridCol>
                <a:gridCol w="274320">
                  <a:extLst>
                    <a:ext uri="{9D8B030D-6E8A-4147-A177-3AD203B41FA5}">
                      <a16:colId xmlns:a16="http://schemas.microsoft.com/office/drawing/2014/main" val="4021713883"/>
                    </a:ext>
                  </a:extLst>
                </a:gridCol>
                <a:gridCol w="274320">
                  <a:extLst>
                    <a:ext uri="{9D8B030D-6E8A-4147-A177-3AD203B41FA5}">
                      <a16:colId xmlns:a16="http://schemas.microsoft.com/office/drawing/2014/main" val="2581919780"/>
                    </a:ext>
                  </a:extLst>
                </a:gridCol>
                <a:gridCol w="274320">
                  <a:extLst>
                    <a:ext uri="{9D8B030D-6E8A-4147-A177-3AD203B41FA5}">
                      <a16:colId xmlns:a16="http://schemas.microsoft.com/office/drawing/2014/main" val="3431162721"/>
                    </a:ext>
                  </a:extLst>
                </a:gridCol>
                <a:gridCol w="3372429">
                  <a:extLst>
                    <a:ext uri="{9D8B030D-6E8A-4147-A177-3AD203B41FA5}">
                      <a16:colId xmlns:a16="http://schemas.microsoft.com/office/drawing/2014/main" val="600561143"/>
                    </a:ext>
                  </a:extLst>
                </a:gridCol>
              </a:tblGrid>
              <a:tr h="140518">
                <a:tc gridSpan="8">
                  <a:txBody>
                    <a:bodyPr/>
                    <a:lstStyle/>
                    <a:p>
                      <a:pPr algn="ctr" fontAlgn="ctr"/>
                      <a:r>
                        <a:rPr lang="en-CA" sz="1000" b="1" i="0" u="none" strike="noStrike">
                          <a:solidFill>
                            <a:srgbClr val="000000"/>
                          </a:solidFill>
                          <a:effectLst/>
                          <a:latin typeface="Trebuchet MS" panose="020B0603020202020204" pitchFamily="34" charset="0"/>
                        </a:rPr>
                        <a:t>September Deposit Release – Sep 8 </a:t>
                      </a:r>
                    </a:p>
                  </a:txBody>
                  <a:tcPr marL="5204" marR="5204" marT="52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75000"/>
                      </a:schemeClr>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204" marR="5204" marT="520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b"/>
                      <a:endParaRPr lang="en-CA" sz="800" b="1" i="0" u="none" strike="noStrike">
                        <a:solidFill>
                          <a:srgbClr val="000000"/>
                        </a:solidFill>
                        <a:effectLst/>
                        <a:latin typeface="Trebuchet MS" panose="020B0603020202020204" pitchFamily="34" charset="0"/>
                      </a:endParaRPr>
                    </a:p>
                  </a:txBody>
                  <a:tcPr marL="5204" marR="5204" marT="520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204" marR="5204" marT="520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204" marR="5204" marT="520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204" marR="5204" marT="520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204" marR="5204" marT="520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l" fontAlgn="ctr"/>
                      <a:endParaRPr lang="en-CA" sz="800" b="1" i="0" u="none" strike="noStrike">
                        <a:solidFill>
                          <a:srgbClr val="000000"/>
                        </a:solidFill>
                        <a:effectLst/>
                        <a:latin typeface="Trebuchet MS" panose="020B0603020202020204" pitchFamily="34" charset="0"/>
                      </a:endParaRPr>
                    </a:p>
                  </a:txBody>
                  <a:tcPr marL="5204" marR="5204" marT="52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694563113"/>
                  </a:ext>
                </a:extLst>
              </a:tr>
              <a:tr h="140518">
                <a:tc>
                  <a:txBody>
                    <a:bodyPr/>
                    <a:lstStyle/>
                    <a:p>
                      <a:pPr algn="l" fontAlgn="ctr"/>
                      <a:r>
                        <a:rPr lang="en-CA" sz="1000" b="1" i="0" u="none" strike="noStrike">
                          <a:solidFill>
                            <a:srgbClr val="000000"/>
                          </a:solidFill>
                          <a:effectLst/>
                          <a:latin typeface="Trebuchet MS" panose="020B0603020202020204" pitchFamily="34" charset="0"/>
                        </a:rPr>
                        <a:t>Item</a:t>
                      </a:r>
                    </a:p>
                  </a:txBody>
                  <a:tcPr marL="5204" marR="5204" marT="520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PM</a:t>
                      </a:r>
                    </a:p>
                  </a:txBody>
                  <a:tcPr marL="5204" marR="5204" marT="520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n-CA" sz="1000" b="1" i="0" u="none" strike="noStrike">
                          <a:solidFill>
                            <a:srgbClr val="000000"/>
                          </a:solidFill>
                          <a:effectLst/>
                          <a:latin typeface="Trebuchet MS" panose="020B0603020202020204" pitchFamily="34" charset="0"/>
                        </a:rPr>
                        <a:t>PD</a:t>
                      </a:r>
                    </a:p>
                  </a:txBody>
                  <a:tcPr marL="5204" marR="5204" marT="520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Type</a:t>
                      </a:r>
                    </a:p>
                  </a:txBody>
                  <a:tcPr marL="5204" marR="5204" marT="520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REQ</a:t>
                      </a:r>
                    </a:p>
                  </a:txBody>
                  <a:tcPr marL="5204" marR="5204" marT="520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DEV</a:t>
                      </a:r>
                    </a:p>
                  </a:txBody>
                  <a:tcPr marL="5204" marR="5204" marT="520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QA</a:t>
                      </a:r>
                    </a:p>
                  </a:txBody>
                  <a:tcPr marL="5204" marR="5204" marT="520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r>
                        <a:rPr lang="en-CA" sz="1000" b="1" i="0" u="none" strike="noStrike">
                          <a:solidFill>
                            <a:srgbClr val="000000"/>
                          </a:solidFill>
                          <a:effectLst/>
                          <a:latin typeface="Trebuchet MS" panose="020B0603020202020204" pitchFamily="34" charset="0"/>
                        </a:rPr>
                        <a:t>Apps</a:t>
                      </a:r>
                    </a:p>
                  </a:txBody>
                  <a:tcPr marL="5204" marR="5204" marT="52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968571732"/>
                  </a:ext>
                </a:extLst>
              </a:tr>
              <a:tr h="140518">
                <a:tc>
                  <a:txBody>
                    <a:bodyPr/>
                    <a:lstStyle/>
                    <a:p>
                      <a:pPr algn="l" fontAlgn="ctr"/>
                      <a:r>
                        <a:rPr lang="en-CA" sz="1000" b="0" i="0" u="none" strike="noStrike">
                          <a:solidFill>
                            <a:srgbClr val="000000"/>
                          </a:solidFill>
                          <a:effectLst/>
                          <a:latin typeface="Trebuchet MS" panose="020B0603020202020204" pitchFamily="34" charset="0"/>
                        </a:rPr>
                        <a:t>2981 | Open Banking Data Out</a:t>
                      </a:r>
                    </a:p>
                  </a:txBody>
                  <a:tcPr marL="5204" marR="5204" marT="520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Sanjay</a:t>
                      </a:r>
                    </a:p>
                  </a:txBody>
                  <a:tcPr marL="5204" marR="5204" marT="520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Sahni, Rachna</a:t>
                      </a:r>
                    </a:p>
                  </a:txBody>
                  <a:tcPr marL="5204" marR="5204" marT="520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MOP</a:t>
                      </a:r>
                    </a:p>
                  </a:txBody>
                  <a:tcPr marL="5204" marR="5204" marT="520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204" marR="5204" marT="52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204" marR="5204" marT="52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1" i="0" u="none" strike="noStrike">
                          <a:solidFill>
                            <a:srgbClr val="FFFFFF"/>
                          </a:solidFill>
                          <a:effectLst/>
                          <a:latin typeface="Trebuchet MS" panose="020B0603020202020204" pitchFamily="34" charset="0"/>
                        </a:rPr>
                        <a:t>N</a:t>
                      </a:r>
                    </a:p>
                  </a:txBody>
                  <a:tcPr marL="5204" marR="5204" marT="52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r>
                        <a:rPr lang="en-CA" sz="1000" b="0" i="0" u="none" strike="noStrike">
                          <a:solidFill>
                            <a:srgbClr val="000000"/>
                          </a:solidFill>
                          <a:effectLst/>
                          <a:latin typeface="Trebuchet MS" panose="020B0603020202020204" pitchFamily="34" charset="0"/>
                        </a:rPr>
                        <a:t>ENVOY, CLASS, COLT, Excalibur, IPS</a:t>
                      </a:r>
                    </a:p>
                  </a:txBody>
                  <a:tcPr marL="5204" marR="5204" marT="52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90217"/>
                  </a:ext>
                </a:extLst>
              </a:tr>
            </a:tbl>
          </a:graphicData>
        </a:graphic>
      </p:graphicFrame>
      <p:graphicFrame>
        <p:nvGraphicFramePr>
          <p:cNvPr id="7" name="Table 6">
            <a:extLst>
              <a:ext uri="{FF2B5EF4-FFF2-40B4-BE49-F238E27FC236}">
                <a16:creationId xmlns:a16="http://schemas.microsoft.com/office/drawing/2014/main" id="{7FEC1170-1A57-79F1-DF0B-5A2DF2A98250}"/>
              </a:ext>
            </a:extLst>
          </p:cNvPr>
          <p:cNvGraphicFramePr>
            <a:graphicFrameLocks noGrp="1"/>
          </p:cNvGraphicFramePr>
          <p:nvPr>
            <p:extLst>
              <p:ext uri="{D42A27DB-BD31-4B8C-83A1-F6EECF244321}">
                <p14:modId xmlns:p14="http://schemas.microsoft.com/office/powerpoint/2010/main" val="2433909828"/>
              </p:ext>
            </p:extLst>
          </p:nvPr>
        </p:nvGraphicFramePr>
        <p:xfrm>
          <a:off x="296860" y="1767917"/>
          <a:ext cx="10559259" cy="1244960"/>
        </p:xfrm>
        <a:graphic>
          <a:graphicData uri="http://schemas.openxmlformats.org/drawingml/2006/table">
            <a:tbl>
              <a:tblPr/>
              <a:tblGrid>
                <a:gridCol w="3696080">
                  <a:extLst>
                    <a:ext uri="{9D8B030D-6E8A-4147-A177-3AD203B41FA5}">
                      <a16:colId xmlns:a16="http://schemas.microsoft.com/office/drawing/2014/main" val="1651509765"/>
                    </a:ext>
                  </a:extLst>
                </a:gridCol>
                <a:gridCol w="798566">
                  <a:extLst>
                    <a:ext uri="{9D8B030D-6E8A-4147-A177-3AD203B41FA5}">
                      <a16:colId xmlns:a16="http://schemas.microsoft.com/office/drawing/2014/main" val="485746597"/>
                    </a:ext>
                  </a:extLst>
                </a:gridCol>
                <a:gridCol w="943760">
                  <a:extLst>
                    <a:ext uri="{9D8B030D-6E8A-4147-A177-3AD203B41FA5}">
                      <a16:colId xmlns:a16="http://schemas.microsoft.com/office/drawing/2014/main" val="3020831654"/>
                    </a:ext>
                  </a:extLst>
                </a:gridCol>
                <a:gridCol w="617073">
                  <a:extLst>
                    <a:ext uri="{9D8B030D-6E8A-4147-A177-3AD203B41FA5}">
                      <a16:colId xmlns:a16="http://schemas.microsoft.com/office/drawing/2014/main" val="646132266"/>
                    </a:ext>
                  </a:extLst>
                </a:gridCol>
                <a:gridCol w="277206">
                  <a:extLst>
                    <a:ext uri="{9D8B030D-6E8A-4147-A177-3AD203B41FA5}">
                      <a16:colId xmlns:a16="http://schemas.microsoft.com/office/drawing/2014/main" val="32894151"/>
                    </a:ext>
                  </a:extLst>
                </a:gridCol>
                <a:gridCol w="277206">
                  <a:extLst>
                    <a:ext uri="{9D8B030D-6E8A-4147-A177-3AD203B41FA5}">
                      <a16:colId xmlns:a16="http://schemas.microsoft.com/office/drawing/2014/main" val="259552054"/>
                    </a:ext>
                  </a:extLst>
                </a:gridCol>
                <a:gridCol w="277206">
                  <a:extLst>
                    <a:ext uri="{9D8B030D-6E8A-4147-A177-3AD203B41FA5}">
                      <a16:colId xmlns:a16="http://schemas.microsoft.com/office/drawing/2014/main" val="1450974148"/>
                    </a:ext>
                  </a:extLst>
                </a:gridCol>
                <a:gridCol w="2940175">
                  <a:extLst>
                    <a:ext uri="{9D8B030D-6E8A-4147-A177-3AD203B41FA5}">
                      <a16:colId xmlns:a16="http://schemas.microsoft.com/office/drawing/2014/main" val="2291551812"/>
                    </a:ext>
                  </a:extLst>
                </a:gridCol>
                <a:gridCol w="731987">
                  <a:extLst>
                    <a:ext uri="{9D8B030D-6E8A-4147-A177-3AD203B41FA5}">
                      <a16:colId xmlns:a16="http://schemas.microsoft.com/office/drawing/2014/main" val="833585316"/>
                    </a:ext>
                  </a:extLst>
                </a:gridCol>
              </a:tblGrid>
              <a:tr h="139115">
                <a:tc gridSpan="9">
                  <a:txBody>
                    <a:bodyPr/>
                    <a:lstStyle/>
                    <a:p>
                      <a:pPr algn="ctr" fontAlgn="ctr"/>
                      <a:r>
                        <a:rPr lang="en-CA" sz="1000" b="1" i="0" u="none" strike="noStrike">
                          <a:solidFill>
                            <a:srgbClr val="000000"/>
                          </a:solidFill>
                          <a:effectLst/>
                          <a:latin typeface="Trebuchet MS" panose="020B0603020202020204" pitchFamily="34" charset="0"/>
                        </a:rPr>
                        <a:t>September Deposit Release – Sep 21</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CE6F"/>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b"/>
                      <a:endParaRPr lang="en-CA" sz="800" b="1" i="0" u="none" strike="noStrike">
                        <a:solidFill>
                          <a:srgbClr val="000000"/>
                        </a:solidFill>
                        <a:effectLst/>
                        <a:latin typeface="Trebuchet MS" panose="020B0603020202020204" pitchFamily="34" charset="0"/>
                      </a:endParaRPr>
                    </a:p>
                  </a:txBody>
                  <a:tcPr marL="5152" marR="5152" marT="515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l" fontAlgn="ctr"/>
                      <a:endParaRPr lang="en-CA" sz="800" b="1" i="0" u="none" strike="noStrike">
                        <a:solidFill>
                          <a:srgbClr val="000000"/>
                        </a:solidFill>
                        <a:effectLst/>
                        <a:latin typeface="Trebuchet MS" panose="020B0603020202020204" pitchFamily="34" charset="0"/>
                      </a:endParaRP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718872736"/>
                  </a:ext>
                </a:extLst>
              </a:tr>
              <a:tr h="139115">
                <a:tc>
                  <a:txBody>
                    <a:bodyPr/>
                    <a:lstStyle/>
                    <a:p>
                      <a:pPr algn="l" fontAlgn="ctr"/>
                      <a:r>
                        <a:rPr lang="en-CA" sz="1000" b="1" i="0" u="none" strike="noStrike">
                          <a:solidFill>
                            <a:srgbClr val="000000"/>
                          </a:solidFill>
                          <a:effectLst/>
                          <a:latin typeface="Trebuchet MS" panose="020B0603020202020204" pitchFamily="34" charset="0"/>
                        </a:rPr>
                        <a:t>Item</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PM</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n-CA" sz="1000" b="1" i="0" u="none" strike="noStrike">
                          <a:solidFill>
                            <a:srgbClr val="000000"/>
                          </a:solidFill>
                          <a:effectLst/>
                          <a:latin typeface="Trebuchet MS" panose="020B0603020202020204" pitchFamily="34" charset="0"/>
                        </a:rPr>
                        <a:t>PD</a:t>
                      </a:r>
                    </a:p>
                  </a:txBody>
                  <a:tcPr marL="5152" marR="5152" marT="515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Type</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REQ</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DEV</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QA</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r>
                        <a:rPr lang="en-CA" sz="1000" b="1" i="0" u="none" strike="noStrike">
                          <a:solidFill>
                            <a:srgbClr val="000000"/>
                          </a:solidFill>
                          <a:effectLst/>
                          <a:latin typeface="Trebuchet MS" panose="020B0603020202020204" pitchFamily="34" charset="0"/>
                        </a:rPr>
                        <a:t>Apps</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COINS</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11024442"/>
                  </a:ext>
                </a:extLst>
              </a:tr>
              <a:tr h="252468">
                <a:tc>
                  <a:txBody>
                    <a:bodyPr/>
                    <a:lstStyle/>
                    <a:p>
                      <a:pPr algn="l" fontAlgn="ctr"/>
                      <a:r>
                        <a:rPr lang="en-CA" sz="1000" b="0" i="0" u="none" strike="noStrike">
                          <a:solidFill>
                            <a:srgbClr val="000000"/>
                          </a:solidFill>
                          <a:effectLst/>
                          <a:latin typeface="Trebuchet MS" panose="020B0603020202020204" pitchFamily="34" charset="0"/>
                        </a:rPr>
                        <a:t>16355 | Bill 72 - COPS Monthly Fixed Fee in QC</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Princy</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Panagiotoglou, Fred</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PRJ</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 </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CA" sz="1000" b="0" i="0" u="none" strike="noStrike">
                          <a:solidFill>
                            <a:srgbClr val="000000"/>
                          </a:solidFill>
                          <a:effectLst/>
                          <a:latin typeface="Trebuchet MS" panose="020B0603020202020204" pitchFamily="34" charset="0"/>
                        </a:rPr>
                        <a:t>COLT, PCA/SAV, STB, EDTS, ECM, ENVOY, COMPASS-AIM, GOW, </a:t>
                      </a:r>
                      <a:r>
                        <a:rPr lang="en-CA" sz="1000" b="0" i="0" u="none" strike="noStrike" err="1">
                          <a:solidFill>
                            <a:srgbClr val="000000"/>
                          </a:solidFill>
                          <a:effectLst/>
                          <a:latin typeface="Trebuchet MS" panose="020B0603020202020204" pitchFamily="34" charset="0"/>
                        </a:rPr>
                        <a:t>eBanking</a:t>
                      </a:r>
                      <a:endParaRPr lang="en-CA" sz="1000" b="0" i="0" u="none" strike="noStrike">
                        <a:solidFill>
                          <a:srgbClr val="000000"/>
                        </a:solidFill>
                        <a:effectLst/>
                        <a:latin typeface="Trebuchet MS" panose="020B0603020202020204" pitchFamily="34" charset="0"/>
                      </a:endParaRP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A" sz="1000" b="0" i="0" u="none" strike="noStrike">
                        <a:solidFill>
                          <a:srgbClr val="000000"/>
                        </a:solidFill>
                        <a:effectLst/>
                        <a:latin typeface="Trebuchet MS" panose="020B0603020202020204" pitchFamily="34" charset="0"/>
                      </a:endParaRP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4772678"/>
                  </a:ext>
                </a:extLst>
              </a:tr>
              <a:tr h="139115">
                <a:tc>
                  <a:txBody>
                    <a:bodyPr/>
                    <a:lstStyle/>
                    <a:p>
                      <a:pPr algn="l" fontAlgn="ctr"/>
                      <a:r>
                        <a:rPr lang="en-CA" sz="1000" b="0" i="0" u="none" strike="noStrike">
                          <a:solidFill>
                            <a:srgbClr val="000000"/>
                          </a:solidFill>
                          <a:effectLst/>
                          <a:latin typeface="Trebuchet MS" panose="020B0603020202020204" pitchFamily="34" charset="0"/>
                        </a:rPr>
                        <a:t>3718 | OSFI MVP 5.2 Administrative Approvals (Property Changes)</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Jill</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Sudan, Arpan</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PRJ</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1" i="0" u="none" strike="noStrike">
                          <a:solidFill>
                            <a:srgbClr val="FFFFFF"/>
                          </a:solidFill>
                          <a:effectLst/>
                          <a:latin typeface="Trebuchet MS" panose="020B0603020202020204" pitchFamily="34" charset="0"/>
                        </a:rPr>
                        <a:t>N</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r>
                        <a:rPr lang="en-CA" sz="1000" b="0" i="0" u="none" strike="noStrike">
                          <a:solidFill>
                            <a:srgbClr val="000000"/>
                          </a:solidFill>
                          <a:effectLst/>
                          <a:latin typeface="Trebuchet MS" panose="020B0603020202020204" pitchFamily="34" charset="0"/>
                        </a:rPr>
                        <a:t>Excalibur, CLASS, Lending API, CAAP, PostEdge, COINS (Host Facilities)</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Yes</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6939589"/>
                  </a:ext>
                </a:extLst>
              </a:tr>
              <a:tr h="139115">
                <a:tc>
                  <a:txBody>
                    <a:bodyPr/>
                    <a:lstStyle/>
                    <a:p>
                      <a:pPr algn="l" fontAlgn="ctr"/>
                      <a:r>
                        <a:rPr lang="en-CA" sz="1000" b="0" i="0" u="none" strike="noStrike">
                          <a:solidFill>
                            <a:srgbClr val="000000"/>
                          </a:solidFill>
                          <a:effectLst/>
                          <a:latin typeface="Trebuchet MS" panose="020B0603020202020204" pitchFamily="34" charset="0"/>
                        </a:rPr>
                        <a:t>3745 | Project JEDI (release 2/2 - Sep)</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Sidhartha</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Panagiotoglou, Fred</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PRJ</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1" i="0" u="none" strike="noStrike">
                          <a:solidFill>
                            <a:srgbClr val="FFFFFF"/>
                          </a:solidFill>
                          <a:effectLst/>
                          <a:latin typeface="Trebuchet MS" panose="020B0603020202020204" pitchFamily="34" charset="0"/>
                        </a:rPr>
                        <a:t>N</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r>
                        <a:rPr lang="en-CA" sz="1000" b="0" i="0" u="none" strike="noStrike">
                          <a:solidFill>
                            <a:srgbClr val="000000"/>
                          </a:solidFill>
                          <a:effectLst/>
                          <a:latin typeface="Trebuchet MS" panose="020B0603020202020204" pitchFamily="34" charset="0"/>
                        </a:rPr>
                        <a:t>RPE, COLT, PCA/SAV, FX, CI, DDGS, STB, ECM, COINS (Host Facilities)</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Yes</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637371"/>
                  </a:ext>
                </a:extLst>
              </a:tr>
            </a:tbl>
          </a:graphicData>
        </a:graphic>
      </p:graphicFrame>
      <p:graphicFrame>
        <p:nvGraphicFramePr>
          <p:cNvPr id="8" name="Table 7">
            <a:extLst>
              <a:ext uri="{FF2B5EF4-FFF2-40B4-BE49-F238E27FC236}">
                <a16:creationId xmlns:a16="http://schemas.microsoft.com/office/drawing/2014/main" id="{0BA5F44C-E15E-A7BE-F62F-E0F96DB84E8A}"/>
              </a:ext>
            </a:extLst>
          </p:cNvPr>
          <p:cNvGraphicFramePr>
            <a:graphicFrameLocks noGrp="1"/>
          </p:cNvGraphicFramePr>
          <p:nvPr>
            <p:extLst>
              <p:ext uri="{D42A27DB-BD31-4B8C-83A1-F6EECF244321}">
                <p14:modId xmlns:p14="http://schemas.microsoft.com/office/powerpoint/2010/main" val="671932755"/>
              </p:ext>
            </p:extLst>
          </p:nvPr>
        </p:nvGraphicFramePr>
        <p:xfrm>
          <a:off x="296860" y="3177799"/>
          <a:ext cx="10559261" cy="1875168"/>
        </p:xfrm>
        <a:graphic>
          <a:graphicData uri="http://schemas.openxmlformats.org/drawingml/2006/table">
            <a:tbl>
              <a:tblPr/>
              <a:tblGrid>
                <a:gridCol w="3713711">
                  <a:extLst>
                    <a:ext uri="{9D8B030D-6E8A-4147-A177-3AD203B41FA5}">
                      <a16:colId xmlns:a16="http://schemas.microsoft.com/office/drawing/2014/main" val="1651509765"/>
                    </a:ext>
                  </a:extLst>
                </a:gridCol>
                <a:gridCol w="908494">
                  <a:extLst>
                    <a:ext uri="{9D8B030D-6E8A-4147-A177-3AD203B41FA5}">
                      <a16:colId xmlns:a16="http://schemas.microsoft.com/office/drawing/2014/main" val="485746597"/>
                    </a:ext>
                  </a:extLst>
                </a:gridCol>
                <a:gridCol w="1073675">
                  <a:extLst>
                    <a:ext uri="{9D8B030D-6E8A-4147-A177-3AD203B41FA5}">
                      <a16:colId xmlns:a16="http://schemas.microsoft.com/office/drawing/2014/main" val="3020831654"/>
                    </a:ext>
                  </a:extLst>
                </a:gridCol>
                <a:gridCol w="702018">
                  <a:extLst>
                    <a:ext uri="{9D8B030D-6E8A-4147-A177-3AD203B41FA5}">
                      <a16:colId xmlns:a16="http://schemas.microsoft.com/office/drawing/2014/main" val="646132266"/>
                    </a:ext>
                  </a:extLst>
                </a:gridCol>
                <a:gridCol w="272152">
                  <a:extLst>
                    <a:ext uri="{9D8B030D-6E8A-4147-A177-3AD203B41FA5}">
                      <a16:colId xmlns:a16="http://schemas.microsoft.com/office/drawing/2014/main" val="32894151"/>
                    </a:ext>
                  </a:extLst>
                </a:gridCol>
                <a:gridCol w="272152">
                  <a:extLst>
                    <a:ext uri="{9D8B030D-6E8A-4147-A177-3AD203B41FA5}">
                      <a16:colId xmlns:a16="http://schemas.microsoft.com/office/drawing/2014/main" val="259552054"/>
                    </a:ext>
                  </a:extLst>
                </a:gridCol>
                <a:gridCol w="272152">
                  <a:extLst>
                    <a:ext uri="{9D8B030D-6E8A-4147-A177-3AD203B41FA5}">
                      <a16:colId xmlns:a16="http://schemas.microsoft.com/office/drawing/2014/main" val="1450974148"/>
                    </a:ext>
                  </a:extLst>
                </a:gridCol>
                <a:gridCol w="3344907">
                  <a:extLst>
                    <a:ext uri="{9D8B030D-6E8A-4147-A177-3AD203B41FA5}">
                      <a16:colId xmlns:a16="http://schemas.microsoft.com/office/drawing/2014/main" val="2291551812"/>
                    </a:ext>
                  </a:extLst>
                </a:gridCol>
              </a:tblGrid>
              <a:tr h="139115">
                <a:tc gridSpan="8">
                  <a:txBody>
                    <a:bodyPr/>
                    <a:lstStyle/>
                    <a:p>
                      <a:pPr algn="ctr" fontAlgn="ctr"/>
                      <a:r>
                        <a:rPr lang="en-CA" sz="1000" b="1" i="0" u="none" strike="noStrike">
                          <a:solidFill>
                            <a:srgbClr val="000000"/>
                          </a:solidFill>
                          <a:effectLst/>
                          <a:latin typeface="Trebuchet MS" panose="020B0603020202020204" pitchFamily="34" charset="0"/>
                        </a:rPr>
                        <a:t>September Lending Release – Sep 21</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9EE2"/>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b"/>
                      <a:endParaRPr lang="en-CA" sz="800" b="1" i="0" u="none" strike="noStrike">
                        <a:solidFill>
                          <a:srgbClr val="000000"/>
                        </a:solidFill>
                        <a:effectLst/>
                        <a:latin typeface="Trebuchet MS" panose="020B0603020202020204" pitchFamily="34" charset="0"/>
                      </a:endParaRPr>
                    </a:p>
                  </a:txBody>
                  <a:tcPr marL="5152" marR="5152" marT="515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ctr" fontAlgn="ctr"/>
                      <a:endParaRPr lang="en-CA" sz="800" b="1" i="0" u="none" strike="noStrike">
                        <a:solidFill>
                          <a:srgbClr val="000000"/>
                        </a:solidFill>
                        <a:effectLst/>
                        <a:latin typeface="Trebuchet MS" panose="020B0603020202020204" pitchFamily="34" charset="0"/>
                      </a:endParaRP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pPr algn="l" fontAlgn="ctr"/>
                      <a:endParaRPr lang="en-CA" sz="800" b="1" i="0" u="none" strike="noStrike">
                        <a:solidFill>
                          <a:srgbClr val="000000"/>
                        </a:solidFill>
                        <a:effectLst/>
                        <a:latin typeface="Trebuchet MS" panose="020B0603020202020204" pitchFamily="34" charset="0"/>
                      </a:endParaRP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718872736"/>
                  </a:ext>
                </a:extLst>
              </a:tr>
              <a:tr h="139115">
                <a:tc>
                  <a:txBody>
                    <a:bodyPr/>
                    <a:lstStyle/>
                    <a:p>
                      <a:pPr algn="l" fontAlgn="ctr"/>
                      <a:r>
                        <a:rPr lang="en-CA" sz="1000" b="1" i="0" u="none" strike="noStrike">
                          <a:solidFill>
                            <a:srgbClr val="000000"/>
                          </a:solidFill>
                          <a:effectLst/>
                          <a:latin typeface="Trebuchet MS" panose="020B0603020202020204" pitchFamily="34" charset="0"/>
                        </a:rPr>
                        <a:t>Item</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PM</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n-CA" sz="1000" b="1" i="0" u="none" strike="noStrike">
                          <a:solidFill>
                            <a:srgbClr val="000000"/>
                          </a:solidFill>
                          <a:effectLst/>
                          <a:latin typeface="Trebuchet MS" panose="020B0603020202020204" pitchFamily="34" charset="0"/>
                        </a:rPr>
                        <a:t>PD</a:t>
                      </a:r>
                    </a:p>
                  </a:txBody>
                  <a:tcPr marL="5152" marR="5152" marT="515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Type</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REQ</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DEV</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CA" sz="1000" b="1" i="0" u="none" strike="noStrike">
                          <a:solidFill>
                            <a:srgbClr val="000000"/>
                          </a:solidFill>
                          <a:effectLst/>
                          <a:latin typeface="Trebuchet MS" panose="020B0603020202020204" pitchFamily="34" charset="0"/>
                        </a:rPr>
                        <a:t>QA</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r>
                        <a:rPr lang="en-CA" sz="1000" b="1" i="0" u="none" strike="noStrike">
                          <a:solidFill>
                            <a:srgbClr val="000000"/>
                          </a:solidFill>
                          <a:effectLst/>
                          <a:latin typeface="Trebuchet MS" panose="020B0603020202020204" pitchFamily="34" charset="0"/>
                        </a:rPr>
                        <a:t>Apps</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11024442"/>
                  </a:ext>
                </a:extLst>
              </a:tr>
              <a:tr h="139115">
                <a:tc>
                  <a:txBody>
                    <a:bodyPr/>
                    <a:lstStyle/>
                    <a:p>
                      <a:pPr algn="l" fontAlgn="ctr"/>
                      <a:r>
                        <a:rPr lang="en-CA" sz="1000" b="0" i="0" u="none" strike="noStrike">
                          <a:solidFill>
                            <a:srgbClr val="000000"/>
                          </a:solidFill>
                          <a:effectLst/>
                          <a:latin typeface="Trebuchet MS" panose="020B0603020202020204" pitchFamily="34" charset="0"/>
                        </a:rPr>
                        <a:t>2616  | Renewal Due Diligence MVP2 (Phase 2)</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Novy</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Sudan, Arpan</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PRJ</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1" i="0" u="none" strike="noStrike">
                          <a:solidFill>
                            <a:srgbClr val="FFFFFF"/>
                          </a:solidFill>
                          <a:effectLst/>
                          <a:latin typeface="Trebuchet MS" panose="020B0603020202020204" pitchFamily="34" charset="0"/>
                        </a:rPr>
                        <a:t>N</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r>
                        <a:rPr lang="en-CA" sz="1000" b="0" i="0" u="none" strike="noStrike">
                          <a:solidFill>
                            <a:srgbClr val="000000"/>
                          </a:solidFill>
                          <a:effectLst/>
                          <a:latin typeface="Trebuchet MS" panose="020B0603020202020204" pitchFamily="34" charset="0"/>
                        </a:rPr>
                        <a:t>mMortgage, DDGS, Excalibur, Lending API</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7987263"/>
                  </a:ext>
                </a:extLst>
              </a:tr>
              <a:tr h="139115">
                <a:tc>
                  <a:txBody>
                    <a:bodyPr/>
                    <a:lstStyle/>
                    <a:p>
                      <a:pPr algn="l" fontAlgn="ctr"/>
                      <a:r>
                        <a:rPr lang="en-CA" sz="1000" b="0" i="0" u="none" strike="noStrike">
                          <a:solidFill>
                            <a:srgbClr val="000000"/>
                          </a:solidFill>
                          <a:effectLst/>
                          <a:latin typeface="Trebuchet MS" panose="020B0603020202020204" pitchFamily="34" charset="0"/>
                        </a:rPr>
                        <a:t>16302 | Shift Left - MVP2</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Prateek</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Sahni, Rachna</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PRJ</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1" i="0" u="none" strike="noStrike">
                          <a:solidFill>
                            <a:srgbClr val="FFFFFF"/>
                          </a:solidFill>
                          <a:effectLst/>
                          <a:latin typeface="Trebuchet MS" panose="020B0603020202020204" pitchFamily="34" charset="0"/>
                        </a:rPr>
                        <a:t>N</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r>
                        <a:rPr lang="en-CA" sz="1000" b="0" i="0" u="none" strike="noStrike">
                          <a:solidFill>
                            <a:srgbClr val="000000"/>
                          </a:solidFill>
                          <a:effectLst/>
                          <a:latin typeface="Trebuchet MS" panose="020B0603020202020204" pitchFamily="34" charset="0"/>
                        </a:rPr>
                        <a:t> DM</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061158"/>
                  </a:ext>
                </a:extLst>
              </a:tr>
              <a:tr h="139115">
                <a:tc>
                  <a:txBody>
                    <a:bodyPr/>
                    <a:lstStyle/>
                    <a:p>
                      <a:pPr algn="l" fontAlgn="ctr"/>
                      <a:r>
                        <a:rPr lang="en-CA" sz="1000" b="0" i="0" u="none" strike="noStrike">
                          <a:solidFill>
                            <a:srgbClr val="000000"/>
                          </a:solidFill>
                          <a:effectLst/>
                          <a:latin typeface="Trebuchet MS" panose="020B0603020202020204" pitchFamily="34" charset="0"/>
                        </a:rPr>
                        <a:t>2979 | Ministerial Loan Guarantee Compliance Issue</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Faisal</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Sudan, Arpan</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PRJ</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1" i="0" u="none" strike="noStrike">
                          <a:solidFill>
                            <a:srgbClr val="FFFFFF"/>
                          </a:solidFill>
                          <a:effectLst/>
                          <a:latin typeface="Trebuchet MS" panose="020B0603020202020204" pitchFamily="34" charset="0"/>
                        </a:rPr>
                        <a:t>N/A</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r>
                        <a:rPr lang="en-CA" sz="1000" b="0" i="0" u="none" strike="noStrike">
                          <a:solidFill>
                            <a:srgbClr val="000000"/>
                          </a:solidFill>
                          <a:effectLst/>
                          <a:latin typeface="Trebuchet MS" panose="020B0603020202020204" pitchFamily="34" charset="0"/>
                        </a:rPr>
                        <a:t>Excalibur, DDGS, ENVOY, CAAP</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7169987"/>
                  </a:ext>
                </a:extLst>
              </a:tr>
              <a:tr h="252468">
                <a:tc>
                  <a:txBody>
                    <a:bodyPr/>
                    <a:lstStyle/>
                    <a:p>
                      <a:pPr algn="l" fontAlgn="ctr"/>
                      <a:r>
                        <a:rPr lang="en-CA" sz="1000" b="0" i="0" u="none" strike="noStrike">
                          <a:solidFill>
                            <a:srgbClr val="000000"/>
                          </a:solidFill>
                          <a:effectLst/>
                          <a:latin typeface="Trebuchet MS" panose="020B0603020202020204" pitchFamily="34" charset="0"/>
                        </a:rPr>
                        <a:t>3084 | Hopper 4 - FHDC Controls</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Stephen</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Sudan, Arpan</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PRJ</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1" i="0" u="none" strike="noStrike">
                          <a:solidFill>
                            <a:srgbClr val="FFFFFF"/>
                          </a:solidFill>
                          <a:effectLst/>
                          <a:latin typeface="Trebuchet MS" panose="020B0603020202020204" pitchFamily="34" charset="0"/>
                        </a:rPr>
                        <a:t>N</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r>
                        <a:rPr lang="en-CA" sz="1000" b="0" i="0" u="none" strike="noStrike">
                          <a:solidFill>
                            <a:srgbClr val="000000"/>
                          </a:solidFill>
                          <a:effectLst/>
                          <a:latin typeface="Trebuchet MS" panose="020B0603020202020204" pitchFamily="34" charset="0"/>
                        </a:rPr>
                        <a:t>DM, LCMS, Excalibur, CAAP, Lending API, CLASS, mMortgage, TABS, EDH, EDSF, CIW, ECIF, GOW, MI Lending, Lending BI</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5668986"/>
                  </a:ext>
                </a:extLst>
              </a:tr>
              <a:tr h="128810">
                <a:tc>
                  <a:txBody>
                    <a:bodyPr/>
                    <a:lstStyle/>
                    <a:p>
                      <a:pPr algn="l" fontAlgn="ctr"/>
                      <a:r>
                        <a:rPr lang="en-CA" sz="1000" b="0" i="0" u="none" strike="noStrike">
                          <a:solidFill>
                            <a:srgbClr val="000000"/>
                          </a:solidFill>
                          <a:effectLst/>
                          <a:latin typeface="Trebuchet MS" panose="020B0603020202020204" pitchFamily="34" charset="0"/>
                        </a:rPr>
                        <a:t>3503 | CIPS Tranche-3 Ph2</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Sudarshi</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Panagiotoglou, Fred</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PRJ</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1" i="0" u="none" strike="noStrike">
                          <a:solidFill>
                            <a:srgbClr val="FFFFFF"/>
                          </a:solidFill>
                          <a:effectLst/>
                          <a:latin typeface="Trebuchet MS" panose="020B0603020202020204" pitchFamily="34" charset="0"/>
                        </a:rPr>
                        <a:t>N</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r>
                        <a:rPr lang="en-CA" sz="1000" b="0" i="0" u="none" strike="noStrike">
                          <a:solidFill>
                            <a:srgbClr val="000000"/>
                          </a:solidFill>
                          <a:effectLst/>
                          <a:latin typeface="Trebuchet MS" panose="020B0603020202020204" pitchFamily="34" charset="0"/>
                        </a:rPr>
                        <a:t>DDGS, DDGS API</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0425778"/>
                  </a:ext>
                </a:extLst>
              </a:tr>
              <a:tr h="154572">
                <a:tc>
                  <a:txBody>
                    <a:bodyPr/>
                    <a:lstStyle/>
                    <a:p>
                      <a:pPr algn="l" fontAlgn="ctr"/>
                      <a:r>
                        <a:rPr lang="en-CA" sz="1000" b="0" i="0" u="none" strike="noStrike">
                          <a:solidFill>
                            <a:srgbClr val="000000"/>
                          </a:solidFill>
                          <a:effectLst/>
                          <a:latin typeface="Trebuchet MS" panose="020B0603020202020204" pitchFamily="34" charset="0"/>
                        </a:rPr>
                        <a:t>4061 | Fixing Condo Fees for RESL</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Ganesh</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Sahni, Rachna</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MOP</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1" i="0" u="none" strike="noStrike">
                          <a:solidFill>
                            <a:srgbClr val="FFFFFF"/>
                          </a:solidFill>
                          <a:effectLst/>
                          <a:latin typeface="Trebuchet MS" panose="020B0603020202020204" pitchFamily="34" charset="0"/>
                        </a:rPr>
                        <a:t>N</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ctr"/>
                      <a:r>
                        <a:rPr lang="en-CA" sz="1000" b="0" i="0" u="none" strike="noStrike">
                          <a:solidFill>
                            <a:srgbClr val="000000"/>
                          </a:solidFill>
                          <a:effectLst/>
                          <a:latin typeface="Trebuchet MS" panose="020B0603020202020204" pitchFamily="34" charset="0"/>
                        </a:rPr>
                        <a:t>DM</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5073358"/>
                  </a:ext>
                </a:extLst>
              </a:tr>
              <a:tr h="139115">
                <a:tc>
                  <a:txBody>
                    <a:bodyPr/>
                    <a:lstStyle/>
                    <a:p>
                      <a:pPr algn="l" fontAlgn="ctr"/>
                      <a:r>
                        <a:rPr lang="en-CA" sz="1000" b="0" i="0" u="none" strike="noStrike">
                          <a:solidFill>
                            <a:srgbClr val="000000"/>
                          </a:solidFill>
                          <a:effectLst/>
                          <a:latin typeface="Trebuchet MS" panose="020B0603020202020204" pitchFamily="34" charset="0"/>
                        </a:rPr>
                        <a:t>16298 | Migrate historical document from FileNet to ECM</a:t>
                      </a:r>
                    </a:p>
                  </a:txBody>
                  <a:tcPr marL="5152" marR="5152" marT="515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Sumit</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Sahni, Rachna</a:t>
                      </a:r>
                    </a:p>
                  </a:txBody>
                  <a:tcPr marL="5152" marR="5152" marT="515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CCR</a:t>
                      </a:r>
                    </a:p>
                  </a:txBody>
                  <a:tcPr marL="5152" marR="5152" marT="515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A" sz="1000" b="0" i="0" u="none" strike="noStrike">
                          <a:solidFill>
                            <a:srgbClr val="000000"/>
                          </a:solidFill>
                          <a:effectLst/>
                          <a:latin typeface="Trebuchet MS" panose="020B0603020202020204" pitchFamily="34" charset="0"/>
                        </a:rPr>
                        <a:t> </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CA" sz="1000" b="0" i="0" u="none" strike="noStrike">
                          <a:solidFill>
                            <a:srgbClr val="000000"/>
                          </a:solidFill>
                          <a:effectLst/>
                          <a:latin typeface="Trebuchet MS" panose="020B0603020202020204" pitchFamily="34" charset="0"/>
                        </a:rPr>
                        <a:t>CLASS, Excalibur, Target, ECM</a:t>
                      </a:r>
                    </a:p>
                  </a:txBody>
                  <a:tcPr marL="5152" marR="5152" marT="51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74864548"/>
                  </a:ext>
                </a:extLst>
              </a:tr>
            </a:tbl>
          </a:graphicData>
        </a:graphic>
      </p:graphicFrame>
    </p:spTree>
    <p:extLst>
      <p:ext uri="{BB962C8B-B14F-4D97-AF65-F5344CB8AC3E}">
        <p14:creationId xmlns:p14="http://schemas.microsoft.com/office/powerpoint/2010/main" val="2884778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57A96791-3235-4ECB-97C7-8F9E5B6AD758}"/>
              </a:ext>
            </a:extLst>
          </p:cNvPr>
          <p:cNvSpPr/>
          <p:nvPr/>
        </p:nvSpPr>
        <p:spPr>
          <a:xfrm>
            <a:off x="4868323" y="4018200"/>
            <a:ext cx="2407355" cy="1076757"/>
          </a:xfrm>
          <a:prstGeom prst="roundRect">
            <a:avLst/>
          </a:prstGeom>
          <a:solidFill>
            <a:srgbClr val="FFEE99"/>
          </a:solidFill>
        </p:spPr>
        <p:txBody>
          <a:bodyPr wrap="none" rtlCol="0" anchor="ctr">
            <a:spAutoFit/>
          </a:bodyPr>
          <a:lstStyle/>
          <a:p>
            <a:pPr algn="ctr"/>
            <a:endParaRPr lang="en-US" sz="1100"/>
          </a:p>
        </p:txBody>
      </p:sp>
      <p:sp>
        <p:nvSpPr>
          <p:cNvPr id="4" name="Title 1">
            <a:extLst>
              <a:ext uri="{FF2B5EF4-FFF2-40B4-BE49-F238E27FC236}">
                <a16:creationId xmlns:a16="http://schemas.microsoft.com/office/drawing/2014/main" id="{286A96DA-CDFD-4236-BE2C-7755AD016B4C}"/>
              </a:ext>
            </a:extLst>
          </p:cNvPr>
          <p:cNvSpPr txBox="1">
            <a:spLocks/>
          </p:cNvSpPr>
          <p:nvPr/>
        </p:nvSpPr>
        <p:spPr>
          <a:xfrm>
            <a:off x="117633" y="57953"/>
            <a:ext cx="11292840"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CA" sz="2800"/>
              <a:t>Release PIR Recommendations </a:t>
            </a:r>
            <a:r>
              <a:rPr lang="en-CA" sz="1800" baseline="30000"/>
              <a:t>(1/2)</a:t>
            </a:r>
            <a:endParaRPr lang="en-CA" baseline="30000"/>
          </a:p>
        </p:txBody>
      </p:sp>
      <p:sp>
        <p:nvSpPr>
          <p:cNvPr id="45" name="Flowchart: Connector 44">
            <a:extLst>
              <a:ext uri="{FF2B5EF4-FFF2-40B4-BE49-F238E27FC236}">
                <a16:creationId xmlns:a16="http://schemas.microsoft.com/office/drawing/2014/main" id="{89E9B806-728B-4BA7-BFB8-09C1027CC22D}"/>
              </a:ext>
            </a:extLst>
          </p:cNvPr>
          <p:cNvSpPr>
            <a:spLocks noChangeAspect="1"/>
          </p:cNvSpPr>
          <p:nvPr/>
        </p:nvSpPr>
        <p:spPr>
          <a:xfrm>
            <a:off x="5435195" y="520834"/>
            <a:ext cx="1344168" cy="1341656"/>
          </a:xfrm>
          <a:prstGeom prst="flowChartConnector">
            <a:avLst/>
          </a:prstGeom>
          <a:solidFill>
            <a:srgbClr val="C00000"/>
          </a:solidFill>
        </p:spPr>
        <p:txBody>
          <a:bodyPr wrap="none" rtlCol="0" anchor="ctr">
            <a:spAutoFit/>
          </a:bodyPr>
          <a:lstStyle/>
          <a:p>
            <a:pPr algn="ctr"/>
            <a:r>
              <a:rPr lang="en-CA" sz="1400" b="1">
                <a:solidFill>
                  <a:schemeClr val="bg1"/>
                </a:solidFill>
              </a:rPr>
              <a:t>Readiness</a:t>
            </a:r>
          </a:p>
          <a:p>
            <a:pPr algn="ctr"/>
            <a:r>
              <a:rPr lang="en-CA" sz="1400" b="1">
                <a:solidFill>
                  <a:schemeClr val="bg1"/>
                </a:solidFill>
              </a:rPr>
              <a:t>&amp;</a:t>
            </a:r>
          </a:p>
          <a:p>
            <a:pPr algn="ctr"/>
            <a:r>
              <a:rPr lang="en-CA" sz="1400" b="1">
                <a:solidFill>
                  <a:schemeClr val="bg1"/>
                </a:solidFill>
              </a:rPr>
              <a:t>Code-Freeze</a:t>
            </a:r>
          </a:p>
          <a:p>
            <a:pPr algn="ctr"/>
            <a:r>
              <a:rPr lang="en-CA" sz="1400" b="1">
                <a:solidFill>
                  <a:schemeClr val="bg1"/>
                </a:solidFill>
              </a:rPr>
              <a:t>Protection</a:t>
            </a:r>
            <a:endParaRPr lang="en-US" sz="1400" b="1">
              <a:solidFill>
                <a:schemeClr val="bg1"/>
              </a:solidFill>
            </a:endParaRPr>
          </a:p>
        </p:txBody>
      </p:sp>
      <p:sp>
        <p:nvSpPr>
          <p:cNvPr id="46" name="Rectangle: Rounded Corners 45">
            <a:extLst>
              <a:ext uri="{FF2B5EF4-FFF2-40B4-BE49-F238E27FC236}">
                <a16:creationId xmlns:a16="http://schemas.microsoft.com/office/drawing/2014/main" id="{F1C8C184-3967-4AF5-A57D-2C65752E2C5C}"/>
              </a:ext>
            </a:extLst>
          </p:cNvPr>
          <p:cNvSpPr/>
          <p:nvPr/>
        </p:nvSpPr>
        <p:spPr>
          <a:xfrm>
            <a:off x="10384070" y="4131399"/>
            <a:ext cx="915176" cy="817245"/>
          </a:xfrm>
          <a:prstGeom prst="roundRect">
            <a:avLst/>
          </a:prstGeom>
          <a:solidFill>
            <a:srgbClr val="002060"/>
          </a:solidFill>
        </p:spPr>
        <p:txBody>
          <a:bodyPr wrap="none" rtlCol="0" anchor="ctr">
            <a:spAutoFit/>
          </a:bodyPr>
          <a:lstStyle/>
          <a:p>
            <a:pPr algn="ctr"/>
            <a:r>
              <a:rPr lang="en-CA" sz="1400" b="1">
                <a:solidFill>
                  <a:schemeClr val="bg1"/>
                </a:solidFill>
              </a:rPr>
              <a:t>Release</a:t>
            </a:r>
          </a:p>
          <a:p>
            <a:pPr algn="ctr"/>
            <a:r>
              <a:rPr lang="en-CA" sz="1400" b="1">
                <a:solidFill>
                  <a:schemeClr val="bg1"/>
                </a:solidFill>
              </a:rPr>
              <a:t>Status</a:t>
            </a:r>
          </a:p>
          <a:p>
            <a:pPr algn="ctr"/>
            <a:r>
              <a:rPr lang="en-CA" sz="1400" b="1">
                <a:solidFill>
                  <a:schemeClr val="bg1"/>
                </a:solidFill>
              </a:rPr>
              <a:t>Meeting</a:t>
            </a:r>
            <a:endParaRPr lang="en-US" sz="1400" b="1">
              <a:solidFill>
                <a:schemeClr val="bg1"/>
              </a:solidFill>
            </a:endParaRPr>
          </a:p>
        </p:txBody>
      </p:sp>
      <p:sp>
        <p:nvSpPr>
          <p:cNvPr id="47" name="TextBox 46">
            <a:extLst>
              <a:ext uri="{FF2B5EF4-FFF2-40B4-BE49-F238E27FC236}">
                <a16:creationId xmlns:a16="http://schemas.microsoft.com/office/drawing/2014/main" id="{78C45574-4A44-4119-B301-45CE5088439A}"/>
              </a:ext>
            </a:extLst>
          </p:cNvPr>
          <p:cNvSpPr txBox="1"/>
          <p:nvPr/>
        </p:nvSpPr>
        <p:spPr>
          <a:xfrm>
            <a:off x="3981541" y="3931670"/>
            <a:ext cx="1588163" cy="584775"/>
          </a:xfrm>
          <a:prstGeom prst="rect">
            <a:avLst/>
          </a:prstGeom>
          <a:noFill/>
        </p:spPr>
        <p:txBody>
          <a:bodyPr wrap="square" rtlCol="0">
            <a:spAutoFit/>
          </a:bodyPr>
          <a:lstStyle/>
          <a:p>
            <a:r>
              <a:rPr lang="en-CA" sz="3200">
                <a:solidFill>
                  <a:schemeClr val="accent4"/>
                </a:solidFill>
              </a:rPr>
              <a:t>. . .</a:t>
            </a:r>
            <a:endParaRPr lang="en-US" sz="3200">
              <a:solidFill>
                <a:schemeClr val="accent4"/>
              </a:solidFill>
            </a:endParaRPr>
          </a:p>
        </p:txBody>
      </p:sp>
      <p:sp>
        <p:nvSpPr>
          <p:cNvPr id="48" name="Rectangle: Rounded Corners 47">
            <a:extLst>
              <a:ext uri="{FF2B5EF4-FFF2-40B4-BE49-F238E27FC236}">
                <a16:creationId xmlns:a16="http://schemas.microsoft.com/office/drawing/2014/main" id="{D19A7E15-6CEB-400C-87A8-9F8939DC0701}"/>
              </a:ext>
            </a:extLst>
          </p:cNvPr>
          <p:cNvSpPr/>
          <p:nvPr/>
        </p:nvSpPr>
        <p:spPr>
          <a:xfrm>
            <a:off x="2010129" y="4171253"/>
            <a:ext cx="1929324" cy="340519"/>
          </a:xfrm>
          <a:prstGeom prst="roundRect">
            <a:avLst/>
          </a:prstGeom>
          <a:solidFill>
            <a:schemeClr val="accent4"/>
          </a:solidFill>
        </p:spPr>
        <p:txBody>
          <a:bodyPr wrap="none" rtlCol="0" anchor="ctr">
            <a:spAutoFit/>
          </a:bodyPr>
          <a:lstStyle/>
          <a:p>
            <a:pPr algn="ctr"/>
            <a:r>
              <a:rPr lang="en-CA" sz="1400" b="1">
                <a:solidFill>
                  <a:schemeClr val="bg1"/>
                </a:solidFill>
              </a:rPr>
              <a:t>‘Express’ Exceptions</a:t>
            </a:r>
            <a:endParaRPr lang="en-US" sz="1400" b="1">
              <a:solidFill>
                <a:schemeClr val="bg1"/>
              </a:solidFill>
            </a:endParaRPr>
          </a:p>
        </p:txBody>
      </p:sp>
      <p:pic>
        <p:nvPicPr>
          <p:cNvPr id="28" name="Graphic 27" descr="No sign">
            <a:extLst>
              <a:ext uri="{FF2B5EF4-FFF2-40B4-BE49-F238E27FC236}">
                <a16:creationId xmlns:a16="http://schemas.microsoft.com/office/drawing/2014/main" id="{D7F0DE56-BA25-4115-B3BE-18E28F10BE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8384" y="4016808"/>
            <a:ext cx="491431" cy="491431"/>
          </a:xfrm>
          <a:prstGeom prst="rect">
            <a:avLst/>
          </a:prstGeom>
        </p:spPr>
      </p:pic>
      <p:sp>
        <p:nvSpPr>
          <p:cNvPr id="49" name="TextBox 48">
            <a:extLst>
              <a:ext uri="{FF2B5EF4-FFF2-40B4-BE49-F238E27FC236}">
                <a16:creationId xmlns:a16="http://schemas.microsoft.com/office/drawing/2014/main" id="{152BFCB8-72BC-4C71-AC0A-50723364B5D6}"/>
              </a:ext>
            </a:extLst>
          </p:cNvPr>
          <p:cNvSpPr txBox="1"/>
          <p:nvPr/>
        </p:nvSpPr>
        <p:spPr>
          <a:xfrm>
            <a:off x="2014971" y="4523115"/>
            <a:ext cx="2749655" cy="769441"/>
          </a:xfrm>
          <a:prstGeom prst="rect">
            <a:avLst/>
          </a:prstGeom>
          <a:noFill/>
        </p:spPr>
        <p:txBody>
          <a:bodyPr wrap="square" rtlCol="0">
            <a:spAutoFit/>
          </a:bodyPr>
          <a:lstStyle/>
          <a:p>
            <a:pPr marL="171450" indent="-171450">
              <a:buFont typeface="Arial" panose="020B0604020202020204" pitchFamily="34" charset="0"/>
              <a:buChar char="•"/>
            </a:pPr>
            <a:r>
              <a:rPr lang="en-CA" sz="1100" b="1"/>
              <a:t>Process not yet ready to support urgent nature</a:t>
            </a:r>
          </a:p>
          <a:p>
            <a:pPr marL="171450" indent="-171450">
              <a:buFont typeface="Arial" panose="020B0604020202020204" pitchFamily="34" charset="0"/>
              <a:buChar char="•"/>
            </a:pPr>
            <a:r>
              <a:rPr lang="en-CA" sz="1100" b="1"/>
              <a:t>Project Team forum still the ideal place to obtain necessary approvals.</a:t>
            </a:r>
            <a:endParaRPr lang="en-US" sz="1100" b="1"/>
          </a:p>
        </p:txBody>
      </p:sp>
      <p:sp>
        <p:nvSpPr>
          <p:cNvPr id="58" name="Arrow: Striped Right 57">
            <a:extLst>
              <a:ext uri="{FF2B5EF4-FFF2-40B4-BE49-F238E27FC236}">
                <a16:creationId xmlns:a16="http://schemas.microsoft.com/office/drawing/2014/main" id="{BE3D6AF2-DFED-4BC8-BD9D-12914FF4CA02}"/>
              </a:ext>
            </a:extLst>
          </p:cNvPr>
          <p:cNvSpPr/>
          <p:nvPr/>
        </p:nvSpPr>
        <p:spPr>
          <a:xfrm>
            <a:off x="7369948" y="4357427"/>
            <a:ext cx="2930682"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square" rtlCol="0" anchor="ctr">
            <a:spAutoFit/>
          </a:bodyPr>
          <a:lstStyle/>
          <a:p>
            <a:pPr algn="ctr"/>
            <a:endParaRPr lang="en-US" sz="1100"/>
          </a:p>
        </p:txBody>
      </p:sp>
      <p:sp>
        <p:nvSpPr>
          <p:cNvPr id="59" name="TextBox 58">
            <a:extLst>
              <a:ext uri="{FF2B5EF4-FFF2-40B4-BE49-F238E27FC236}">
                <a16:creationId xmlns:a16="http://schemas.microsoft.com/office/drawing/2014/main" id="{DA8B03CB-2867-4C05-9849-5624873E136E}"/>
              </a:ext>
            </a:extLst>
          </p:cNvPr>
          <p:cNvSpPr txBox="1"/>
          <p:nvPr/>
        </p:nvSpPr>
        <p:spPr>
          <a:xfrm>
            <a:off x="7868046" y="4664070"/>
            <a:ext cx="1896779" cy="430887"/>
          </a:xfrm>
          <a:prstGeom prst="rect">
            <a:avLst/>
          </a:prstGeom>
          <a:noFill/>
        </p:spPr>
        <p:txBody>
          <a:bodyPr wrap="square" rtlCol="0">
            <a:spAutoFit/>
          </a:bodyPr>
          <a:lstStyle/>
          <a:p>
            <a:r>
              <a:rPr lang="en-CA" sz="1100" b="1" i="1"/>
              <a:t>As needed, issues can be tabled at weekly forum.</a:t>
            </a:r>
            <a:endParaRPr lang="en-US" sz="1100" b="1" i="1"/>
          </a:p>
        </p:txBody>
      </p:sp>
      <p:sp>
        <p:nvSpPr>
          <p:cNvPr id="21" name="Rectangle: Rounded Corners 20">
            <a:extLst>
              <a:ext uri="{FF2B5EF4-FFF2-40B4-BE49-F238E27FC236}">
                <a16:creationId xmlns:a16="http://schemas.microsoft.com/office/drawing/2014/main" id="{A1958782-1C2C-4CAA-BE31-5E465290B30F}"/>
              </a:ext>
            </a:extLst>
          </p:cNvPr>
          <p:cNvSpPr/>
          <p:nvPr/>
        </p:nvSpPr>
        <p:spPr>
          <a:xfrm>
            <a:off x="6175339" y="4599603"/>
            <a:ext cx="1026327" cy="340519"/>
          </a:xfrm>
          <a:prstGeom prst="roundRect">
            <a:avLst/>
          </a:prstGeom>
          <a:solidFill>
            <a:schemeClr val="accent4"/>
          </a:solidFill>
        </p:spPr>
        <p:txBody>
          <a:bodyPr wrap="none" rtlCol="0" anchor="ctr">
            <a:spAutoFit/>
          </a:bodyPr>
          <a:lstStyle/>
          <a:p>
            <a:pPr algn="ctr"/>
            <a:r>
              <a:rPr lang="en-CA" sz="1400" b="1">
                <a:solidFill>
                  <a:schemeClr val="bg1"/>
                </a:solidFill>
              </a:rPr>
              <a:t>Reporting</a:t>
            </a:r>
            <a:endParaRPr lang="en-US" sz="1400" b="1">
              <a:solidFill>
                <a:schemeClr val="bg1"/>
              </a:solidFill>
            </a:endParaRPr>
          </a:p>
        </p:txBody>
      </p:sp>
      <p:sp>
        <p:nvSpPr>
          <p:cNvPr id="22" name="Rectangle: Rounded Corners 21">
            <a:extLst>
              <a:ext uri="{FF2B5EF4-FFF2-40B4-BE49-F238E27FC236}">
                <a16:creationId xmlns:a16="http://schemas.microsoft.com/office/drawing/2014/main" id="{7D0FFF4C-CA69-4BB5-9819-0ADBCA233698}"/>
              </a:ext>
            </a:extLst>
          </p:cNvPr>
          <p:cNvSpPr/>
          <p:nvPr/>
        </p:nvSpPr>
        <p:spPr>
          <a:xfrm>
            <a:off x="4930449" y="4171253"/>
            <a:ext cx="2310061" cy="340519"/>
          </a:xfrm>
          <a:prstGeom prst="roundRect">
            <a:avLst/>
          </a:prstGeom>
          <a:solidFill>
            <a:schemeClr val="accent4"/>
          </a:solidFill>
        </p:spPr>
        <p:txBody>
          <a:bodyPr wrap="none" rtlCol="0" anchor="ctr">
            <a:spAutoFit/>
          </a:bodyPr>
          <a:lstStyle/>
          <a:p>
            <a:pPr algn="ctr"/>
            <a:r>
              <a:rPr lang="en-CA" sz="1400" b="1">
                <a:solidFill>
                  <a:schemeClr val="bg1"/>
                </a:solidFill>
              </a:rPr>
              <a:t>UAT2 – Defects/Variances</a:t>
            </a:r>
            <a:endParaRPr lang="en-US" sz="1400" b="1">
              <a:solidFill>
                <a:schemeClr val="bg1"/>
              </a:solidFill>
            </a:endParaRPr>
          </a:p>
        </p:txBody>
      </p:sp>
      <p:sp>
        <p:nvSpPr>
          <p:cNvPr id="32" name="TextBox 31">
            <a:extLst>
              <a:ext uri="{FF2B5EF4-FFF2-40B4-BE49-F238E27FC236}">
                <a16:creationId xmlns:a16="http://schemas.microsoft.com/office/drawing/2014/main" id="{44795CB8-57EE-4006-A1EB-A0E0F93F79A4}"/>
              </a:ext>
            </a:extLst>
          </p:cNvPr>
          <p:cNvSpPr txBox="1"/>
          <p:nvPr/>
        </p:nvSpPr>
        <p:spPr>
          <a:xfrm>
            <a:off x="569562" y="1040353"/>
            <a:ext cx="5608912" cy="307777"/>
          </a:xfrm>
          <a:prstGeom prst="rect">
            <a:avLst/>
          </a:prstGeom>
          <a:noFill/>
        </p:spPr>
        <p:txBody>
          <a:bodyPr wrap="square" rtlCol="0" anchor="ctr">
            <a:spAutoFit/>
          </a:bodyPr>
          <a:lstStyle/>
          <a:p>
            <a:r>
              <a:rPr lang="en-CA" sz="1400" b="1"/>
              <a:t>Our PIR discussion can be summarized as having 2 goals:</a:t>
            </a:r>
            <a:endParaRPr lang="en-US" sz="1400" b="1"/>
          </a:p>
        </p:txBody>
      </p:sp>
      <p:sp>
        <p:nvSpPr>
          <p:cNvPr id="33" name="TextBox 32">
            <a:extLst>
              <a:ext uri="{FF2B5EF4-FFF2-40B4-BE49-F238E27FC236}">
                <a16:creationId xmlns:a16="http://schemas.microsoft.com/office/drawing/2014/main" id="{728CBFC3-BA98-4D6F-B023-36510DEDA173}"/>
              </a:ext>
            </a:extLst>
          </p:cNvPr>
          <p:cNvSpPr txBox="1"/>
          <p:nvPr/>
        </p:nvSpPr>
        <p:spPr>
          <a:xfrm>
            <a:off x="6756251" y="1042465"/>
            <a:ext cx="4873242" cy="307777"/>
          </a:xfrm>
          <a:prstGeom prst="rect">
            <a:avLst/>
          </a:prstGeom>
          <a:noFill/>
        </p:spPr>
        <p:txBody>
          <a:bodyPr wrap="square" rtlCol="0">
            <a:spAutoFit/>
          </a:bodyPr>
          <a:lstStyle/>
          <a:p>
            <a:r>
              <a:rPr lang="en-CA" sz="1400" b="1"/>
              <a:t>These process changes aim to support that end.</a:t>
            </a:r>
            <a:endParaRPr lang="en-US" sz="1400" b="1"/>
          </a:p>
        </p:txBody>
      </p:sp>
      <p:pic>
        <p:nvPicPr>
          <p:cNvPr id="5" name="Picture 4">
            <a:extLst>
              <a:ext uri="{FF2B5EF4-FFF2-40B4-BE49-F238E27FC236}">
                <a16:creationId xmlns:a16="http://schemas.microsoft.com/office/drawing/2014/main" id="{C51CE881-EB73-4482-A649-1CCFFAB147C2}"/>
              </a:ext>
            </a:extLst>
          </p:cNvPr>
          <p:cNvPicPr>
            <a:picLocks noChangeAspect="1"/>
          </p:cNvPicPr>
          <p:nvPr/>
        </p:nvPicPr>
        <p:blipFill>
          <a:blip r:embed="rId5"/>
          <a:stretch>
            <a:fillRect/>
          </a:stretch>
        </p:blipFill>
        <p:spPr>
          <a:xfrm>
            <a:off x="3121639" y="2022077"/>
            <a:ext cx="8468381" cy="1210850"/>
          </a:xfrm>
          <a:prstGeom prst="rect">
            <a:avLst/>
          </a:prstGeom>
        </p:spPr>
      </p:pic>
      <p:sp>
        <p:nvSpPr>
          <p:cNvPr id="34" name="Rectangle: Rounded Corners 33">
            <a:extLst>
              <a:ext uri="{FF2B5EF4-FFF2-40B4-BE49-F238E27FC236}">
                <a16:creationId xmlns:a16="http://schemas.microsoft.com/office/drawing/2014/main" id="{591F064C-D384-472C-B557-D849C74711EC}"/>
              </a:ext>
            </a:extLst>
          </p:cNvPr>
          <p:cNvSpPr/>
          <p:nvPr/>
        </p:nvSpPr>
        <p:spPr>
          <a:xfrm>
            <a:off x="3103492" y="5780265"/>
            <a:ext cx="1661134" cy="340519"/>
          </a:xfrm>
          <a:prstGeom prst="roundRect">
            <a:avLst/>
          </a:prstGeom>
          <a:solidFill>
            <a:schemeClr val="accent4"/>
          </a:solidFill>
        </p:spPr>
        <p:txBody>
          <a:bodyPr wrap="none" rtlCol="0" anchor="ctr">
            <a:spAutoFit/>
          </a:bodyPr>
          <a:lstStyle/>
          <a:p>
            <a:pPr algn="ctr"/>
            <a:r>
              <a:rPr lang="en-CA" sz="1400" b="1">
                <a:solidFill>
                  <a:schemeClr val="bg1"/>
                </a:solidFill>
              </a:rPr>
              <a:t>Testing Timelines</a:t>
            </a:r>
            <a:endParaRPr lang="en-US" sz="1400" b="1">
              <a:solidFill>
                <a:schemeClr val="bg1"/>
              </a:solidFill>
            </a:endParaRPr>
          </a:p>
        </p:txBody>
      </p:sp>
      <p:sp>
        <p:nvSpPr>
          <p:cNvPr id="40" name="Rectangle: Rounded Corners 39">
            <a:extLst>
              <a:ext uri="{FF2B5EF4-FFF2-40B4-BE49-F238E27FC236}">
                <a16:creationId xmlns:a16="http://schemas.microsoft.com/office/drawing/2014/main" id="{5B631C5B-7122-49C5-B793-E6E0FA6A8A0A}"/>
              </a:ext>
            </a:extLst>
          </p:cNvPr>
          <p:cNvSpPr/>
          <p:nvPr/>
        </p:nvSpPr>
        <p:spPr>
          <a:xfrm>
            <a:off x="6884787" y="5780961"/>
            <a:ext cx="2184595" cy="340519"/>
          </a:xfrm>
          <a:prstGeom prst="roundRect">
            <a:avLst/>
          </a:prstGeom>
          <a:solidFill>
            <a:schemeClr val="accent4"/>
          </a:solidFill>
        </p:spPr>
        <p:txBody>
          <a:bodyPr wrap="none" rtlCol="0" anchor="ctr">
            <a:spAutoFit/>
          </a:bodyPr>
          <a:lstStyle/>
          <a:p>
            <a:pPr algn="ctr"/>
            <a:r>
              <a:rPr lang="en-CA" sz="1400" b="1">
                <a:solidFill>
                  <a:schemeClr val="bg1"/>
                </a:solidFill>
              </a:rPr>
              <a:t>Project Backout Testing</a:t>
            </a:r>
            <a:endParaRPr lang="en-US" sz="1400" b="1">
              <a:solidFill>
                <a:schemeClr val="bg1"/>
              </a:solidFill>
            </a:endParaRPr>
          </a:p>
        </p:txBody>
      </p:sp>
      <p:sp>
        <p:nvSpPr>
          <p:cNvPr id="41" name="Rectangle: Rounded Corners 40">
            <a:extLst>
              <a:ext uri="{FF2B5EF4-FFF2-40B4-BE49-F238E27FC236}">
                <a16:creationId xmlns:a16="http://schemas.microsoft.com/office/drawing/2014/main" id="{5D2147BD-C81F-4F3D-A624-5782FE395AFA}"/>
              </a:ext>
            </a:extLst>
          </p:cNvPr>
          <p:cNvSpPr/>
          <p:nvPr/>
        </p:nvSpPr>
        <p:spPr>
          <a:xfrm rot="19870300">
            <a:off x="9659193" y="3291254"/>
            <a:ext cx="578093" cy="272415"/>
          </a:xfrm>
          <a:prstGeom prst="roundRect">
            <a:avLst/>
          </a:prstGeom>
          <a:solidFill>
            <a:schemeClr val="accent2">
              <a:lumMod val="40000"/>
              <a:lumOff val="60000"/>
            </a:schemeClr>
          </a:solidFill>
        </p:spPr>
        <p:txBody>
          <a:bodyPr wrap="none" rtlCol="0" anchor="ctr">
            <a:spAutoFit/>
          </a:bodyPr>
          <a:lstStyle/>
          <a:p>
            <a:pPr algn="ctr"/>
            <a:r>
              <a:rPr lang="en-CA" sz="1000" b="1">
                <a:solidFill>
                  <a:srgbClr val="C00000"/>
                </a:solidFill>
              </a:rPr>
              <a:t>*New*</a:t>
            </a:r>
            <a:endParaRPr lang="en-US" sz="1000" b="1">
              <a:solidFill>
                <a:srgbClr val="C00000"/>
              </a:solidFill>
            </a:endParaRPr>
          </a:p>
        </p:txBody>
      </p:sp>
      <p:sp>
        <p:nvSpPr>
          <p:cNvPr id="42" name="TextBox 41">
            <a:extLst>
              <a:ext uri="{FF2B5EF4-FFF2-40B4-BE49-F238E27FC236}">
                <a16:creationId xmlns:a16="http://schemas.microsoft.com/office/drawing/2014/main" id="{886E7B21-B00B-48D4-A118-B3D629E6422A}"/>
              </a:ext>
            </a:extLst>
          </p:cNvPr>
          <p:cNvSpPr txBox="1"/>
          <p:nvPr/>
        </p:nvSpPr>
        <p:spPr>
          <a:xfrm>
            <a:off x="117632" y="1924468"/>
            <a:ext cx="6570869" cy="307777"/>
          </a:xfrm>
          <a:prstGeom prst="rect">
            <a:avLst/>
          </a:prstGeom>
          <a:noFill/>
        </p:spPr>
        <p:txBody>
          <a:bodyPr wrap="square" rtlCol="0">
            <a:spAutoFit/>
          </a:bodyPr>
          <a:lstStyle/>
          <a:p>
            <a:r>
              <a:rPr lang="en-CA" sz="1400" b="1"/>
              <a:t>Release Calendar revision to formally include Backout Testing allocation.</a:t>
            </a:r>
            <a:endParaRPr lang="en-US" sz="1400" b="1"/>
          </a:p>
        </p:txBody>
      </p:sp>
      <p:sp>
        <p:nvSpPr>
          <p:cNvPr id="43" name="TextBox 42">
            <a:extLst>
              <a:ext uri="{FF2B5EF4-FFF2-40B4-BE49-F238E27FC236}">
                <a16:creationId xmlns:a16="http://schemas.microsoft.com/office/drawing/2014/main" id="{BBD42E3A-03CA-420D-92EE-9BC8A9A829D2}"/>
              </a:ext>
            </a:extLst>
          </p:cNvPr>
          <p:cNvSpPr txBox="1"/>
          <p:nvPr/>
        </p:nvSpPr>
        <p:spPr>
          <a:xfrm>
            <a:off x="117633" y="3647191"/>
            <a:ext cx="9337452" cy="307777"/>
          </a:xfrm>
          <a:prstGeom prst="rect">
            <a:avLst/>
          </a:prstGeom>
          <a:noFill/>
        </p:spPr>
        <p:txBody>
          <a:bodyPr wrap="square" rtlCol="0">
            <a:spAutoFit/>
          </a:bodyPr>
          <a:lstStyle/>
          <a:p>
            <a:r>
              <a:rPr lang="en-CA" sz="1400" b="1"/>
              <a:t>Process Changes to emphasize UAT2 Cycle Defects, and regular reporting in weekly Release Status meeting.</a:t>
            </a:r>
            <a:endParaRPr lang="en-US" sz="1400" b="1"/>
          </a:p>
        </p:txBody>
      </p:sp>
      <p:sp>
        <p:nvSpPr>
          <p:cNvPr id="50" name="TextBox 49">
            <a:extLst>
              <a:ext uri="{FF2B5EF4-FFF2-40B4-BE49-F238E27FC236}">
                <a16:creationId xmlns:a16="http://schemas.microsoft.com/office/drawing/2014/main" id="{01EE1807-06EF-4841-89ED-AC9F0B2BDD4E}"/>
              </a:ext>
            </a:extLst>
          </p:cNvPr>
          <p:cNvSpPr txBox="1"/>
          <p:nvPr/>
        </p:nvSpPr>
        <p:spPr>
          <a:xfrm>
            <a:off x="117633" y="5383026"/>
            <a:ext cx="9337452" cy="307777"/>
          </a:xfrm>
          <a:prstGeom prst="rect">
            <a:avLst/>
          </a:prstGeom>
          <a:noFill/>
        </p:spPr>
        <p:txBody>
          <a:bodyPr wrap="square" rtlCol="0">
            <a:spAutoFit/>
          </a:bodyPr>
          <a:lstStyle/>
          <a:p>
            <a:r>
              <a:rPr lang="en-CA" sz="1400" b="1"/>
              <a:t>Process Changes to expect early dependency identification and backout planning at project level.</a:t>
            </a:r>
            <a:endParaRPr lang="en-US" sz="1400" b="1"/>
          </a:p>
        </p:txBody>
      </p:sp>
      <p:sp>
        <p:nvSpPr>
          <p:cNvPr id="51" name="Arrow: Striped Right 50">
            <a:extLst>
              <a:ext uri="{FF2B5EF4-FFF2-40B4-BE49-F238E27FC236}">
                <a16:creationId xmlns:a16="http://schemas.microsoft.com/office/drawing/2014/main" id="{2852C08A-F95B-497A-86B9-FFB1BC681C19}"/>
              </a:ext>
            </a:extLst>
          </p:cNvPr>
          <p:cNvSpPr/>
          <p:nvPr/>
        </p:nvSpPr>
        <p:spPr>
          <a:xfrm>
            <a:off x="5197629" y="5767930"/>
            <a:ext cx="1344167"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square" rtlCol="0" anchor="ctr">
            <a:spAutoFit/>
          </a:bodyPr>
          <a:lstStyle/>
          <a:p>
            <a:pPr algn="ctr"/>
            <a:endParaRPr lang="en-US" sz="1100"/>
          </a:p>
        </p:txBody>
      </p:sp>
      <p:sp>
        <p:nvSpPr>
          <p:cNvPr id="53" name="Slide Number Placeholder 2">
            <a:extLst>
              <a:ext uri="{FF2B5EF4-FFF2-40B4-BE49-F238E27FC236}">
                <a16:creationId xmlns:a16="http://schemas.microsoft.com/office/drawing/2014/main" id="{8F8A4CB8-03B9-4979-82E1-0DD780742F13}"/>
              </a:ext>
            </a:extLst>
          </p:cNvPr>
          <p:cNvSpPr>
            <a:spLocks noGrp="1"/>
          </p:cNvSpPr>
          <p:nvPr>
            <p:ph type="sldNum" sz="quarter" idx="4294967295"/>
          </p:nvPr>
        </p:nvSpPr>
        <p:spPr>
          <a:xfrm>
            <a:off x="10698480" y="228600"/>
            <a:ext cx="891540" cy="841248"/>
          </a:xfrm>
          <a:prstGeom prst="rect">
            <a:avLst/>
          </a:prstGeom>
        </p:spPr>
        <p:txBody>
          <a:bodyPr/>
          <a:lstStyle/>
          <a:p>
            <a:fld id="{E633FACB-E57B-4CDC-9F3B-D7F03E444374}" type="slidenum">
              <a:rPr lang="en-CA" smtClean="0">
                <a:solidFill>
                  <a:srgbClr val="AAAAAA"/>
                </a:solidFill>
              </a:rPr>
              <a:pPr/>
              <a:t>45</a:t>
            </a:fld>
            <a:endParaRPr lang="en-CA">
              <a:solidFill>
                <a:srgbClr val="AAAAAA"/>
              </a:solidFill>
            </a:endParaRPr>
          </a:p>
        </p:txBody>
      </p:sp>
    </p:spTree>
    <p:extLst>
      <p:ext uri="{BB962C8B-B14F-4D97-AF65-F5344CB8AC3E}">
        <p14:creationId xmlns:p14="http://schemas.microsoft.com/office/powerpoint/2010/main" val="6683632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76E39AF-3F98-46E0-B048-590415A6B1FA}"/>
              </a:ext>
            </a:extLst>
          </p:cNvPr>
          <p:cNvSpPr>
            <a:spLocks noGrp="1"/>
          </p:cNvSpPr>
          <p:nvPr>
            <p:ph type="sldNum" sz="quarter" idx="4294967295"/>
          </p:nvPr>
        </p:nvSpPr>
        <p:spPr>
          <a:xfrm>
            <a:off x="10698480" y="228600"/>
            <a:ext cx="891540" cy="841248"/>
          </a:xfrm>
          <a:prstGeom prst="rect">
            <a:avLst/>
          </a:prstGeom>
        </p:spPr>
        <p:txBody>
          <a:bodyPr/>
          <a:lstStyle/>
          <a:p>
            <a:fld id="{E633FACB-E57B-4CDC-9F3B-D7F03E444374}" type="slidenum">
              <a:rPr lang="en-CA" smtClean="0">
                <a:solidFill>
                  <a:srgbClr val="AAAAAA"/>
                </a:solidFill>
              </a:rPr>
              <a:pPr/>
              <a:t>46</a:t>
            </a:fld>
            <a:endParaRPr lang="en-CA">
              <a:solidFill>
                <a:srgbClr val="AAAAAA"/>
              </a:solidFill>
            </a:endParaRPr>
          </a:p>
        </p:txBody>
      </p:sp>
      <p:sp>
        <p:nvSpPr>
          <p:cNvPr id="4" name="Title 1">
            <a:extLst>
              <a:ext uri="{FF2B5EF4-FFF2-40B4-BE49-F238E27FC236}">
                <a16:creationId xmlns:a16="http://schemas.microsoft.com/office/drawing/2014/main" id="{286A96DA-CDFD-4236-BE2C-7755AD016B4C}"/>
              </a:ext>
            </a:extLst>
          </p:cNvPr>
          <p:cNvSpPr txBox="1">
            <a:spLocks/>
          </p:cNvSpPr>
          <p:nvPr/>
        </p:nvSpPr>
        <p:spPr>
          <a:xfrm>
            <a:off x="117633" y="57953"/>
            <a:ext cx="11292840"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CA" sz="2800"/>
              <a:t>Release PIR Recommendations </a:t>
            </a:r>
            <a:r>
              <a:rPr lang="en-CA" sz="1600"/>
              <a:t>(2/2)</a:t>
            </a:r>
            <a:endParaRPr lang="en-CA" sz="2800"/>
          </a:p>
        </p:txBody>
      </p:sp>
      <p:graphicFrame>
        <p:nvGraphicFramePr>
          <p:cNvPr id="36" name="Table 32">
            <a:extLst>
              <a:ext uri="{FF2B5EF4-FFF2-40B4-BE49-F238E27FC236}">
                <a16:creationId xmlns:a16="http://schemas.microsoft.com/office/drawing/2014/main" id="{08906719-308C-4E51-8B0C-C0B797A460AD}"/>
              </a:ext>
            </a:extLst>
          </p:cNvPr>
          <p:cNvGraphicFramePr>
            <a:graphicFrameLocks noGrp="1"/>
          </p:cNvGraphicFramePr>
          <p:nvPr/>
        </p:nvGraphicFramePr>
        <p:xfrm>
          <a:off x="1274104" y="4498755"/>
          <a:ext cx="8033031" cy="18288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71323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UAT2 – Defects/Variances</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QA</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QA, PMO, AD, Business, RM</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CA" sz="1000" b="0"/>
                        <a:t>For any defects/variances discovered during project UAT2 cycle:</a:t>
                      </a:r>
                    </a:p>
                    <a:p>
                      <a:pPr marL="461963" indent="-176213">
                        <a:buAutoNum type="arabicPeriod"/>
                      </a:pPr>
                      <a:r>
                        <a:rPr lang="en-CA" sz="1000" b="0"/>
                        <a:t>Project Team to conduct urgent criticality assessment on the issue.</a:t>
                      </a:r>
                    </a:p>
                    <a:p>
                      <a:pPr marL="461963" indent="-176213">
                        <a:buAutoNum type="arabicPeriod"/>
                      </a:pPr>
                      <a:r>
                        <a:rPr lang="en-CA" sz="1000" b="0"/>
                        <a:t>If deemed non-critical, PMs are to facilitate obtaining business approval to defer the variances.</a:t>
                      </a:r>
                    </a:p>
                    <a:p>
                      <a:pPr marL="461963" indent="-176213">
                        <a:buAutoNum type="arabicPeriod"/>
                      </a:pPr>
                      <a:r>
                        <a:rPr lang="en-CA" sz="1000" b="0"/>
                        <a:t>If deemed critical, PMs are to facilitate obtaining L9 AD/QA approvals, prior to promoting the fix to testing.</a:t>
                      </a:r>
                    </a:p>
                    <a:p>
                      <a:pPr marL="171450" indent="-171450">
                        <a:buFont typeface="Arial" panose="020B0604020202020204" pitchFamily="34" charset="0"/>
                        <a:buChar char="•"/>
                      </a:pPr>
                      <a:endParaRPr lang="en-CA" sz="1000" b="0"/>
                    </a:p>
                    <a:p>
                      <a:pPr marL="171450" indent="-171450">
                        <a:buFont typeface="Arial" panose="020B0604020202020204" pitchFamily="34" charset="0"/>
                        <a:buChar char="•"/>
                      </a:pPr>
                      <a:r>
                        <a:rPr lang="en-CA" sz="1000" b="0"/>
                        <a:t>QA DSR Report to indicate Red status on any projects with unresolved defects/variances while in project UAT2 cycle.</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graphicFrame>
        <p:nvGraphicFramePr>
          <p:cNvPr id="37" name="Table 32">
            <a:extLst>
              <a:ext uri="{FF2B5EF4-FFF2-40B4-BE49-F238E27FC236}">
                <a16:creationId xmlns:a16="http://schemas.microsoft.com/office/drawing/2014/main" id="{A5D34350-A49C-4EA6-BF20-2223A6F5ADC8}"/>
              </a:ext>
            </a:extLst>
          </p:cNvPr>
          <p:cNvGraphicFramePr>
            <a:graphicFrameLocks noGrp="1"/>
          </p:cNvGraphicFramePr>
          <p:nvPr/>
        </p:nvGraphicFramePr>
        <p:xfrm>
          <a:off x="6727985" y="2823060"/>
          <a:ext cx="5015511" cy="156972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411480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Reporting</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QA</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CA" sz="1000" b="0"/>
                        <a:t>For projects in UAT1/2, defect/variances report summaries to be included in weekly Release Status meeting.</a:t>
                      </a:r>
                    </a:p>
                    <a:p>
                      <a:pPr marL="171450" indent="-171450">
                        <a:buFont typeface="Arial" panose="020B0604020202020204" pitchFamily="34" charset="0"/>
                        <a:buChar char="•"/>
                      </a:pPr>
                      <a:endParaRPr lang="en-CA" sz="1000" b="0"/>
                    </a:p>
                    <a:p>
                      <a:pPr marL="171450" indent="-171450">
                        <a:buFont typeface="Arial" panose="020B0604020202020204" pitchFamily="34" charset="0"/>
                        <a:buChar char="•"/>
                      </a:pPr>
                      <a:r>
                        <a:rPr lang="en-CA" sz="1000" b="0"/>
                        <a:t>As an indicator of readiness, and degree of impact to testing, stats to be reported in Release Status meeting detailing concerning Environment Issues and Downtime summary.</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graphicFrame>
        <p:nvGraphicFramePr>
          <p:cNvPr id="29" name="Table 32">
            <a:extLst>
              <a:ext uri="{FF2B5EF4-FFF2-40B4-BE49-F238E27FC236}">
                <a16:creationId xmlns:a16="http://schemas.microsoft.com/office/drawing/2014/main" id="{A992F59D-326D-4B21-A33F-045E369E851E}"/>
              </a:ext>
            </a:extLst>
          </p:cNvPr>
          <p:cNvGraphicFramePr>
            <a:graphicFrameLocks noGrp="1"/>
          </p:cNvGraphicFramePr>
          <p:nvPr/>
        </p:nvGraphicFramePr>
        <p:xfrm>
          <a:off x="791879" y="2579777"/>
          <a:ext cx="4375431" cy="18288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34747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Project Backout Testing Planning</a:t>
                      </a:r>
                    </a:p>
                    <a:p>
                      <a:r>
                        <a:rPr lang="en-CA" sz="1000" b="0" i="1">
                          <a:solidFill>
                            <a:schemeClr val="bg1"/>
                          </a:solidFill>
                        </a:rPr>
                        <a:t>For any project with changes to &gt;1 app</a:t>
                      </a:r>
                      <a:endParaRPr lang="en-US" sz="1000" b="0" i="1">
                        <a:solidFill>
                          <a:schemeClr val="bg1"/>
                        </a:solidFill>
                      </a:endParaRP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QA + PMO</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QA, AD, Business</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000" b="0"/>
                        <a:t>After the project-level backout matrix has been finalized, PMs along with QA will be responsible for facilitating the refinement of their overall testing timelines, considering the effort required to test the prioritized backout scenarios.</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graphicFrame>
        <p:nvGraphicFramePr>
          <p:cNvPr id="30" name="Table 32">
            <a:extLst>
              <a:ext uri="{FF2B5EF4-FFF2-40B4-BE49-F238E27FC236}">
                <a16:creationId xmlns:a16="http://schemas.microsoft.com/office/drawing/2014/main" id="{98D3E832-D23C-46CC-91B3-2878AEBDEC4A}"/>
              </a:ext>
            </a:extLst>
          </p:cNvPr>
          <p:cNvGraphicFramePr>
            <a:graphicFrameLocks noGrp="1"/>
          </p:cNvGraphicFramePr>
          <p:nvPr/>
        </p:nvGraphicFramePr>
        <p:xfrm>
          <a:off x="402839" y="667050"/>
          <a:ext cx="4375431" cy="18288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34747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Testing Timelines</a:t>
                      </a:r>
                    </a:p>
                    <a:p>
                      <a:r>
                        <a:rPr lang="en-CA" sz="1000" b="0" i="1">
                          <a:solidFill>
                            <a:schemeClr val="bg1"/>
                          </a:solidFill>
                        </a:rPr>
                        <a:t>For any project with changes to &gt;1 app</a:t>
                      </a:r>
                      <a:endParaRPr lang="en-US" sz="1000" b="0" i="1">
                        <a:solidFill>
                          <a:schemeClr val="bg1"/>
                        </a:solidFill>
                      </a:endParaRP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QA</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PMO, AD</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000" b="0"/>
                        <a:t>After the SRD has been finalized (or equivalent checkpoint if Agile), QA Managers must ensure their testing timelines include sufficient effort to budget for backout testing, while still protecting a 2-week code freeze.</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sp>
        <p:nvSpPr>
          <p:cNvPr id="31" name="Arrow: Curved Right 30">
            <a:extLst>
              <a:ext uri="{FF2B5EF4-FFF2-40B4-BE49-F238E27FC236}">
                <a16:creationId xmlns:a16="http://schemas.microsoft.com/office/drawing/2014/main" id="{3F137CC2-DA6E-4E68-876D-E0313169821C}"/>
              </a:ext>
            </a:extLst>
          </p:cNvPr>
          <p:cNvSpPr/>
          <p:nvPr/>
        </p:nvSpPr>
        <p:spPr>
          <a:xfrm rot="20132597">
            <a:off x="161783" y="2146527"/>
            <a:ext cx="417773" cy="1116240"/>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
        <p:nvSpPr>
          <p:cNvPr id="41" name="Flowchart: Connector 40">
            <a:extLst>
              <a:ext uri="{FF2B5EF4-FFF2-40B4-BE49-F238E27FC236}">
                <a16:creationId xmlns:a16="http://schemas.microsoft.com/office/drawing/2014/main" id="{20F4C6E5-11F7-4BB1-84EA-02D9EFD4AF6F}"/>
              </a:ext>
            </a:extLst>
          </p:cNvPr>
          <p:cNvSpPr>
            <a:spLocks noChangeAspect="1"/>
          </p:cNvSpPr>
          <p:nvPr/>
        </p:nvSpPr>
        <p:spPr>
          <a:xfrm>
            <a:off x="5271516" y="2945149"/>
            <a:ext cx="1344168" cy="1341656"/>
          </a:xfrm>
          <a:prstGeom prst="flowChartConnector">
            <a:avLst/>
          </a:prstGeom>
          <a:solidFill>
            <a:srgbClr val="C00000"/>
          </a:solidFill>
        </p:spPr>
        <p:txBody>
          <a:bodyPr wrap="none" rtlCol="0" anchor="ctr">
            <a:spAutoFit/>
          </a:bodyPr>
          <a:lstStyle/>
          <a:p>
            <a:pPr algn="ctr"/>
            <a:r>
              <a:rPr lang="en-CA" sz="1400" b="1">
                <a:solidFill>
                  <a:schemeClr val="bg1"/>
                </a:solidFill>
              </a:rPr>
              <a:t>Readiness</a:t>
            </a:r>
          </a:p>
          <a:p>
            <a:pPr algn="ctr"/>
            <a:r>
              <a:rPr lang="en-CA" sz="1400" b="1">
                <a:solidFill>
                  <a:schemeClr val="bg1"/>
                </a:solidFill>
              </a:rPr>
              <a:t>&amp;</a:t>
            </a:r>
          </a:p>
          <a:p>
            <a:pPr algn="ctr"/>
            <a:r>
              <a:rPr lang="en-CA" sz="1400" b="1">
                <a:solidFill>
                  <a:schemeClr val="bg1"/>
                </a:solidFill>
              </a:rPr>
              <a:t>Code-Freeze</a:t>
            </a:r>
          </a:p>
          <a:p>
            <a:pPr algn="ctr"/>
            <a:r>
              <a:rPr lang="en-CA" sz="1400" b="1">
                <a:solidFill>
                  <a:schemeClr val="bg1"/>
                </a:solidFill>
              </a:rPr>
              <a:t>Protection</a:t>
            </a:r>
            <a:endParaRPr lang="en-US" sz="1400" b="1">
              <a:solidFill>
                <a:schemeClr val="bg1"/>
              </a:solidFill>
            </a:endParaRPr>
          </a:p>
        </p:txBody>
      </p:sp>
      <p:sp>
        <p:nvSpPr>
          <p:cNvPr id="42" name="Rectangle: Rounded Corners 41">
            <a:extLst>
              <a:ext uri="{FF2B5EF4-FFF2-40B4-BE49-F238E27FC236}">
                <a16:creationId xmlns:a16="http://schemas.microsoft.com/office/drawing/2014/main" id="{ADB9DA63-E2A3-4B91-BC70-E8FCE9886930}"/>
              </a:ext>
            </a:extLst>
          </p:cNvPr>
          <p:cNvSpPr/>
          <p:nvPr/>
        </p:nvSpPr>
        <p:spPr>
          <a:xfrm>
            <a:off x="8906914" y="1093672"/>
            <a:ext cx="915176" cy="817245"/>
          </a:xfrm>
          <a:prstGeom prst="roundRect">
            <a:avLst/>
          </a:prstGeom>
          <a:solidFill>
            <a:srgbClr val="002060"/>
          </a:solidFill>
        </p:spPr>
        <p:txBody>
          <a:bodyPr wrap="none" rtlCol="0" anchor="ctr">
            <a:spAutoFit/>
          </a:bodyPr>
          <a:lstStyle/>
          <a:p>
            <a:pPr algn="ctr"/>
            <a:r>
              <a:rPr lang="en-CA" sz="1400" b="1">
                <a:solidFill>
                  <a:schemeClr val="bg1"/>
                </a:solidFill>
              </a:rPr>
              <a:t>Release</a:t>
            </a:r>
          </a:p>
          <a:p>
            <a:pPr algn="ctr"/>
            <a:r>
              <a:rPr lang="en-CA" sz="1400" b="1">
                <a:solidFill>
                  <a:schemeClr val="bg1"/>
                </a:solidFill>
              </a:rPr>
              <a:t>Status</a:t>
            </a:r>
          </a:p>
          <a:p>
            <a:pPr algn="ctr"/>
            <a:r>
              <a:rPr lang="en-CA" sz="1400" b="1">
                <a:solidFill>
                  <a:schemeClr val="bg1"/>
                </a:solidFill>
              </a:rPr>
              <a:t>Meeting</a:t>
            </a:r>
            <a:endParaRPr lang="en-US" sz="1400" b="1">
              <a:solidFill>
                <a:schemeClr val="bg1"/>
              </a:solidFill>
            </a:endParaRPr>
          </a:p>
        </p:txBody>
      </p:sp>
      <p:sp>
        <p:nvSpPr>
          <p:cNvPr id="43" name="Arrow: Striped Right 42">
            <a:extLst>
              <a:ext uri="{FF2B5EF4-FFF2-40B4-BE49-F238E27FC236}">
                <a16:creationId xmlns:a16="http://schemas.microsoft.com/office/drawing/2014/main" id="{C228CA99-4869-4C53-943C-75591E19B971}"/>
              </a:ext>
            </a:extLst>
          </p:cNvPr>
          <p:cNvSpPr/>
          <p:nvPr/>
        </p:nvSpPr>
        <p:spPr>
          <a:xfrm rot="16200000">
            <a:off x="8955880" y="2181988"/>
            <a:ext cx="817244"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square" rtlCol="0" anchor="ctr">
            <a:spAutoFit/>
          </a:bodyPr>
          <a:lstStyle/>
          <a:p>
            <a:pPr algn="ctr"/>
            <a:endParaRPr lang="en-US" sz="1100"/>
          </a:p>
        </p:txBody>
      </p:sp>
      <p:sp>
        <p:nvSpPr>
          <p:cNvPr id="14" name="Arrow: Curved Right 13">
            <a:extLst>
              <a:ext uri="{FF2B5EF4-FFF2-40B4-BE49-F238E27FC236}">
                <a16:creationId xmlns:a16="http://schemas.microsoft.com/office/drawing/2014/main" id="{2B815853-21BF-4546-9AE7-25A5034497E8}"/>
              </a:ext>
            </a:extLst>
          </p:cNvPr>
          <p:cNvSpPr/>
          <p:nvPr/>
        </p:nvSpPr>
        <p:spPr>
          <a:xfrm rot="20132597">
            <a:off x="537704" y="4303649"/>
            <a:ext cx="417773" cy="1116240"/>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
        <p:nvSpPr>
          <p:cNvPr id="15" name="Arrow: Curved Right 14">
            <a:extLst>
              <a:ext uri="{FF2B5EF4-FFF2-40B4-BE49-F238E27FC236}">
                <a16:creationId xmlns:a16="http://schemas.microsoft.com/office/drawing/2014/main" id="{C38B4C88-6766-4F40-88A7-2BDC775426EF}"/>
              </a:ext>
            </a:extLst>
          </p:cNvPr>
          <p:cNvSpPr/>
          <p:nvPr/>
        </p:nvSpPr>
        <p:spPr>
          <a:xfrm rot="13616834">
            <a:off x="9708806" y="4368312"/>
            <a:ext cx="417773" cy="1116240"/>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Tree>
    <p:extLst>
      <p:ext uri="{BB962C8B-B14F-4D97-AF65-F5344CB8AC3E}">
        <p14:creationId xmlns:p14="http://schemas.microsoft.com/office/powerpoint/2010/main" val="34719078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76E39AF-3F98-46E0-B048-590415A6B1FA}"/>
              </a:ext>
            </a:extLst>
          </p:cNvPr>
          <p:cNvSpPr>
            <a:spLocks noGrp="1"/>
          </p:cNvSpPr>
          <p:nvPr>
            <p:ph type="sldNum" sz="quarter" idx="4294967295"/>
          </p:nvPr>
        </p:nvSpPr>
        <p:spPr>
          <a:xfrm>
            <a:off x="10698480" y="228600"/>
            <a:ext cx="891540" cy="841248"/>
          </a:xfrm>
          <a:prstGeom prst="rect">
            <a:avLst/>
          </a:prstGeom>
        </p:spPr>
        <p:txBody>
          <a:bodyPr/>
          <a:lstStyle/>
          <a:p>
            <a:fld id="{E633FACB-E57B-4CDC-9F3B-D7F03E444374}" type="slidenum">
              <a:rPr lang="en-CA" smtClean="0">
                <a:solidFill>
                  <a:srgbClr val="AAAAAA"/>
                </a:solidFill>
              </a:rPr>
              <a:pPr/>
              <a:t>47</a:t>
            </a:fld>
            <a:endParaRPr lang="en-CA">
              <a:solidFill>
                <a:srgbClr val="AAAAAA"/>
              </a:solidFill>
            </a:endParaRPr>
          </a:p>
        </p:txBody>
      </p:sp>
      <p:sp>
        <p:nvSpPr>
          <p:cNvPr id="4" name="Title 1">
            <a:extLst>
              <a:ext uri="{FF2B5EF4-FFF2-40B4-BE49-F238E27FC236}">
                <a16:creationId xmlns:a16="http://schemas.microsoft.com/office/drawing/2014/main" id="{286A96DA-CDFD-4236-BE2C-7755AD016B4C}"/>
              </a:ext>
            </a:extLst>
          </p:cNvPr>
          <p:cNvSpPr txBox="1">
            <a:spLocks/>
          </p:cNvSpPr>
          <p:nvPr/>
        </p:nvSpPr>
        <p:spPr>
          <a:xfrm>
            <a:off x="117633" y="57953"/>
            <a:ext cx="11292840"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CA" sz="2800"/>
              <a:t>Release PIR Recommendations</a:t>
            </a:r>
          </a:p>
        </p:txBody>
      </p:sp>
      <p:graphicFrame>
        <p:nvGraphicFramePr>
          <p:cNvPr id="36" name="Table 32">
            <a:extLst>
              <a:ext uri="{FF2B5EF4-FFF2-40B4-BE49-F238E27FC236}">
                <a16:creationId xmlns:a16="http://schemas.microsoft.com/office/drawing/2014/main" id="{08906719-308C-4E51-8B0C-C0B797A460AD}"/>
              </a:ext>
            </a:extLst>
          </p:cNvPr>
          <p:cNvGraphicFramePr>
            <a:graphicFrameLocks noGrp="1"/>
          </p:cNvGraphicFramePr>
          <p:nvPr/>
        </p:nvGraphicFramePr>
        <p:xfrm>
          <a:off x="140578" y="4894490"/>
          <a:ext cx="8033031" cy="18288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71323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UAT2 – Defects/Variances</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PMO</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QA, AD, Business, RM</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CA" sz="1000" b="0"/>
                        <a:t>For any defects/variances discovered during project UAT2 cycle:</a:t>
                      </a:r>
                    </a:p>
                    <a:p>
                      <a:pPr marL="461963" indent="-176213">
                        <a:buAutoNum type="arabicPeriod"/>
                      </a:pPr>
                      <a:r>
                        <a:rPr lang="en-CA" sz="1000" b="0"/>
                        <a:t>Project Team to conduct urgent criticality assessment on the issue.</a:t>
                      </a:r>
                    </a:p>
                    <a:p>
                      <a:pPr marL="461963" indent="-176213">
                        <a:buAutoNum type="arabicPeriod"/>
                      </a:pPr>
                      <a:r>
                        <a:rPr lang="en-CA" sz="1000" b="0"/>
                        <a:t>If deemed non-critical, PMs are to facilitate obtaining business approval to defer the variances.</a:t>
                      </a:r>
                    </a:p>
                    <a:p>
                      <a:pPr marL="461963" indent="-176213">
                        <a:buAutoNum type="arabicPeriod"/>
                      </a:pPr>
                      <a:r>
                        <a:rPr lang="en-CA" sz="1000" b="0"/>
                        <a:t>If deemed critical, PMs are to facilitate obtaining L9 AD/QA approvals, prior to promoting the fix to testing.</a:t>
                      </a:r>
                    </a:p>
                    <a:p>
                      <a:pPr marL="171450" indent="-171450">
                        <a:buFont typeface="Arial" panose="020B0604020202020204" pitchFamily="34" charset="0"/>
                        <a:buChar char="•"/>
                      </a:pPr>
                      <a:endParaRPr lang="en-CA" sz="1000" b="0"/>
                    </a:p>
                    <a:p>
                      <a:pPr marL="171450" indent="-171450">
                        <a:buFont typeface="Arial" panose="020B0604020202020204" pitchFamily="34" charset="0"/>
                        <a:buChar char="•"/>
                      </a:pPr>
                      <a:r>
                        <a:rPr lang="en-CA" sz="1000" b="0"/>
                        <a:t>QA DSR Report to indicate Red status on any projects with unresolved defects/variances while in project UAT2 cycle.</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graphicFrame>
        <p:nvGraphicFramePr>
          <p:cNvPr id="37" name="Table 32">
            <a:extLst>
              <a:ext uri="{FF2B5EF4-FFF2-40B4-BE49-F238E27FC236}">
                <a16:creationId xmlns:a16="http://schemas.microsoft.com/office/drawing/2014/main" id="{A5D34350-A49C-4EA6-BF20-2223A6F5ADC8}"/>
              </a:ext>
            </a:extLst>
          </p:cNvPr>
          <p:cNvGraphicFramePr>
            <a:graphicFrameLocks noGrp="1"/>
          </p:cNvGraphicFramePr>
          <p:nvPr/>
        </p:nvGraphicFramePr>
        <p:xfrm>
          <a:off x="140530" y="3529508"/>
          <a:ext cx="8033031" cy="126492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71323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Reporting</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QA</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CA" sz="1000" b="0"/>
                        <a:t>For projects in UAT1, defect/variances report summaries to be included in weekly Release Status meeting.</a:t>
                      </a:r>
                    </a:p>
                    <a:p>
                      <a:pPr marL="171450" indent="-171450">
                        <a:buFont typeface="Arial" panose="020B0604020202020204" pitchFamily="34" charset="0"/>
                        <a:buChar char="•"/>
                      </a:pPr>
                      <a:endParaRPr lang="en-CA" sz="1000" b="0"/>
                    </a:p>
                    <a:p>
                      <a:pPr marL="171450" indent="-171450">
                        <a:buFont typeface="Arial" panose="020B0604020202020204" pitchFamily="34" charset="0"/>
                        <a:buChar char="•"/>
                      </a:pPr>
                      <a:r>
                        <a:rPr lang="en-CA" sz="1000" b="0"/>
                        <a:t>As an indicator of readiness, and degree of impact to testing, stats to be reported in Release Status meeting detailing concerning Environment Issues and Downtime summary.</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sp>
        <p:nvSpPr>
          <p:cNvPr id="45" name="Flowchart: Connector 44">
            <a:extLst>
              <a:ext uri="{FF2B5EF4-FFF2-40B4-BE49-F238E27FC236}">
                <a16:creationId xmlns:a16="http://schemas.microsoft.com/office/drawing/2014/main" id="{89E9B806-728B-4BA7-BFB8-09C1027CC22D}"/>
              </a:ext>
            </a:extLst>
          </p:cNvPr>
          <p:cNvSpPr>
            <a:spLocks noChangeAspect="1"/>
          </p:cNvSpPr>
          <p:nvPr/>
        </p:nvSpPr>
        <p:spPr>
          <a:xfrm>
            <a:off x="5769619" y="141977"/>
            <a:ext cx="1344168" cy="1341656"/>
          </a:xfrm>
          <a:prstGeom prst="flowChartConnector">
            <a:avLst/>
          </a:prstGeom>
          <a:solidFill>
            <a:srgbClr val="C00000"/>
          </a:solidFill>
        </p:spPr>
        <p:txBody>
          <a:bodyPr wrap="none" rtlCol="0" anchor="ctr">
            <a:spAutoFit/>
          </a:bodyPr>
          <a:lstStyle/>
          <a:p>
            <a:pPr algn="ctr"/>
            <a:r>
              <a:rPr lang="en-CA" sz="1400" b="1">
                <a:solidFill>
                  <a:schemeClr val="bg1"/>
                </a:solidFill>
              </a:rPr>
              <a:t>Readiness</a:t>
            </a:r>
          </a:p>
          <a:p>
            <a:pPr algn="ctr"/>
            <a:r>
              <a:rPr lang="en-CA" sz="1400" b="1">
                <a:solidFill>
                  <a:schemeClr val="bg1"/>
                </a:solidFill>
              </a:rPr>
              <a:t>&amp;</a:t>
            </a:r>
          </a:p>
          <a:p>
            <a:pPr algn="ctr"/>
            <a:r>
              <a:rPr lang="en-CA" sz="1400" b="1">
                <a:solidFill>
                  <a:schemeClr val="bg1"/>
                </a:solidFill>
              </a:rPr>
              <a:t>Code-Freeze</a:t>
            </a:r>
          </a:p>
          <a:p>
            <a:pPr algn="ctr"/>
            <a:r>
              <a:rPr lang="en-CA" sz="1400" b="1">
                <a:solidFill>
                  <a:schemeClr val="bg1"/>
                </a:solidFill>
              </a:rPr>
              <a:t>Protection</a:t>
            </a:r>
            <a:endParaRPr lang="en-US" sz="1400" b="1">
              <a:solidFill>
                <a:schemeClr val="bg1"/>
              </a:solidFill>
            </a:endParaRPr>
          </a:p>
        </p:txBody>
      </p:sp>
      <p:sp>
        <p:nvSpPr>
          <p:cNvPr id="46" name="Rectangle: Rounded Corners 45">
            <a:extLst>
              <a:ext uri="{FF2B5EF4-FFF2-40B4-BE49-F238E27FC236}">
                <a16:creationId xmlns:a16="http://schemas.microsoft.com/office/drawing/2014/main" id="{F1C8C184-3967-4AF5-A57D-2C65752E2C5C}"/>
              </a:ext>
            </a:extLst>
          </p:cNvPr>
          <p:cNvSpPr/>
          <p:nvPr/>
        </p:nvSpPr>
        <p:spPr>
          <a:xfrm>
            <a:off x="10280373" y="3273555"/>
            <a:ext cx="915176" cy="817245"/>
          </a:xfrm>
          <a:prstGeom prst="roundRect">
            <a:avLst/>
          </a:prstGeom>
          <a:solidFill>
            <a:srgbClr val="002060"/>
          </a:solidFill>
        </p:spPr>
        <p:txBody>
          <a:bodyPr wrap="none" rtlCol="0" anchor="ctr">
            <a:spAutoFit/>
          </a:bodyPr>
          <a:lstStyle/>
          <a:p>
            <a:pPr algn="ctr"/>
            <a:r>
              <a:rPr lang="en-CA" sz="1400" b="1">
                <a:solidFill>
                  <a:schemeClr val="bg1"/>
                </a:solidFill>
              </a:rPr>
              <a:t>Release</a:t>
            </a:r>
          </a:p>
          <a:p>
            <a:pPr algn="ctr"/>
            <a:r>
              <a:rPr lang="en-CA" sz="1400" b="1">
                <a:solidFill>
                  <a:schemeClr val="bg1"/>
                </a:solidFill>
              </a:rPr>
              <a:t>Status</a:t>
            </a:r>
          </a:p>
          <a:p>
            <a:pPr algn="ctr"/>
            <a:r>
              <a:rPr lang="en-CA" sz="1400" b="1">
                <a:solidFill>
                  <a:schemeClr val="bg1"/>
                </a:solidFill>
              </a:rPr>
              <a:t>Meeting</a:t>
            </a:r>
            <a:endParaRPr lang="en-US" sz="1400" b="1">
              <a:solidFill>
                <a:schemeClr val="bg1"/>
              </a:solidFill>
            </a:endParaRPr>
          </a:p>
        </p:txBody>
      </p:sp>
      <p:sp>
        <p:nvSpPr>
          <p:cNvPr id="47" name="TextBox 46">
            <a:extLst>
              <a:ext uri="{FF2B5EF4-FFF2-40B4-BE49-F238E27FC236}">
                <a16:creationId xmlns:a16="http://schemas.microsoft.com/office/drawing/2014/main" id="{78C45574-4A44-4119-B301-45CE5088439A}"/>
              </a:ext>
            </a:extLst>
          </p:cNvPr>
          <p:cNvSpPr txBox="1"/>
          <p:nvPr/>
        </p:nvSpPr>
        <p:spPr>
          <a:xfrm>
            <a:off x="8300785" y="4694838"/>
            <a:ext cx="1588163" cy="584775"/>
          </a:xfrm>
          <a:prstGeom prst="rect">
            <a:avLst/>
          </a:prstGeom>
          <a:noFill/>
        </p:spPr>
        <p:txBody>
          <a:bodyPr wrap="square" rtlCol="0">
            <a:spAutoFit/>
          </a:bodyPr>
          <a:lstStyle/>
          <a:p>
            <a:r>
              <a:rPr lang="en-CA" sz="3200">
                <a:solidFill>
                  <a:schemeClr val="accent4"/>
                </a:solidFill>
              </a:rPr>
              <a:t>. . .</a:t>
            </a:r>
            <a:endParaRPr lang="en-US" sz="3200">
              <a:solidFill>
                <a:schemeClr val="accent4"/>
              </a:solidFill>
            </a:endParaRPr>
          </a:p>
        </p:txBody>
      </p:sp>
      <p:sp>
        <p:nvSpPr>
          <p:cNvPr id="48" name="Rectangle: Rounded Corners 47">
            <a:extLst>
              <a:ext uri="{FF2B5EF4-FFF2-40B4-BE49-F238E27FC236}">
                <a16:creationId xmlns:a16="http://schemas.microsoft.com/office/drawing/2014/main" id="{D19A7E15-6CEB-400C-87A8-9F8939DC0701}"/>
              </a:ext>
            </a:extLst>
          </p:cNvPr>
          <p:cNvSpPr/>
          <p:nvPr/>
        </p:nvSpPr>
        <p:spPr>
          <a:xfrm>
            <a:off x="9174018" y="4922955"/>
            <a:ext cx="1929324" cy="340519"/>
          </a:xfrm>
          <a:prstGeom prst="roundRect">
            <a:avLst/>
          </a:prstGeom>
          <a:solidFill>
            <a:schemeClr val="accent4"/>
          </a:solidFill>
        </p:spPr>
        <p:txBody>
          <a:bodyPr wrap="none" rtlCol="0" anchor="ctr">
            <a:spAutoFit/>
          </a:bodyPr>
          <a:lstStyle/>
          <a:p>
            <a:pPr algn="ctr"/>
            <a:r>
              <a:rPr lang="en-CA" sz="1400" b="1">
                <a:solidFill>
                  <a:schemeClr val="bg1"/>
                </a:solidFill>
              </a:rPr>
              <a:t>‘Express’ Exceptions</a:t>
            </a:r>
            <a:endParaRPr lang="en-US" sz="1400" b="1">
              <a:solidFill>
                <a:schemeClr val="bg1"/>
              </a:solidFill>
            </a:endParaRPr>
          </a:p>
        </p:txBody>
      </p:sp>
      <p:pic>
        <p:nvPicPr>
          <p:cNvPr id="28" name="Graphic 27" descr="No sign">
            <a:extLst>
              <a:ext uri="{FF2B5EF4-FFF2-40B4-BE49-F238E27FC236}">
                <a16:creationId xmlns:a16="http://schemas.microsoft.com/office/drawing/2014/main" id="{D7F0DE56-BA25-4115-B3BE-18E28F10BE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65875" y="4589521"/>
            <a:ext cx="491431" cy="491431"/>
          </a:xfrm>
          <a:prstGeom prst="rect">
            <a:avLst/>
          </a:prstGeom>
        </p:spPr>
      </p:pic>
      <p:sp>
        <p:nvSpPr>
          <p:cNvPr id="49" name="TextBox 48">
            <a:extLst>
              <a:ext uri="{FF2B5EF4-FFF2-40B4-BE49-F238E27FC236}">
                <a16:creationId xmlns:a16="http://schemas.microsoft.com/office/drawing/2014/main" id="{152BFCB8-72BC-4C71-AC0A-50723364B5D6}"/>
              </a:ext>
            </a:extLst>
          </p:cNvPr>
          <p:cNvSpPr txBox="1"/>
          <p:nvPr/>
        </p:nvSpPr>
        <p:spPr>
          <a:xfrm>
            <a:off x="9282558" y="5274817"/>
            <a:ext cx="1993408" cy="938719"/>
          </a:xfrm>
          <a:prstGeom prst="rect">
            <a:avLst/>
          </a:prstGeom>
          <a:noFill/>
        </p:spPr>
        <p:txBody>
          <a:bodyPr wrap="square" rtlCol="0">
            <a:spAutoFit/>
          </a:bodyPr>
          <a:lstStyle/>
          <a:p>
            <a:pPr marL="171450" indent="-171450">
              <a:buFont typeface="Arial" panose="020B0604020202020204" pitchFamily="34" charset="0"/>
              <a:buChar char="•"/>
            </a:pPr>
            <a:r>
              <a:rPr lang="en-CA" sz="1100" b="1"/>
              <a:t>Process not yet ready to support urgent nature</a:t>
            </a:r>
          </a:p>
          <a:p>
            <a:pPr marL="171450" indent="-171450">
              <a:buFont typeface="Arial" panose="020B0604020202020204" pitchFamily="34" charset="0"/>
              <a:buChar char="•"/>
            </a:pPr>
            <a:r>
              <a:rPr lang="en-CA" sz="1100" b="1"/>
              <a:t>Project Team forum still the ideal place to obtain necessary approvals.</a:t>
            </a:r>
            <a:endParaRPr lang="en-US" sz="1100" b="1"/>
          </a:p>
        </p:txBody>
      </p:sp>
      <p:sp>
        <p:nvSpPr>
          <p:cNvPr id="52" name="Arrow: Striped Right 51">
            <a:extLst>
              <a:ext uri="{FF2B5EF4-FFF2-40B4-BE49-F238E27FC236}">
                <a16:creationId xmlns:a16="http://schemas.microsoft.com/office/drawing/2014/main" id="{9D1853A0-5298-456F-A545-A63D32361171}"/>
              </a:ext>
            </a:extLst>
          </p:cNvPr>
          <p:cNvSpPr/>
          <p:nvPr/>
        </p:nvSpPr>
        <p:spPr>
          <a:xfrm>
            <a:off x="7358878" y="1555590"/>
            <a:ext cx="1344167" cy="365188"/>
          </a:xfrm>
          <a:prstGeom prst="stripedRightArrow">
            <a:avLst/>
          </a:prstGeom>
          <a:gradFill flip="none" rotWithShape="1">
            <a:gsLst>
              <a:gs pos="0">
                <a:schemeClr val="accent4">
                  <a:shade val="30000"/>
                  <a:satMod val="115000"/>
                  <a:alpha val="50000"/>
                </a:schemeClr>
              </a:gs>
              <a:gs pos="50000">
                <a:schemeClr val="accent4">
                  <a:shade val="67500"/>
                  <a:satMod val="115000"/>
                  <a:alpha val="50000"/>
                </a:schemeClr>
              </a:gs>
              <a:gs pos="100000">
                <a:schemeClr val="accent4">
                  <a:shade val="100000"/>
                  <a:satMod val="115000"/>
                  <a:alpha val="50000"/>
                </a:schemeClr>
              </a:gs>
            </a:gsLst>
            <a:lin ang="0" scaled="1"/>
            <a:tileRect/>
          </a:gradFill>
        </p:spPr>
        <p:txBody>
          <a:bodyPr wrap="square" rtlCol="0" anchor="ctr">
            <a:spAutoFit/>
          </a:bodyPr>
          <a:lstStyle/>
          <a:p>
            <a:pPr algn="ctr"/>
            <a:endParaRPr lang="en-US" sz="1100"/>
          </a:p>
        </p:txBody>
      </p:sp>
      <p:sp>
        <p:nvSpPr>
          <p:cNvPr id="56" name="Arrow: Curved Right 55">
            <a:extLst>
              <a:ext uri="{FF2B5EF4-FFF2-40B4-BE49-F238E27FC236}">
                <a16:creationId xmlns:a16="http://schemas.microsoft.com/office/drawing/2014/main" id="{23DCDA51-4563-4F9D-96F0-EEE02BE24C16}"/>
              </a:ext>
            </a:extLst>
          </p:cNvPr>
          <p:cNvSpPr/>
          <p:nvPr/>
        </p:nvSpPr>
        <p:spPr>
          <a:xfrm rot="10962743">
            <a:off x="11220450" y="3532794"/>
            <a:ext cx="587770" cy="1635248"/>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
        <p:nvSpPr>
          <p:cNvPr id="58" name="Arrow: Striped Right 57">
            <a:extLst>
              <a:ext uri="{FF2B5EF4-FFF2-40B4-BE49-F238E27FC236}">
                <a16:creationId xmlns:a16="http://schemas.microsoft.com/office/drawing/2014/main" id="{BE3D6AF2-DFED-4BC8-BD9D-12914FF4CA02}"/>
              </a:ext>
            </a:extLst>
          </p:cNvPr>
          <p:cNvSpPr/>
          <p:nvPr/>
        </p:nvSpPr>
        <p:spPr>
          <a:xfrm rot="19792245">
            <a:off x="8244285" y="4084836"/>
            <a:ext cx="2112630"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square" rtlCol="0" anchor="ctr">
            <a:spAutoFit/>
          </a:bodyPr>
          <a:lstStyle/>
          <a:p>
            <a:pPr algn="ctr"/>
            <a:endParaRPr lang="en-US" sz="1100"/>
          </a:p>
        </p:txBody>
      </p:sp>
      <p:sp>
        <p:nvSpPr>
          <p:cNvPr id="59" name="TextBox 58">
            <a:extLst>
              <a:ext uri="{FF2B5EF4-FFF2-40B4-BE49-F238E27FC236}">
                <a16:creationId xmlns:a16="http://schemas.microsoft.com/office/drawing/2014/main" id="{DA8B03CB-2867-4C05-9849-5624873E136E}"/>
              </a:ext>
            </a:extLst>
          </p:cNvPr>
          <p:cNvSpPr txBox="1"/>
          <p:nvPr/>
        </p:nvSpPr>
        <p:spPr>
          <a:xfrm>
            <a:off x="8463376" y="3442900"/>
            <a:ext cx="1344167" cy="600164"/>
          </a:xfrm>
          <a:prstGeom prst="rect">
            <a:avLst/>
          </a:prstGeom>
          <a:noFill/>
        </p:spPr>
        <p:txBody>
          <a:bodyPr wrap="square" rtlCol="0">
            <a:spAutoFit/>
          </a:bodyPr>
          <a:lstStyle/>
          <a:p>
            <a:r>
              <a:rPr lang="en-CA" sz="1100" b="1" i="1"/>
              <a:t>As needed, issues can be tabled at weekly forum.</a:t>
            </a:r>
            <a:endParaRPr lang="en-US" sz="1100" b="1" i="1"/>
          </a:p>
        </p:txBody>
      </p:sp>
      <p:sp>
        <p:nvSpPr>
          <p:cNvPr id="20" name="Title 1">
            <a:extLst>
              <a:ext uri="{FF2B5EF4-FFF2-40B4-BE49-F238E27FC236}">
                <a16:creationId xmlns:a16="http://schemas.microsoft.com/office/drawing/2014/main" id="{047CE5CF-2D8B-454E-BCB0-8AB533294405}"/>
              </a:ext>
            </a:extLst>
          </p:cNvPr>
          <p:cNvSpPr txBox="1">
            <a:spLocks/>
          </p:cNvSpPr>
          <p:nvPr/>
        </p:nvSpPr>
        <p:spPr>
          <a:xfrm>
            <a:off x="1371991" y="1441077"/>
            <a:ext cx="1528023"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algn="ctr"/>
            <a:r>
              <a:rPr lang="en-CA" sz="2400"/>
              <a:t>Phase 1</a:t>
            </a:r>
          </a:p>
        </p:txBody>
      </p:sp>
      <p:sp>
        <p:nvSpPr>
          <p:cNvPr id="21" name="Rectangle: Rounded Corners 20">
            <a:extLst>
              <a:ext uri="{FF2B5EF4-FFF2-40B4-BE49-F238E27FC236}">
                <a16:creationId xmlns:a16="http://schemas.microsoft.com/office/drawing/2014/main" id="{A1958782-1C2C-4CAA-BE31-5E465290B30F}"/>
              </a:ext>
            </a:extLst>
          </p:cNvPr>
          <p:cNvSpPr/>
          <p:nvPr/>
        </p:nvSpPr>
        <p:spPr>
          <a:xfrm>
            <a:off x="1622838" y="2481903"/>
            <a:ext cx="1026327" cy="340519"/>
          </a:xfrm>
          <a:prstGeom prst="roundRect">
            <a:avLst/>
          </a:prstGeom>
          <a:solidFill>
            <a:schemeClr val="accent4"/>
          </a:solidFill>
        </p:spPr>
        <p:txBody>
          <a:bodyPr wrap="none" rtlCol="0" anchor="ctr">
            <a:spAutoFit/>
          </a:bodyPr>
          <a:lstStyle/>
          <a:p>
            <a:pPr algn="ctr"/>
            <a:r>
              <a:rPr lang="en-CA" sz="1400" b="1">
                <a:solidFill>
                  <a:schemeClr val="bg1"/>
                </a:solidFill>
              </a:rPr>
              <a:t>Reporting</a:t>
            </a:r>
            <a:endParaRPr lang="en-US" sz="1400" b="1">
              <a:solidFill>
                <a:schemeClr val="bg1"/>
              </a:solidFill>
            </a:endParaRPr>
          </a:p>
        </p:txBody>
      </p:sp>
      <p:sp>
        <p:nvSpPr>
          <p:cNvPr id="22" name="Rectangle: Rounded Corners 21">
            <a:extLst>
              <a:ext uri="{FF2B5EF4-FFF2-40B4-BE49-F238E27FC236}">
                <a16:creationId xmlns:a16="http://schemas.microsoft.com/office/drawing/2014/main" id="{7D0FFF4C-CA69-4BB5-9819-0ADBCA233698}"/>
              </a:ext>
            </a:extLst>
          </p:cNvPr>
          <p:cNvSpPr/>
          <p:nvPr/>
        </p:nvSpPr>
        <p:spPr>
          <a:xfrm>
            <a:off x="1019816" y="2038187"/>
            <a:ext cx="2232374" cy="340519"/>
          </a:xfrm>
          <a:prstGeom prst="roundRect">
            <a:avLst/>
          </a:prstGeom>
          <a:solidFill>
            <a:schemeClr val="accent4"/>
          </a:solidFill>
        </p:spPr>
        <p:txBody>
          <a:bodyPr wrap="none" rtlCol="0" anchor="ctr">
            <a:spAutoFit/>
          </a:bodyPr>
          <a:lstStyle/>
          <a:p>
            <a:pPr algn="ctr"/>
            <a:r>
              <a:rPr lang="en-CA" sz="1400" b="1">
                <a:solidFill>
                  <a:schemeClr val="bg1"/>
                </a:solidFill>
              </a:rPr>
              <a:t>UAT2 – Defects/Variance</a:t>
            </a:r>
            <a:endParaRPr lang="en-US" sz="1400" b="1">
              <a:solidFill>
                <a:schemeClr val="bg1"/>
              </a:solidFill>
            </a:endParaRPr>
          </a:p>
        </p:txBody>
      </p:sp>
      <p:sp>
        <p:nvSpPr>
          <p:cNvPr id="23" name="Title 1">
            <a:extLst>
              <a:ext uri="{FF2B5EF4-FFF2-40B4-BE49-F238E27FC236}">
                <a16:creationId xmlns:a16="http://schemas.microsoft.com/office/drawing/2014/main" id="{E49CC0FA-A961-4C7B-9BAC-1493B9E384BD}"/>
              </a:ext>
            </a:extLst>
          </p:cNvPr>
          <p:cNvSpPr txBox="1">
            <a:spLocks/>
          </p:cNvSpPr>
          <p:nvPr/>
        </p:nvSpPr>
        <p:spPr>
          <a:xfrm>
            <a:off x="5179588" y="1435341"/>
            <a:ext cx="1528023"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algn="ctr"/>
            <a:r>
              <a:rPr lang="en-CA" sz="2400">
                <a:solidFill>
                  <a:schemeClr val="accent6">
                    <a:alpha val="50000"/>
                  </a:schemeClr>
                </a:solidFill>
              </a:rPr>
              <a:t>Phase 2</a:t>
            </a:r>
          </a:p>
        </p:txBody>
      </p:sp>
      <p:sp>
        <p:nvSpPr>
          <p:cNvPr id="24" name="Title 1">
            <a:extLst>
              <a:ext uri="{FF2B5EF4-FFF2-40B4-BE49-F238E27FC236}">
                <a16:creationId xmlns:a16="http://schemas.microsoft.com/office/drawing/2014/main" id="{67187DDB-D653-4D35-897F-B3BF6553DB7A}"/>
              </a:ext>
            </a:extLst>
          </p:cNvPr>
          <p:cNvSpPr txBox="1">
            <a:spLocks/>
          </p:cNvSpPr>
          <p:nvPr/>
        </p:nvSpPr>
        <p:spPr>
          <a:xfrm>
            <a:off x="8987185" y="1441077"/>
            <a:ext cx="1528023"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algn="ctr"/>
            <a:r>
              <a:rPr lang="en-CA" sz="2400">
                <a:solidFill>
                  <a:schemeClr val="accent6">
                    <a:alpha val="50000"/>
                  </a:schemeClr>
                </a:solidFill>
              </a:rPr>
              <a:t>Phase 3</a:t>
            </a:r>
          </a:p>
        </p:txBody>
      </p:sp>
      <p:sp>
        <p:nvSpPr>
          <p:cNvPr id="25" name="Rectangle: Rounded Corners 24">
            <a:extLst>
              <a:ext uri="{FF2B5EF4-FFF2-40B4-BE49-F238E27FC236}">
                <a16:creationId xmlns:a16="http://schemas.microsoft.com/office/drawing/2014/main" id="{16C3792E-BB88-42A2-AD49-C0ED6DEB86B5}"/>
              </a:ext>
            </a:extLst>
          </p:cNvPr>
          <p:cNvSpPr/>
          <p:nvPr/>
        </p:nvSpPr>
        <p:spPr>
          <a:xfrm>
            <a:off x="5143244" y="2048929"/>
            <a:ext cx="1661134"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Testing Timelines</a:t>
            </a:r>
            <a:endParaRPr lang="en-US" sz="1400" b="1">
              <a:solidFill>
                <a:schemeClr val="bg1"/>
              </a:solidFill>
            </a:endParaRPr>
          </a:p>
        </p:txBody>
      </p:sp>
      <p:sp>
        <p:nvSpPr>
          <p:cNvPr id="26" name="Rectangle: Rounded Corners 25">
            <a:extLst>
              <a:ext uri="{FF2B5EF4-FFF2-40B4-BE49-F238E27FC236}">
                <a16:creationId xmlns:a16="http://schemas.microsoft.com/office/drawing/2014/main" id="{95826D64-87F9-4F96-9EC5-3C34CB7D8730}"/>
              </a:ext>
            </a:extLst>
          </p:cNvPr>
          <p:cNvSpPr/>
          <p:nvPr/>
        </p:nvSpPr>
        <p:spPr>
          <a:xfrm>
            <a:off x="4946549" y="2481902"/>
            <a:ext cx="2127041"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Project Backout Matrix</a:t>
            </a:r>
            <a:endParaRPr lang="en-US" sz="1400" b="1">
              <a:solidFill>
                <a:schemeClr val="bg1"/>
              </a:solidFill>
            </a:endParaRPr>
          </a:p>
        </p:txBody>
      </p:sp>
      <p:sp>
        <p:nvSpPr>
          <p:cNvPr id="27" name="Rectangle: Rounded Corners 26">
            <a:extLst>
              <a:ext uri="{FF2B5EF4-FFF2-40B4-BE49-F238E27FC236}">
                <a16:creationId xmlns:a16="http://schemas.microsoft.com/office/drawing/2014/main" id="{3CD651D9-18CB-4740-86EB-783FD42F7B2D}"/>
              </a:ext>
            </a:extLst>
          </p:cNvPr>
          <p:cNvSpPr/>
          <p:nvPr/>
        </p:nvSpPr>
        <p:spPr>
          <a:xfrm>
            <a:off x="4917771" y="2909741"/>
            <a:ext cx="2184595"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Project Backout Testing</a:t>
            </a:r>
            <a:endParaRPr lang="en-US" sz="1400" b="1">
              <a:solidFill>
                <a:schemeClr val="bg1"/>
              </a:solidFill>
            </a:endParaRPr>
          </a:p>
        </p:txBody>
      </p:sp>
      <p:sp>
        <p:nvSpPr>
          <p:cNvPr id="29" name="Rectangle: Rounded Corners 28">
            <a:extLst>
              <a:ext uri="{FF2B5EF4-FFF2-40B4-BE49-F238E27FC236}">
                <a16:creationId xmlns:a16="http://schemas.microsoft.com/office/drawing/2014/main" id="{B5136002-49E4-4333-A827-30BE88FF8234}"/>
              </a:ext>
            </a:extLst>
          </p:cNvPr>
          <p:cNvSpPr/>
          <p:nvPr/>
        </p:nvSpPr>
        <p:spPr>
          <a:xfrm>
            <a:off x="8914720" y="2050868"/>
            <a:ext cx="1585382"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PAT Engagement</a:t>
            </a:r>
            <a:endParaRPr lang="en-US" sz="1400" b="1">
              <a:solidFill>
                <a:schemeClr val="bg1"/>
              </a:solidFill>
            </a:endParaRPr>
          </a:p>
        </p:txBody>
      </p:sp>
      <p:sp>
        <p:nvSpPr>
          <p:cNvPr id="30" name="Rectangle: Rounded Corners 29">
            <a:extLst>
              <a:ext uri="{FF2B5EF4-FFF2-40B4-BE49-F238E27FC236}">
                <a16:creationId xmlns:a16="http://schemas.microsoft.com/office/drawing/2014/main" id="{A89F7781-FE7C-46BD-9757-1CB5DE00AEBD}"/>
              </a:ext>
            </a:extLst>
          </p:cNvPr>
          <p:cNvSpPr/>
          <p:nvPr/>
        </p:nvSpPr>
        <p:spPr>
          <a:xfrm>
            <a:off x="9099396" y="2481902"/>
            <a:ext cx="1216030"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Phase Gates</a:t>
            </a:r>
            <a:endParaRPr lang="en-US" sz="1400" b="1">
              <a:solidFill>
                <a:schemeClr val="bg1"/>
              </a:solidFill>
            </a:endParaRPr>
          </a:p>
        </p:txBody>
      </p:sp>
      <p:sp>
        <p:nvSpPr>
          <p:cNvPr id="31" name="Arrow: Striped Right 30">
            <a:extLst>
              <a:ext uri="{FF2B5EF4-FFF2-40B4-BE49-F238E27FC236}">
                <a16:creationId xmlns:a16="http://schemas.microsoft.com/office/drawing/2014/main" id="{7EF53C49-9281-4A03-9882-EF9FCBAEF965}"/>
              </a:ext>
            </a:extLst>
          </p:cNvPr>
          <p:cNvSpPr/>
          <p:nvPr/>
        </p:nvSpPr>
        <p:spPr>
          <a:xfrm>
            <a:off x="3429245" y="1556325"/>
            <a:ext cx="1344167" cy="365188"/>
          </a:xfrm>
          <a:prstGeom prst="stripedRightArrow">
            <a:avLst/>
          </a:prstGeom>
          <a:gradFill flip="none" rotWithShape="1">
            <a:gsLst>
              <a:gs pos="0">
                <a:schemeClr val="accent4">
                  <a:shade val="30000"/>
                  <a:satMod val="115000"/>
                  <a:alpha val="50000"/>
                </a:schemeClr>
              </a:gs>
              <a:gs pos="50000">
                <a:schemeClr val="accent4">
                  <a:shade val="67500"/>
                  <a:satMod val="115000"/>
                  <a:alpha val="50000"/>
                </a:schemeClr>
              </a:gs>
              <a:gs pos="100000">
                <a:schemeClr val="accent4">
                  <a:shade val="100000"/>
                  <a:satMod val="115000"/>
                  <a:alpha val="50000"/>
                </a:schemeClr>
              </a:gs>
            </a:gsLst>
            <a:lin ang="0" scaled="1"/>
            <a:tileRect/>
          </a:gradFill>
        </p:spPr>
        <p:txBody>
          <a:bodyPr wrap="square" rtlCol="0" anchor="ctr">
            <a:spAutoFit/>
          </a:bodyPr>
          <a:lstStyle/>
          <a:p>
            <a:pPr algn="ctr"/>
            <a:endParaRPr lang="en-US" sz="1100"/>
          </a:p>
        </p:txBody>
      </p:sp>
      <p:sp>
        <p:nvSpPr>
          <p:cNvPr id="32" name="TextBox 31">
            <a:extLst>
              <a:ext uri="{FF2B5EF4-FFF2-40B4-BE49-F238E27FC236}">
                <a16:creationId xmlns:a16="http://schemas.microsoft.com/office/drawing/2014/main" id="{44795CB8-57EE-4006-A1EB-A0E0F93F79A4}"/>
              </a:ext>
            </a:extLst>
          </p:cNvPr>
          <p:cNvSpPr txBox="1"/>
          <p:nvPr/>
        </p:nvSpPr>
        <p:spPr>
          <a:xfrm>
            <a:off x="214418" y="606119"/>
            <a:ext cx="5608912" cy="338554"/>
          </a:xfrm>
          <a:prstGeom prst="rect">
            <a:avLst/>
          </a:prstGeom>
          <a:noFill/>
        </p:spPr>
        <p:txBody>
          <a:bodyPr wrap="square" rtlCol="0">
            <a:spAutoFit/>
          </a:bodyPr>
          <a:lstStyle/>
          <a:p>
            <a:r>
              <a:rPr lang="en-CA" sz="1600" b="1"/>
              <a:t>Our PIR discussion can be summarized as having 2 goals:</a:t>
            </a:r>
            <a:endParaRPr lang="en-US" sz="1600" b="1"/>
          </a:p>
        </p:txBody>
      </p:sp>
      <p:sp>
        <p:nvSpPr>
          <p:cNvPr id="33" name="TextBox 32">
            <a:extLst>
              <a:ext uri="{FF2B5EF4-FFF2-40B4-BE49-F238E27FC236}">
                <a16:creationId xmlns:a16="http://schemas.microsoft.com/office/drawing/2014/main" id="{728CBFC3-BA98-4D6F-B023-36510DEDA173}"/>
              </a:ext>
            </a:extLst>
          </p:cNvPr>
          <p:cNvSpPr txBox="1"/>
          <p:nvPr/>
        </p:nvSpPr>
        <p:spPr>
          <a:xfrm>
            <a:off x="73307" y="919632"/>
            <a:ext cx="4873242" cy="338554"/>
          </a:xfrm>
          <a:prstGeom prst="rect">
            <a:avLst/>
          </a:prstGeom>
          <a:noFill/>
        </p:spPr>
        <p:txBody>
          <a:bodyPr wrap="square" rtlCol="0">
            <a:spAutoFit/>
          </a:bodyPr>
          <a:lstStyle/>
          <a:p>
            <a:pPr algn="r"/>
            <a:r>
              <a:rPr lang="en-CA" sz="1600" b="1"/>
              <a:t>These process changes aim to support that end.</a:t>
            </a:r>
            <a:endParaRPr lang="en-US" sz="1600" b="1"/>
          </a:p>
        </p:txBody>
      </p:sp>
      <p:sp>
        <p:nvSpPr>
          <p:cNvPr id="35" name="Rectangle: Rounded Corners 34">
            <a:extLst>
              <a:ext uri="{FF2B5EF4-FFF2-40B4-BE49-F238E27FC236}">
                <a16:creationId xmlns:a16="http://schemas.microsoft.com/office/drawing/2014/main" id="{D0882A26-B751-48ED-889D-7FE21B9953A7}"/>
              </a:ext>
            </a:extLst>
          </p:cNvPr>
          <p:cNvSpPr/>
          <p:nvPr/>
        </p:nvSpPr>
        <p:spPr>
          <a:xfrm rot="19870300">
            <a:off x="10090532" y="2693334"/>
            <a:ext cx="578093" cy="272415"/>
          </a:xfrm>
          <a:prstGeom prst="roundRect">
            <a:avLst/>
          </a:prstGeom>
          <a:solidFill>
            <a:schemeClr val="accent2">
              <a:lumMod val="40000"/>
              <a:lumOff val="60000"/>
              <a:alpha val="50000"/>
            </a:schemeClr>
          </a:solidFill>
        </p:spPr>
        <p:txBody>
          <a:bodyPr wrap="none" rtlCol="0" anchor="ctr">
            <a:spAutoFit/>
          </a:bodyPr>
          <a:lstStyle/>
          <a:p>
            <a:pPr algn="ctr"/>
            <a:r>
              <a:rPr lang="en-CA" sz="1000" b="1">
                <a:solidFill>
                  <a:srgbClr val="C00000">
                    <a:alpha val="50000"/>
                  </a:srgbClr>
                </a:solidFill>
              </a:rPr>
              <a:t>*New*</a:t>
            </a:r>
            <a:endParaRPr lang="en-US" sz="1000" b="1">
              <a:solidFill>
                <a:srgbClr val="C00000">
                  <a:alpha val="50000"/>
                </a:srgbClr>
              </a:solidFill>
            </a:endParaRPr>
          </a:p>
        </p:txBody>
      </p:sp>
      <p:sp>
        <p:nvSpPr>
          <p:cNvPr id="38" name="Arrow: Striped Right 37">
            <a:extLst>
              <a:ext uri="{FF2B5EF4-FFF2-40B4-BE49-F238E27FC236}">
                <a16:creationId xmlns:a16="http://schemas.microsoft.com/office/drawing/2014/main" id="{EDB40502-3464-4C15-AE06-AAD3BA3E5586}"/>
              </a:ext>
            </a:extLst>
          </p:cNvPr>
          <p:cNvSpPr/>
          <p:nvPr/>
        </p:nvSpPr>
        <p:spPr>
          <a:xfrm rot="5400000">
            <a:off x="1899030" y="3003383"/>
            <a:ext cx="486050"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square" rtlCol="0" anchor="ctr">
            <a:spAutoFit/>
          </a:bodyPr>
          <a:lstStyle/>
          <a:p>
            <a:pPr algn="ctr"/>
            <a:endParaRPr lang="en-US" sz="1100"/>
          </a:p>
        </p:txBody>
      </p:sp>
      <p:sp>
        <p:nvSpPr>
          <p:cNvPr id="2" name="TextBox 1">
            <a:extLst>
              <a:ext uri="{FF2B5EF4-FFF2-40B4-BE49-F238E27FC236}">
                <a16:creationId xmlns:a16="http://schemas.microsoft.com/office/drawing/2014/main" id="{B800D969-59BC-42C7-BB86-38B8CD47C4B5}"/>
              </a:ext>
            </a:extLst>
          </p:cNvPr>
          <p:cNvSpPr txBox="1"/>
          <p:nvPr/>
        </p:nvSpPr>
        <p:spPr>
          <a:xfrm>
            <a:off x="8311143" y="307989"/>
            <a:ext cx="2426818" cy="830997"/>
          </a:xfrm>
          <a:prstGeom prst="rect">
            <a:avLst/>
          </a:prstGeom>
          <a:noFill/>
        </p:spPr>
        <p:txBody>
          <a:bodyPr wrap="none" rtlCol="0">
            <a:spAutoFit/>
          </a:bodyPr>
          <a:lstStyle/>
          <a:p>
            <a:r>
              <a:rPr lang="en-CA" sz="1600" b="1">
                <a:solidFill>
                  <a:srgbClr val="C00000"/>
                </a:solidFill>
              </a:rPr>
              <a:t>Phase 1</a:t>
            </a:r>
            <a:r>
              <a:rPr lang="en-CA" sz="1600"/>
              <a:t>: </a:t>
            </a:r>
            <a:r>
              <a:rPr lang="en-CA" sz="1200"/>
              <a:t>Immediately / ASAP</a:t>
            </a:r>
            <a:endParaRPr lang="en-CA" sz="1600"/>
          </a:p>
          <a:p>
            <a:r>
              <a:rPr lang="en-CA" sz="1600" b="1">
                <a:solidFill>
                  <a:srgbClr val="C00000"/>
                </a:solidFill>
              </a:rPr>
              <a:t>Phase 2</a:t>
            </a:r>
            <a:r>
              <a:rPr lang="en-CA" sz="1600"/>
              <a:t>: </a:t>
            </a:r>
            <a:r>
              <a:rPr lang="en-CA" sz="1200"/>
              <a:t>Dec 21</a:t>
            </a:r>
            <a:r>
              <a:rPr lang="en-CA" sz="1200" baseline="30000"/>
              <a:t>st</a:t>
            </a:r>
            <a:r>
              <a:rPr lang="en-CA" sz="1200"/>
              <a:t> </a:t>
            </a:r>
            <a:endParaRPr lang="en-CA" sz="1600"/>
          </a:p>
          <a:p>
            <a:r>
              <a:rPr lang="en-CA" sz="1600" b="1">
                <a:solidFill>
                  <a:srgbClr val="C00000"/>
                </a:solidFill>
              </a:rPr>
              <a:t>Phase 3</a:t>
            </a:r>
            <a:r>
              <a:rPr lang="en-CA" sz="1600"/>
              <a:t>: </a:t>
            </a:r>
            <a:r>
              <a:rPr lang="en-CA" sz="1200"/>
              <a:t>Feb 15</a:t>
            </a:r>
            <a:r>
              <a:rPr lang="en-CA" sz="1200" baseline="30000"/>
              <a:t>th</a:t>
            </a:r>
            <a:r>
              <a:rPr lang="en-CA" sz="1200"/>
              <a:t> </a:t>
            </a:r>
            <a:endParaRPr lang="en-US" sz="1600"/>
          </a:p>
        </p:txBody>
      </p:sp>
    </p:spTree>
    <p:extLst>
      <p:ext uri="{BB962C8B-B14F-4D97-AF65-F5344CB8AC3E}">
        <p14:creationId xmlns:p14="http://schemas.microsoft.com/office/powerpoint/2010/main" val="2561284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76E39AF-3F98-46E0-B048-590415A6B1FA}"/>
              </a:ext>
            </a:extLst>
          </p:cNvPr>
          <p:cNvSpPr>
            <a:spLocks noGrp="1"/>
          </p:cNvSpPr>
          <p:nvPr>
            <p:ph type="sldNum" sz="quarter" idx="4294967295"/>
          </p:nvPr>
        </p:nvSpPr>
        <p:spPr>
          <a:xfrm>
            <a:off x="10698480" y="228600"/>
            <a:ext cx="891540" cy="841248"/>
          </a:xfrm>
          <a:prstGeom prst="rect">
            <a:avLst/>
          </a:prstGeom>
        </p:spPr>
        <p:txBody>
          <a:bodyPr/>
          <a:lstStyle/>
          <a:p>
            <a:fld id="{E633FACB-E57B-4CDC-9F3B-D7F03E444374}" type="slidenum">
              <a:rPr lang="en-CA" smtClean="0">
                <a:solidFill>
                  <a:srgbClr val="AAAAAA"/>
                </a:solidFill>
              </a:rPr>
              <a:pPr/>
              <a:t>48</a:t>
            </a:fld>
            <a:endParaRPr lang="en-CA">
              <a:solidFill>
                <a:srgbClr val="AAAAAA"/>
              </a:solidFill>
            </a:endParaRPr>
          </a:p>
        </p:txBody>
      </p:sp>
      <p:sp>
        <p:nvSpPr>
          <p:cNvPr id="4" name="Title 1">
            <a:extLst>
              <a:ext uri="{FF2B5EF4-FFF2-40B4-BE49-F238E27FC236}">
                <a16:creationId xmlns:a16="http://schemas.microsoft.com/office/drawing/2014/main" id="{286A96DA-CDFD-4236-BE2C-7755AD016B4C}"/>
              </a:ext>
            </a:extLst>
          </p:cNvPr>
          <p:cNvSpPr txBox="1">
            <a:spLocks/>
          </p:cNvSpPr>
          <p:nvPr/>
        </p:nvSpPr>
        <p:spPr>
          <a:xfrm>
            <a:off x="117633" y="57953"/>
            <a:ext cx="11292840"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CA" sz="2800"/>
              <a:t>Release PIR Recommendations</a:t>
            </a:r>
          </a:p>
        </p:txBody>
      </p:sp>
      <p:sp>
        <p:nvSpPr>
          <p:cNvPr id="45" name="Flowchart: Connector 44">
            <a:extLst>
              <a:ext uri="{FF2B5EF4-FFF2-40B4-BE49-F238E27FC236}">
                <a16:creationId xmlns:a16="http://schemas.microsoft.com/office/drawing/2014/main" id="{89E9B806-728B-4BA7-BFB8-09C1027CC22D}"/>
              </a:ext>
            </a:extLst>
          </p:cNvPr>
          <p:cNvSpPr>
            <a:spLocks noChangeAspect="1"/>
          </p:cNvSpPr>
          <p:nvPr/>
        </p:nvSpPr>
        <p:spPr>
          <a:xfrm>
            <a:off x="5769619" y="141977"/>
            <a:ext cx="1344168" cy="1341656"/>
          </a:xfrm>
          <a:prstGeom prst="flowChartConnector">
            <a:avLst/>
          </a:prstGeom>
          <a:solidFill>
            <a:srgbClr val="C00000"/>
          </a:solidFill>
        </p:spPr>
        <p:txBody>
          <a:bodyPr wrap="none" rtlCol="0" anchor="ctr">
            <a:spAutoFit/>
          </a:bodyPr>
          <a:lstStyle/>
          <a:p>
            <a:pPr algn="ctr"/>
            <a:r>
              <a:rPr lang="en-CA" sz="1400" b="1">
                <a:solidFill>
                  <a:schemeClr val="bg1"/>
                </a:solidFill>
              </a:rPr>
              <a:t>Readiness</a:t>
            </a:r>
          </a:p>
          <a:p>
            <a:pPr algn="ctr"/>
            <a:r>
              <a:rPr lang="en-CA" sz="1400" b="1">
                <a:solidFill>
                  <a:schemeClr val="bg1"/>
                </a:solidFill>
              </a:rPr>
              <a:t>&amp;</a:t>
            </a:r>
          </a:p>
          <a:p>
            <a:pPr algn="ctr"/>
            <a:r>
              <a:rPr lang="en-CA" sz="1400" b="1">
                <a:solidFill>
                  <a:schemeClr val="bg1"/>
                </a:solidFill>
              </a:rPr>
              <a:t>Code-Freeze</a:t>
            </a:r>
          </a:p>
          <a:p>
            <a:pPr algn="ctr"/>
            <a:r>
              <a:rPr lang="en-CA" sz="1400" b="1">
                <a:solidFill>
                  <a:schemeClr val="bg1"/>
                </a:solidFill>
              </a:rPr>
              <a:t>Protection</a:t>
            </a:r>
            <a:endParaRPr lang="en-US" sz="1400" b="1">
              <a:solidFill>
                <a:schemeClr val="bg1"/>
              </a:solidFill>
            </a:endParaRPr>
          </a:p>
        </p:txBody>
      </p:sp>
      <p:sp>
        <p:nvSpPr>
          <p:cNvPr id="52" name="Arrow: Striped Right 51">
            <a:extLst>
              <a:ext uri="{FF2B5EF4-FFF2-40B4-BE49-F238E27FC236}">
                <a16:creationId xmlns:a16="http://schemas.microsoft.com/office/drawing/2014/main" id="{9D1853A0-5298-456F-A545-A63D32361171}"/>
              </a:ext>
            </a:extLst>
          </p:cNvPr>
          <p:cNvSpPr/>
          <p:nvPr/>
        </p:nvSpPr>
        <p:spPr>
          <a:xfrm>
            <a:off x="7358878" y="1555590"/>
            <a:ext cx="1344167" cy="365188"/>
          </a:xfrm>
          <a:prstGeom prst="stripedRightArrow">
            <a:avLst/>
          </a:prstGeom>
          <a:gradFill flip="none" rotWithShape="1">
            <a:gsLst>
              <a:gs pos="0">
                <a:schemeClr val="accent4">
                  <a:shade val="30000"/>
                  <a:satMod val="115000"/>
                  <a:alpha val="50000"/>
                </a:schemeClr>
              </a:gs>
              <a:gs pos="50000">
                <a:schemeClr val="accent4">
                  <a:shade val="67500"/>
                  <a:satMod val="115000"/>
                  <a:alpha val="50000"/>
                </a:schemeClr>
              </a:gs>
              <a:gs pos="100000">
                <a:schemeClr val="accent4">
                  <a:shade val="100000"/>
                  <a:satMod val="115000"/>
                  <a:alpha val="50000"/>
                </a:schemeClr>
              </a:gs>
            </a:gsLst>
            <a:lin ang="0" scaled="1"/>
            <a:tileRect/>
          </a:gradFill>
        </p:spPr>
        <p:txBody>
          <a:bodyPr wrap="square" rtlCol="0" anchor="ctr">
            <a:spAutoFit/>
          </a:bodyPr>
          <a:lstStyle/>
          <a:p>
            <a:pPr algn="ctr"/>
            <a:endParaRPr lang="en-US" sz="1100"/>
          </a:p>
        </p:txBody>
      </p:sp>
      <p:sp>
        <p:nvSpPr>
          <p:cNvPr id="20" name="Title 1">
            <a:extLst>
              <a:ext uri="{FF2B5EF4-FFF2-40B4-BE49-F238E27FC236}">
                <a16:creationId xmlns:a16="http://schemas.microsoft.com/office/drawing/2014/main" id="{047CE5CF-2D8B-454E-BCB0-8AB533294405}"/>
              </a:ext>
            </a:extLst>
          </p:cNvPr>
          <p:cNvSpPr txBox="1">
            <a:spLocks/>
          </p:cNvSpPr>
          <p:nvPr/>
        </p:nvSpPr>
        <p:spPr>
          <a:xfrm>
            <a:off x="1371991" y="1441077"/>
            <a:ext cx="1528023"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algn="ctr"/>
            <a:r>
              <a:rPr lang="en-CA" sz="2400">
                <a:solidFill>
                  <a:schemeClr val="accent6">
                    <a:alpha val="50000"/>
                  </a:schemeClr>
                </a:solidFill>
              </a:rPr>
              <a:t>Phase 1</a:t>
            </a:r>
          </a:p>
        </p:txBody>
      </p:sp>
      <p:sp>
        <p:nvSpPr>
          <p:cNvPr id="21" name="Rectangle: Rounded Corners 20">
            <a:extLst>
              <a:ext uri="{FF2B5EF4-FFF2-40B4-BE49-F238E27FC236}">
                <a16:creationId xmlns:a16="http://schemas.microsoft.com/office/drawing/2014/main" id="{A1958782-1C2C-4CAA-BE31-5E465290B30F}"/>
              </a:ext>
            </a:extLst>
          </p:cNvPr>
          <p:cNvSpPr/>
          <p:nvPr/>
        </p:nvSpPr>
        <p:spPr>
          <a:xfrm>
            <a:off x="1622838" y="2481903"/>
            <a:ext cx="1026327"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Reporting</a:t>
            </a:r>
            <a:endParaRPr lang="en-US" sz="1400" b="1">
              <a:solidFill>
                <a:schemeClr val="bg1"/>
              </a:solidFill>
            </a:endParaRPr>
          </a:p>
        </p:txBody>
      </p:sp>
      <p:sp>
        <p:nvSpPr>
          <p:cNvPr id="22" name="Rectangle: Rounded Corners 21">
            <a:extLst>
              <a:ext uri="{FF2B5EF4-FFF2-40B4-BE49-F238E27FC236}">
                <a16:creationId xmlns:a16="http://schemas.microsoft.com/office/drawing/2014/main" id="{7D0FFF4C-CA69-4BB5-9819-0ADBCA233698}"/>
              </a:ext>
            </a:extLst>
          </p:cNvPr>
          <p:cNvSpPr/>
          <p:nvPr/>
        </p:nvSpPr>
        <p:spPr>
          <a:xfrm>
            <a:off x="1019816" y="2038187"/>
            <a:ext cx="2232374"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UAT2 – Defects/Variance</a:t>
            </a:r>
            <a:endParaRPr lang="en-US" sz="1400" b="1">
              <a:solidFill>
                <a:schemeClr val="bg1"/>
              </a:solidFill>
            </a:endParaRPr>
          </a:p>
        </p:txBody>
      </p:sp>
      <p:sp>
        <p:nvSpPr>
          <p:cNvPr id="23" name="Title 1">
            <a:extLst>
              <a:ext uri="{FF2B5EF4-FFF2-40B4-BE49-F238E27FC236}">
                <a16:creationId xmlns:a16="http://schemas.microsoft.com/office/drawing/2014/main" id="{E49CC0FA-A961-4C7B-9BAC-1493B9E384BD}"/>
              </a:ext>
            </a:extLst>
          </p:cNvPr>
          <p:cNvSpPr txBox="1">
            <a:spLocks/>
          </p:cNvSpPr>
          <p:nvPr/>
        </p:nvSpPr>
        <p:spPr>
          <a:xfrm>
            <a:off x="5179588" y="1435341"/>
            <a:ext cx="1528023"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algn="ctr"/>
            <a:r>
              <a:rPr lang="en-CA" sz="2400"/>
              <a:t>Phase 2</a:t>
            </a:r>
          </a:p>
        </p:txBody>
      </p:sp>
      <p:sp>
        <p:nvSpPr>
          <p:cNvPr id="24" name="Title 1">
            <a:extLst>
              <a:ext uri="{FF2B5EF4-FFF2-40B4-BE49-F238E27FC236}">
                <a16:creationId xmlns:a16="http://schemas.microsoft.com/office/drawing/2014/main" id="{67187DDB-D653-4D35-897F-B3BF6553DB7A}"/>
              </a:ext>
            </a:extLst>
          </p:cNvPr>
          <p:cNvSpPr txBox="1">
            <a:spLocks/>
          </p:cNvSpPr>
          <p:nvPr/>
        </p:nvSpPr>
        <p:spPr>
          <a:xfrm>
            <a:off x="8987185" y="1441077"/>
            <a:ext cx="1528023"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algn="ctr"/>
            <a:r>
              <a:rPr lang="en-CA" sz="2400">
                <a:solidFill>
                  <a:schemeClr val="accent6">
                    <a:alpha val="50000"/>
                  </a:schemeClr>
                </a:solidFill>
              </a:rPr>
              <a:t>Phase 3</a:t>
            </a:r>
          </a:p>
        </p:txBody>
      </p:sp>
      <p:sp>
        <p:nvSpPr>
          <p:cNvPr id="25" name="Rectangle: Rounded Corners 24">
            <a:extLst>
              <a:ext uri="{FF2B5EF4-FFF2-40B4-BE49-F238E27FC236}">
                <a16:creationId xmlns:a16="http://schemas.microsoft.com/office/drawing/2014/main" id="{16C3792E-BB88-42A2-AD49-C0ED6DEB86B5}"/>
              </a:ext>
            </a:extLst>
          </p:cNvPr>
          <p:cNvSpPr/>
          <p:nvPr/>
        </p:nvSpPr>
        <p:spPr>
          <a:xfrm>
            <a:off x="5143244" y="2048929"/>
            <a:ext cx="1661134" cy="340519"/>
          </a:xfrm>
          <a:prstGeom prst="roundRect">
            <a:avLst/>
          </a:prstGeom>
          <a:solidFill>
            <a:schemeClr val="accent4"/>
          </a:solidFill>
        </p:spPr>
        <p:txBody>
          <a:bodyPr wrap="none" rtlCol="0" anchor="ctr">
            <a:spAutoFit/>
          </a:bodyPr>
          <a:lstStyle/>
          <a:p>
            <a:pPr algn="ctr"/>
            <a:r>
              <a:rPr lang="en-CA" sz="1400" b="1">
                <a:solidFill>
                  <a:schemeClr val="bg1"/>
                </a:solidFill>
              </a:rPr>
              <a:t>Testing Timelines</a:t>
            </a:r>
            <a:endParaRPr lang="en-US" sz="1400" b="1">
              <a:solidFill>
                <a:schemeClr val="bg1"/>
              </a:solidFill>
            </a:endParaRPr>
          </a:p>
        </p:txBody>
      </p:sp>
      <p:sp>
        <p:nvSpPr>
          <p:cNvPr id="26" name="Rectangle: Rounded Corners 25">
            <a:extLst>
              <a:ext uri="{FF2B5EF4-FFF2-40B4-BE49-F238E27FC236}">
                <a16:creationId xmlns:a16="http://schemas.microsoft.com/office/drawing/2014/main" id="{95826D64-87F9-4F96-9EC5-3C34CB7D8730}"/>
              </a:ext>
            </a:extLst>
          </p:cNvPr>
          <p:cNvSpPr/>
          <p:nvPr/>
        </p:nvSpPr>
        <p:spPr>
          <a:xfrm>
            <a:off x="4946549" y="2481902"/>
            <a:ext cx="2127041" cy="340519"/>
          </a:xfrm>
          <a:prstGeom prst="roundRect">
            <a:avLst/>
          </a:prstGeom>
          <a:solidFill>
            <a:schemeClr val="accent4"/>
          </a:solidFill>
        </p:spPr>
        <p:txBody>
          <a:bodyPr wrap="none" rtlCol="0" anchor="ctr">
            <a:spAutoFit/>
          </a:bodyPr>
          <a:lstStyle/>
          <a:p>
            <a:pPr algn="ctr"/>
            <a:r>
              <a:rPr lang="en-CA" sz="1400" b="1">
                <a:solidFill>
                  <a:schemeClr val="bg1"/>
                </a:solidFill>
              </a:rPr>
              <a:t>Project Backout Matrix</a:t>
            </a:r>
            <a:endParaRPr lang="en-US" sz="1400" b="1">
              <a:solidFill>
                <a:schemeClr val="bg1"/>
              </a:solidFill>
            </a:endParaRPr>
          </a:p>
        </p:txBody>
      </p:sp>
      <p:sp>
        <p:nvSpPr>
          <p:cNvPr id="27" name="Rectangle: Rounded Corners 26">
            <a:extLst>
              <a:ext uri="{FF2B5EF4-FFF2-40B4-BE49-F238E27FC236}">
                <a16:creationId xmlns:a16="http://schemas.microsoft.com/office/drawing/2014/main" id="{3CD651D9-18CB-4740-86EB-783FD42F7B2D}"/>
              </a:ext>
            </a:extLst>
          </p:cNvPr>
          <p:cNvSpPr/>
          <p:nvPr/>
        </p:nvSpPr>
        <p:spPr>
          <a:xfrm>
            <a:off x="4917771" y="2909741"/>
            <a:ext cx="2184595" cy="340519"/>
          </a:xfrm>
          <a:prstGeom prst="roundRect">
            <a:avLst/>
          </a:prstGeom>
          <a:solidFill>
            <a:schemeClr val="accent4"/>
          </a:solidFill>
        </p:spPr>
        <p:txBody>
          <a:bodyPr wrap="none" rtlCol="0" anchor="ctr">
            <a:spAutoFit/>
          </a:bodyPr>
          <a:lstStyle/>
          <a:p>
            <a:pPr algn="ctr"/>
            <a:r>
              <a:rPr lang="en-CA" sz="1400" b="1">
                <a:solidFill>
                  <a:schemeClr val="bg1"/>
                </a:solidFill>
              </a:rPr>
              <a:t>Project Backout Testing</a:t>
            </a:r>
            <a:endParaRPr lang="en-US" sz="1400" b="1">
              <a:solidFill>
                <a:schemeClr val="bg1"/>
              </a:solidFill>
            </a:endParaRPr>
          </a:p>
        </p:txBody>
      </p:sp>
      <p:sp>
        <p:nvSpPr>
          <p:cNvPr id="29" name="Rectangle: Rounded Corners 28">
            <a:extLst>
              <a:ext uri="{FF2B5EF4-FFF2-40B4-BE49-F238E27FC236}">
                <a16:creationId xmlns:a16="http://schemas.microsoft.com/office/drawing/2014/main" id="{B5136002-49E4-4333-A827-30BE88FF8234}"/>
              </a:ext>
            </a:extLst>
          </p:cNvPr>
          <p:cNvSpPr/>
          <p:nvPr/>
        </p:nvSpPr>
        <p:spPr>
          <a:xfrm>
            <a:off x="8914720" y="2050868"/>
            <a:ext cx="1585382"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PAT Engagement</a:t>
            </a:r>
            <a:endParaRPr lang="en-US" sz="1400" b="1">
              <a:solidFill>
                <a:schemeClr val="bg1"/>
              </a:solidFill>
            </a:endParaRPr>
          </a:p>
        </p:txBody>
      </p:sp>
      <p:sp>
        <p:nvSpPr>
          <p:cNvPr id="30" name="Rectangle: Rounded Corners 29">
            <a:extLst>
              <a:ext uri="{FF2B5EF4-FFF2-40B4-BE49-F238E27FC236}">
                <a16:creationId xmlns:a16="http://schemas.microsoft.com/office/drawing/2014/main" id="{A89F7781-FE7C-46BD-9757-1CB5DE00AEBD}"/>
              </a:ext>
            </a:extLst>
          </p:cNvPr>
          <p:cNvSpPr/>
          <p:nvPr/>
        </p:nvSpPr>
        <p:spPr>
          <a:xfrm>
            <a:off x="9099396" y="2481902"/>
            <a:ext cx="1216030"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Phase Gates</a:t>
            </a:r>
            <a:endParaRPr lang="en-US" sz="1400" b="1">
              <a:solidFill>
                <a:schemeClr val="bg1"/>
              </a:solidFill>
            </a:endParaRPr>
          </a:p>
        </p:txBody>
      </p:sp>
      <p:sp>
        <p:nvSpPr>
          <p:cNvPr id="31" name="Arrow: Striped Right 30">
            <a:extLst>
              <a:ext uri="{FF2B5EF4-FFF2-40B4-BE49-F238E27FC236}">
                <a16:creationId xmlns:a16="http://schemas.microsoft.com/office/drawing/2014/main" id="{7EF53C49-9281-4A03-9882-EF9FCBAEF965}"/>
              </a:ext>
            </a:extLst>
          </p:cNvPr>
          <p:cNvSpPr/>
          <p:nvPr/>
        </p:nvSpPr>
        <p:spPr>
          <a:xfrm>
            <a:off x="3429245" y="1556325"/>
            <a:ext cx="1344167"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square" rtlCol="0" anchor="ctr">
            <a:spAutoFit/>
          </a:bodyPr>
          <a:lstStyle/>
          <a:p>
            <a:pPr algn="ctr"/>
            <a:endParaRPr lang="en-US" sz="1100"/>
          </a:p>
        </p:txBody>
      </p:sp>
      <p:sp>
        <p:nvSpPr>
          <p:cNvPr id="32" name="TextBox 31">
            <a:extLst>
              <a:ext uri="{FF2B5EF4-FFF2-40B4-BE49-F238E27FC236}">
                <a16:creationId xmlns:a16="http://schemas.microsoft.com/office/drawing/2014/main" id="{44795CB8-57EE-4006-A1EB-A0E0F93F79A4}"/>
              </a:ext>
            </a:extLst>
          </p:cNvPr>
          <p:cNvSpPr txBox="1"/>
          <p:nvPr/>
        </p:nvSpPr>
        <p:spPr>
          <a:xfrm>
            <a:off x="214418" y="606119"/>
            <a:ext cx="5608912" cy="338554"/>
          </a:xfrm>
          <a:prstGeom prst="rect">
            <a:avLst/>
          </a:prstGeom>
          <a:noFill/>
        </p:spPr>
        <p:txBody>
          <a:bodyPr wrap="square" rtlCol="0">
            <a:spAutoFit/>
          </a:bodyPr>
          <a:lstStyle/>
          <a:p>
            <a:r>
              <a:rPr lang="en-CA" sz="1600" b="1"/>
              <a:t>Our PIR discussion can be summarized as having 2 goals:</a:t>
            </a:r>
            <a:endParaRPr lang="en-US" sz="1600" b="1"/>
          </a:p>
        </p:txBody>
      </p:sp>
      <p:sp>
        <p:nvSpPr>
          <p:cNvPr id="33" name="TextBox 32">
            <a:extLst>
              <a:ext uri="{FF2B5EF4-FFF2-40B4-BE49-F238E27FC236}">
                <a16:creationId xmlns:a16="http://schemas.microsoft.com/office/drawing/2014/main" id="{728CBFC3-BA98-4D6F-B023-36510DEDA173}"/>
              </a:ext>
            </a:extLst>
          </p:cNvPr>
          <p:cNvSpPr txBox="1"/>
          <p:nvPr/>
        </p:nvSpPr>
        <p:spPr>
          <a:xfrm>
            <a:off x="73307" y="919632"/>
            <a:ext cx="4873242" cy="338554"/>
          </a:xfrm>
          <a:prstGeom prst="rect">
            <a:avLst/>
          </a:prstGeom>
          <a:noFill/>
        </p:spPr>
        <p:txBody>
          <a:bodyPr wrap="square" rtlCol="0">
            <a:spAutoFit/>
          </a:bodyPr>
          <a:lstStyle/>
          <a:p>
            <a:pPr algn="r"/>
            <a:r>
              <a:rPr lang="en-CA" sz="1600" b="1"/>
              <a:t>These process changes aim to support that end.</a:t>
            </a:r>
            <a:endParaRPr lang="en-US" sz="1600" b="1"/>
          </a:p>
        </p:txBody>
      </p:sp>
      <p:sp>
        <p:nvSpPr>
          <p:cNvPr id="35" name="Rectangle: Rounded Corners 34">
            <a:extLst>
              <a:ext uri="{FF2B5EF4-FFF2-40B4-BE49-F238E27FC236}">
                <a16:creationId xmlns:a16="http://schemas.microsoft.com/office/drawing/2014/main" id="{D0882A26-B751-48ED-889D-7FE21B9953A7}"/>
              </a:ext>
            </a:extLst>
          </p:cNvPr>
          <p:cNvSpPr/>
          <p:nvPr/>
        </p:nvSpPr>
        <p:spPr>
          <a:xfrm rot="19870300">
            <a:off x="10090532" y="2693334"/>
            <a:ext cx="578093" cy="272415"/>
          </a:xfrm>
          <a:prstGeom prst="roundRect">
            <a:avLst/>
          </a:prstGeom>
          <a:solidFill>
            <a:schemeClr val="accent2">
              <a:lumMod val="40000"/>
              <a:lumOff val="60000"/>
              <a:alpha val="50000"/>
            </a:schemeClr>
          </a:solidFill>
        </p:spPr>
        <p:txBody>
          <a:bodyPr wrap="none" rtlCol="0" anchor="ctr">
            <a:spAutoFit/>
          </a:bodyPr>
          <a:lstStyle/>
          <a:p>
            <a:pPr algn="ctr"/>
            <a:r>
              <a:rPr lang="en-CA" sz="1000" b="1">
                <a:solidFill>
                  <a:srgbClr val="C00000">
                    <a:alpha val="50000"/>
                  </a:srgbClr>
                </a:solidFill>
              </a:rPr>
              <a:t>*New*</a:t>
            </a:r>
            <a:endParaRPr lang="en-US" sz="1000" b="1">
              <a:solidFill>
                <a:srgbClr val="C00000">
                  <a:alpha val="50000"/>
                </a:srgbClr>
              </a:solidFill>
            </a:endParaRPr>
          </a:p>
        </p:txBody>
      </p:sp>
      <p:sp>
        <p:nvSpPr>
          <p:cNvPr id="38" name="Arrow: Striped Right 37">
            <a:extLst>
              <a:ext uri="{FF2B5EF4-FFF2-40B4-BE49-F238E27FC236}">
                <a16:creationId xmlns:a16="http://schemas.microsoft.com/office/drawing/2014/main" id="{EDB40502-3464-4C15-AE06-AAD3BA3E5586}"/>
              </a:ext>
            </a:extLst>
          </p:cNvPr>
          <p:cNvSpPr/>
          <p:nvPr/>
        </p:nvSpPr>
        <p:spPr>
          <a:xfrm rot="5400000">
            <a:off x="5830885" y="3397439"/>
            <a:ext cx="486050"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square" rtlCol="0" anchor="ctr">
            <a:spAutoFit/>
          </a:bodyPr>
          <a:lstStyle/>
          <a:p>
            <a:pPr algn="ctr"/>
            <a:endParaRPr lang="en-US" sz="1100"/>
          </a:p>
        </p:txBody>
      </p:sp>
      <p:graphicFrame>
        <p:nvGraphicFramePr>
          <p:cNvPr id="34" name="Table 32">
            <a:extLst>
              <a:ext uri="{FF2B5EF4-FFF2-40B4-BE49-F238E27FC236}">
                <a16:creationId xmlns:a16="http://schemas.microsoft.com/office/drawing/2014/main" id="{1AE9027F-228E-44A0-9931-65AC7278F249}"/>
              </a:ext>
            </a:extLst>
          </p:cNvPr>
          <p:cNvGraphicFramePr>
            <a:graphicFrameLocks noGrp="1"/>
          </p:cNvGraphicFramePr>
          <p:nvPr/>
        </p:nvGraphicFramePr>
        <p:xfrm>
          <a:off x="4343395" y="3871260"/>
          <a:ext cx="3461031" cy="216408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25603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Project Backout Matrix</a:t>
                      </a:r>
                    </a:p>
                    <a:p>
                      <a:r>
                        <a:rPr lang="en-CA" sz="1000" b="0" i="1">
                          <a:solidFill>
                            <a:schemeClr val="bg1"/>
                          </a:solidFill>
                        </a:rPr>
                        <a:t>For any project with changes to &gt;1 app</a:t>
                      </a:r>
                      <a:endParaRPr lang="en-US" sz="1000" b="0" i="1">
                        <a:solidFill>
                          <a:schemeClr val="bg1"/>
                        </a:solidFill>
                      </a:endParaRP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a:t>PMO</a:t>
                      </a:r>
                      <a:endParaRPr lang="en-US" sz="100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a:t>AD</a:t>
                      </a:r>
                      <a:endParaRPr lang="en-US" sz="100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18872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000"/>
                        <a:t>After Solutioning/Design has completed, PMs will be responsible for facilitating the creation of a project-level backout matrix, with the aid of their AD Lead(s). The backout matrix must then be socialized with the project team and Release Management.</a:t>
                      </a:r>
                      <a:endParaRPr lang="en-US" sz="100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graphicFrame>
        <p:nvGraphicFramePr>
          <p:cNvPr id="39" name="Table 32">
            <a:extLst>
              <a:ext uri="{FF2B5EF4-FFF2-40B4-BE49-F238E27FC236}">
                <a16:creationId xmlns:a16="http://schemas.microsoft.com/office/drawing/2014/main" id="{4DD45D7A-BEC6-4E70-838A-A1E901C01554}"/>
              </a:ext>
            </a:extLst>
          </p:cNvPr>
          <p:cNvGraphicFramePr>
            <a:graphicFrameLocks noGrp="1"/>
          </p:cNvGraphicFramePr>
          <p:nvPr/>
        </p:nvGraphicFramePr>
        <p:xfrm>
          <a:off x="8289236" y="3871260"/>
          <a:ext cx="3461031" cy="216408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25603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Project Backout Testing</a:t>
                      </a:r>
                    </a:p>
                    <a:p>
                      <a:r>
                        <a:rPr lang="en-CA" sz="1000" b="0" i="1">
                          <a:solidFill>
                            <a:schemeClr val="bg1"/>
                          </a:solidFill>
                        </a:rPr>
                        <a:t>For any project with changes to &gt;1 app</a:t>
                      </a:r>
                      <a:endParaRPr lang="en-US" sz="1000" b="0" i="1">
                        <a:solidFill>
                          <a:schemeClr val="bg1"/>
                        </a:solidFill>
                      </a:endParaRP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PMO</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QA, AD, Business</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18872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000" b="0"/>
                        <a:t>After the project-level backout matrix has been finalized, PMs along with QA will be responsible for facilitating the refinement of their overall testing timelines, considering the effort required to test the prioritized backout scenarios.</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graphicFrame>
        <p:nvGraphicFramePr>
          <p:cNvPr id="40" name="Table 32">
            <a:extLst>
              <a:ext uri="{FF2B5EF4-FFF2-40B4-BE49-F238E27FC236}">
                <a16:creationId xmlns:a16="http://schemas.microsoft.com/office/drawing/2014/main" id="{68BDB3FE-F3ED-41F4-A023-6EA63E5D4D80}"/>
              </a:ext>
            </a:extLst>
          </p:cNvPr>
          <p:cNvGraphicFramePr>
            <a:graphicFrameLocks noGrp="1"/>
          </p:cNvGraphicFramePr>
          <p:nvPr/>
        </p:nvGraphicFramePr>
        <p:xfrm>
          <a:off x="228945" y="3881719"/>
          <a:ext cx="3461031" cy="216408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25603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Testing Timelines</a:t>
                      </a:r>
                    </a:p>
                    <a:p>
                      <a:r>
                        <a:rPr lang="en-CA" sz="1000" b="0" i="1">
                          <a:solidFill>
                            <a:schemeClr val="bg1"/>
                          </a:solidFill>
                        </a:rPr>
                        <a:t>For any project with changes to &gt;1 app</a:t>
                      </a:r>
                      <a:endParaRPr lang="en-US" sz="1000" b="0" i="1">
                        <a:solidFill>
                          <a:schemeClr val="bg1"/>
                        </a:solidFill>
                      </a:endParaRP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QA</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PMO, AD</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18872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000" b="0"/>
                        <a:t>After the SRD has been finalized (or equivalent checkpoint if Agile), QA Managers must ensure their testing timelines include sufficient effort to budget for backout testing, while still protecting a 2-week code freeze.</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sp>
        <p:nvSpPr>
          <p:cNvPr id="41" name="Arrow: Curved Right 40">
            <a:extLst>
              <a:ext uri="{FF2B5EF4-FFF2-40B4-BE49-F238E27FC236}">
                <a16:creationId xmlns:a16="http://schemas.microsoft.com/office/drawing/2014/main" id="{4FC4EF5B-37E1-460B-8A7D-033C7599C597}"/>
              </a:ext>
            </a:extLst>
          </p:cNvPr>
          <p:cNvSpPr/>
          <p:nvPr/>
        </p:nvSpPr>
        <p:spPr>
          <a:xfrm rot="16200000">
            <a:off x="3806262" y="5587511"/>
            <a:ext cx="587770" cy="1635248"/>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
        <p:nvSpPr>
          <p:cNvPr id="42" name="Arrow: Curved Right 41">
            <a:extLst>
              <a:ext uri="{FF2B5EF4-FFF2-40B4-BE49-F238E27FC236}">
                <a16:creationId xmlns:a16="http://schemas.microsoft.com/office/drawing/2014/main" id="{8F817C00-6AEB-4DCD-B3ED-CC72AFC87F38}"/>
              </a:ext>
            </a:extLst>
          </p:cNvPr>
          <p:cNvSpPr/>
          <p:nvPr/>
        </p:nvSpPr>
        <p:spPr>
          <a:xfrm rot="16200000">
            <a:off x="7803211" y="5575197"/>
            <a:ext cx="587770" cy="1635248"/>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
        <p:nvSpPr>
          <p:cNvPr id="43" name="TextBox 42">
            <a:extLst>
              <a:ext uri="{FF2B5EF4-FFF2-40B4-BE49-F238E27FC236}">
                <a16:creationId xmlns:a16="http://schemas.microsoft.com/office/drawing/2014/main" id="{757A35D4-4072-4690-A496-B68C338098AE}"/>
              </a:ext>
            </a:extLst>
          </p:cNvPr>
          <p:cNvSpPr txBox="1"/>
          <p:nvPr/>
        </p:nvSpPr>
        <p:spPr>
          <a:xfrm>
            <a:off x="8311143" y="307989"/>
            <a:ext cx="2426818" cy="830997"/>
          </a:xfrm>
          <a:prstGeom prst="rect">
            <a:avLst/>
          </a:prstGeom>
          <a:noFill/>
        </p:spPr>
        <p:txBody>
          <a:bodyPr wrap="none" rtlCol="0">
            <a:spAutoFit/>
          </a:bodyPr>
          <a:lstStyle/>
          <a:p>
            <a:r>
              <a:rPr lang="en-CA" sz="1600" b="1">
                <a:solidFill>
                  <a:srgbClr val="C00000"/>
                </a:solidFill>
              </a:rPr>
              <a:t>Phase 1</a:t>
            </a:r>
            <a:r>
              <a:rPr lang="en-CA" sz="1600"/>
              <a:t>: </a:t>
            </a:r>
            <a:r>
              <a:rPr lang="en-CA" sz="1200"/>
              <a:t>Immediately / ASAP</a:t>
            </a:r>
            <a:endParaRPr lang="en-CA" sz="1600"/>
          </a:p>
          <a:p>
            <a:r>
              <a:rPr lang="en-CA" sz="1600" b="1">
                <a:solidFill>
                  <a:srgbClr val="C00000"/>
                </a:solidFill>
              </a:rPr>
              <a:t>Phase 2</a:t>
            </a:r>
            <a:r>
              <a:rPr lang="en-CA" sz="1600"/>
              <a:t>: </a:t>
            </a:r>
            <a:r>
              <a:rPr lang="en-CA" sz="1200"/>
              <a:t>Dec 21</a:t>
            </a:r>
            <a:r>
              <a:rPr lang="en-CA" sz="1200" baseline="30000"/>
              <a:t>st</a:t>
            </a:r>
            <a:r>
              <a:rPr lang="en-CA" sz="1200"/>
              <a:t> </a:t>
            </a:r>
            <a:endParaRPr lang="en-CA" sz="1600"/>
          </a:p>
          <a:p>
            <a:r>
              <a:rPr lang="en-CA" sz="1600" b="1">
                <a:solidFill>
                  <a:srgbClr val="C00000"/>
                </a:solidFill>
              </a:rPr>
              <a:t>Phase 3</a:t>
            </a:r>
            <a:r>
              <a:rPr lang="en-CA" sz="1600"/>
              <a:t>: </a:t>
            </a:r>
            <a:r>
              <a:rPr lang="en-CA" sz="1200"/>
              <a:t>Feb 15</a:t>
            </a:r>
            <a:r>
              <a:rPr lang="en-CA" sz="1200" baseline="30000"/>
              <a:t>th</a:t>
            </a:r>
            <a:r>
              <a:rPr lang="en-CA" sz="1200"/>
              <a:t> </a:t>
            </a:r>
            <a:endParaRPr lang="en-US" sz="1600"/>
          </a:p>
        </p:txBody>
      </p:sp>
    </p:spTree>
    <p:extLst>
      <p:ext uri="{BB962C8B-B14F-4D97-AF65-F5344CB8AC3E}">
        <p14:creationId xmlns:p14="http://schemas.microsoft.com/office/powerpoint/2010/main" val="9968199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76E39AF-3F98-46E0-B048-590415A6B1FA}"/>
              </a:ext>
            </a:extLst>
          </p:cNvPr>
          <p:cNvSpPr>
            <a:spLocks noGrp="1"/>
          </p:cNvSpPr>
          <p:nvPr>
            <p:ph type="sldNum" sz="quarter" idx="4294967295"/>
          </p:nvPr>
        </p:nvSpPr>
        <p:spPr>
          <a:xfrm>
            <a:off x="10698480" y="228600"/>
            <a:ext cx="891540" cy="841248"/>
          </a:xfrm>
          <a:prstGeom prst="rect">
            <a:avLst/>
          </a:prstGeom>
        </p:spPr>
        <p:txBody>
          <a:bodyPr/>
          <a:lstStyle/>
          <a:p>
            <a:fld id="{E633FACB-E57B-4CDC-9F3B-D7F03E444374}" type="slidenum">
              <a:rPr lang="en-CA" smtClean="0">
                <a:solidFill>
                  <a:srgbClr val="AAAAAA"/>
                </a:solidFill>
              </a:rPr>
              <a:pPr/>
              <a:t>49</a:t>
            </a:fld>
            <a:endParaRPr lang="en-CA">
              <a:solidFill>
                <a:srgbClr val="AAAAAA"/>
              </a:solidFill>
            </a:endParaRPr>
          </a:p>
        </p:txBody>
      </p:sp>
      <p:sp>
        <p:nvSpPr>
          <p:cNvPr id="4" name="Title 1">
            <a:extLst>
              <a:ext uri="{FF2B5EF4-FFF2-40B4-BE49-F238E27FC236}">
                <a16:creationId xmlns:a16="http://schemas.microsoft.com/office/drawing/2014/main" id="{286A96DA-CDFD-4236-BE2C-7755AD016B4C}"/>
              </a:ext>
            </a:extLst>
          </p:cNvPr>
          <p:cNvSpPr txBox="1">
            <a:spLocks/>
          </p:cNvSpPr>
          <p:nvPr/>
        </p:nvSpPr>
        <p:spPr>
          <a:xfrm>
            <a:off x="117633" y="57953"/>
            <a:ext cx="11292840"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CA" sz="2800"/>
              <a:t>Release PIR Recommendations</a:t>
            </a:r>
          </a:p>
        </p:txBody>
      </p:sp>
      <p:sp>
        <p:nvSpPr>
          <p:cNvPr id="45" name="Flowchart: Connector 44">
            <a:extLst>
              <a:ext uri="{FF2B5EF4-FFF2-40B4-BE49-F238E27FC236}">
                <a16:creationId xmlns:a16="http://schemas.microsoft.com/office/drawing/2014/main" id="{89E9B806-728B-4BA7-BFB8-09C1027CC22D}"/>
              </a:ext>
            </a:extLst>
          </p:cNvPr>
          <p:cNvSpPr>
            <a:spLocks noChangeAspect="1"/>
          </p:cNvSpPr>
          <p:nvPr/>
        </p:nvSpPr>
        <p:spPr>
          <a:xfrm>
            <a:off x="5769619" y="141977"/>
            <a:ext cx="1344168" cy="1341656"/>
          </a:xfrm>
          <a:prstGeom prst="flowChartConnector">
            <a:avLst/>
          </a:prstGeom>
          <a:solidFill>
            <a:srgbClr val="C00000"/>
          </a:solidFill>
        </p:spPr>
        <p:txBody>
          <a:bodyPr wrap="none" rtlCol="0" anchor="ctr">
            <a:spAutoFit/>
          </a:bodyPr>
          <a:lstStyle/>
          <a:p>
            <a:pPr algn="ctr"/>
            <a:r>
              <a:rPr lang="en-CA" sz="1400" b="1">
                <a:solidFill>
                  <a:schemeClr val="bg1"/>
                </a:solidFill>
              </a:rPr>
              <a:t>Readiness</a:t>
            </a:r>
          </a:p>
          <a:p>
            <a:pPr algn="ctr"/>
            <a:r>
              <a:rPr lang="en-CA" sz="1400" b="1">
                <a:solidFill>
                  <a:schemeClr val="bg1"/>
                </a:solidFill>
              </a:rPr>
              <a:t>&amp;</a:t>
            </a:r>
          </a:p>
          <a:p>
            <a:pPr algn="ctr"/>
            <a:r>
              <a:rPr lang="en-CA" sz="1400" b="1">
                <a:solidFill>
                  <a:schemeClr val="bg1"/>
                </a:solidFill>
              </a:rPr>
              <a:t>Code-Freeze</a:t>
            </a:r>
          </a:p>
          <a:p>
            <a:pPr algn="ctr"/>
            <a:r>
              <a:rPr lang="en-CA" sz="1400" b="1">
                <a:solidFill>
                  <a:schemeClr val="bg1"/>
                </a:solidFill>
              </a:rPr>
              <a:t>Protection</a:t>
            </a:r>
            <a:endParaRPr lang="en-US" sz="1400" b="1">
              <a:solidFill>
                <a:schemeClr val="bg1"/>
              </a:solidFill>
            </a:endParaRPr>
          </a:p>
        </p:txBody>
      </p:sp>
      <p:sp>
        <p:nvSpPr>
          <p:cNvPr id="46" name="Rectangle: Rounded Corners 45">
            <a:extLst>
              <a:ext uri="{FF2B5EF4-FFF2-40B4-BE49-F238E27FC236}">
                <a16:creationId xmlns:a16="http://schemas.microsoft.com/office/drawing/2014/main" id="{F1C8C184-3967-4AF5-A57D-2C65752E2C5C}"/>
              </a:ext>
            </a:extLst>
          </p:cNvPr>
          <p:cNvSpPr/>
          <p:nvPr/>
        </p:nvSpPr>
        <p:spPr>
          <a:xfrm>
            <a:off x="8529597" y="4832201"/>
            <a:ext cx="915176" cy="817245"/>
          </a:xfrm>
          <a:prstGeom prst="roundRect">
            <a:avLst/>
          </a:prstGeom>
          <a:solidFill>
            <a:srgbClr val="002060"/>
          </a:solidFill>
        </p:spPr>
        <p:txBody>
          <a:bodyPr wrap="none" rtlCol="0" anchor="ctr">
            <a:spAutoFit/>
          </a:bodyPr>
          <a:lstStyle/>
          <a:p>
            <a:pPr algn="ctr"/>
            <a:r>
              <a:rPr lang="en-CA" sz="1400" b="1">
                <a:solidFill>
                  <a:schemeClr val="bg1"/>
                </a:solidFill>
              </a:rPr>
              <a:t>Release</a:t>
            </a:r>
          </a:p>
          <a:p>
            <a:pPr algn="ctr"/>
            <a:r>
              <a:rPr lang="en-CA" sz="1400" b="1">
                <a:solidFill>
                  <a:schemeClr val="bg1"/>
                </a:solidFill>
              </a:rPr>
              <a:t>Status</a:t>
            </a:r>
          </a:p>
          <a:p>
            <a:pPr algn="ctr"/>
            <a:r>
              <a:rPr lang="en-CA" sz="1400" b="1">
                <a:solidFill>
                  <a:schemeClr val="bg1"/>
                </a:solidFill>
              </a:rPr>
              <a:t>Meeting</a:t>
            </a:r>
            <a:endParaRPr lang="en-US" sz="1400" b="1">
              <a:solidFill>
                <a:schemeClr val="bg1"/>
              </a:solidFill>
            </a:endParaRPr>
          </a:p>
        </p:txBody>
      </p:sp>
      <p:sp>
        <p:nvSpPr>
          <p:cNvPr id="52" name="Arrow: Striped Right 51">
            <a:extLst>
              <a:ext uri="{FF2B5EF4-FFF2-40B4-BE49-F238E27FC236}">
                <a16:creationId xmlns:a16="http://schemas.microsoft.com/office/drawing/2014/main" id="{9D1853A0-5298-456F-A545-A63D32361171}"/>
              </a:ext>
            </a:extLst>
          </p:cNvPr>
          <p:cNvSpPr/>
          <p:nvPr/>
        </p:nvSpPr>
        <p:spPr>
          <a:xfrm>
            <a:off x="7358878" y="1555590"/>
            <a:ext cx="1344167"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square" rtlCol="0" anchor="ctr">
            <a:spAutoFit/>
          </a:bodyPr>
          <a:lstStyle/>
          <a:p>
            <a:pPr algn="ctr"/>
            <a:endParaRPr lang="en-US" sz="1100"/>
          </a:p>
        </p:txBody>
      </p:sp>
      <p:sp>
        <p:nvSpPr>
          <p:cNvPr id="20" name="Title 1">
            <a:extLst>
              <a:ext uri="{FF2B5EF4-FFF2-40B4-BE49-F238E27FC236}">
                <a16:creationId xmlns:a16="http://schemas.microsoft.com/office/drawing/2014/main" id="{047CE5CF-2D8B-454E-BCB0-8AB533294405}"/>
              </a:ext>
            </a:extLst>
          </p:cNvPr>
          <p:cNvSpPr txBox="1">
            <a:spLocks/>
          </p:cNvSpPr>
          <p:nvPr/>
        </p:nvSpPr>
        <p:spPr>
          <a:xfrm>
            <a:off x="1371991" y="1441077"/>
            <a:ext cx="1528023"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algn="ctr"/>
            <a:r>
              <a:rPr lang="en-CA" sz="2400">
                <a:solidFill>
                  <a:schemeClr val="accent6">
                    <a:alpha val="50000"/>
                  </a:schemeClr>
                </a:solidFill>
              </a:rPr>
              <a:t>Phase 1</a:t>
            </a:r>
          </a:p>
        </p:txBody>
      </p:sp>
      <p:sp>
        <p:nvSpPr>
          <p:cNvPr id="21" name="Rectangle: Rounded Corners 20">
            <a:extLst>
              <a:ext uri="{FF2B5EF4-FFF2-40B4-BE49-F238E27FC236}">
                <a16:creationId xmlns:a16="http://schemas.microsoft.com/office/drawing/2014/main" id="{A1958782-1C2C-4CAA-BE31-5E465290B30F}"/>
              </a:ext>
            </a:extLst>
          </p:cNvPr>
          <p:cNvSpPr/>
          <p:nvPr/>
        </p:nvSpPr>
        <p:spPr>
          <a:xfrm>
            <a:off x="1622838" y="2481903"/>
            <a:ext cx="1026327"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Reporting</a:t>
            </a:r>
            <a:endParaRPr lang="en-US" sz="1400" b="1">
              <a:solidFill>
                <a:schemeClr val="bg1"/>
              </a:solidFill>
            </a:endParaRPr>
          </a:p>
        </p:txBody>
      </p:sp>
      <p:sp>
        <p:nvSpPr>
          <p:cNvPr id="22" name="Rectangle: Rounded Corners 21">
            <a:extLst>
              <a:ext uri="{FF2B5EF4-FFF2-40B4-BE49-F238E27FC236}">
                <a16:creationId xmlns:a16="http://schemas.microsoft.com/office/drawing/2014/main" id="{7D0FFF4C-CA69-4BB5-9819-0ADBCA233698}"/>
              </a:ext>
            </a:extLst>
          </p:cNvPr>
          <p:cNvSpPr/>
          <p:nvPr/>
        </p:nvSpPr>
        <p:spPr>
          <a:xfrm>
            <a:off x="1019816" y="2038187"/>
            <a:ext cx="2232374"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UAT2 – Defects/Variance</a:t>
            </a:r>
            <a:endParaRPr lang="en-US" sz="1400" b="1">
              <a:solidFill>
                <a:schemeClr val="bg1"/>
              </a:solidFill>
            </a:endParaRPr>
          </a:p>
        </p:txBody>
      </p:sp>
      <p:sp>
        <p:nvSpPr>
          <p:cNvPr id="23" name="Title 1">
            <a:extLst>
              <a:ext uri="{FF2B5EF4-FFF2-40B4-BE49-F238E27FC236}">
                <a16:creationId xmlns:a16="http://schemas.microsoft.com/office/drawing/2014/main" id="{E49CC0FA-A961-4C7B-9BAC-1493B9E384BD}"/>
              </a:ext>
            </a:extLst>
          </p:cNvPr>
          <p:cNvSpPr txBox="1">
            <a:spLocks/>
          </p:cNvSpPr>
          <p:nvPr/>
        </p:nvSpPr>
        <p:spPr>
          <a:xfrm>
            <a:off x="5179588" y="1435341"/>
            <a:ext cx="1528023"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algn="ctr"/>
            <a:r>
              <a:rPr lang="en-CA" sz="2400">
                <a:solidFill>
                  <a:schemeClr val="accent6">
                    <a:alpha val="50000"/>
                  </a:schemeClr>
                </a:solidFill>
              </a:rPr>
              <a:t>Phase 2</a:t>
            </a:r>
          </a:p>
        </p:txBody>
      </p:sp>
      <p:sp>
        <p:nvSpPr>
          <p:cNvPr id="24" name="Title 1">
            <a:extLst>
              <a:ext uri="{FF2B5EF4-FFF2-40B4-BE49-F238E27FC236}">
                <a16:creationId xmlns:a16="http://schemas.microsoft.com/office/drawing/2014/main" id="{67187DDB-D653-4D35-897F-B3BF6553DB7A}"/>
              </a:ext>
            </a:extLst>
          </p:cNvPr>
          <p:cNvSpPr txBox="1">
            <a:spLocks/>
          </p:cNvSpPr>
          <p:nvPr/>
        </p:nvSpPr>
        <p:spPr>
          <a:xfrm>
            <a:off x="8987185" y="1441077"/>
            <a:ext cx="1528023"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algn="ctr"/>
            <a:r>
              <a:rPr lang="en-CA" sz="2400"/>
              <a:t>Phase 3</a:t>
            </a:r>
          </a:p>
        </p:txBody>
      </p:sp>
      <p:sp>
        <p:nvSpPr>
          <p:cNvPr id="25" name="Rectangle: Rounded Corners 24">
            <a:extLst>
              <a:ext uri="{FF2B5EF4-FFF2-40B4-BE49-F238E27FC236}">
                <a16:creationId xmlns:a16="http://schemas.microsoft.com/office/drawing/2014/main" id="{16C3792E-BB88-42A2-AD49-C0ED6DEB86B5}"/>
              </a:ext>
            </a:extLst>
          </p:cNvPr>
          <p:cNvSpPr/>
          <p:nvPr/>
        </p:nvSpPr>
        <p:spPr>
          <a:xfrm>
            <a:off x="5143244" y="2048929"/>
            <a:ext cx="1661134"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Testing Timelines</a:t>
            </a:r>
            <a:endParaRPr lang="en-US" sz="1400" b="1">
              <a:solidFill>
                <a:schemeClr val="bg1"/>
              </a:solidFill>
            </a:endParaRPr>
          </a:p>
        </p:txBody>
      </p:sp>
      <p:sp>
        <p:nvSpPr>
          <p:cNvPr id="26" name="Rectangle: Rounded Corners 25">
            <a:extLst>
              <a:ext uri="{FF2B5EF4-FFF2-40B4-BE49-F238E27FC236}">
                <a16:creationId xmlns:a16="http://schemas.microsoft.com/office/drawing/2014/main" id="{95826D64-87F9-4F96-9EC5-3C34CB7D8730}"/>
              </a:ext>
            </a:extLst>
          </p:cNvPr>
          <p:cNvSpPr/>
          <p:nvPr/>
        </p:nvSpPr>
        <p:spPr>
          <a:xfrm>
            <a:off x="4946549" y="2481902"/>
            <a:ext cx="2127041"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Project Backout Matrix</a:t>
            </a:r>
            <a:endParaRPr lang="en-US" sz="1400" b="1">
              <a:solidFill>
                <a:schemeClr val="bg1"/>
              </a:solidFill>
            </a:endParaRPr>
          </a:p>
        </p:txBody>
      </p:sp>
      <p:sp>
        <p:nvSpPr>
          <p:cNvPr id="27" name="Rectangle: Rounded Corners 26">
            <a:extLst>
              <a:ext uri="{FF2B5EF4-FFF2-40B4-BE49-F238E27FC236}">
                <a16:creationId xmlns:a16="http://schemas.microsoft.com/office/drawing/2014/main" id="{3CD651D9-18CB-4740-86EB-783FD42F7B2D}"/>
              </a:ext>
            </a:extLst>
          </p:cNvPr>
          <p:cNvSpPr/>
          <p:nvPr/>
        </p:nvSpPr>
        <p:spPr>
          <a:xfrm>
            <a:off x="4917771" y="2909741"/>
            <a:ext cx="2184595" cy="340519"/>
          </a:xfrm>
          <a:prstGeom prst="roundRect">
            <a:avLst/>
          </a:prstGeom>
          <a:solidFill>
            <a:schemeClr val="accent4">
              <a:alpha val="50000"/>
            </a:schemeClr>
          </a:solidFill>
        </p:spPr>
        <p:txBody>
          <a:bodyPr wrap="none" rtlCol="0" anchor="ctr">
            <a:spAutoFit/>
          </a:bodyPr>
          <a:lstStyle/>
          <a:p>
            <a:pPr algn="ctr"/>
            <a:r>
              <a:rPr lang="en-CA" sz="1400" b="1">
                <a:solidFill>
                  <a:schemeClr val="bg1"/>
                </a:solidFill>
              </a:rPr>
              <a:t>Project Backout Testing</a:t>
            </a:r>
            <a:endParaRPr lang="en-US" sz="1400" b="1">
              <a:solidFill>
                <a:schemeClr val="bg1"/>
              </a:solidFill>
            </a:endParaRPr>
          </a:p>
        </p:txBody>
      </p:sp>
      <p:sp>
        <p:nvSpPr>
          <p:cNvPr id="29" name="Rectangle: Rounded Corners 28">
            <a:extLst>
              <a:ext uri="{FF2B5EF4-FFF2-40B4-BE49-F238E27FC236}">
                <a16:creationId xmlns:a16="http://schemas.microsoft.com/office/drawing/2014/main" id="{B5136002-49E4-4333-A827-30BE88FF8234}"/>
              </a:ext>
            </a:extLst>
          </p:cNvPr>
          <p:cNvSpPr/>
          <p:nvPr/>
        </p:nvSpPr>
        <p:spPr>
          <a:xfrm>
            <a:off x="8914720" y="2050868"/>
            <a:ext cx="1585382" cy="340519"/>
          </a:xfrm>
          <a:prstGeom prst="roundRect">
            <a:avLst/>
          </a:prstGeom>
          <a:solidFill>
            <a:schemeClr val="accent4"/>
          </a:solidFill>
        </p:spPr>
        <p:txBody>
          <a:bodyPr wrap="none" rtlCol="0" anchor="ctr">
            <a:spAutoFit/>
          </a:bodyPr>
          <a:lstStyle/>
          <a:p>
            <a:pPr algn="ctr"/>
            <a:r>
              <a:rPr lang="en-CA" sz="1400" b="1">
                <a:solidFill>
                  <a:schemeClr val="bg1"/>
                </a:solidFill>
              </a:rPr>
              <a:t>PAT Engagement</a:t>
            </a:r>
            <a:endParaRPr lang="en-US" sz="1400" b="1">
              <a:solidFill>
                <a:schemeClr val="bg1"/>
              </a:solidFill>
            </a:endParaRPr>
          </a:p>
        </p:txBody>
      </p:sp>
      <p:sp>
        <p:nvSpPr>
          <p:cNvPr id="30" name="Rectangle: Rounded Corners 29">
            <a:extLst>
              <a:ext uri="{FF2B5EF4-FFF2-40B4-BE49-F238E27FC236}">
                <a16:creationId xmlns:a16="http://schemas.microsoft.com/office/drawing/2014/main" id="{A89F7781-FE7C-46BD-9757-1CB5DE00AEBD}"/>
              </a:ext>
            </a:extLst>
          </p:cNvPr>
          <p:cNvSpPr/>
          <p:nvPr/>
        </p:nvSpPr>
        <p:spPr>
          <a:xfrm>
            <a:off x="9099396" y="2481902"/>
            <a:ext cx="1216030" cy="340519"/>
          </a:xfrm>
          <a:prstGeom prst="roundRect">
            <a:avLst/>
          </a:prstGeom>
          <a:solidFill>
            <a:schemeClr val="accent4"/>
          </a:solidFill>
        </p:spPr>
        <p:txBody>
          <a:bodyPr wrap="none" rtlCol="0" anchor="ctr">
            <a:spAutoFit/>
          </a:bodyPr>
          <a:lstStyle/>
          <a:p>
            <a:pPr algn="ctr"/>
            <a:r>
              <a:rPr lang="en-CA" sz="1400" b="1">
                <a:solidFill>
                  <a:schemeClr val="bg1"/>
                </a:solidFill>
              </a:rPr>
              <a:t>Phase Gates</a:t>
            </a:r>
            <a:endParaRPr lang="en-US" sz="1400" b="1">
              <a:solidFill>
                <a:schemeClr val="bg1"/>
              </a:solidFill>
            </a:endParaRPr>
          </a:p>
        </p:txBody>
      </p:sp>
      <p:sp>
        <p:nvSpPr>
          <p:cNvPr id="31" name="Arrow: Striped Right 30">
            <a:extLst>
              <a:ext uri="{FF2B5EF4-FFF2-40B4-BE49-F238E27FC236}">
                <a16:creationId xmlns:a16="http://schemas.microsoft.com/office/drawing/2014/main" id="{7EF53C49-9281-4A03-9882-EF9FCBAEF965}"/>
              </a:ext>
            </a:extLst>
          </p:cNvPr>
          <p:cNvSpPr/>
          <p:nvPr/>
        </p:nvSpPr>
        <p:spPr>
          <a:xfrm>
            <a:off x="3429245" y="1556325"/>
            <a:ext cx="1344167" cy="365188"/>
          </a:xfrm>
          <a:prstGeom prst="stripedRightArrow">
            <a:avLst/>
          </a:prstGeom>
          <a:gradFill flip="none" rotWithShape="1">
            <a:gsLst>
              <a:gs pos="0">
                <a:schemeClr val="accent4">
                  <a:shade val="30000"/>
                  <a:satMod val="115000"/>
                  <a:alpha val="50000"/>
                </a:schemeClr>
              </a:gs>
              <a:gs pos="50000">
                <a:schemeClr val="accent4">
                  <a:shade val="67500"/>
                  <a:satMod val="115000"/>
                  <a:alpha val="50000"/>
                </a:schemeClr>
              </a:gs>
              <a:gs pos="100000">
                <a:schemeClr val="accent4">
                  <a:shade val="100000"/>
                  <a:satMod val="115000"/>
                  <a:alpha val="50000"/>
                </a:schemeClr>
              </a:gs>
            </a:gsLst>
            <a:lin ang="0" scaled="1"/>
            <a:tileRect/>
          </a:gradFill>
        </p:spPr>
        <p:txBody>
          <a:bodyPr wrap="square" rtlCol="0" anchor="ctr">
            <a:spAutoFit/>
          </a:bodyPr>
          <a:lstStyle/>
          <a:p>
            <a:pPr algn="ctr"/>
            <a:endParaRPr lang="en-US" sz="1100"/>
          </a:p>
        </p:txBody>
      </p:sp>
      <p:sp>
        <p:nvSpPr>
          <p:cNvPr id="32" name="TextBox 31">
            <a:extLst>
              <a:ext uri="{FF2B5EF4-FFF2-40B4-BE49-F238E27FC236}">
                <a16:creationId xmlns:a16="http://schemas.microsoft.com/office/drawing/2014/main" id="{44795CB8-57EE-4006-A1EB-A0E0F93F79A4}"/>
              </a:ext>
            </a:extLst>
          </p:cNvPr>
          <p:cNvSpPr txBox="1"/>
          <p:nvPr/>
        </p:nvSpPr>
        <p:spPr>
          <a:xfrm>
            <a:off x="214418" y="606119"/>
            <a:ext cx="5608912" cy="338554"/>
          </a:xfrm>
          <a:prstGeom prst="rect">
            <a:avLst/>
          </a:prstGeom>
          <a:noFill/>
        </p:spPr>
        <p:txBody>
          <a:bodyPr wrap="square" rtlCol="0">
            <a:spAutoFit/>
          </a:bodyPr>
          <a:lstStyle/>
          <a:p>
            <a:r>
              <a:rPr lang="en-CA" sz="1600" b="1"/>
              <a:t>Our PIR discussion can be summarized as having 2 goals:</a:t>
            </a:r>
            <a:endParaRPr lang="en-US" sz="1600" b="1"/>
          </a:p>
        </p:txBody>
      </p:sp>
      <p:sp>
        <p:nvSpPr>
          <p:cNvPr id="33" name="TextBox 32">
            <a:extLst>
              <a:ext uri="{FF2B5EF4-FFF2-40B4-BE49-F238E27FC236}">
                <a16:creationId xmlns:a16="http://schemas.microsoft.com/office/drawing/2014/main" id="{728CBFC3-BA98-4D6F-B023-36510DEDA173}"/>
              </a:ext>
            </a:extLst>
          </p:cNvPr>
          <p:cNvSpPr txBox="1"/>
          <p:nvPr/>
        </p:nvSpPr>
        <p:spPr>
          <a:xfrm>
            <a:off x="73307" y="919632"/>
            <a:ext cx="4873242" cy="338554"/>
          </a:xfrm>
          <a:prstGeom prst="rect">
            <a:avLst/>
          </a:prstGeom>
          <a:noFill/>
        </p:spPr>
        <p:txBody>
          <a:bodyPr wrap="square" rtlCol="0">
            <a:spAutoFit/>
          </a:bodyPr>
          <a:lstStyle/>
          <a:p>
            <a:pPr algn="r"/>
            <a:r>
              <a:rPr lang="en-CA" sz="1600" b="1"/>
              <a:t>These process changes aim to support that end.</a:t>
            </a:r>
            <a:endParaRPr lang="en-US" sz="1600" b="1"/>
          </a:p>
        </p:txBody>
      </p:sp>
      <p:sp>
        <p:nvSpPr>
          <p:cNvPr id="35" name="Rectangle: Rounded Corners 34">
            <a:extLst>
              <a:ext uri="{FF2B5EF4-FFF2-40B4-BE49-F238E27FC236}">
                <a16:creationId xmlns:a16="http://schemas.microsoft.com/office/drawing/2014/main" id="{D0882A26-B751-48ED-889D-7FE21B9953A7}"/>
              </a:ext>
            </a:extLst>
          </p:cNvPr>
          <p:cNvSpPr/>
          <p:nvPr/>
        </p:nvSpPr>
        <p:spPr>
          <a:xfrm rot="19870300">
            <a:off x="10090532" y="2693334"/>
            <a:ext cx="578093" cy="272415"/>
          </a:xfrm>
          <a:prstGeom prst="roundRect">
            <a:avLst/>
          </a:prstGeom>
          <a:solidFill>
            <a:schemeClr val="accent2">
              <a:lumMod val="40000"/>
              <a:lumOff val="60000"/>
            </a:schemeClr>
          </a:solidFill>
        </p:spPr>
        <p:txBody>
          <a:bodyPr wrap="none" rtlCol="0" anchor="ctr">
            <a:spAutoFit/>
          </a:bodyPr>
          <a:lstStyle/>
          <a:p>
            <a:pPr algn="ctr"/>
            <a:r>
              <a:rPr lang="en-CA" sz="1000" b="1">
                <a:solidFill>
                  <a:srgbClr val="C00000"/>
                </a:solidFill>
              </a:rPr>
              <a:t>*New*</a:t>
            </a:r>
            <a:endParaRPr lang="en-US" sz="1000" b="1">
              <a:solidFill>
                <a:srgbClr val="C00000"/>
              </a:solidFill>
            </a:endParaRPr>
          </a:p>
        </p:txBody>
      </p:sp>
      <p:sp>
        <p:nvSpPr>
          <p:cNvPr id="38" name="Arrow: Striped Right 37">
            <a:extLst>
              <a:ext uri="{FF2B5EF4-FFF2-40B4-BE49-F238E27FC236}">
                <a16:creationId xmlns:a16="http://schemas.microsoft.com/office/drawing/2014/main" id="{EDB40502-3464-4C15-AE06-AAD3BA3E5586}"/>
              </a:ext>
            </a:extLst>
          </p:cNvPr>
          <p:cNvSpPr/>
          <p:nvPr/>
        </p:nvSpPr>
        <p:spPr>
          <a:xfrm rot="8543981">
            <a:off x="4977417" y="3711504"/>
            <a:ext cx="4302330"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square" rtlCol="0" anchor="ctr">
            <a:spAutoFit/>
          </a:bodyPr>
          <a:lstStyle/>
          <a:p>
            <a:pPr algn="ctr"/>
            <a:endParaRPr lang="en-US" sz="1100"/>
          </a:p>
        </p:txBody>
      </p:sp>
      <p:graphicFrame>
        <p:nvGraphicFramePr>
          <p:cNvPr id="34" name="Table 32">
            <a:extLst>
              <a:ext uri="{FF2B5EF4-FFF2-40B4-BE49-F238E27FC236}">
                <a16:creationId xmlns:a16="http://schemas.microsoft.com/office/drawing/2014/main" id="{216BC4B0-338C-4E8B-AABD-914A562A5A11}"/>
              </a:ext>
            </a:extLst>
          </p:cNvPr>
          <p:cNvGraphicFramePr>
            <a:graphicFrameLocks noGrp="1"/>
          </p:cNvGraphicFramePr>
          <p:nvPr/>
        </p:nvGraphicFramePr>
        <p:xfrm>
          <a:off x="141409" y="3321772"/>
          <a:ext cx="5015511" cy="19812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411480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PAT Engagement</a:t>
                      </a:r>
                    </a:p>
                    <a:p>
                      <a:r>
                        <a:rPr lang="en-CA" sz="1000" b="0" i="1">
                          <a:solidFill>
                            <a:schemeClr val="bg1"/>
                          </a:solidFill>
                        </a:rPr>
                        <a:t>For any project with changes to a performance tested app</a:t>
                      </a:r>
                      <a:endParaRPr lang="en-US" sz="1000" b="0" i="1">
                        <a:solidFill>
                          <a:schemeClr val="bg1"/>
                        </a:solidFill>
                      </a:endParaRP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PMO</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PAT, QA, AD</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CA" sz="1000" b="0"/>
                        <a:t>Assess opportunities for early PAT cycles</a:t>
                      </a:r>
                    </a:p>
                    <a:p>
                      <a:pPr marL="171450" indent="-171450">
                        <a:buFont typeface="Arial" panose="020B0604020202020204" pitchFamily="34" charset="0"/>
                        <a:buChar char="•"/>
                      </a:pPr>
                      <a:r>
                        <a:rPr lang="en-CA" sz="1000" b="0"/>
                        <a:t>Engage PAT team, detailing specific project changes and target implementation. Obtain tentative PAT start and end dates.</a:t>
                      </a:r>
                    </a:p>
                    <a:p>
                      <a:pPr marL="171450" indent="-171450">
                        <a:buFont typeface="Arial" panose="020B0604020202020204" pitchFamily="34" charset="0"/>
                        <a:buChar char="•"/>
                      </a:pPr>
                      <a:r>
                        <a:rPr lang="en-CA" sz="1000" b="0"/>
                        <a:t>Refresh database prior to baseline testing. This activity must be included in overall PAT estimate.</a:t>
                      </a:r>
                    </a:p>
                    <a:p>
                      <a:pPr marL="171450" indent="-171450">
                        <a:buFont typeface="Arial" panose="020B0604020202020204" pitchFamily="34" charset="0"/>
                        <a:buChar char="•"/>
                      </a:pPr>
                      <a:r>
                        <a:rPr lang="en-CA" sz="1000" b="0" i="1"/>
                        <a:t>PAT Team process education for PMO may be helpful.</a:t>
                      </a:r>
                      <a:endParaRPr lang="en-US" sz="1000" b="0" i="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graphicFrame>
        <p:nvGraphicFramePr>
          <p:cNvPr id="39" name="Table 32">
            <a:extLst>
              <a:ext uri="{FF2B5EF4-FFF2-40B4-BE49-F238E27FC236}">
                <a16:creationId xmlns:a16="http://schemas.microsoft.com/office/drawing/2014/main" id="{63F1ABC4-54A7-49C1-93FB-4C2F29B93B01}"/>
              </a:ext>
            </a:extLst>
          </p:cNvPr>
          <p:cNvGraphicFramePr>
            <a:graphicFrameLocks noGrp="1"/>
          </p:cNvGraphicFramePr>
          <p:nvPr/>
        </p:nvGraphicFramePr>
        <p:xfrm>
          <a:off x="150741" y="5377847"/>
          <a:ext cx="8215911" cy="13716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731520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Phase Gates</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PMO</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QA, AD, RM</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CA" sz="1000" b="0"/>
                        <a:t>At key Phase exits (Dev, SIT, UAT), PMs to facilitate a ‘Phase’ Gate within the project team to determine overall readiness to proceed onto next phase, and to provide an indicator of overall readiness toward implementation.</a:t>
                      </a:r>
                    </a:p>
                    <a:p>
                      <a:pPr marL="171450" indent="-171450">
                        <a:buFont typeface="Arial" panose="020B0604020202020204" pitchFamily="34" charset="0"/>
                        <a:buChar char="•"/>
                      </a:pPr>
                      <a:r>
                        <a:rPr lang="en-CA" sz="1000" b="0"/>
                        <a:t>Process &amp; Document yet to be defined. RM will support the establishment of the process with inputs from the key teams.</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sp>
        <p:nvSpPr>
          <p:cNvPr id="40" name="Rectangle: Rounded Corners 39">
            <a:extLst>
              <a:ext uri="{FF2B5EF4-FFF2-40B4-BE49-F238E27FC236}">
                <a16:creationId xmlns:a16="http://schemas.microsoft.com/office/drawing/2014/main" id="{2BE66113-3CE0-4414-9377-BA8C2603BBE4}"/>
              </a:ext>
            </a:extLst>
          </p:cNvPr>
          <p:cNvSpPr/>
          <p:nvPr/>
        </p:nvSpPr>
        <p:spPr>
          <a:xfrm rot="1013364">
            <a:off x="1372662" y="5404977"/>
            <a:ext cx="729610" cy="340519"/>
          </a:xfrm>
          <a:prstGeom prst="roundRect">
            <a:avLst/>
          </a:prstGeom>
          <a:solidFill>
            <a:schemeClr val="accent2">
              <a:lumMod val="40000"/>
              <a:lumOff val="60000"/>
            </a:schemeClr>
          </a:solidFill>
        </p:spPr>
        <p:txBody>
          <a:bodyPr wrap="none" rtlCol="0" anchor="ctr">
            <a:spAutoFit/>
          </a:bodyPr>
          <a:lstStyle/>
          <a:p>
            <a:pPr algn="ctr"/>
            <a:r>
              <a:rPr lang="en-CA" sz="1400" b="1">
                <a:solidFill>
                  <a:srgbClr val="C00000"/>
                </a:solidFill>
              </a:rPr>
              <a:t>*New*</a:t>
            </a:r>
            <a:endParaRPr lang="en-US" sz="1400" b="1">
              <a:solidFill>
                <a:srgbClr val="C00000"/>
              </a:solidFill>
            </a:endParaRPr>
          </a:p>
        </p:txBody>
      </p:sp>
      <p:sp>
        <p:nvSpPr>
          <p:cNvPr id="41" name="Arrow: Curved Right 40">
            <a:extLst>
              <a:ext uri="{FF2B5EF4-FFF2-40B4-BE49-F238E27FC236}">
                <a16:creationId xmlns:a16="http://schemas.microsoft.com/office/drawing/2014/main" id="{B1C6DA81-A4EE-49C7-A5CB-C51798F198BE}"/>
              </a:ext>
            </a:extLst>
          </p:cNvPr>
          <p:cNvSpPr/>
          <p:nvPr/>
        </p:nvSpPr>
        <p:spPr>
          <a:xfrm rot="13244864">
            <a:off x="9018919" y="5368376"/>
            <a:ext cx="563401" cy="1567449"/>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
        <p:nvSpPr>
          <p:cNvPr id="42" name="TextBox 41">
            <a:extLst>
              <a:ext uri="{FF2B5EF4-FFF2-40B4-BE49-F238E27FC236}">
                <a16:creationId xmlns:a16="http://schemas.microsoft.com/office/drawing/2014/main" id="{50780AAE-B858-4868-BB9A-43C4EECAEE65}"/>
              </a:ext>
            </a:extLst>
          </p:cNvPr>
          <p:cNvSpPr txBox="1"/>
          <p:nvPr/>
        </p:nvSpPr>
        <p:spPr>
          <a:xfrm>
            <a:off x="8311143" y="307989"/>
            <a:ext cx="2426818" cy="830997"/>
          </a:xfrm>
          <a:prstGeom prst="rect">
            <a:avLst/>
          </a:prstGeom>
          <a:noFill/>
        </p:spPr>
        <p:txBody>
          <a:bodyPr wrap="none" rtlCol="0">
            <a:spAutoFit/>
          </a:bodyPr>
          <a:lstStyle/>
          <a:p>
            <a:r>
              <a:rPr lang="en-CA" sz="1600" b="1">
                <a:solidFill>
                  <a:srgbClr val="C00000"/>
                </a:solidFill>
              </a:rPr>
              <a:t>Phase 1</a:t>
            </a:r>
            <a:r>
              <a:rPr lang="en-CA" sz="1600"/>
              <a:t>: </a:t>
            </a:r>
            <a:r>
              <a:rPr lang="en-CA" sz="1200"/>
              <a:t>Immediately / ASAP</a:t>
            </a:r>
            <a:endParaRPr lang="en-CA" sz="1600"/>
          </a:p>
          <a:p>
            <a:r>
              <a:rPr lang="en-CA" sz="1600" b="1">
                <a:solidFill>
                  <a:srgbClr val="C00000"/>
                </a:solidFill>
              </a:rPr>
              <a:t>Phase 2</a:t>
            </a:r>
            <a:r>
              <a:rPr lang="en-CA" sz="1600"/>
              <a:t>: </a:t>
            </a:r>
            <a:r>
              <a:rPr lang="en-CA" sz="1200"/>
              <a:t>Dec 21</a:t>
            </a:r>
            <a:r>
              <a:rPr lang="en-CA" sz="1200" baseline="30000"/>
              <a:t>st</a:t>
            </a:r>
            <a:r>
              <a:rPr lang="en-CA" sz="1200"/>
              <a:t> </a:t>
            </a:r>
            <a:endParaRPr lang="en-CA" sz="1600"/>
          </a:p>
          <a:p>
            <a:r>
              <a:rPr lang="en-CA" sz="1600" b="1">
                <a:solidFill>
                  <a:srgbClr val="C00000"/>
                </a:solidFill>
              </a:rPr>
              <a:t>Phase 3</a:t>
            </a:r>
            <a:r>
              <a:rPr lang="en-CA" sz="1600"/>
              <a:t>: </a:t>
            </a:r>
            <a:r>
              <a:rPr lang="en-CA" sz="1200"/>
              <a:t>Feb 15</a:t>
            </a:r>
            <a:r>
              <a:rPr lang="en-CA" sz="1200" baseline="30000"/>
              <a:t>th</a:t>
            </a:r>
            <a:r>
              <a:rPr lang="en-CA" sz="1200"/>
              <a:t> </a:t>
            </a:r>
            <a:endParaRPr lang="en-US" sz="1600"/>
          </a:p>
        </p:txBody>
      </p:sp>
      <p:sp>
        <p:nvSpPr>
          <p:cNvPr id="28" name="TextBox 27">
            <a:extLst>
              <a:ext uri="{FF2B5EF4-FFF2-40B4-BE49-F238E27FC236}">
                <a16:creationId xmlns:a16="http://schemas.microsoft.com/office/drawing/2014/main" id="{94DA0398-03D3-4F19-BA1F-AA9B2F9FB8A5}"/>
              </a:ext>
            </a:extLst>
          </p:cNvPr>
          <p:cNvSpPr txBox="1"/>
          <p:nvPr/>
        </p:nvSpPr>
        <p:spPr>
          <a:xfrm>
            <a:off x="7546434" y="3622836"/>
            <a:ext cx="4331527" cy="1077218"/>
          </a:xfrm>
          <a:prstGeom prst="rect">
            <a:avLst/>
          </a:prstGeom>
          <a:noFill/>
        </p:spPr>
        <p:txBody>
          <a:bodyPr wrap="square" rtlCol="0">
            <a:spAutoFit/>
          </a:bodyPr>
          <a:lstStyle/>
          <a:p>
            <a:r>
              <a:rPr lang="en-CA" sz="1600" b="1" i="1"/>
              <a:t>By adding more formalized internal checkpoints, and increasing our holistic visibility of budding issues, we will be much more likely to be </a:t>
            </a:r>
            <a:r>
              <a:rPr lang="en-CA" sz="1600" b="1" i="1">
                <a:solidFill>
                  <a:srgbClr val="C00000"/>
                </a:solidFill>
              </a:rPr>
              <a:t>ready</a:t>
            </a:r>
            <a:r>
              <a:rPr lang="en-CA" sz="1600" b="1" i="1"/>
              <a:t> and </a:t>
            </a:r>
            <a:r>
              <a:rPr lang="en-CA" sz="1600" b="1" i="1">
                <a:solidFill>
                  <a:srgbClr val="C00000"/>
                </a:solidFill>
              </a:rPr>
              <a:t>on-time</a:t>
            </a:r>
            <a:r>
              <a:rPr lang="en-CA" sz="1600" b="1" i="1"/>
              <a:t>.</a:t>
            </a:r>
            <a:endParaRPr lang="en-US" sz="1600" b="1" i="1"/>
          </a:p>
        </p:txBody>
      </p:sp>
    </p:spTree>
    <p:extLst>
      <p:ext uri="{BB962C8B-B14F-4D97-AF65-F5344CB8AC3E}">
        <p14:creationId xmlns:p14="http://schemas.microsoft.com/office/powerpoint/2010/main" val="34373991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76E39AF-3F98-46E0-B048-590415A6B1FA}"/>
              </a:ext>
            </a:extLst>
          </p:cNvPr>
          <p:cNvSpPr>
            <a:spLocks noGrp="1"/>
          </p:cNvSpPr>
          <p:nvPr>
            <p:ph type="sldNum" sz="quarter" idx="4294967295"/>
          </p:nvPr>
        </p:nvSpPr>
        <p:spPr>
          <a:xfrm>
            <a:off x="10698480" y="228600"/>
            <a:ext cx="891540" cy="841248"/>
          </a:xfrm>
          <a:prstGeom prst="rect">
            <a:avLst/>
          </a:prstGeom>
        </p:spPr>
        <p:txBody>
          <a:bodyPr/>
          <a:lstStyle/>
          <a:p>
            <a:fld id="{E633FACB-E57B-4CDC-9F3B-D7F03E444374}" type="slidenum">
              <a:rPr lang="en-CA" smtClean="0">
                <a:solidFill>
                  <a:srgbClr val="AAAAAA"/>
                </a:solidFill>
              </a:rPr>
              <a:pPr/>
              <a:t>50</a:t>
            </a:fld>
            <a:endParaRPr lang="en-CA">
              <a:solidFill>
                <a:srgbClr val="AAAAAA"/>
              </a:solidFill>
            </a:endParaRPr>
          </a:p>
        </p:txBody>
      </p:sp>
      <p:sp>
        <p:nvSpPr>
          <p:cNvPr id="4" name="Title 1">
            <a:extLst>
              <a:ext uri="{FF2B5EF4-FFF2-40B4-BE49-F238E27FC236}">
                <a16:creationId xmlns:a16="http://schemas.microsoft.com/office/drawing/2014/main" id="{286A96DA-CDFD-4236-BE2C-7755AD016B4C}"/>
              </a:ext>
            </a:extLst>
          </p:cNvPr>
          <p:cNvSpPr txBox="1">
            <a:spLocks/>
          </p:cNvSpPr>
          <p:nvPr/>
        </p:nvSpPr>
        <p:spPr>
          <a:xfrm>
            <a:off x="117633" y="57953"/>
            <a:ext cx="11292840"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CA" sz="2800"/>
              <a:t>Release PIR Recommendations </a:t>
            </a:r>
            <a:r>
              <a:rPr lang="en-CA" sz="1800"/>
              <a:t>(1/2)</a:t>
            </a:r>
            <a:endParaRPr lang="en-CA" sz="2800"/>
          </a:p>
        </p:txBody>
      </p:sp>
      <p:graphicFrame>
        <p:nvGraphicFramePr>
          <p:cNvPr id="32" name="Table 32">
            <a:extLst>
              <a:ext uri="{FF2B5EF4-FFF2-40B4-BE49-F238E27FC236}">
                <a16:creationId xmlns:a16="http://schemas.microsoft.com/office/drawing/2014/main" id="{7FBEAF39-2C62-42BF-967A-8AE67263207F}"/>
              </a:ext>
            </a:extLst>
          </p:cNvPr>
          <p:cNvGraphicFramePr>
            <a:graphicFrameLocks noGrp="1"/>
          </p:cNvGraphicFramePr>
          <p:nvPr/>
        </p:nvGraphicFramePr>
        <p:xfrm>
          <a:off x="783782" y="2701577"/>
          <a:ext cx="4375431" cy="18288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34747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Project Backout Matrix</a:t>
                      </a:r>
                    </a:p>
                    <a:p>
                      <a:r>
                        <a:rPr lang="en-CA" sz="1000" b="0" i="1">
                          <a:solidFill>
                            <a:schemeClr val="bg1"/>
                          </a:solidFill>
                        </a:rPr>
                        <a:t>For any project with changes to &gt;1 app</a:t>
                      </a:r>
                      <a:endParaRPr lang="en-US" sz="1000" b="0" i="1">
                        <a:solidFill>
                          <a:schemeClr val="bg1"/>
                        </a:solidFill>
                      </a:endParaRP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a:t>PMO</a:t>
                      </a:r>
                      <a:endParaRPr lang="en-US" sz="100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a:t>AD</a:t>
                      </a:r>
                      <a:endParaRPr lang="en-US" sz="100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000"/>
                        <a:t>After Solutioning/Design has completed, PMs will be responsible for facilitating the creation of a project-level backout matrix, with the aid of their AD Lead(s). The backout matrix must then be socialized with the project team and Release Management.</a:t>
                      </a:r>
                      <a:endParaRPr lang="en-US" sz="100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graphicFrame>
        <p:nvGraphicFramePr>
          <p:cNvPr id="34" name="Table 32">
            <a:extLst>
              <a:ext uri="{FF2B5EF4-FFF2-40B4-BE49-F238E27FC236}">
                <a16:creationId xmlns:a16="http://schemas.microsoft.com/office/drawing/2014/main" id="{E85E6567-47A0-4714-BF24-AAD993B5B18B}"/>
              </a:ext>
            </a:extLst>
          </p:cNvPr>
          <p:cNvGraphicFramePr>
            <a:graphicFrameLocks noGrp="1"/>
          </p:cNvGraphicFramePr>
          <p:nvPr/>
        </p:nvGraphicFramePr>
        <p:xfrm>
          <a:off x="1171027" y="4742355"/>
          <a:ext cx="4375431" cy="18288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34747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Project Backout Testing</a:t>
                      </a:r>
                    </a:p>
                    <a:p>
                      <a:r>
                        <a:rPr lang="en-CA" sz="1000" b="0" i="1">
                          <a:solidFill>
                            <a:schemeClr val="bg1"/>
                          </a:solidFill>
                        </a:rPr>
                        <a:t>For any project with changes to &gt;1 app</a:t>
                      </a:r>
                      <a:endParaRPr lang="en-US" sz="1000" b="0" i="1">
                        <a:solidFill>
                          <a:schemeClr val="bg1"/>
                        </a:solidFill>
                      </a:endParaRP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PMO</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QA, AD, Business</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000" b="0"/>
                        <a:t>After the project-level backout matrix has been finalized, PMs along with QA will be responsible for facilitating the refinement of their overall testing timelines, considering the effort required to test the prioritized backout scenarios.</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graphicFrame>
        <p:nvGraphicFramePr>
          <p:cNvPr id="35" name="Table 32">
            <a:extLst>
              <a:ext uri="{FF2B5EF4-FFF2-40B4-BE49-F238E27FC236}">
                <a16:creationId xmlns:a16="http://schemas.microsoft.com/office/drawing/2014/main" id="{29BDBB32-B0BE-4EC9-9188-A131B7A9D4D4}"/>
              </a:ext>
            </a:extLst>
          </p:cNvPr>
          <p:cNvGraphicFramePr>
            <a:graphicFrameLocks noGrp="1"/>
          </p:cNvGraphicFramePr>
          <p:nvPr/>
        </p:nvGraphicFramePr>
        <p:xfrm>
          <a:off x="402839" y="667050"/>
          <a:ext cx="4375431" cy="18288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34747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Testing Timelines</a:t>
                      </a:r>
                    </a:p>
                    <a:p>
                      <a:r>
                        <a:rPr lang="en-CA" sz="1000" b="0" i="1">
                          <a:solidFill>
                            <a:schemeClr val="bg1"/>
                          </a:solidFill>
                        </a:rPr>
                        <a:t>For any project with changes to &gt;1 app</a:t>
                      </a:r>
                      <a:endParaRPr lang="en-US" sz="1000" b="0" i="1">
                        <a:solidFill>
                          <a:schemeClr val="bg1"/>
                        </a:solidFill>
                      </a:endParaRP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QA</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PMO, AD</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000" b="0"/>
                        <a:t>After the SRD has been finalized (or equivalent checkpoint if Agile), QA Managers must ensure their testing timelines include sufficient effort to budget for backout testing, while still protecting a 2-week code freeze.</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sp>
        <p:nvSpPr>
          <p:cNvPr id="38" name="Arrow: Curved Right 37">
            <a:extLst>
              <a:ext uri="{FF2B5EF4-FFF2-40B4-BE49-F238E27FC236}">
                <a16:creationId xmlns:a16="http://schemas.microsoft.com/office/drawing/2014/main" id="{E6551BC7-7866-4586-B881-8EFBAB0B14C4}"/>
              </a:ext>
            </a:extLst>
          </p:cNvPr>
          <p:cNvSpPr/>
          <p:nvPr/>
        </p:nvSpPr>
        <p:spPr>
          <a:xfrm rot="20132597">
            <a:off x="161783" y="2146527"/>
            <a:ext cx="417773" cy="1116240"/>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
        <p:nvSpPr>
          <p:cNvPr id="39" name="Arrow: Curved Right 38">
            <a:extLst>
              <a:ext uri="{FF2B5EF4-FFF2-40B4-BE49-F238E27FC236}">
                <a16:creationId xmlns:a16="http://schemas.microsoft.com/office/drawing/2014/main" id="{4240CFC0-30DA-41E7-BD34-FDC39AF2782B}"/>
              </a:ext>
            </a:extLst>
          </p:cNvPr>
          <p:cNvSpPr/>
          <p:nvPr/>
        </p:nvSpPr>
        <p:spPr>
          <a:xfrm rot="20132597">
            <a:off x="539344" y="4187604"/>
            <a:ext cx="417773" cy="1116240"/>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
        <p:nvSpPr>
          <p:cNvPr id="42" name="Flowchart: Connector 41">
            <a:extLst>
              <a:ext uri="{FF2B5EF4-FFF2-40B4-BE49-F238E27FC236}">
                <a16:creationId xmlns:a16="http://schemas.microsoft.com/office/drawing/2014/main" id="{A89679A5-75A5-4450-8AB8-BAE77DBB6BEE}"/>
              </a:ext>
            </a:extLst>
          </p:cNvPr>
          <p:cNvSpPr>
            <a:spLocks noChangeAspect="1"/>
          </p:cNvSpPr>
          <p:nvPr/>
        </p:nvSpPr>
        <p:spPr>
          <a:xfrm>
            <a:off x="5460210" y="2655189"/>
            <a:ext cx="1344168" cy="1341656"/>
          </a:xfrm>
          <a:prstGeom prst="flowChartConnector">
            <a:avLst/>
          </a:prstGeom>
          <a:solidFill>
            <a:srgbClr val="C00000"/>
          </a:solidFill>
        </p:spPr>
        <p:txBody>
          <a:bodyPr wrap="none" rtlCol="0" anchor="ctr">
            <a:spAutoFit/>
          </a:bodyPr>
          <a:lstStyle/>
          <a:p>
            <a:pPr algn="ctr"/>
            <a:r>
              <a:rPr lang="en-CA" sz="1400" b="1">
                <a:solidFill>
                  <a:schemeClr val="bg1"/>
                </a:solidFill>
              </a:rPr>
              <a:t>Readiness</a:t>
            </a:r>
          </a:p>
          <a:p>
            <a:pPr algn="ctr"/>
            <a:r>
              <a:rPr lang="en-CA" sz="1400" b="1">
                <a:solidFill>
                  <a:schemeClr val="bg1"/>
                </a:solidFill>
              </a:rPr>
              <a:t>&amp;</a:t>
            </a:r>
          </a:p>
          <a:p>
            <a:pPr algn="ctr"/>
            <a:r>
              <a:rPr lang="en-CA" sz="1400" b="1">
                <a:solidFill>
                  <a:schemeClr val="bg1"/>
                </a:solidFill>
              </a:rPr>
              <a:t>Code-Freeze</a:t>
            </a:r>
          </a:p>
          <a:p>
            <a:pPr algn="ctr"/>
            <a:r>
              <a:rPr lang="en-CA" sz="1400" b="1">
                <a:solidFill>
                  <a:schemeClr val="bg1"/>
                </a:solidFill>
              </a:rPr>
              <a:t>Protection</a:t>
            </a:r>
            <a:endParaRPr lang="en-US" sz="1400" b="1">
              <a:solidFill>
                <a:schemeClr val="bg1"/>
              </a:solidFill>
            </a:endParaRPr>
          </a:p>
        </p:txBody>
      </p:sp>
      <p:sp>
        <p:nvSpPr>
          <p:cNvPr id="43" name="Rectangle: Rounded Corners 42">
            <a:extLst>
              <a:ext uri="{FF2B5EF4-FFF2-40B4-BE49-F238E27FC236}">
                <a16:creationId xmlns:a16="http://schemas.microsoft.com/office/drawing/2014/main" id="{EA436E27-37F9-41D4-8F86-C475BD763C47}"/>
              </a:ext>
            </a:extLst>
          </p:cNvPr>
          <p:cNvSpPr/>
          <p:nvPr/>
        </p:nvSpPr>
        <p:spPr>
          <a:xfrm>
            <a:off x="10558368" y="2917394"/>
            <a:ext cx="915176" cy="817245"/>
          </a:xfrm>
          <a:prstGeom prst="roundRect">
            <a:avLst/>
          </a:prstGeom>
          <a:solidFill>
            <a:srgbClr val="002060"/>
          </a:solidFill>
        </p:spPr>
        <p:txBody>
          <a:bodyPr wrap="none" rtlCol="0" anchor="ctr">
            <a:spAutoFit/>
          </a:bodyPr>
          <a:lstStyle/>
          <a:p>
            <a:pPr algn="ctr"/>
            <a:r>
              <a:rPr lang="en-CA" sz="1400" b="1">
                <a:solidFill>
                  <a:schemeClr val="bg1"/>
                </a:solidFill>
              </a:rPr>
              <a:t>Release</a:t>
            </a:r>
          </a:p>
          <a:p>
            <a:pPr algn="ctr"/>
            <a:r>
              <a:rPr lang="en-CA" sz="1400" b="1">
                <a:solidFill>
                  <a:schemeClr val="bg1"/>
                </a:solidFill>
              </a:rPr>
              <a:t>Status</a:t>
            </a:r>
          </a:p>
          <a:p>
            <a:pPr algn="ctr"/>
            <a:r>
              <a:rPr lang="en-CA" sz="1400" b="1">
                <a:solidFill>
                  <a:schemeClr val="bg1"/>
                </a:solidFill>
              </a:rPr>
              <a:t>Meeting</a:t>
            </a:r>
            <a:endParaRPr lang="en-US" sz="1400" b="1">
              <a:solidFill>
                <a:schemeClr val="bg1"/>
              </a:solidFill>
            </a:endParaRPr>
          </a:p>
        </p:txBody>
      </p:sp>
      <p:graphicFrame>
        <p:nvGraphicFramePr>
          <p:cNvPr id="44" name="Table 32">
            <a:extLst>
              <a:ext uri="{FF2B5EF4-FFF2-40B4-BE49-F238E27FC236}">
                <a16:creationId xmlns:a16="http://schemas.microsoft.com/office/drawing/2014/main" id="{D5E9D705-4804-4E21-B8C8-60778BB50A95}"/>
              </a:ext>
            </a:extLst>
          </p:cNvPr>
          <p:cNvGraphicFramePr>
            <a:graphicFrameLocks noGrp="1"/>
          </p:cNvGraphicFramePr>
          <p:nvPr/>
        </p:nvGraphicFramePr>
        <p:xfrm>
          <a:off x="5943600" y="4231533"/>
          <a:ext cx="4924071" cy="19812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402336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PAT Engagement</a:t>
                      </a:r>
                    </a:p>
                    <a:p>
                      <a:r>
                        <a:rPr lang="en-CA" sz="1000" b="0" i="1">
                          <a:solidFill>
                            <a:schemeClr val="bg1"/>
                          </a:solidFill>
                        </a:rPr>
                        <a:t>For any project with changes to a performance tested app</a:t>
                      </a:r>
                      <a:endParaRPr lang="en-US" sz="1000" b="0" i="1">
                        <a:solidFill>
                          <a:schemeClr val="bg1"/>
                        </a:solidFill>
                      </a:endParaRP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PMO</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PAT, QA, AD</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CA" sz="1000" b="0"/>
                        <a:t>Assess opportunities for early PAT cycles</a:t>
                      </a:r>
                    </a:p>
                    <a:p>
                      <a:pPr marL="171450" indent="-171450">
                        <a:buFont typeface="Arial" panose="020B0604020202020204" pitchFamily="34" charset="0"/>
                        <a:buChar char="•"/>
                      </a:pPr>
                      <a:r>
                        <a:rPr lang="en-CA" sz="1000" b="0"/>
                        <a:t>Engage PAT team, detailing specific project changes and target implementation. Obtain tentative PAT start and end dates.</a:t>
                      </a:r>
                    </a:p>
                    <a:p>
                      <a:pPr marL="171450" indent="-171450">
                        <a:buFont typeface="Arial" panose="020B0604020202020204" pitchFamily="34" charset="0"/>
                        <a:buChar char="•"/>
                      </a:pPr>
                      <a:r>
                        <a:rPr lang="en-CA" sz="1000" b="0"/>
                        <a:t>Refresh database prior to baseline testing. This activity must be included in overall PAT estimate.</a:t>
                      </a:r>
                    </a:p>
                    <a:p>
                      <a:pPr marL="171450" indent="-171450">
                        <a:buFont typeface="Arial" panose="020B0604020202020204" pitchFamily="34" charset="0"/>
                        <a:buChar char="•"/>
                      </a:pPr>
                      <a:r>
                        <a:rPr lang="en-CA" sz="1000" b="0" i="1"/>
                        <a:t>PAT Team process education for PMO may be helpful.</a:t>
                      </a:r>
                      <a:endParaRPr lang="en-US" sz="1000" b="0" i="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sp>
        <p:nvSpPr>
          <p:cNvPr id="19" name="Arrow: Curved Right 18">
            <a:extLst>
              <a:ext uri="{FF2B5EF4-FFF2-40B4-BE49-F238E27FC236}">
                <a16:creationId xmlns:a16="http://schemas.microsoft.com/office/drawing/2014/main" id="{7D656B7F-74BC-40BB-904C-CC6D15387D25}"/>
              </a:ext>
            </a:extLst>
          </p:cNvPr>
          <p:cNvSpPr/>
          <p:nvPr/>
        </p:nvSpPr>
        <p:spPr>
          <a:xfrm rot="14935075">
            <a:off x="5895522" y="6030689"/>
            <a:ext cx="318683" cy="1116240"/>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
        <p:nvSpPr>
          <p:cNvPr id="2" name="Arrow: Striped Right 1">
            <a:extLst>
              <a:ext uri="{FF2B5EF4-FFF2-40B4-BE49-F238E27FC236}">
                <a16:creationId xmlns:a16="http://schemas.microsoft.com/office/drawing/2014/main" id="{DEA69A9B-C18B-4C9F-AF8F-C9F52EE4A041}"/>
              </a:ext>
            </a:extLst>
          </p:cNvPr>
          <p:cNvSpPr/>
          <p:nvPr/>
        </p:nvSpPr>
        <p:spPr>
          <a:xfrm>
            <a:off x="7258802" y="3143423"/>
            <a:ext cx="3000375"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none" rtlCol="0" anchor="ctr">
            <a:spAutoFit/>
          </a:bodyPr>
          <a:lstStyle/>
          <a:p>
            <a:pPr algn="ctr"/>
            <a:endParaRPr lang="en-US" sz="1100"/>
          </a:p>
        </p:txBody>
      </p:sp>
      <p:sp>
        <p:nvSpPr>
          <p:cNvPr id="5" name="TextBox 4">
            <a:extLst>
              <a:ext uri="{FF2B5EF4-FFF2-40B4-BE49-F238E27FC236}">
                <a16:creationId xmlns:a16="http://schemas.microsoft.com/office/drawing/2014/main" id="{05FF18A3-82D7-4581-8212-A8AD03B13FE2}"/>
              </a:ext>
            </a:extLst>
          </p:cNvPr>
          <p:cNvSpPr txBox="1"/>
          <p:nvPr/>
        </p:nvSpPr>
        <p:spPr>
          <a:xfrm>
            <a:off x="7058777" y="2321605"/>
            <a:ext cx="3400424" cy="738664"/>
          </a:xfrm>
          <a:prstGeom prst="rect">
            <a:avLst/>
          </a:prstGeom>
          <a:noFill/>
        </p:spPr>
        <p:txBody>
          <a:bodyPr wrap="square" rtlCol="0">
            <a:spAutoFit/>
          </a:bodyPr>
          <a:lstStyle/>
          <a:p>
            <a:r>
              <a:rPr lang="en-CA" sz="1400" b="1" i="1"/>
              <a:t>Any issues with or delays in meeting these process changes will be tabled at the weekly Release meeting.</a:t>
            </a:r>
            <a:endParaRPr lang="en-US" sz="1400" b="1" i="1"/>
          </a:p>
        </p:txBody>
      </p:sp>
      <p:sp>
        <p:nvSpPr>
          <p:cNvPr id="23" name="TextBox 22">
            <a:extLst>
              <a:ext uri="{FF2B5EF4-FFF2-40B4-BE49-F238E27FC236}">
                <a16:creationId xmlns:a16="http://schemas.microsoft.com/office/drawing/2014/main" id="{86435D64-0642-428E-B695-109A64B973EC}"/>
              </a:ext>
            </a:extLst>
          </p:cNvPr>
          <p:cNvSpPr txBox="1"/>
          <p:nvPr/>
        </p:nvSpPr>
        <p:spPr>
          <a:xfrm>
            <a:off x="5261410" y="785738"/>
            <a:ext cx="6328610" cy="1200329"/>
          </a:xfrm>
          <a:prstGeom prst="rect">
            <a:avLst/>
          </a:prstGeom>
          <a:noFill/>
        </p:spPr>
        <p:txBody>
          <a:bodyPr wrap="square" rtlCol="0">
            <a:spAutoFit/>
          </a:bodyPr>
          <a:lstStyle/>
          <a:p>
            <a:r>
              <a:rPr lang="en-CA" sz="1800" b="1"/>
              <a:t>Our PIR discussion can be summarized as having 2 goals:</a:t>
            </a:r>
          </a:p>
          <a:p>
            <a:endParaRPr lang="en-CA" sz="900" b="1"/>
          </a:p>
          <a:p>
            <a:pPr algn="ctr"/>
            <a:r>
              <a:rPr lang="en-CA" sz="1800" b="1">
                <a:solidFill>
                  <a:srgbClr val="C00000"/>
                </a:solidFill>
              </a:rPr>
              <a:t>Readiness &amp; Code-Freeze Protection</a:t>
            </a:r>
          </a:p>
          <a:p>
            <a:endParaRPr lang="en-CA" sz="900" b="1"/>
          </a:p>
          <a:p>
            <a:r>
              <a:rPr lang="en-CA" sz="1800" b="1"/>
              <a:t>These process changes aim to support that end.</a:t>
            </a:r>
            <a:endParaRPr lang="en-US" sz="1800" b="1"/>
          </a:p>
        </p:txBody>
      </p:sp>
    </p:spTree>
    <p:extLst>
      <p:ext uri="{BB962C8B-B14F-4D97-AF65-F5344CB8AC3E}">
        <p14:creationId xmlns:p14="http://schemas.microsoft.com/office/powerpoint/2010/main" val="29324729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76E39AF-3F98-46E0-B048-590415A6B1FA}"/>
              </a:ext>
            </a:extLst>
          </p:cNvPr>
          <p:cNvSpPr>
            <a:spLocks noGrp="1"/>
          </p:cNvSpPr>
          <p:nvPr>
            <p:ph type="sldNum" sz="quarter" idx="4294967295"/>
          </p:nvPr>
        </p:nvSpPr>
        <p:spPr>
          <a:xfrm>
            <a:off x="10698480" y="228600"/>
            <a:ext cx="891540" cy="841248"/>
          </a:xfrm>
          <a:prstGeom prst="rect">
            <a:avLst/>
          </a:prstGeom>
        </p:spPr>
        <p:txBody>
          <a:bodyPr/>
          <a:lstStyle/>
          <a:p>
            <a:fld id="{E633FACB-E57B-4CDC-9F3B-D7F03E444374}" type="slidenum">
              <a:rPr lang="en-CA" smtClean="0">
                <a:solidFill>
                  <a:srgbClr val="AAAAAA"/>
                </a:solidFill>
              </a:rPr>
              <a:pPr/>
              <a:t>51</a:t>
            </a:fld>
            <a:endParaRPr lang="en-CA">
              <a:solidFill>
                <a:srgbClr val="AAAAAA"/>
              </a:solidFill>
            </a:endParaRPr>
          </a:p>
        </p:txBody>
      </p:sp>
      <p:sp>
        <p:nvSpPr>
          <p:cNvPr id="4" name="Title 1">
            <a:extLst>
              <a:ext uri="{FF2B5EF4-FFF2-40B4-BE49-F238E27FC236}">
                <a16:creationId xmlns:a16="http://schemas.microsoft.com/office/drawing/2014/main" id="{286A96DA-CDFD-4236-BE2C-7755AD016B4C}"/>
              </a:ext>
            </a:extLst>
          </p:cNvPr>
          <p:cNvSpPr txBox="1">
            <a:spLocks/>
          </p:cNvSpPr>
          <p:nvPr/>
        </p:nvSpPr>
        <p:spPr>
          <a:xfrm>
            <a:off x="117633" y="57953"/>
            <a:ext cx="11292840" cy="602846"/>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r>
              <a:rPr lang="en-CA" sz="2800"/>
              <a:t>Release PIR Recommendations </a:t>
            </a:r>
            <a:r>
              <a:rPr lang="en-CA" sz="1800"/>
              <a:t>(2/2)</a:t>
            </a:r>
            <a:endParaRPr lang="en-CA" sz="2800"/>
          </a:p>
        </p:txBody>
      </p:sp>
      <p:graphicFrame>
        <p:nvGraphicFramePr>
          <p:cNvPr id="36" name="Table 32">
            <a:extLst>
              <a:ext uri="{FF2B5EF4-FFF2-40B4-BE49-F238E27FC236}">
                <a16:creationId xmlns:a16="http://schemas.microsoft.com/office/drawing/2014/main" id="{08906719-308C-4E51-8B0C-C0B797A460AD}"/>
              </a:ext>
            </a:extLst>
          </p:cNvPr>
          <p:cNvGraphicFramePr>
            <a:graphicFrameLocks noGrp="1"/>
          </p:cNvGraphicFramePr>
          <p:nvPr/>
        </p:nvGraphicFramePr>
        <p:xfrm>
          <a:off x="291342" y="4296259"/>
          <a:ext cx="5472711" cy="22860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457200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UAT2 – Defects/Variances</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PMO</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QA, AD, Business, RM</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CA" sz="1000" b="0"/>
                        <a:t>For any defects/variances discovered during project UAT2 cycle:</a:t>
                      </a:r>
                    </a:p>
                    <a:p>
                      <a:pPr marL="461963" indent="-176213">
                        <a:buAutoNum type="arabicPeriod"/>
                      </a:pPr>
                      <a:r>
                        <a:rPr lang="en-CA" sz="1000" b="0"/>
                        <a:t>Project Team to conduct urgent criticality assessment on the issue.</a:t>
                      </a:r>
                    </a:p>
                    <a:p>
                      <a:pPr marL="461963" indent="-176213">
                        <a:buAutoNum type="arabicPeriod"/>
                      </a:pPr>
                      <a:r>
                        <a:rPr lang="en-CA" sz="1000" b="0"/>
                        <a:t>If deemed non-critical, PMs are to facilitate obtaining business approval to defer the variances.</a:t>
                      </a:r>
                    </a:p>
                    <a:p>
                      <a:pPr marL="461963" indent="-176213">
                        <a:buAutoNum type="arabicPeriod"/>
                      </a:pPr>
                      <a:r>
                        <a:rPr lang="en-CA" sz="1000" b="0"/>
                        <a:t>If deemed critical, PMs are to facilitate obtaining L9 AD/QA approvals, prior to promoting the fix to testing.</a:t>
                      </a:r>
                    </a:p>
                    <a:p>
                      <a:pPr marL="171450" indent="-171450">
                        <a:buFont typeface="Arial" panose="020B0604020202020204" pitchFamily="34" charset="0"/>
                        <a:buChar char="•"/>
                      </a:pPr>
                      <a:endParaRPr lang="en-CA" sz="1000" b="0"/>
                    </a:p>
                    <a:p>
                      <a:pPr marL="171450" indent="-171450">
                        <a:buFont typeface="Arial" panose="020B0604020202020204" pitchFamily="34" charset="0"/>
                        <a:buChar char="•"/>
                      </a:pPr>
                      <a:r>
                        <a:rPr lang="en-CA" sz="1000" b="0"/>
                        <a:t>QA DSR Report to indicate Red status on any projects with unresolved defects/variances while in project UAT2 cycle.</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graphicFrame>
        <p:nvGraphicFramePr>
          <p:cNvPr id="37" name="Table 32">
            <a:extLst>
              <a:ext uri="{FF2B5EF4-FFF2-40B4-BE49-F238E27FC236}">
                <a16:creationId xmlns:a16="http://schemas.microsoft.com/office/drawing/2014/main" id="{A5D34350-A49C-4EA6-BF20-2223A6F5ADC8}"/>
              </a:ext>
            </a:extLst>
          </p:cNvPr>
          <p:cNvGraphicFramePr>
            <a:graphicFrameLocks noGrp="1"/>
          </p:cNvGraphicFramePr>
          <p:nvPr/>
        </p:nvGraphicFramePr>
        <p:xfrm>
          <a:off x="6804378" y="790353"/>
          <a:ext cx="4832631" cy="156972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39319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Reporting</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QA</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CA" sz="1000" b="0"/>
                        <a:t>For projects in UAT1, defect/variances report summaries to be included in weekly Release Status meeting.</a:t>
                      </a:r>
                    </a:p>
                    <a:p>
                      <a:pPr marL="171450" indent="-171450">
                        <a:buFont typeface="Arial" panose="020B0604020202020204" pitchFamily="34" charset="0"/>
                        <a:buChar char="•"/>
                      </a:pPr>
                      <a:endParaRPr lang="en-CA" sz="1000" b="0"/>
                    </a:p>
                    <a:p>
                      <a:pPr marL="171450" indent="-171450">
                        <a:buFont typeface="Arial" panose="020B0604020202020204" pitchFamily="34" charset="0"/>
                        <a:buChar char="•"/>
                      </a:pPr>
                      <a:r>
                        <a:rPr lang="en-CA" sz="1000" b="0"/>
                        <a:t>As an indicator of readiness, and degree of impact to testing, stats to be reported in Release Status meeting detailing concerning Environment Issues and Downtime summary.</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sp>
        <p:nvSpPr>
          <p:cNvPr id="45" name="Flowchart: Connector 44">
            <a:extLst>
              <a:ext uri="{FF2B5EF4-FFF2-40B4-BE49-F238E27FC236}">
                <a16:creationId xmlns:a16="http://schemas.microsoft.com/office/drawing/2014/main" id="{89E9B806-728B-4BA7-BFB8-09C1027CC22D}"/>
              </a:ext>
            </a:extLst>
          </p:cNvPr>
          <p:cNvSpPr>
            <a:spLocks noChangeAspect="1"/>
          </p:cNvSpPr>
          <p:nvPr/>
        </p:nvSpPr>
        <p:spPr>
          <a:xfrm>
            <a:off x="5460210" y="2655189"/>
            <a:ext cx="1344168" cy="1341656"/>
          </a:xfrm>
          <a:prstGeom prst="flowChartConnector">
            <a:avLst/>
          </a:prstGeom>
          <a:solidFill>
            <a:srgbClr val="C00000"/>
          </a:solidFill>
        </p:spPr>
        <p:txBody>
          <a:bodyPr wrap="none" rtlCol="0" anchor="ctr">
            <a:spAutoFit/>
          </a:bodyPr>
          <a:lstStyle/>
          <a:p>
            <a:pPr algn="ctr"/>
            <a:r>
              <a:rPr lang="en-CA" sz="1400" b="1">
                <a:solidFill>
                  <a:schemeClr val="bg1"/>
                </a:solidFill>
              </a:rPr>
              <a:t>Readiness</a:t>
            </a:r>
          </a:p>
          <a:p>
            <a:pPr algn="ctr"/>
            <a:r>
              <a:rPr lang="en-CA" sz="1400" b="1">
                <a:solidFill>
                  <a:schemeClr val="bg1"/>
                </a:solidFill>
              </a:rPr>
              <a:t>&amp;</a:t>
            </a:r>
          </a:p>
          <a:p>
            <a:pPr algn="ctr"/>
            <a:r>
              <a:rPr lang="en-CA" sz="1400" b="1">
                <a:solidFill>
                  <a:schemeClr val="bg1"/>
                </a:solidFill>
              </a:rPr>
              <a:t>Code-Freeze</a:t>
            </a:r>
          </a:p>
          <a:p>
            <a:pPr algn="ctr"/>
            <a:r>
              <a:rPr lang="en-CA" sz="1400" b="1">
                <a:solidFill>
                  <a:schemeClr val="bg1"/>
                </a:solidFill>
              </a:rPr>
              <a:t>Protection</a:t>
            </a:r>
            <a:endParaRPr lang="en-US" sz="1400" b="1">
              <a:solidFill>
                <a:schemeClr val="bg1"/>
              </a:solidFill>
            </a:endParaRPr>
          </a:p>
        </p:txBody>
      </p:sp>
      <p:sp>
        <p:nvSpPr>
          <p:cNvPr id="46" name="Rectangle: Rounded Corners 45">
            <a:extLst>
              <a:ext uri="{FF2B5EF4-FFF2-40B4-BE49-F238E27FC236}">
                <a16:creationId xmlns:a16="http://schemas.microsoft.com/office/drawing/2014/main" id="{F1C8C184-3967-4AF5-A57D-2C65752E2C5C}"/>
              </a:ext>
            </a:extLst>
          </p:cNvPr>
          <p:cNvSpPr/>
          <p:nvPr/>
        </p:nvSpPr>
        <p:spPr>
          <a:xfrm>
            <a:off x="10558368" y="2917394"/>
            <a:ext cx="915176" cy="817245"/>
          </a:xfrm>
          <a:prstGeom prst="roundRect">
            <a:avLst/>
          </a:prstGeom>
          <a:solidFill>
            <a:srgbClr val="002060"/>
          </a:solidFill>
        </p:spPr>
        <p:txBody>
          <a:bodyPr wrap="none" rtlCol="0" anchor="ctr">
            <a:spAutoFit/>
          </a:bodyPr>
          <a:lstStyle/>
          <a:p>
            <a:pPr algn="ctr"/>
            <a:r>
              <a:rPr lang="en-CA" sz="1400" b="1">
                <a:solidFill>
                  <a:schemeClr val="bg1"/>
                </a:solidFill>
              </a:rPr>
              <a:t>Release</a:t>
            </a:r>
          </a:p>
          <a:p>
            <a:pPr algn="ctr"/>
            <a:r>
              <a:rPr lang="en-CA" sz="1400" b="1">
                <a:solidFill>
                  <a:schemeClr val="bg1"/>
                </a:solidFill>
              </a:rPr>
              <a:t>Status</a:t>
            </a:r>
          </a:p>
          <a:p>
            <a:pPr algn="ctr"/>
            <a:r>
              <a:rPr lang="en-CA" sz="1400" b="1">
                <a:solidFill>
                  <a:schemeClr val="bg1"/>
                </a:solidFill>
              </a:rPr>
              <a:t>Meeting</a:t>
            </a:r>
            <a:endParaRPr lang="en-US" sz="1400" b="1">
              <a:solidFill>
                <a:schemeClr val="bg1"/>
              </a:solidFill>
            </a:endParaRPr>
          </a:p>
        </p:txBody>
      </p:sp>
      <p:sp>
        <p:nvSpPr>
          <p:cNvPr id="47" name="TextBox 46">
            <a:extLst>
              <a:ext uri="{FF2B5EF4-FFF2-40B4-BE49-F238E27FC236}">
                <a16:creationId xmlns:a16="http://schemas.microsoft.com/office/drawing/2014/main" id="{78C45574-4A44-4119-B301-45CE5088439A}"/>
              </a:ext>
            </a:extLst>
          </p:cNvPr>
          <p:cNvSpPr txBox="1"/>
          <p:nvPr/>
        </p:nvSpPr>
        <p:spPr>
          <a:xfrm>
            <a:off x="6132294" y="4718681"/>
            <a:ext cx="2428875" cy="1015663"/>
          </a:xfrm>
          <a:prstGeom prst="rect">
            <a:avLst/>
          </a:prstGeom>
          <a:noFill/>
        </p:spPr>
        <p:txBody>
          <a:bodyPr wrap="square" rtlCol="0">
            <a:spAutoFit/>
          </a:bodyPr>
          <a:lstStyle/>
          <a:p>
            <a:r>
              <a:rPr lang="en-CA" sz="6000">
                <a:solidFill>
                  <a:schemeClr val="accent4"/>
                </a:solidFill>
              </a:rPr>
              <a:t>. . .</a:t>
            </a:r>
            <a:endParaRPr lang="en-US" sz="6000">
              <a:solidFill>
                <a:schemeClr val="accent4"/>
              </a:solidFill>
            </a:endParaRPr>
          </a:p>
        </p:txBody>
      </p:sp>
      <p:sp>
        <p:nvSpPr>
          <p:cNvPr id="48" name="Rectangle: Rounded Corners 47">
            <a:extLst>
              <a:ext uri="{FF2B5EF4-FFF2-40B4-BE49-F238E27FC236}">
                <a16:creationId xmlns:a16="http://schemas.microsoft.com/office/drawing/2014/main" id="{D19A7E15-6CEB-400C-87A8-9F8939DC0701}"/>
              </a:ext>
            </a:extLst>
          </p:cNvPr>
          <p:cNvSpPr/>
          <p:nvPr/>
        </p:nvSpPr>
        <p:spPr>
          <a:xfrm>
            <a:off x="7821873" y="5049924"/>
            <a:ext cx="1929324" cy="340519"/>
          </a:xfrm>
          <a:prstGeom prst="roundRect">
            <a:avLst/>
          </a:prstGeom>
          <a:solidFill>
            <a:schemeClr val="accent4"/>
          </a:solidFill>
        </p:spPr>
        <p:txBody>
          <a:bodyPr wrap="none" rtlCol="0" anchor="ctr">
            <a:spAutoFit/>
          </a:bodyPr>
          <a:lstStyle/>
          <a:p>
            <a:pPr algn="ctr"/>
            <a:r>
              <a:rPr lang="en-CA" sz="1400" b="1">
                <a:solidFill>
                  <a:schemeClr val="bg1"/>
                </a:solidFill>
              </a:rPr>
              <a:t>‘Express’ Exceptions</a:t>
            </a:r>
            <a:endParaRPr lang="en-US" sz="1400" b="1">
              <a:solidFill>
                <a:schemeClr val="bg1"/>
              </a:solidFill>
            </a:endParaRPr>
          </a:p>
        </p:txBody>
      </p:sp>
      <p:pic>
        <p:nvPicPr>
          <p:cNvPr id="28" name="Graphic 27" descr="No sign">
            <a:extLst>
              <a:ext uri="{FF2B5EF4-FFF2-40B4-BE49-F238E27FC236}">
                <a16:creationId xmlns:a16="http://schemas.microsoft.com/office/drawing/2014/main" id="{D7F0DE56-BA25-4115-B3BE-18E28F10BE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69050" y="4586722"/>
            <a:ext cx="676752" cy="676752"/>
          </a:xfrm>
          <a:prstGeom prst="rect">
            <a:avLst/>
          </a:prstGeom>
        </p:spPr>
      </p:pic>
      <p:sp>
        <p:nvSpPr>
          <p:cNvPr id="49" name="TextBox 48">
            <a:extLst>
              <a:ext uri="{FF2B5EF4-FFF2-40B4-BE49-F238E27FC236}">
                <a16:creationId xmlns:a16="http://schemas.microsoft.com/office/drawing/2014/main" id="{152BFCB8-72BC-4C71-AC0A-50723364B5D6}"/>
              </a:ext>
            </a:extLst>
          </p:cNvPr>
          <p:cNvSpPr txBox="1"/>
          <p:nvPr/>
        </p:nvSpPr>
        <p:spPr>
          <a:xfrm>
            <a:off x="7850301" y="5439258"/>
            <a:ext cx="3565182" cy="646331"/>
          </a:xfrm>
          <a:prstGeom prst="rect">
            <a:avLst/>
          </a:prstGeom>
          <a:noFill/>
        </p:spPr>
        <p:txBody>
          <a:bodyPr wrap="square" rtlCol="0">
            <a:spAutoFit/>
          </a:bodyPr>
          <a:lstStyle/>
          <a:p>
            <a:pPr marL="171450" indent="-171450">
              <a:buFont typeface="Arial" panose="020B0604020202020204" pitchFamily="34" charset="0"/>
              <a:buChar char="•"/>
            </a:pPr>
            <a:r>
              <a:rPr lang="en-CA" sz="1200"/>
              <a:t>Process not yet ready to support urgent nature</a:t>
            </a:r>
          </a:p>
          <a:p>
            <a:pPr marL="171450" indent="-171450">
              <a:buFont typeface="Arial" panose="020B0604020202020204" pitchFamily="34" charset="0"/>
              <a:buChar char="•"/>
            </a:pPr>
            <a:r>
              <a:rPr lang="en-CA" sz="1200"/>
              <a:t>Project Team forum still the ideal place to obtain necessary approvals.</a:t>
            </a:r>
            <a:endParaRPr lang="en-US" sz="1200"/>
          </a:p>
        </p:txBody>
      </p:sp>
      <p:graphicFrame>
        <p:nvGraphicFramePr>
          <p:cNvPr id="50" name="Table 32">
            <a:extLst>
              <a:ext uri="{FF2B5EF4-FFF2-40B4-BE49-F238E27FC236}">
                <a16:creationId xmlns:a16="http://schemas.microsoft.com/office/drawing/2014/main" id="{8DA75903-FE53-45E1-9C7A-73CBB5D4BB72}"/>
              </a:ext>
            </a:extLst>
          </p:cNvPr>
          <p:cNvGraphicFramePr>
            <a:graphicFrameLocks noGrp="1"/>
          </p:cNvGraphicFramePr>
          <p:nvPr/>
        </p:nvGraphicFramePr>
        <p:xfrm>
          <a:off x="234896" y="790353"/>
          <a:ext cx="4832631" cy="1981200"/>
        </p:xfrm>
        <a:graphic>
          <a:graphicData uri="http://schemas.openxmlformats.org/drawingml/2006/table">
            <a:tbl>
              <a:tblPr firstRow="1" bandRow="1">
                <a:tableStyleId>{5940675A-B579-460E-94D1-54222C63F5DA}</a:tableStyleId>
              </a:tblPr>
              <a:tblGrid>
                <a:gridCol w="900711">
                  <a:extLst>
                    <a:ext uri="{9D8B030D-6E8A-4147-A177-3AD203B41FA5}">
                      <a16:colId xmlns:a16="http://schemas.microsoft.com/office/drawing/2014/main" val="329349106"/>
                    </a:ext>
                  </a:extLst>
                </a:gridCol>
                <a:gridCol w="3931920">
                  <a:extLst>
                    <a:ext uri="{9D8B030D-6E8A-4147-A177-3AD203B41FA5}">
                      <a16:colId xmlns:a16="http://schemas.microsoft.com/office/drawing/2014/main" val="3549696213"/>
                    </a:ext>
                  </a:extLst>
                </a:gridCol>
              </a:tblGrid>
              <a:tr h="182880">
                <a:tc gridSpan="2">
                  <a:txBody>
                    <a:bodyPr/>
                    <a:lstStyle/>
                    <a:p>
                      <a:r>
                        <a:rPr lang="en-CA" sz="1400" b="1">
                          <a:solidFill>
                            <a:schemeClr val="bg1"/>
                          </a:solidFill>
                        </a:rPr>
                        <a:t>Phase Gates</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US"/>
                    </a:p>
                  </a:txBody>
                  <a:tcPr/>
                </a:tc>
                <a:extLst>
                  <a:ext uri="{0D108BD9-81ED-4DB2-BD59-A6C34878D82A}">
                    <a16:rowId xmlns:a16="http://schemas.microsoft.com/office/drawing/2014/main" val="2253611128"/>
                  </a:ext>
                </a:extLst>
              </a:tr>
              <a:tr h="182880">
                <a:tc>
                  <a:txBody>
                    <a:bodyPr/>
                    <a:lstStyle/>
                    <a:p>
                      <a:pPr marL="109537" indent="0">
                        <a:buFont typeface="Arial" panose="020B0604020202020204" pitchFamily="34" charset="0"/>
                        <a:buNone/>
                      </a:pPr>
                      <a:r>
                        <a:rPr lang="en-CA" sz="1100" b="1"/>
                        <a:t>Owner:</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CA" sz="1000" b="0"/>
                        <a:t>PMO</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1314847"/>
                  </a:ext>
                </a:extLst>
              </a:tr>
              <a:tr h="182880">
                <a:tc>
                  <a:txBody>
                    <a:bodyPr/>
                    <a:lstStyle/>
                    <a:p>
                      <a:pPr marL="1111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100" b="1"/>
                        <a:t>Support:</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CA" sz="1000" b="0"/>
                        <a:t>QA, AD, RM</a:t>
                      </a:r>
                      <a:endParaRPr lang="en-US" sz="1000" b="0"/>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377784"/>
                  </a:ext>
                </a:extLst>
              </a:tr>
              <a:tr h="182880">
                <a:tc>
                  <a:txBody>
                    <a:bodyPr/>
                    <a:lstStyle/>
                    <a:p>
                      <a:pPr marL="111125" indent="0"/>
                      <a:r>
                        <a:rPr lang="en-CA" sz="1100" b="1"/>
                        <a:t>Change:</a:t>
                      </a:r>
                      <a:endParaRPr lang="en-US" sz="1100" b="1"/>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CA" sz="1000" b="0"/>
                        <a:t>At key Phase exits (Dev, SIT, UAT), PMs to facilitate a ‘Phase’ Gate within the project team to determine overall readiness to proceed onto next phase, and to provide an indicator of overall readiness toward implementation.</a:t>
                      </a:r>
                    </a:p>
                    <a:p>
                      <a:pPr marL="171450" indent="-171450">
                        <a:buFont typeface="Arial" panose="020B0604020202020204" pitchFamily="34" charset="0"/>
                        <a:buChar char="•"/>
                      </a:pPr>
                      <a:endParaRPr lang="en-CA" sz="1000" b="0"/>
                    </a:p>
                    <a:p>
                      <a:pPr marL="171450" indent="-171450">
                        <a:buFont typeface="Arial" panose="020B0604020202020204" pitchFamily="34" charset="0"/>
                        <a:buChar char="•"/>
                      </a:pPr>
                      <a:r>
                        <a:rPr lang="en-CA" sz="1000" b="0"/>
                        <a:t>Process &amp; Document yet to be defined. RM will support the establishment of the process with inputs from the key teams.</a:t>
                      </a:r>
                    </a:p>
                  </a:txBody>
                  <a:tcPr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436242"/>
                  </a:ext>
                </a:extLst>
              </a:tr>
            </a:tbl>
          </a:graphicData>
        </a:graphic>
      </p:graphicFrame>
      <p:sp>
        <p:nvSpPr>
          <p:cNvPr id="51" name="Rectangle: Rounded Corners 50">
            <a:extLst>
              <a:ext uri="{FF2B5EF4-FFF2-40B4-BE49-F238E27FC236}">
                <a16:creationId xmlns:a16="http://schemas.microsoft.com/office/drawing/2014/main" id="{21D95A3E-69F5-4F24-BD61-156680C20A84}"/>
              </a:ext>
            </a:extLst>
          </p:cNvPr>
          <p:cNvSpPr/>
          <p:nvPr/>
        </p:nvSpPr>
        <p:spPr>
          <a:xfrm rot="19870300">
            <a:off x="1441762" y="708582"/>
            <a:ext cx="729610" cy="340519"/>
          </a:xfrm>
          <a:prstGeom prst="roundRect">
            <a:avLst/>
          </a:prstGeom>
          <a:solidFill>
            <a:schemeClr val="accent2">
              <a:lumMod val="40000"/>
              <a:lumOff val="60000"/>
            </a:schemeClr>
          </a:solidFill>
        </p:spPr>
        <p:txBody>
          <a:bodyPr wrap="none" rtlCol="0" anchor="ctr">
            <a:spAutoFit/>
          </a:bodyPr>
          <a:lstStyle/>
          <a:p>
            <a:pPr algn="ctr"/>
            <a:r>
              <a:rPr lang="en-CA" sz="1400" b="1">
                <a:solidFill>
                  <a:srgbClr val="C00000"/>
                </a:solidFill>
              </a:rPr>
              <a:t>*New*</a:t>
            </a:r>
            <a:endParaRPr lang="en-US" sz="1400" b="1">
              <a:solidFill>
                <a:srgbClr val="C00000"/>
              </a:solidFill>
            </a:endParaRPr>
          </a:p>
        </p:txBody>
      </p:sp>
      <p:sp>
        <p:nvSpPr>
          <p:cNvPr id="52" name="Arrow: Striped Right 51">
            <a:extLst>
              <a:ext uri="{FF2B5EF4-FFF2-40B4-BE49-F238E27FC236}">
                <a16:creationId xmlns:a16="http://schemas.microsoft.com/office/drawing/2014/main" id="{9D1853A0-5298-456F-A545-A63D32361171}"/>
              </a:ext>
            </a:extLst>
          </p:cNvPr>
          <p:cNvSpPr/>
          <p:nvPr/>
        </p:nvSpPr>
        <p:spPr>
          <a:xfrm>
            <a:off x="5270978" y="1069848"/>
            <a:ext cx="1344167"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square" rtlCol="0" anchor="ctr">
            <a:spAutoFit/>
          </a:bodyPr>
          <a:lstStyle/>
          <a:p>
            <a:pPr algn="ctr"/>
            <a:endParaRPr lang="en-US" sz="1100"/>
          </a:p>
        </p:txBody>
      </p:sp>
      <p:sp>
        <p:nvSpPr>
          <p:cNvPr id="56" name="Arrow: Curved Right 55">
            <a:extLst>
              <a:ext uri="{FF2B5EF4-FFF2-40B4-BE49-F238E27FC236}">
                <a16:creationId xmlns:a16="http://schemas.microsoft.com/office/drawing/2014/main" id="{23DCDA51-4563-4F9D-96F0-EEE02BE24C16}"/>
              </a:ext>
            </a:extLst>
          </p:cNvPr>
          <p:cNvSpPr/>
          <p:nvPr/>
        </p:nvSpPr>
        <p:spPr>
          <a:xfrm rot="13081124">
            <a:off x="10422530" y="3872482"/>
            <a:ext cx="691510" cy="1635248"/>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
        <p:nvSpPr>
          <p:cNvPr id="57" name="Arrow: Curved Right 56">
            <a:extLst>
              <a:ext uri="{FF2B5EF4-FFF2-40B4-BE49-F238E27FC236}">
                <a16:creationId xmlns:a16="http://schemas.microsoft.com/office/drawing/2014/main" id="{5E686FC6-14BF-4ECB-89FA-A8CDDA203DEE}"/>
              </a:ext>
            </a:extLst>
          </p:cNvPr>
          <p:cNvSpPr/>
          <p:nvPr/>
        </p:nvSpPr>
        <p:spPr>
          <a:xfrm rot="18321749">
            <a:off x="9361656" y="2346760"/>
            <a:ext cx="691510" cy="1635248"/>
          </a:xfrm>
          <a:prstGeom prst="curv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5400000" scaled="1"/>
            <a:tileRect/>
          </a:gradFill>
        </p:spPr>
        <p:txBody>
          <a:bodyPr wrap="square" rtlCol="0" anchor="ctr">
            <a:spAutoFit/>
          </a:bodyPr>
          <a:lstStyle/>
          <a:p>
            <a:pPr algn="ctr"/>
            <a:endParaRPr lang="en-US" sz="1100"/>
          </a:p>
        </p:txBody>
      </p:sp>
      <p:sp>
        <p:nvSpPr>
          <p:cNvPr id="58" name="Arrow: Striped Right 57">
            <a:extLst>
              <a:ext uri="{FF2B5EF4-FFF2-40B4-BE49-F238E27FC236}">
                <a16:creationId xmlns:a16="http://schemas.microsoft.com/office/drawing/2014/main" id="{BE3D6AF2-DFED-4BC8-BD9D-12914FF4CA02}"/>
              </a:ext>
            </a:extLst>
          </p:cNvPr>
          <p:cNvSpPr/>
          <p:nvPr/>
        </p:nvSpPr>
        <p:spPr>
          <a:xfrm rot="20951289">
            <a:off x="5840402" y="4016463"/>
            <a:ext cx="4749685" cy="365188"/>
          </a:xfrm>
          <a:prstGeom prst="stripedRightArrow">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0" scaled="1"/>
            <a:tileRect/>
          </a:gradFill>
        </p:spPr>
        <p:txBody>
          <a:bodyPr wrap="square" rtlCol="0" anchor="ctr">
            <a:spAutoFit/>
          </a:bodyPr>
          <a:lstStyle/>
          <a:p>
            <a:pPr algn="ctr"/>
            <a:endParaRPr lang="en-US" sz="1100"/>
          </a:p>
        </p:txBody>
      </p:sp>
      <p:sp>
        <p:nvSpPr>
          <p:cNvPr id="59" name="TextBox 58">
            <a:extLst>
              <a:ext uri="{FF2B5EF4-FFF2-40B4-BE49-F238E27FC236}">
                <a16:creationId xmlns:a16="http://schemas.microsoft.com/office/drawing/2014/main" id="{DA8B03CB-2867-4C05-9849-5624873E136E}"/>
              </a:ext>
            </a:extLst>
          </p:cNvPr>
          <p:cNvSpPr txBox="1"/>
          <p:nvPr/>
        </p:nvSpPr>
        <p:spPr>
          <a:xfrm rot="20962961">
            <a:off x="5821292" y="3858345"/>
            <a:ext cx="4162092" cy="276999"/>
          </a:xfrm>
          <a:prstGeom prst="rect">
            <a:avLst/>
          </a:prstGeom>
          <a:noFill/>
        </p:spPr>
        <p:txBody>
          <a:bodyPr wrap="square" rtlCol="0">
            <a:spAutoFit/>
          </a:bodyPr>
          <a:lstStyle/>
          <a:p>
            <a:r>
              <a:rPr lang="en-CA" sz="1200" b="1" i="1"/>
              <a:t>As needed, issues can be tabled at weekly forum.</a:t>
            </a:r>
            <a:endParaRPr lang="en-US" sz="1200" b="1" i="1"/>
          </a:p>
        </p:txBody>
      </p:sp>
      <p:sp>
        <p:nvSpPr>
          <p:cNvPr id="60" name="TextBox 59">
            <a:extLst>
              <a:ext uri="{FF2B5EF4-FFF2-40B4-BE49-F238E27FC236}">
                <a16:creationId xmlns:a16="http://schemas.microsoft.com/office/drawing/2014/main" id="{CAED8F65-4F24-42E9-B496-26262D543F8C}"/>
              </a:ext>
            </a:extLst>
          </p:cNvPr>
          <p:cNvSpPr txBox="1"/>
          <p:nvPr/>
        </p:nvSpPr>
        <p:spPr>
          <a:xfrm>
            <a:off x="444658" y="2928475"/>
            <a:ext cx="4860994" cy="1200329"/>
          </a:xfrm>
          <a:prstGeom prst="rect">
            <a:avLst/>
          </a:prstGeom>
          <a:noFill/>
        </p:spPr>
        <p:txBody>
          <a:bodyPr wrap="square" rtlCol="0">
            <a:spAutoFit/>
          </a:bodyPr>
          <a:lstStyle/>
          <a:p>
            <a:r>
              <a:rPr lang="en-CA" sz="1800" b="1" i="1"/>
              <a:t>By adding more formalized internal checkpoints, and increasing our holistic visibility of budding issues, we will be much more likely to be </a:t>
            </a:r>
            <a:r>
              <a:rPr lang="en-CA" sz="1800" b="1" i="1">
                <a:solidFill>
                  <a:srgbClr val="C00000"/>
                </a:solidFill>
              </a:rPr>
              <a:t>ready</a:t>
            </a:r>
            <a:r>
              <a:rPr lang="en-CA" sz="1800" b="1" i="1"/>
              <a:t> and </a:t>
            </a:r>
            <a:r>
              <a:rPr lang="en-CA" sz="1800" b="1" i="1">
                <a:solidFill>
                  <a:srgbClr val="C00000"/>
                </a:solidFill>
              </a:rPr>
              <a:t>on-time</a:t>
            </a:r>
            <a:r>
              <a:rPr lang="en-CA" sz="1800" b="1" i="1"/>
              <a:t>.</a:t>
            </a:r>
            <a:endParaRPr lang="en-US" sz="1800" b="1" i="1"/>
          </a:p>
        </p:txBody>
      </p:sp>
    </p:spTree>
    <p:extLst>
      <p:ext uri="{BB962C8B-B14F-4D97-AF65-F5344CB8AC3E}">
        <p14:creationId xmlns:p14="http://schemas.microsoft.com/office/powerpoint/2010/main" val="35837044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67A6BF0-FEDA-49C9-97B9-4F629C26AF47}"/>
              </a:ext>
            </a:extLst>
          </p:cNvPr>
          <p:cNvSpPr>
            <a:spLocks noGrp="1"/>
          </p:cNvSpPr>
          <p:nvPr>
            <p:ph type="sldNum" sz="quarter" idx="4294967295"/>
          </p:nvPr>
        </p:nvSpPr>
        <p:spPr>
          <a:xfrm>
            <a:off x="10698480" y="228600"/>
            <a:ext cx="891540" cy="841248"/>
          </a:xfrm>
          <a:prstGeom prst="rect">
            <a:avLst/>
          </a:prstGeom>
        </p:spPr>
        <p:txBody>
          <a:bodyPr/>
          <a:lstStyle/>
          <a:p>
            <a:fld id="{E633FACB-E57B-4CDC-9F3B-D7F03E444374}" type="slidenum">
              <a:rPr lang="en-CA" smtClean="0">
                <a:solidFill>
                  <a:srgbClr val="AAAAAA"/>
                </a:solidFill>
              </a:rPr>
              <a:pPr/>
              <a:t>52</a:t>
            </a:fld>
            <a:endParaRPr lang="en-CA">
              <a:solidFill>
                <a:srgbClr val="AAAAAA"/>
              </a:solidFill>
            </a:endParaRPr>
          </a:p>
        </p:txBody>
      </p:sp>
      <p:sp>
        <p:nvSpPr>
          <p:cNvPr id="51" name="Footer Placeholder 3">
            <a:extLst>
              <a:ext uri="{FF2B5EF4-FFF2-40B4-BE49-F238E27FC236}">
                <a16:creationId xmlns:a16="http://schemas.microsoft.com/office/drawing/2014/main" id="{C05521CF-3F14-4525-9BE3-6FDE519D611B}"/>
              </a:ext>
            </a:extLst>
          </p:cNvPr>
          <p:cNvSpPr txBox="1">
            <a:spLocks/>
          </p:cNvSpPr>
          <p:nvPr/>
        </p:nvSpPr>
        <p:spPr>
          <a:xfrm>
            <a:off x="10554475" y="8408909"/>
            <a:ext cx="1838146" cy="173593"/>
          </a:xfrm>
          <a:prstGeom prst="rect">
            <a:avLst/>
          </a:prstGeom>
        </p:spPr>
        <p:txBody>
          <a:bodyPr vert="horz" lIns="91440" tIns="45720" rIns="91440" bIns="45720" rtlCol="0" anchor="ctr"/>
          <a:lstStyle>
            <a:defPPr>
              <a:defRPr lang="en-US"/>
            </a:defPPr>
            <a:lvl1pPr algn="ctr" rtl="0" eaLnBrk="0" fontAlgn="base" hangingPunct="0">
              <a:spcBef>
                <a:spcPct val="0"/>
              </a:spcBef>
              <a:spcAft>
                <a:spcPct val="0"/>
              </a:spcAft>
              <a:defRPr sz="1215" kern="1200">
                <a:solidFill>
                  <a:schemeClr val="tx1">
                    <a:tint val="75000"/>
                  </a:schemeClr>
                </a:solidFill>
                <a:latin typeface="Trebuchet MS" pitchFamily="34" charset="0"/>
                <a:ea typeface="+mn-ea"/>
                <a:cs typeface="+mn-cs"/>
              </a:defRPr>
            </a:lvl1pPr>
            <a:lvl2pPr marL="435931" algn="l" rtl="0" eaLnBrk="0" fontAlgn="base" hangingPunct="0">
              <a:spcBef>
                <a:spcPct val="0"/>
              </a:spcBef>
              <a:spcAft>
                <a:spcPct val="0"/>
              </a:spcAft>
              <a:defRPr sz="1200" kern="1200">
                <a:solidFill>
                  <a:schemeClr val="tx1"/>
                </a:solidFill>
                <a:latin typeface="Trebuchet MS" pitchFamily="34" charset="0"/>
                <a:ea typeface="+mn-ea"/>
                <a:cs typeface="+mn-cs"/>
              </a:defRPr>
            </a:lvl2pPr>
            <a:lvl3pPr marL="871865" algn="l" rtl="0" eaLnBrk="0" fontAlgn="base" hangingPunct="0">
              <a:spcBef>
                <a:spcPct val="0"/>
              </a:spcBef>
              <a:spcAft>
                <a:spcPct val="0"/>
              </a:spcAft>
              <a:defRPr sz="1200" kern="1200">
                <a:solidFill>
                  <a:schemeClr val="tx1"/>
                </a:solidFill>
                <a:latin typeface="Trebuchet MS" pitchFamily="34" charset="0"/>
                <a:ea typeface="+mn-ea"/>
                <a:cs typeface="+mn-cs"/>
              </a:defRPr>
            </a:lvl3pPr>
            <a:lvl4pPr marL="1307796" algn="l" rtl="0" eaLnBrk="0" fontAlgn="base" hangingPunct="0">
              <a:spcBef>
                <a:spcPct val="0"/>
              </a:spcBef>
              <a:spcAft>
                <a:spcPct val="0"/>
              </a:spcAft>
              <a:defRPr sz="1200" kern="1200">
                <a:solidFill>
                  <a:schemeClr val="tx1"/>
                </a:solidFill>
                <a:latin typeface="Trebuchet MS" pitchFamily="34" charset="0"/>
                <a:ea typeface="+mn-ea"/>
                <a:cs typeface="+mn-cs"/>
              </a:defRPr>
            </a:lvl4pPr>
            <a:lvl5pPr marL="1743728" algn="l" rtl="0" eaLnBrk="0" fontAlgn="base" hangingPunct="0">
              <a:spcBef>
                <a:spcPct val="0"/>
              </a:spcBef>
              <a:spcAft>
                <a:spcPct val="0"/>
              </a:spcAft>
              <a:defRPr sz="1200" kern="1200">
                <a:solidFill>
                  <a:schemeClr val="tx1"/>
                </a:solidFill>
                <a:latin typeface="Trebuchet MS" pitchFamily="34" charset="0"/>
                <a:ea typeface="+mn-ea"/>
                <a:cs typeface="+mn-cs"/>
              </a:defRPr>
            </a:lvl5pPr>
            <a:lvl6pPr marL="2179661" algn="l" defTabSz="871865" rtl="0" eaLnBrk="1" latinLnBrk="0" hangingPunct="1">
              <a:defRPr sz="1200" kern="1200">
                <a:solidFill>
                  <a:schemeClr val="tx1"/>
                </a:solidFill>
                <a:latin typeface="Trebuchet MS" pitchFamily="34" charset="0"/>
                <a:ea typeface="+mn-ea"/>
                <a:cs typeface="+mn-cs"/>
              </a:defRPr>
            </a:lvl6pPr>
            <a:lvl7pPr marL="2615591" algn="l" defTabSz="871865" rtl="0" eaLnBrk="1" latinLnBrk="0" hangingPunct="1">
              <a:defRPr sz="1200" kern="1200">
                <a:solidFill>
                  <a:schemeClr val="tx1"/>
                </a:solidFill>
                <a:latin typeface="Trebuchet MS" pitchFamily="34" charset="0"/>
                <a:ea typeface="+mn-ea"/>
                <a:cs typeface="+mn-cs"/>
              </a:defRPr>
            </a:lvl7pPr>
            <a:lvl8pPr marL="3051526" algn="l" defTabSz="871865" rtl="0" eaLnBrk="1" latinLnBrk="0" hangingPunct="1">
              <a:defRPr sz="1200" kern="1200">
                <a:solidFill>
                  <a:schemeClr val="tx1"/>
                </a:solidFill>
                <a:latin typeface="Trebuchet MS" pitchFamily="34" charset="0"/>
                <a:ea typeface="+mn-ea"/>
                <a:cs typeface="+mn-cs"/>
              </a:defRPr>
            </a:lvl8pPr>
            <a:lvl9pPr marL="3487459" algn="l" defTabSz="871865" rtl="0" eaLnBrk="1" latinLnBrk="0" hangingPunct="1">
              <a:defRPr sz="1200" kern="1200">
                <a:solidFill>
                  <a:schemeClr val="tx1"/>
                </a:solidFill>
                <a:latin typeface="Trebuchet MS" pitchFamily="34" charset="0"/>
                <a:ea typeface="+mn-ea"/>
                <a:cs typeface="+mn-cs"/>
              </a:defRPr>
            </a:lvl9pPr>
          </a:lstStyle>
          <a:p>
            <a:pPr algn="l" defTabSz="925830">
              <a:spcBef>
                <a:spcPct val="50000"/>
              </a:spcBef>
              <a:defRPr/>
            </a:pPr>
            <a:r>
              <a:rPr lang="en-US" altLang="en-US" sz="1013" b="1">
                <a:solidFill>
                  <a:srgbClr val="AAAAAA"/>
                </a:solidFill>
                <a:latin typeface="Tahoma" panose="020B0604030504040204" pitchFamily="34" charset="0"/>
                <a:ea typeface="Tahoma" panose="020B0604030504040204" pitchFamily="34" charset="0"/>
                <a:cs typeface="Tahoma" panose="020B0604030504040204" pitchFamily="34" charset="0"/>
              </a:rPr>
              <a:t> - CIBC CONFIDENTIAL</a:t>
            </a:r>
          </a:p>
        </p:txBody>
      </p:sp>
      <p:grpSp>
        <p:nvGrpSpPr>
          <p:cNvPr id="52" name="Group 51">
            <a:extLst>
              <a:ext uri="{FF2B5EF4-FFF2-40B4-BE49-F238E27FC236}">
                <a16:creationId xmlns:a16="http://schemas.microsoft.com/office/drawing/2014/main" id="{C4AF8E32-32A7-49D7-86D1-F7CF98577A0F}"/>
              </a:ext>
            </a:extLst>
          </p:cNvPr>
          <p:cNvGrpSpPr/>
          <p:nvPr/>
        </p:nvGrpSpPr>
        <p:grpSpPr>
          <a:xfrm>
            <a:off x="221170" y="824532"/>
            <a:ext cx="2554859" cy="2491424"/>
            <a:chOff x="419679" y="1341851"/>
            <a:chExt cx="2564119" cy="2500454"/>
          </a:xfrm>
        </p:grpSpPr>
        <p:grpSp>
          <p:nvGrpSpPr>
            <p:cNvPr id="53" name="Group 52">
              <a:extLst>
                <a:ext uri="{FF2B5EF4-FFF2-40B4-BE49-F238E27FC236}">
                  <a16:creationId xmlns:a16="http://schemas.microsoft.com/office/drawing/2014/main" id="{7AE3EB68-4997-4E23-AD4B-CDF370D45DB1}"/>
                </a:ext>
              </a:extLst>
            </p:cNvPr>
            <p:cNvGrpSpPr/>
            <p:nvPr/>
          </p:nvGrpSpPr>
          <p:grpSpPr>
            <a:xfrm>
              <a:off x="467159" y="1476032"/>
              <a:ext cx="2516639" cy="2366273"/>
              <a:chOff x="1144989" y="1179871"/>
              <a:chExt cx="2516639" cy="2366273"/>
            </a:xfrm>
          </p:grpSpPr>
          <p:sp>
            <p:nvSpPr>
              <p:cNvPr id="57" name="Oval 56">
                <a:extLst>
                  <a:ext uri="{FF2B5EF4-FFF2-40B4-BE49-F238E27FC236}">
                    <a16:creationId xmlns:a16="http://schemas.microsoft.com/office/drawing/2014/main" id="{D47AC8B9-F4B0-4A7A-B0FA-043DADD2E192}"/>
                  </a:ext>
                </a:extLst>
              </p:cNvPr>
              <p:cNvSpPr/>
              <p:nvPr/>
            </p:nvSpPr>
            <p:spPr>
              <a:xfrm>
                <a:off x="1144989" y="1179871"/>
                <a:ext cx="2516639" cy="2366273"/>
              </a:xfrm>
              <a:prstGeom prst="ellipse">
                <a:avLst/>
              </a:prstGeom>
              <a:noFill/>
              <a:ln w="15875" cap="flat" cmpd="dbl" algn="ctr">
                <a:solidFill>
                  <a:srgbClr val="C00000"/>
                </a:solidFill>
                <a:prstDash val="lgDash"/>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8" name="TextBox 57">
                <a:extLst>
                  <a:ext uri="{FF2B5EF4-FFF2-40B4-BE49-F238E27FC236}">
                    <a16:creationId xmlns:a16="http://schemas.microsoft.com/office/drawing/2014/main" id="{C9D3835C-7112-438B-BF12-F0C4CE51D9A1}"/>
                  </a:ext>
                </a:extLst>
              </p:cNvPr>
              <p:cNvSpPr txBox="1"/>
              <p:nvPr/>
            </p:nvSpPr>
            <p:spPr>
              <a:xfrm>
                <a:off x="1469034" y="1989084"/>
                <a:ext cx="2090757" cy="1019344"/>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PBPT-3473:  DM CMHC</a:t>
                </a:r>
              </a:p>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srgbClr val="FF0000"/>
                    </a:solidFill>
                    <a:effectLst/>
                    <a:uLnTx/>
                    <a:uFillTx/>
                    <a:latin typeface="Calibri" panose="020F0502020204030204"/>
                  </a:rPr>
                  <a:t>+ CR04, CR05</a:t>
                </a:r>
              </a:p>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PBPT-3509:  CRI Remediation</a:t>
                </a:r>
              </a:p>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PBPT-3587:  DM OR</a:t>
                </a:r>
              </a:p>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srgbClr val="FF0000"/>
                    </a:solidFill>
                    <a:effectLst/>
                    <a:uLnTx/>
                    <a:uFillTx/>
                    <a:latin typeface="Calibri" panose="020F0502020204030204"/>
                  </a:rPr>
                  <a:t> + PBPT 3735: DM OR</a:t>
                </a:r>
                <a:endParaRPr kumimoji="0" lang="en-US" sz="1200" b="0" i="0" u="none" strike="noStrike" kern="0" cap="none" spc="0" normalizeH="0" baseline="0" noProof="0">
                  <a:ln>
                    <a:noFill/>
                  </a:ln>
                  <a:solidFill>
                    <a:srgbClr val="FF0000"/>
                  </a:solidFill>
                  <a:effectLst/>
                  <a:uLnTx/>
                  <a:uFillTx/>
                  <a:latin typeface="Calibri" panose="020F0502020204030204"/>
                </a:endParaRPr>
              </a:p>
            </p:txBody>
          </p:sp>
        </p:grpSp>
        <p:sp>
          <p:nvSpPr>
            <p:cNvPr id="55" name="TextBox 54">
              <a:extLst>
                <a:ext uri="{FF2B5EF4-FFF2-40B4-BE49-F238E27FC236}">
                  <a16:creationId xmlns:a16="http://schemas.microsoft.com/office/drawing/2014/main" id="{846E5CE5-885A-49BA-B65B-BEA88A4CC723}"/>
                </a:ext>
              </a:extLst>
            </p:cNvPr>
            <p:cNvSpPr txBox="1"/>
            <p:nvPr/>
          </p:nvSpPr>
          <p:spPr>
            <a:xfrm>
              <a:off x="1433929" y="2084087"/>
              <a:ext cx="512858" cy="276999"/>
            </a:xfrm>
            <a:prstGeom prst="rect">
              <a:avLst/>
            </a:prstGeom>
            <a:noFill/>
          </p:spPr>
          <p:txBody>
            <a:bodyPr wrap="square" rtlCol="0">
              <a:spAutoFit/>
            </a:bodyPr>
            <a:lstStyle>
              <a:defPPr>
                <a:defRPr lang="en-US"/>
              </a:defPPr>
              <a:lvl1pPr>
                <a:defRPr>
                  <a:latin typeface="+mn-lt"/>
                </a:defRPr>
              </a:lvl1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DM</a:t>
              </a:r>
              <a:endParaRPr kumimoji="0" lang="en-US" sz="1200" b="0" i="0" u="none" strike="noStrike" kern="0" cap="none" spc="0" normalizeH="0" baseline="0" noProof="0">
                <a:ln>
                  <a:noFill/>
                </a:ln>
                <a:solidFill>
                  <a:prstClr val="black"/>
                </a:solidFill>
                <a:effectLst/>
                <a:uLnTx/>
                <a:uFillTx/>
                <a:latin typeface="Calibri" panose="020F0502020204030204"/>
              </a:endParaRPr>
            </a:p>
          </p:txBody>
        </p:sp>
        <p:sp>
          <p:nvSpPr>
            <p:cNvPr id="56" name="TextBox 55">
              <a:extLst>
                <a:ext uri="{FF2B5EF4-FFF2-40B4-BE49-F238E27FC236}">
                  <a16:creationId xmlns:a16="http://schemas.microsoft.com/office/drawing/2014/main" id="{B11ED66D-C7DE-4780-9F71-78C786B1F834}"/>
                </a:ext>
              </a:extLst>
            </p:cNvPr>
            <p:cNvSpPr txBox="1"/>
            <p:nvPr/>
          </p:nvSpPr>
          <p:spPr>
            <a:xfrm>
              <a:off x="419679" y="1341851"/>
              <a:ext cx="565177" cy="46333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b="0" i="0" u="none" strike="noStrike" kern="0" cap="none" spc="0" normalizeH="0" baseline="0" noProof="0">
                  <a:ln>
                    <a:noFill/>
                  </a:ln>
                  <a:solidFill>
                    <a:srgbClr val="5B9BD5">
                      <a:lumMod val="50000"/>
                    </a:srgbClr>
                  </a:solidFill>
                  <a:effectLst/>
                  <a:uLnTx/>
                  <a:uFillTx/>
                  <a:latin typeface="Calibri" panose="020F0502020204030204"/>
                </a:rPr>
                <a:t>A</a:t>
              </a:r>
              <a:endParaRPr kumimoji="0" lang="en-US" b="0" i="0" u="none" strike="noStrike" kern="0" cap="none" spc="0" normalizeH="0" baseline="0" noProof="0">
                <a:ln>
                  <a:noFill/>
                </a:ln>
                <a:solidFill>
                  <a:srgbClr val="5B9BD5">
                    <a:lumMod val="50000"/>
                  </a:srgbClr>
                </a:solidFill>
                <a:effectLst/>
                <a:uLnTx/>
                <a:uFillTx/>
                <a:latin typeface="Calibri" panose="020F0502020204030204"/>
              </a:endParaRPr>
            </a:p>
          </p:txBody>
        </p:sp>
      </p:grpSp>
      <p:grpSp>
        <p:nvGrpSpPr>
          <p:cNvPr id="59" name="Group 58">
            <a:extLst>
              <a:ext uri="{FF2B5EF4-FFF2-40B4-BE49-F238E27FC236}">
                <a16:creationId xmlns:a16="http://schemas.microsoft.com/office/drawing/2014/main" id="{8809F8B7-7DBF-46D8-B9E4-75180A968798}"/>
              </a:ext>
            </a:extLst>
          </p:cNvPr>
          <p:cNvGrpSpPr/>
          <p:nvPr/>
        </p:nvGrpSpPr>
        <p:grpSpPr>
          <a:xfrm>
            <a:off x="4921853" y="723403"/>
            <a:ext cx="6776411" cy="4266039"/>
            <a:chOff x="5451493" y="2085248"/>
            <a:chExt cx="6465545" cy="4321346"/>
          </a:xfrm>
        </p:grpSpPr>
        <p:grpSp>
          <p:nvGrpSpPr>
            <p:cNvPr id="60" name="Group 59">
              <a:extLst>
                <a:ext uri="{FF2B5EF4-FFF2-40B4-BE49-F238E27FC236}">
                  <a16:creationId xmlns:a16="http://schemas.microsoft.com/office/drawing/2014/main" id="{051C454E-B5AA-4E62-B126-CA159C645C0C}"/>
                </a:ext>
              </a:extLst>
            </p:cNvPr>
            <p:cNvGrpSpPr/>
            <p:nvPr/>
          </p:nvGrpSpPr>
          <p:grpSpPr>
            <a:xfrm>
              <a:off x="5451493" y="2085248"/>
              <a:ext cx="6465545" cy="4321346"/>
              <a:chOff x="4596216" y="1385471"/>
              <a:chExt cx="6465545" cy="4321346"/>
            </a:xfrm>
          </p:grpSpPr>
          <p:sp>
            <p:nvSpPr>
              <p:cNvPr id="65" name="Oval 64">
                <a:extLst>
                  <a:ext uri="{FF2B5EF4-FFF2-40B4-BE49-F238E27FC236}">
                    <a16:creationId xmlns:a16="http://schemas.microsoft.com/office/drawing/2014/main" id="{01EE9BEB-5BE2-48B7-9DBC-D66890D27BBF}"/>
                  </a:ext>
                </a:extLst>
              </p:cNvPr>
              <p:cNvSpPr/>
              <p:nvPr/>
            </p:nvSpPr>
            <p:spPr>
              <a:xfrm>
                <a:off x="7679445" y="1454792"/>
                <a:ext cx="3382316" cy="3412740"/>
              </a:xfrm>
              <a:prstGeom prst="ellipse">
                <a:avLst/>
              </a:prstGeom>
              <a:noFill/>
              <a:ln w="15875" cap="flat" cmpd="sng" algn="ctr">
                <a:solidFill>
                  <a:srgbClr val="00B050"/>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A5FC9919-BD04-4E78-8BAD-B9A73C190014}"/>
                  </a:ext>
                </a:extLst>
              </p:cNvPr>
              <p:cNvSpPr/>
              <p:nvPr/>
            </p:nvSpPr>
            <p:spPr>
              <a:xfrm>
                <a:off x="4596216" y="1385471"/>
                <a:ext cx="4321346" cy="4321346"/>
              </a:xfrm>
              <a:prstGeom prst="ellipse">
                <a:avLst/>
              </a:prstGeom>
              <a:noFill/>
              <a:ln w="15875" cap="flat" cmpd="dbl" algn="ctr">
                <a:solidFill>
                  <a:srgbClr val="0000FF"/>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7" name="TextBox 66">
                <a:extLst>
                  <a:ext uri="{FF2B5EF4-FFF2-40B4-BE49-F238E27FC236}">
                    <a16:creationId xmlns:a16="http://schemas.microsoft.com/office/drawing/2014/main" id="{D7AF2804-A541-4676-9E3D-DF99A456FE89}"/>
                  </a:ext>
                </a:extLst>
              </p:cNvPr>
              <p:cNvSpPr txBox="1"/>
              <p:nvPr/>
            </p:nvSpPr>
            <p:spPr>
              <a:xfrm>
                <a:off x="5737892" y="1848982"/>
                <a:ext cx="1707906" cy="584775"/>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CA" sz="1600" b="0" i="0" u="none" strike="noStrike" kern="0" cap="none" spc="0" normalizeH="0" baseline="0" noProof="0">
                    <a:ln>
                      <a:noFill/>
                    </a:ln>
                    <a:solidFill>
                      <a:prstClr val="black"/>
                    </a:solidFill>
                    <a:effectLst/>
                    <a:uLnTx/>
                    <a:uFillTx/>
                    <a:latin typeface="Calibri" panose="020F0502020204030204"/>
                  </a:rPr>
                  <a:t>PBPT-1181:  Aurora to LCMS</a:t>
                </a:r>
                <a:endParaRPr kumimoji="0" lang="en-US" sz="1600" b="0" i="0" u="none" strike="noStrike" kern="0" cap="none" spc="0" normalizeH="0" baseline="0" noProof="0">
                  <a:ln>
                    <a:noFill/>
                  </a:ln>
                  <a:solidFill>
                    <a:prstClr val="black"/>
                  </a:solidFill>
                  <a:effectLst/>
                  <a:uLnTx/>
                  <a:uFillTx/>
                  <a:latin typeface="Calibri" panose="020F0502020204030204"/>
                </a:endParaRPr>
              </a:p>
            </p:txBody>
          </p:sp>
          <p:grpSp>
            <p:nvGrpSpPr>
              <p:cNvPr id="68" name="Group 67">
                <a:extLst>
                  <a:ext uri="{FF2B5EF4-FFF2-40B4-BE49-F238E27FC236}">
                    <a16:creationId xmlns:a16="http://schemas.microsoft.com/office/drawing/2014/main" id="{A5F83B67-3819-43D3-A284-D16C45D3C270}"/>
                  </a:ext>
                </a:extLst>
              </p:cNvPr>
              <p:cNvGrpSpPr/>
              <p:nvPr/>
            </p:nvGrpSpPr>
            <p:grpSpPr>
              <a:xfrm>
                <a:off x="4892835" y="3641345"/>
                <a:ext cx="1511710" cy="1511710"/>
                <a:chOff x="4575225" y="3077609"/>
                <a:chExt cx="1511710" cy="1511710"/>
              </a:xfrm>
              <a:noFill/>
            </p:grpSpPr>
            <p:sp>
              <p:nvSpPr>
                <p:cNvPr id="74" name="Oval 73">
                  <a:extLst>
                    <a:ext uri="{FF2B5EF4-FFF2-40B4-BE49-F238E27FC236}">
                      <a16:creationId xmlns:a16="http://schemas.microsoft.com/office/drawing/2014/main" id="{EAFD5E62-0EDC-4D35-B83E-08B85F04E1F6}"/>
                    </a:ext>
                  </a:extLst>
                </p:cNvPr>
                <p:cNvSpPr/>
                <p:nvPr/>
              </p:nvSpPr>
              <p:spPr>
                <a:xfrm>
                  <a:off x="4575225" y="3077609"/>
                  <a:ext cx="1511710" cy="1511710"/>
                </a:xfrm>
                <a:prstGeom prst="ellipse">
                  <a:avLst/>
                </a:prstGeom>
                <a:noFill/>
                <a:ln w="15875" cap="flat" cmpd="dbl" algn="ctr">
                  <a:solidFill>
                    <a:sysClr val="window" lastClr="FFFFFF">
                      <a:lumMod val="50000"/>
                    </a:sys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5" name="TextBox 74">
                  <a:extLst>
                    <a:ext uri="{FF2B5EF4-FFF2-40B4-BE49-F238E27FC236}">
                      <a16:creationId xmlns:a16="http://schemas.microsoft.com/office/drawing/2014/main" id="{8B91BFEA-4E05-4876-8D16-E6664D644EBD}"/>
                    </a:ext>
                  </a:extLst>
                </p:cNvPr>
                <p:cNvSpPr txBox="1"/>
                <p:nvPr/>
              </p:nvSpPr>
              <p:spPr>
                <a:xfrm>
                  <a:off x="4756134" y="3602631"/>
                  <a:ext cx="1200814" cy="461665"/>
                </a:xfrm>
                <a:prstGeom prst="rect">
                  <a:avLst/>
                </a:prstGeom>
                <a:grp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PBPT-1174:  OSFI Prefunding</a:t>
                  </a:r>
                  <a:endParaRPr kumimoji="0" lang="en-US" sz="1200" b="0" i="0" u="none" strike="noStrike" kern="0" cap="none" spc="0" normalizeH="0" baseline="0" noProof="0">
                    <a:ln>
                      <a:noFill/>
                    </a:ln>
                    <a:solidFill>
                      <a:prstClr val="black"/>
                    </a:solidFill>
                    <a:effectLst/>
                    <a:uLnTx/>
                    <a:uFillTx/>
                    <a:latin typeface="Calibri" panose="020F0502020204030204"/>
                  </a:endParaRPr>
                </a:p>
              </p:txBody>
            </p:sp>
          </p:grpSp>
          <p:sp>
            <p:nvSpPr>
              <p:cNvPr id="69" name="TextBox 68">
                <a:extLst>
                  <a:ext uri="{FF2B5EF4-FFF2-40B4-BE49-F238E27FC236}">
                    <a16:creationId xmlns:a16="http://schemas.microsoft.com/office/drawing/2014/main" id="{30EC2454-B936-4A5A-953B-0A903493B9BB}"/>
                  </a:ext>
                </a:extLst>
              </p:cNvPr>
              <p:cNvSpPr txBox="1"/>
              <p:nvPr/>
            </p:nvSpPr>
            <p:spPr>
              <a:xfrm>
                <a:off x="9225322" y="3053485"/>
                <a:ext cx="1599996" cy="490135"/>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mMTG UI change to support PETENH-103</a:t>
                </a:r>
                <a:endParaRPr kumimoji="0" lang="en-US" sz="1200" b="0" i="0" u="none" strike="noStrike" kern="0" cap="none" spc="0" normalizeH="0" baseline="0" noProof="0">
                  <a:ln>
                    <a:noFill/>
                  </a:ln>
                  <a:solidFill>
                    <a:prstClr val="black"/>
                  </a:solidFill>
                  <a:effectLst/>
                  <a:uLnTx/>
                  <a:uFillTx/>
                  <a:latin typeface="Calibri" panose="020F0502020204030204"/>
                </a:endParaRPr>
              </a:p>
            </p:txBody>
          </p:sp>
          <p:sp>
            <p:nvSpPr>
              <p:cNvPr id="70" name="Rectangle 69">
                <a:extLst>
                  <a:ext uri="{FF2B5EF4-FFF2-40B4-BE49-F238E27FC236}">
                    <a16:creationId xmlns:a16="http://schemas.microsoft.com/office/drawing/2014/main" id="{38C06689-1AD0-43ED-858A-BD50C3474129}"/>
                  </a:ext>
                </a:extLst>
              </p:cNvPr>
              <p:cNvSpPr/>
              <p:nvPr/>
            </p:nvSpPr>
            <p:spPr>
              <a:xfrm>
                <a:off x="7783083" y="2961153"/>
                <a:ext cx="1229705" cy="646331"/>
              </a:xfrm>
              <a:prstGeom prst="rect">
                <a:avLst/>
              </a:prstGeom>
              <a:noFill/>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rPr>
                  <a:t>PETENH-103:  New cross sell deposit type</a:t>
                </a:r>
              </a:p>
            </p:txBody>
          </p:sp>
          <p:grpSp>
            <p:nvGrpSpPr>
              <p:cNvPr id="71" name="Group 70">
                <a:extLst>
                  <a:ext uri="{FF2B5EF4-FFF2-40B4-BE49-F238E27FC236}">
                    <a16:creationId xmlns:a16="http://schemas.microsoft.com/office/drawing/2014/main" id="{F01426B4-F0D6-4F4D-913D-88979116053F}"/>
                  </a:ext>
                </a:extLst>
              </p:cNvPr>
              <p:cNvGrpSpPr/>
              <p:nvPr/>
            </p:nvGrpSpPr>
            <p:grpSpPr>
              <a:xfrm>
                <a:off x="6522396" y="4066817"/>
                <a:ext cx="1511710" cy="1511710"/>
                <a:chOff x="6165762" y="3479390"/>
                <a:chExt cx="1511710" cy="1511710"/>
              </a:xfrm>
              <a:noFill/>
            </p:grpSpPr>
            <p:sp>
              <p:nvSpPr>
                <p:cNvPr id="72" name="Oval 71">
                  <a:extLst>
                    <a:ext uri="{FF2B5EF4-FFF2-40B4-BE49-F238E27FC236}">
                      <a16:creationId xmlns:a16="http://schemas.microsoft.com/office/drawing/2014/main" id="{31D207BD-D4BC-4769-ADB4-CBCD7EB8817A}"/>
                    </a:ext>
                  </a:extLst>
                </p:cNvPr>
                <p:cNvSpPr/>
                <p:nvPr/>
              </p:nvSpPr>
              <p:spPr>
                <a:xfrm>
                  <a:off x="6165762" y="3479390"/>
                  <a:ext cx="1511710" cy="1511710"/>
                </a:xfrm>
                <a:prstGeom prst="ellipse">
                  <a:avLst/>
                </a:prstGeom>
                <a:noFill/>
                <a:ln w="15875" cap="flat" cmpd="dbl" algn="ctr">
                  <a:solidFill>
                    <a:sysClr val="window" lastClr="FFFFFF">
                      <a:lumMod val="50000"/>
                    </a:sys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3" name="TextBox 72">
                  <a:extLst>
                    <a:ext uri="{FF2B5EF4-FFF2-40B4-BE49-F238E27FC236}">
                      <a16:creationId xmlns:a16="http://schemas.microsoft.com/office/drawing/2014/main" id="{37EF04DE-3B4E-42A5-B3ED-68662E95EB17}"/>
                    </a:ext>
                  </a:extLst>
                </p:cNvPr>
                <p:cNvSpPr txBox="1"/>
                <p:nvPr/>
              </p:nvSpPr>
              <p:spPr>
                <a:xfrm>
                  <a:off x="6446491" y="3833464"/>
                  <a:ext cx="1200814" cy="830997"/>
                </a:xfrm>
                <a:prstGeom prst="rect">
                  <a:avLst/>
                </a:prstGeom>
                <a:grp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PRB0027662:  LCMS </a:t>
                  </a:r>
                  <a:r>
                    <a:rPr kumimoji="0" lang="en-CA" sz="1200" b="0" i="0" u="none" strike="noStrike" kern="0" cap="none" spc="0" normalizeH="0" baseline="0" noProof="0" err="1">
                      <a:ln>
                        <a:noFill/>
                      </a:ln>
                      <a:solidFill>
                        <a:prstClr val="black"/>
                      </a:solidFill>
                      <a:effectLst/>
                      <a:uLnTx/>
                      <a:uFillTx/>
                      <a:latin typeface="Calibri" panose="020F0502020204030204"/>
                    </a:rPr>
                    <a:t>Prb</a:t>
                  </a:r>
                  <a:r>
                    <a:rPr kumimoji="0" lang="en-CA" sz="1200" b="0" i="0" u="none" strike="noStrike" kern="0" cap="none" spc="0" normalizeH="0" baseline="0" noProof="0">
                      <a:ln>
                        <a:noFill/>
                      </a:ln>
                      <a:solidFill>
                        <a:prstClr val="black"/>
                      </a:solidFill>
                      <a:effectLst/>
                      <a:uLnTx/>
                      <a:uFillTx/>
                      <a:latin typeface="Calibri" panose="020F0502020204030204"/>
                    </a:rPr>
                    <a:t> for mMTG notification</a:t>
                  </a:r>
                </a:p>
              </p:txBody>
            </p:sp>
          </p:grpSp>
        </p:grpSp>
        <p:sp>
          <p:nvSpPr>
            <p:cNvPr id="62" name="TextBox 61">
              <a:extLst>
                <a:ext uri="{FF2B5EF4-FFF2-40B4-BE49-F238E27FC236}">
                  <a16:creationId xmlns:a16="http://schemas.microsoft.com/office/drawing/2014/main" id="{C9660832-D180-45CB-8266-99E84760295E}"/>
                </a:ext>
              </a:extLst>
            </p:cNvPr>
            <p:cNvSpPr txBox="1"/>
            <p:nvPr/>
          </p:nvSpPr>
          <p:spPr>
            <a:xfrm>
              <a:off x="10446318" y="3441602"/>
              <a:ext cx="967140" cy="276999"/>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mMTG</a:t>
              </a:r>
              <a:endParaRPr kumimoji="0" lang="en-US" sz="1200" b="0" i="0" u="none" strike="noStrike" kern="0" cap="none" spc="0" normalizeH="0" baseline="0" noProof="0">
                <a:ln>
                  <a:noFill/>
                </a:ln>
                <a:solidFill>
                  <a:prstClr val="black"/>
                </a:solidFill>
                <a:effectLst/>
                <a:uLnTx/>
                <a:uFillTx/>
                <a:latin typeface="Calibri" panose="020F0502020204030204"/>
              </a:endParaRPr>
            </a:p>
          </p:txBody>
        </p:sp>
        <p:sp>
          <p:nvSpPr>
            <p:cNvPr id="63" name="TextBox 62">
              <a:extLst>
                <a:ext uri="{FF2B5EF4-FFF2-40B4-BE49-F238E27FC236}">
                  <a16:creationId xmlns:a16="http://schemas.microsoft.com/office/drawing/2014/main" id="{7FA79FFD-81A2-4E9B-A3C5-FD06BFBE2EE5}"/>
                </a:ext>
              </a:extLst>
            </p:cNvPr>
            <p:cNvSpPr txBox="1"/>
            <p:nvPr/>
          </p:nvSpPr>
          <p:spPr>
            <a:xfrm>
              <a:off x="5876187" y="3617998"/>
              <a:ext cx="2528922" cy="280590"/>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LCMS, Aurora, CAAP, Excalibur</a:t>
              </a:r>
              <a:endParaRPr kumimoji="0" lang="en-US" sz="1200" b="0" i="0" u="none" strike="noStrike" kern="0" cap="none" spc="0" normalizeH="0" baseline="0" noProof="0">
                <a:ln>
                  <a:noFill/>
                </a:ln>
                <a:solidFill>
                  <a:prstClr val="black"/>
                </a:solidFill>
                <a:effectLst/>
                <a:uLnTx/>
                <a:uFillTx/>
                <a:latin typeface="Calibri" panose="020F0502020204030204"/>
              </a:endParaRPr>
            </a:p>
          </p:txBody>
        </p:sp>
        <p:sp>
          <p:nvSpPr>
            <p:cNvPr id="64" name="TextBox 63">
              <a:extLst>
                <a:ext uri="{FF2B5EF4-FFF2-40B4-BE49-F238E27FC236}">
                  <a16:creationId xmlns:a16="http://schemas.microsoft.com/office/drawing/2014/main" id="{7A1E75AD-29A6-4090-B774-84B38DEE130F}"/>
                </a:ext>
              </a:extLst>
            </p:cNvPr>
            <p:cNvSpPr txBox="1"/>
            <p:nvPr/>
          </p:nvSpPr>
          <p:spPr>
            <a:xfrm>
              <a:off x="5577508" y="2210102"/>
              <a:ext cx="597358" cy="467650"/>
            </a:xfrm>
            <a:prstGeom prst="rect">
              <a:avLst/>
            </a:prstGeom>
            <a:noFill/>
          </p:spPr>
          <p:txBody>
            <a:bodyPr wrap="square" rtlCol="0">
              <a:spAutoFit/>
            </a:bodyPr>
            <a:lstStyle>
              <a:defPPr>
                <a:defRPr lang="en-US"/>
              </a:defPPr>
              <a:lvl1pPr>
                <a:defRPr sz="2400">
                  <a:solidFill>
                    <a:schemeClr val="accent5">
                      <a:lumMod val="50000"/>
                    </a:schemeClr>
                  </a:solidFill>
                  <a:latin typeface="+mn-lt"/>
                </a:defRPr>
              </a:lvl1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2400" b="0" i="0" u="none" strike="noStrike" kern="0" cap="none" spc="0" normalizeH="0" baseline="0" noProof="0">
                  <a:ln>
                    <a:noFill/>
                  </a:ln>
                  <a:solidFill>
                    <a:srgbClr val="5B9BD5">
                      <a:lumMod val="50000"/>
                    </a:srgbClr>
                  </a:solidFill>
                  <a:effectLst/>
                  <a:uLnTx/>
                  <a:uFillTx/>
                  <a:latin typeface="Calibri" panose="020F0502020204030204"/>
                </a:rPr>
                <a:t>B</a:t>
              </a:r>
              <a:endParaRPr kumimoji="0" lang="en-US" sz="2400" b="0" i="0" u="none" strike="noStrike" kern="0" cap="none" spc="0" normalizeH="0" baseline="0" noProof="0">
                <a:ln>
                  <a:noFill/>
                </a:ln>
                <a:solidFill>
                  <a:srgbClr val="5B9BD5">
                    <a:lumMod val="50000"/>
                  </a:srgbClr>
                </a:solidFill>
                <a:effectLst/>
                <a:uLnTx/>
                <a:uFillTx/>
                <a:latin typeface="Calibri" panose="020F0502020204030204"/>
              </a:endParaRPr>
            </a:p>
          </p:txBody>
        </p:sp>
      </p:grpSp>
      <p:grpSp>
        <p:nvGrpSpPr>
          <p:cNvPr id="83" name="Group 82">
            <a:extLst>
              <a:ext uri="{FF2B5EF4-FFF2-40B4-BE49-F238E27FC236}">
                <a16:creationId xmlns:a16="http://schemas.microsoft.com/office/drawing/2014/main" id="{F45E57C2-6860-44EC-AC12-C6F8986AC74C}"/>
              </a:ext>
            </a:extLst>
          </p:cNvPr>
          <p:cNvGrpSpPr/>
          <p:nvPr/>
        </p:nvGrpSpPr>
        <p:grpSpPr>
          <a:xfrm>
            <a:off x="316054" y="3876165"/>
            <a:ext cx="3314389" cy="873058"/>
            <a:chOff x="9445154" y="299284"/>
            <a:chExt cx="3290309" cy="866715"/>
          </a:xfrm>
        </p:grpSpPr>
        <p:grpSp>
          <p:nvGrpSpPr>
            <p:cNvPr id="84" name="Group 83">
              <a:extLst>
                <a:ext uri="{FF2B5EF4-FFF2-40B4-BE49-F238E27FC236}">
                  <a16:creationId xmlns:a16="http://schemas.microsoft.com/office/drawing/2014/main" id="{10EEB665-0F36-4686-A610-E73BD5E08447}"/>
                </a:ext>
              </a:extLst>
            </p:cNvPr>
            <p:cNvGrpSpPr/>
            <p:nvPr/>
          </p:nvGrpSpPr>
          <p:grpSpPr>
            <a:xfrm>
              <a:off x="9445154" y="299284"/>
              <a:ext cx="1270890" cy="345934"/>
              <a:chOff x="10065147" y="787458"/>
              <a:chExt cx="1270890" cy="345934"/>
            </a:xfrm>
          </p:grpSpPr>
          <p:sp>
            <p:nvSpPr>
              <p:cNvPr id="94" name="Oval 93">
                <a:extLst>
                  <a:ext uri="{FF2B5EF4-FFF2-40B4-BE49-F238E27FC236}">
                    <a16:creationId xmlns:a16="http://schemas.microsoft.com/office/drawing/2014/main" id="{070166EF-01B0-4B19-84FE-F95092FDB548}"/>
                  </a:ext>
                </a:extLst>
              </p:cNvPr>
              <p:cNvSpPr/>
              <p:nvPr/>
            </p:nvSpPr>
            <p:spPr>
              <a:xfrm>
                <a:off x="10065147" y="787458"/>
                <a:ext cx="345934" cy="345934"/>
              </a:xfrm>
              <a:prstGeom prst="ellipse">
                <a:avLst/>
              </a:prstGeom>
              <a:noFill/>
              <a:ln w="15875" cap="flat" cmpd="sng" algn="ctr">
                <a:solidFill>
                  <a:srgbClr val="00B05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5" name="TextBox 94">
                <a:extLst>
                  <a:ext uri="{FF2B5EF4-FFF2-40B4-BE49-F238E27FC236}">
                    <a16:creationId xmlns:a16="http://schemas.microsoft.com/office/drawing/2014/main" id="{28016F4F-58FC-48D5-B6EE-8AEDB3C11064}"/>
                  </a:ext>
                </a:extLst>
              </p:cNvPr>
              <p:cNvSpPr txBox="1"/>
              <p:nvPr/>
            </p:nvSpPr>
            <p:spPr>
              <a:xfrm>
                <a:off x="10446318" y="800854"/>
                <a:ext cx="889719" cy="276999"/>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No Risks</a:t>
                </a:r>
                <a:endParaRPr kumimoji="0" lang="en-US" sz="1200" b="0" i="0" u="none" strike="noStrike" kern="0" cap="none" spc="0" normalizeH="0" baseline="0" noProof="0">
                  <a:ln>
                    <a:noFill/>
                  </a:ln>
                  <a:solidFill>
                    <a:prstClr val="black"/>
                  </a:solidFill>
                  <a:effectLst/>
                  <a:uLnTx/>
                  <a:uFillTx/>
                  <a:latin typeface="Calibri" panose="020F0502020204030204"/>
                </a:endParaRPr>
              </a:p>
            </p:txBody>
          </p:sp>
        </p:grpSp>
        <p:grpSp>
          <p:nvGrpSpPr>
            <p:cNvPr id="85" name="Group 84">
              <a:extLst>
                <a:ext uri="{FF2B5EF4-FFF2-40B4-BE49-F238E27FC236}">
                  <a16:creationId xmlns:a16="http://schemas.microsoft.com/office/drawing/2014/main" id="{AEE9D513-6F76-4636-93B6-F7B500FDDDAB}"/>
                </a:ext>
              </a:extLst>
            </p:cNvPr>
            <p:cNvGrpSpPr/>
            <p:nvPr/>
          </p:nvGrpSpPr>
          <p:grpSpPr>
            <a:xfrm>
              <a:off x="10751281" y="325793"/>
              <a:ext cx="1984182" cy="345934"/>
              <a:chOff x="10065147" y="787458"/>
              <a:chExt cx="1984182" cy="345934"/>
            </a:xfrm>
          </p:grpSpPr>
          <p:sp>
            <p:nvSpPr>
              <p:cNvPr id="92" name="Oval 91">
                <a:extLst>
                  <a:ext uri="{FF2B5EF4-FFF2-40B4-BE49-F238E27FC236}">
                    <a16:creationId xmlns:a16="http://schemas.microsoft.com/office/drawing/2014/main" id="{F5530D2D-8A8E-42D0-8823-2443CAB2FC67}"/>
                  </a:ext>
                </a:extLst>
              </p:cNvPr>
              <p:cNvSpPr/>
              <p:nvPr/>
            </p:nvSpPr>
            <p:spPr>
              <a:xfrm>
                <a:off x="10065147" y="787458"/>
                <a:ext cx="345934" cy="345934"/>
              </a:xfrm>
              <a:prstGeom prst="ellipse">
                <a:avLst/>
              </a:prstGeom>
              <a:noFill/>
              <a:ln w="15875" cap="flat" cmpd="sng" algn="ctr">
                <a:solidFill>
                  <a:srgbClr val="0000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3" name="TextBox 92">
                <a:extLst>
                  <a:ext uri="{FF2B5EF4-FFF2-40B4-BE49-F238E27FC236}">
                    <a16:creationId xmlns:a16="http://schemas.microsoft.com/office/drawing/2014/main" id="{0B38F46F-D5B8-4B9D-AFF6-CC2164DA4DF8}"/>
                  </a:ext>
                </a:extLst>
              </p:cNvPr>
              <p:cNvSpPr txBox="1"/>
              <p:nvPr/>
            </p:nvSpPr>
            <p:spPr>
              <a:xfrm>
                <a:off x="10446318" y="800854"/>
                <a:ext cx="1603011" cy="276999"/>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Dormant/limited pilot</a:t>
                </a:r>
                <a:endParaRPr kumimoji="0" lang="en-US" sz="1200" b="0" i="0" u="none" strike="noStrike" kern="0" cap="none" spc="0" normalizeH="0" baseline="0" noProof="0">
                  <a:ln>
                    <a:noFill/>
                  </a:ln>
                  <a:solidFill>
                    <a:prstClr val="black"/>
                  </a:solidFill>
                  <a:effectLst/>
                  <a:uLnTx/>
                  <a:uFillTx/>
                  <a:latin typeface="Calibri" panose="020F0502020204030204"/>
                </a:endParaRPr>
              </a:p>
            </p:txBody>
          </p:sp>
        </p:grpSp>
        <p:grpSp>
          <p:nvGrpSpPr>
            <p:cNvPr id="86" name="Group 85">
              <a:extLst>
                <a:ext uri="{FF2B5EF4-FFF2-40B4-BE49-F238E27FC236}">
                  <a16:creationId xmlns:a16="http://schemas.microsoft.com/office/drawing/2014/main" id="{DE37268C-1336-4404-8C04-F8DCC2BC404A}"/>
                </a:ext>
              </a:extLst>
            </p:cNvPr>
            <p:cNvGrpSpPr/>
            <p:nvPr/>
          </p:nvGrpSpPr>
          <p:grpSpPr>
            <a:xfrm>
              <a:off x="9445154" y="810417"/>
              <a:ext cx="1270890" cy="345934"/>
              <a:chOff x="10065147" y="787458"/>
              <a:chExt cx="1270890" cy="345934"/>
            </a:xfrm>
          </p:grpSpPr>
          <p:sp>
            <p:nvSpPr>
              <p:cNvPr id="90" name="Oval 89">
                <a:extLst>
                  <a:ext uri="{FF2B5EF4-FFF2-40B4-BE49-F238E27FC236}">
                    <a16:creationId xmlns:a16="http://schemas.microsoft.com/office/drawing/2014/main" id="{7B9CE997-4180-4585-BC62-B8F0E961FB28}"/>
                  </a:ext>
                </a:extLst>
              </p:cNvPr>
              <p:cNvSpPr/>
              <p:nvPr/>
            </p:nvSpPr>
            <p:spPr>
              <a:xfrm>
                <a:off x="10065147" y="787458"/>
                <a:ext cx="345934" cy="345934"/>
              </a:xfrm>
              <a:prstGeom prst="ellipse">
                <a:avLst/>
              </a:prstGeom>
              <a:noFill/>
              <a:ln w="15875" cap="flat" cmpd="dbl" algn="ctr">
                <a:solidFill>
                  <a:srgbClr val="C00000"/>
                </a:solidFill>
                <a:prstDash val="lgDash"/>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1" name="TextBox 90">
                <a:extLst>
                  <a:ext uri="{FF2B5EF4-FFF2-40B4-BE49-F238E27FC236}">
                    <a16:creationId xmlns:a16="http://schemas.microsoft.com/office/drawing/2014/main" id="{D48B1C4F-8AC0-415E-AE70-C73556AE1861}"/>
                  </a:ext>
                </a:extLst>
              </p:cNvPr>
              <p:cNvSpPr txBox="1"/>
              <p:nvPr/>
            </p:nvSpPr>
            <p:spPr>
              <a:xfrm>
                <a:off x="10446318" y="800854"/>
                <a:ext cx="889719" cy="259709"/>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1100" b="0" i="0" u="none" strike="noStrike" kern="0" cap="none" spc="0" normalizeH="0" baseline="0" noProof="0">
                    <a:ln>
                      <a:noFill/>
                    </a:ln>
                    <a:solidFill>
                      <a:prstClr val="black"/>
                    </a:solidFill>
                    <a:effectLst/>
                    <a:uLnTx/>
                    <a:uFillTx/>
                    <a:latin typeface="Calibri" panose="020F0502020204030204"/>
                  </a:rPr>
                  <a:t>DM Package</a:t>
                </a:r>
                <a:endParaRPr kumimoji="0" lang="en-US" sz="1100" b="0" i="0" u="none" strike="noStrike" kern="0" cap="none" spc="0" normalizeH="0" baseline="0" noProof="0">
                  <a:ln>
                    <a:noFill/>
                  </a:ln>
                  <a:solidFill>
                    <a:prstClr val="black"/>
                  </a:solidFill>
                  <a:effectLst/>
                  <a:uLnTx/>
                  <a:uFillTx/>
                  <a:latin typeface="Calibri" panose="020F0502020204030204"/>
                </a:endParaRPr>
              </a:p>
            </p:txBody>
          </p:sp>
        </p:grpSp>
        <p:grpSp>
          <p:nvGrpSpPr>
            <p:cNvPr id="87" name="Group 86">
              <a:extLst>
                <a:ext uri="{FF2B5EF4-FFF2-40B4-BE49-F238E27FC236}">
                  <a16:creationId xmlns:a16="http://schemas.microsoft.com/office/drawing/2014/main" id="{BD6434FF-1B4A-42D9-844F-CCB540330235}"/>
                </a:ext>
              </a:extLst>
            </p:cNvPr>
            <p:cNvGrpSpPr/>
            <p:nvPr/>
          </p:nvGrpSpPr>
          <p:grpSpPr>
            <a:xfrm>
              <a:off x="10751281" y="820065"/>
              <a:ext cx="1779908" cy="345934"/>
              <a:chOff x="10065147" y="787458"/>
              <a:chExt cx="1779908" cy="345934"/>
            </a:xfrm>
          </p:grpSpPr>
          <p:sp>
            <p:nvSpPr>
              <p:cNvPr id="88" name="Oval 87">
                <a:extLst>
                  <a:ext uri="{FF2B5EF4-FFF2-40B4-BE49-F238E27FC236}">
                    <a16:creationId xmlns:a16="http://schemas.microsoft.com/office/drawing/2014/main" id="{7FCB5AC8-50D7-45C7-A24E-8A18A15E051C}"/>
                  </a:ext>
                </a:extLst>
              </p:cNvPr>
              <p:cNvSpPr/>
              <p:nvPr/>
            </p:nvSpPr>
            <p:spPr>
              <a:xfrm>
                <a:off x="10065147" y="787458"/>
                <a:ext cx="345934" cy="345934"/>
              </a:xfrm>
              <a:prstGeom prst="ellipse">
                <a:avLst/>
              </a:prstGeom>
              <a:noFill/>
              <a:ln w="15875" cap="flat" cmpd="sng" algn="ctr">
                <a:solidFill>
                  <a:sysClr val="window" lastClr="FFFFFF">
                    <a:lumMod val="50000"/>
                  </a:sys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9" name="TextBox 88">
                <a:extLst>
                  <a:ext uri="{FF2B5EF4-FFF2-40B4-BE49-F238E27FC236}">
                    <a16:creationId xmlns:a16="http://schemas.microsoft.com/office/drawing/2014/main" id="{B46430A9-53B7-4F5A-BC1D-49DB7DF5A3B0}"/>
                  </a:ext>
                </a:extLst>
              </p:cNvPr>
              <p:cNvSpPr txBox="1"/>
              <p:nvPr/>
            </p:nvSpPr>
            <p:spPr>
              <a:xfrm>
                <a:off x="10446318" y="800854"/>
                <a:ext cx="1398737" cy="276999"/>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CA" sz="1200" b="0" i="0" u="none" strike="noStrike" kern="0" cap="none" spc="0" normalizeH="0" baseline="0" noProof="0">
                    <a:ln>
                      <a:noFill/>
                    </a:ln>
                    <a:solidFill>
                      <a:prstClr val="black"/>
                    </a:solidFill>
                    <a:effectLst/>
                    <a:uLnTx/>
                    <a:uFillTx/>
                    <a:latin typeface="Calibri" panose="020F0502020204030204"/>
                  </a:rPr>
                  <a:t>Coupled with A2L</a:t>
                </a:r>
                <a:endParaRPr kumimoji="0" lang="en-US" sz="1200" b="0" i="0" u="none" strike="noStrike" kern="0" cap="none" spc="0" normalizeH="0" baseline="0" noProof="0">
                  <a:ln>
                    <a:noFill/>
                  </a:ln>
                  <a:solidFill>
                    <a:prstClr val="black"/>
                  </a:solidFill>
                  <a:effectLst/>
                  <a:uLnTx/>
                  <a:uFillTx/>
                  <a:latin typeface="Calibri" panose="020F0502020204030204"/>
                </a:endParaRPr>
              </a:p>
            </p:txBody>
          </p:sp>
        </p:grpSp>
      </p:grpSp>
      <p:sp>
        <p:nvSpPr>
          <p:cNvPr id="96" name="Title 1">
            <a:extLst>
              <a:ext uri="{FF2B5EF4-FFF2-40B4-BE49-F238E27FC236}">
                <a16:creationId xmlns:a16="http://schemas.microsoft.com/office/drawing/2014/main" id="{E74CA3D7-A26E-47EF-87ED-1556BB8B5B10}"/>
              </a:ext>
            </a:extLst>
          </p:cNvPr>
          <p:cNvSpPr>
            <a:spLocks noGrp="1"/>
          </p:cNvSpPr>
          <p:nvPr>
            <p:ph type="title"/>
          </p:nvPr>
        </p:nvSpPr>
        <p:spPr>
          <a:xfrm>
            <a:off x="297180" y="115807"/>
            <a:ext cx="10933748" cy="581983"/>
          </a:xfrm>
        </p:spPr>
        <p:txBody>
          <a:bodyPr/>
          <a:lstStyle/>
          <a:p>
            <a:r>
              <a:rPr lang="en-CA"/>
              <a:t>Oct 18</a:t>
            </a:r>
            <a:r>
              <a:rPr lang="en-CA" baseline="30000"/>
              <a:t>th </a:t>
            </a:r>
            <a:r>
              <a:rPr lang="en-CA"/>
              <a:t>– Remaining Scope</a:t>
            </a:r>
            <a:endParaRPr lang="en-US"/>
          </a:p>
        </p:txBody>
      </p:sp>
      <p:graphicFrame>
        <p:nvGraphicFramePr>
          <p:cNvPr id="2" name="Table 1">
            <a:extLst>
              <a:ext uri="{FF2B5EF4-FFF2-40B4-BE49-F238E27FC236}">
                <a16:creationId xmlns:a16="http://schemas.microsoft.com/office/drawing/2014/main" id="{91B9D367-ABD4-48C0-9ACA-A30A1E5916F7}"/>
              </a:ext>
            </a:extLst>
          </p:cNvPr>
          <p:cNvGraphicFramePr>
            <a:graphicFrameLocks noGrp="1"/>
          </p:cNvGraphicFramePr>
          <p:nvPr/>
        </p:nvGraphicFramePr>
        <p:xfrm>
          <a:off x="105556" y="5250870"/>
          <a:ext cx="8959215" cy="1470025"/>
        </p:xfrm>
        <a:graphic>
          <a:graphicData uri="http://schemas.openxmlformats.org/drawingml/2006/table">
            <a:tbl>
              <a:tblPr firstRow="1" firstCol="1" bandRow="1"/>
              <a:tblGrid>
                <a:gridCol w="1005840">
                  <a:extLst>
                    <a:ext uri="{9D8B030D-6E8A-4147-A177-3AD203B41FA5}">
                      <a16:colId xmlns:a16="http://schemas.microsoft.com/office/drawing/2014/main" val="1683490406"/>
                    </a:ext>
                  </a:extLst>
                </a:gridCol>
                <a:gridCol w="4112895">
                  <a:extLst>
                    <a:ext uri="{9D8B030D-6E8A-4147-A177-3AD203B41FA5}">
                      <a16:colId xmlns:a16="http://schemas.microsoft.com/office/drawing/2014/main" val="3173895435"/>
                    </a:ext>
                  </a:extLst>
                </a:gridCol>
                <a:gridCol w="3840480">
                  <a:extLst>
                    <a:ext uri="{9D8B030D-6E8A-4147-A177-3AD203B41FA5}">
                      <a16:colId xmlns:a16="http://schemas.microsoft.com/office/drawing/2014/main" val="499261266"/>
                    </a:ext>
                  </a:extLst>
                </a:gridCol>
              </a:tblGrid>
              <a:tr h="0">
                <a:tc>
                  <a:txBody>
                    <a:bodyPr/>
                    <a:lstStyle/>
                    <a:p>
                      <a:pPr marL="0" marR="0">
                        <a:spcBef>
                          <a:spcPts val="0"/>
                        </a:spcBef>
                        <a:spcAft>
                          <a:spcPts val="0"/>
                        </a:spcAft>
                      </a:pPr>
                      <a:r>
                        <a:rPr lang="en-US" sz="900" b="1">
                          <a:solidFill>
                            <a:srgbClr val="FFFFFF"/>
                          </a:solidFill>
                          <a:effectLst/>
                          <a:latin typeface="Trebuchet MS" panose="020B0603020202020204" pitchFamily="34" charset="0"/>
                          <a:ea typeface="Calibri" panose="020F0502020204030204" pitchFamily="34" charset="0"/>
                        </a:rPr>
                        <a:t>Intake #</a:t>
                      </a:r>
                      <a:endParaRPr lang="en-US" sz="1100">
                        <a:effectLst/>
                        <a:latin typeface="Calibri" panose="020F0502020204030204" pitchFamily="34" charset="0"/>
                        <a:ea typeface="Calibri" panose="020F0502020204030204" pitchFamily="34" charset="0"/>
                      </a:endParaRPr>
                    </a:p>
                  </a:txBody>
                  <a:tcPr marL="1270" marR="1270" marT="1270" marB="0" anchor="ctr">
                    <a:lnL w="12700" cap="flat" cmpd="sng" algn="ctr">
                      <a:solidFill>
                        <a:srgbClr val="8EA9DB"/>
                      </a:solidFill>
                      <a:prstDash val="solid"/>
                      <a:round/>
                      <a:headEnd type="none" w="med" len="med"/>
                      <a:tailEnd type="none" w="med" len="med"/>
                    </a:lnL>
                    <a:lnR>
                      <a:noFill/>
                    </a:lnR>
                    <a:lnT w="12700" cap="flat" cmpd="sng" algn="ctr">
                      <a:solidFill>
                        <a:srgbClr val="8EA9DB"/>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marL="0" marR="0">
                        <a:spcBef>
                          <a:spcPts val="0"/>
                        </a:spcBef>
                        <a:spcAft>
                          <a:spcPts val="0"/>
                        </a:spcAft>
                      </a:pPr>
                      <a:r>
                        <a:rPr lang="en-US" sz="900" b="1">
                          <a:solidFill>
                            <a:srgbClr val="FFFFFF"/>
                          </a:solidFill>
                          <a:effectLst/>
                          <a:latin typeface="Trebuchet MS" panose="020B0603020202020204" pitchFamily="34" charset="0"/>
                          <a:ea typeface="Calibri" panose="020F0502020204030204" pitchFamily="34" charset="0"/>
                        </a:rPr>
                        <a:t>Initiative Name</a:t>
                      </a:r>
                      <a:endParaRPr lang="en-US" sz="1100">
                        <a:effectLst/>
                        <a:latin typeface="Calibri" panose="020F0502020204030204" pitchFamily="34" charset="0"/>
                        <a:ea typeface="Calibri" panose="020F0502020204030204" pitchFamily="34" charset="0"/>
                      </a:endParaRPr>
                    </a:p>
                  </a:txBody>
                  <a:tcPr marL="1270" marR="1270" marT="1270" marB="0" anchor="ctr">
                    <a:lnL>
                      <a:noFill/>
                    </a:lnL>
                    <a:lnR>
                      <a:noFill/>
                    </a:lnR>
                    <a:lnT w="12700" cap="flat" cmpd="sng" algn="ctr">
                      <a:solidFill>
                        <a:srgbClr val="8EA9DB"/>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marL="0" marR="0">
                        <a:spcBef>
                          <a:spcPts val="0"/>
                        </a:spcBef>
                        <a:spcAft>
                          <a:spcPts val="0"/>
                        </a:spcAft>
                      </a:pPr>
                      <a:r>
                        <a:rPr lang="en-US" sz="900" b="1">
                          <a:solidFill>
                            <a:srgbClr val="FFFFFF"/>
                          </a:solidFill>
                          <a:effectLst/>
                          <a:latin typeface="Trebuchet MS" panose="020B0603020202020204" pitchFamily="34" charset="0"/>
                          <a:ea typeface="Calibri" panose="020F0502020204030204" pitchFamily="34" charset="0"/>
                        </a:rPr>
                        <a:t>Impacted Apps</a:t>
                      </a:r>
                      <a:endParaRPr lang="en-US" sz="1100">
                        <a:effectLst/>
                        <a:latin typeface="Calibri" panose="020F0502020204030204" pitchFamily="34" charset="0"/>
                        <a:ea typeface="Calibri" panose="020F0502020204030204" pitchFamily="34" charset="0"/>
                      </a:endParaRPr>
                    </a:p>
                  </a:txBody>
                  <a:tcPr marL="1270" marR="1270" marT="1270" marB="0" anchor="ctr">
                    <a:lnL>
                      <a:noFill/>
                    </a:lnL>
                    <a:lnR>
                      <a:noFill/>
                    </a:lnR>
                    <a:lnT w="12700" cap="flat" cmpd="sng" algn="ctr">
                      <a:solidFill>
                        <a:srgbClr val="8EA9DB"/>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3309939624"/>
                  </a:ext>
                </a:extLst>
              </a:tr>
              <a:tr h="46990">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PBPT 1181</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Aurora to LCMS</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Lending BI; Excalibur; LCMS; CAAP; DDGS; AURORA; GOW; Cognos; EFT</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4211501"/>
                  </a:ext>
                </a:extLst>
              </a:tr>
              <a:tr h="46990">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PBPT-1174</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OSFI B20 ICR Pre-funding Document Verification Process</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LCMS</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6231889"/>
                  </a:ext>
                </a:extLst>
              </a:tr>
              <a:tr h="46990">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PBPT-3461, 3024</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mMortgage Enhancements</a:t>
                      </a:r>
                      <a:r>
                        <a:rPr lang="en-US" sz="1100">
                          <a:effectLst/>
                          <a:latin typeface="Calibri" panose="020F0502020204030204" pitchFamily="34" charset="0"/>
                          <a:ea typeface="Calibri" panose="020F0502020204030204" pitchFamily="34" charset="0"/>
                        </a:rPr>
                        <a:t> (</a:t>
                      </a:r>
                      <a:r>
                        <a:rPr lang="en-US" sz="900">
                          <a:effectLst/>
                          <a:latin typeface="Trebuchet MS" panose="020B0603020202020204" pitchFamily="34" charset="0"/>
                          <a:ea typeface="Calibri" panose="020F0502020204030204" pitchFamily="34" charset="0"/>
                        </a:rPr>
                        <a:t>Story: PETENH-103)</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LCMS, mMtg</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8541828"/>
                  </a:ext>
                </a:extLst>
              </a:tr>
              <a:tr h="46990">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PRB0027662</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CA" sz="900">
                          <a:effectLst/>
                          <a:latin typeface="Trebuchet MS" panose="020B0603020202020204" pitchFamily="34" charset="0"/>
                          <a:ea typeface="Calibri" panose="020F0502020204030204" pitchFamily="34" charset="0"/>
                        </a:rPr>
                        <a:t>LCMS - MMortgage Status not display the Status as "Approved" and continues to show the previous status of  "Submitted/ Conditionally Approved"</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LCMS</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7534867"/>
                  </a:ext>
                </a:extLst>
              </a:tr>
              <a:tr h="46990">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PBPT-3473</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da-DK" sz="900">
                          <a:effectLst/>
                          <a:latin typeface="Trebuchet MS" panose="020B0603020202020204" pitchFamily="34" charset="0"/>
                          <a:ea typeface="Calibri" panose="020F0502020204030204" pitchFamily="34" charset="0"/>
                        </a:rPr>
                        <a:t>Amend DM logic for CMHC </a:t>
                      </a:r>
                      <a:r>
                        <a:rPr lang="da-DK" sz="900">
                          <a:solidFill>
                            <a:srgbClr val="FF0000"/>
                          </a:solidFill>
                          <a:effectLst/>
                          <a:latin typeface="Trebuchet MS" panose="020B0603020202020204" pitchFamily="34" charset="0"/>
                          <a:ea typeface="Calibri" panose="020F0502020204030204" pitchFamily="34" charset="0"/>
                        </a:rPr>
                        <a:t>+ CR04, CR05</a:t>
                      </a:r>
                      <a:endParaRPr lang="en-US" sz="1100">
                        <a:solidFill>
                          <a:srgbClr val="FF0000"/>
                        </a:solidFill>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DM</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8600491"/>
                  </a:ext>
                </a:extLst>
              </a:tr>
              <a:tr h="46990">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PBPT 3509</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CA" sz="900">
                          <a:effectLst/>
                          <a:latin typeface="Trebuchet MS" panose="020B0603020202020204" pitchFamily="34" charset="0"/>
                          <a:ea typeface="Calibri" panose="020F0502020204030204" pitchFamily="34" charset="0"/>
                        </a:rPr>
                        <a:t>CRI Remediation for Issue 8</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DM; Lending BI; EDH</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1718154"/>
                  </a:ext>
                </a:extLst>
              </a:tr>
              <a:tr h="46990">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PBPT-3587</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CA" sz="900">
                          <a:effectLst/>
                          <a:latin typeface="Trebuchet MS" panose="020B0603020202020204" pitchFamily="34" charset="0"/>
                          <a:ea typeface="Calibri" panose="020F0502020204030204" pitchFamily="34" charset="0"/>
                        </a:rPr>
                        <a:t>DM table and param changes for October 2020</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effectLst/>
                          <a:latin typeface="Trebuchet MS" panose="020B0603020202020204" pitchFamily="34" charset="0"/>
                          <a:ea typeface="Calibri" panose="020F0502020204030204" pitchFamily="34" charset="0"/>
                        </a:rPr>
                        <a:t>DM</a:t>
                      </a:r>
                      <a:endParaRPr lang="en-US" sz="1100">
                        <a:effectLst/>
                        <a:latin typeface="Calibri" panose="020F0502020204030204" pitchFamily="34" charset="0"/>
                        <a:ea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5701785"/>
                  </a:ext>
                </a:extLst>
              </a:tr>
              <a:tr h="46990">
                <a:tc>
                  <a:txBody>
                    <a:bodyPr/>
                    <a:lstStyle/>
                    <a:p>
                      <a:pPr marL="0" marR="0">
                        <a:spcBef>
                          <a:spcPts val="0"/>
                        </a:spcBef>
                        <a:spcAft>
                          <a:spcPts val="0"/>
                        </a:spcAft>
                      </a:pPr>
                      <a:r>
                        <a:rPr lang="en-US" sz="900">
                          <a:solidFill>
                            <a:srgbClr val="FF0000"/>
                          </a:solidFill>
                          <a:effectLst/>
                          <a:latin typeface="Trebuchet MS" panose="020B0603020202020204" pitchFamily="34" charset="0"/>
                          <a:ea typeface="Calibri" panose="020F0502020204030204" pitchFamily="34" charset="0"/>
                        </a:rPr>
                        <a:t>PBPT-3735</a:t>
                      </a:r>
                      <a:endParaRPr lang="en-US" sz="900">
                        <a:solidFill>
                          <a:srgbClr val="FF0000"/>
                        </a:solidFill>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solidFill>
                            <a:srgbClr val="FF0000"/>
                          </a:solidFill>
                          <a:effectLst/>
                          <a:latin typeface="Trebuchet MS" panose="020B0603020202020204" pitchFamily="34" charset="0"/>
                          <a:ea typeface="Calibri" panose="020F0502020204030204" pitchFamily="34" charset="0"/>
                        </a:rPr>
                        <a:t>DM table and param changes for December 2020</a:t>
                      </a:r>
                      <a:endParaRPr lang="en-US" sz="900">
                        <a:solidFill>
                          <a:srgbClr val="FF0000"/>
                        </a:solidFill>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900">
                          <a:solidFill>
                            <a:srgbClr val="FF0000"/>
                          </a:solidFill>
                          <a:effectLst/>
                          <a:latin typeface="Trebuchet MS" panose="020B0603020202020204" pitchFamily="34" charset="0"/>
                          <a:ea typeface="Calibri" panose="020F0502020204030204" pitchFamily="34" charset="0"/>
                        </a:rPr>
                        <a:t>DM</a:t>
                      </a:r>
                      <a:endParaRPr lang="en-US" sz="900">
                        <a:solidFill>
                          <a:srgbClr val="FF0000"/>
                        </a:solidFill>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2846648"/>
                  </a:ext>
                </a:extLst>
              </a:tr>
            </a:tbl>
          </a:graphicData>
        </a:graphic>
      </p:graphicFrame>
    </p:spTree>
    <p:extLst>
      <p:ext uri="{BB962C8B-B14F-4D97-AF65-F5344CB8AC3E}">
        <p14:creationId xmlns:p14="http://schemas.microsoft.com/office/powerpoint/2010/main" val="34543774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15B80-F318-ACD3-A456-422B46C1D8B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CDF4566-7398-81D8-3A57-5DF97E082D89}"/>
              </a:ext>
            </a:extLst>
          </p:cNvPr>
          <p:cNvSpPr txBox="1">
            <a:spLocks/>
          </p:cNvSpPr>
          <p:nvPr/>
        </p:nvSpPr>
        <p:spPr>
          <a:xfrm>
            <a:off x="297180" y="115807"/>
            <a:ext cx="10933748" cy="581983"/>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CA" sz="2800"/>
              <a:t>Sep 21</a:t>
            </a:r>
            <a:r>
              <a:rPr lang="en-CA" sz="2800" baseline="30000"/>
              <a:t>st</a:t>
            </a:r>
            <a:r>
              <a:rPr lang="en-CA" sz="2800"/>
              <a:t> </a:t>
            </a:r>
            <a:r>
              <a:rPr kumimoji="0" lang="en-CA" sz="2800" b="1" i="0" u="none" strike="noStrike" kern="1200" cap="none" spc="0" normalizeH="0" baseline="0" noProof="0">
                <a:ln>
                  <a:noFill/>
                </a:ln>
                <a:solidFill>
                  <a:srgbClr val="D40139"/>
                </a:solidFill>
                <a:effectLst/>
                <a:uLnTx/>
                <a:uFillTx/>
                <a:latin typeface="Trebuchet MS"/>
                <a:ea typeface="+mj-ea"/>
                <a:cs typeface="+mj-cs"/>
              </a:rPr>
              <a:t>Release QA Readiness </a:t>
            </a:r>
            <a:endParaRPr kumimoji="0" lang="en-US" sz="2800" b="1" i="0" u="none" strike="noStrike" kern="1200" cap="none" spc="0" normalizeH="0" baseline="0" noProof="0">
              <a:ln>
                <a:noFill/>
              </a:ln>
              <a:solidFill>
                <a:srgbClr val="D40139"/>
              </a:solidFill>
              <a:effectLst/>
              <a:uLnTx/>
              <a:uFillTx/>
              <a:latin typeface="Trebuchet MS"/>
              <a:ea typeface="+mj-ea"/>
              <a:cs typeface="+mj-cs"/>
            </a:endParaRPr>
          </a:p>
        </p:txBody>
      </p:sp>
      <p:graphicFrame>
        <p:nvGraphicFramePr>
          <p:cNvPr id="6" name="Content Placeholder 5">
            <a:extLst>
              <a:ext uri="{FF2B5EF4-FFF2-40B4-BE49-F238E27FC236}">
                <a16:creationId xmlns:a16="http://schemas.microsoft.com/office/drawing/2014/main" id="{BBA17034-160A-B69B-D21A-B3CC5224181A}"/>
              </a:ext>
            </a:extLst>
          </p:cNvPr>
          <p:cNvGraphicFramePr>
            <a:graphicFrameLocks noGrp="1"/>
          </p:cNvGraphicFramePr>
          <p:nvPr>
            <p:ph idx="1"/>
            <p:extLst>
              <p:ext uri="{D42A27DB-BD31-4B8C-83A1-F6EECF244321}">
                <p14:modId xmlns:p14="http://schemas.microsoft.com/office/powerpoint/2010/main" val="3196642997"/>
              </p:ext>
            </p:extLst>
          </p:nvPr>
        </p:nvGraphicFramePr>
        <p:xfrm>
          <a:off x="214376" y="771525"/>
          <a:ext cx="11499750" cy="5378738"/>
        </p:xfrm>
        <a:graphic>
          <a:graphicData uri="http://schemas.openxmlformats.org/drawingml/2006/table">
            <a:tbl>
              <a:tblPr firstRow="1" bandRow="1">
                <a:tableStyleId>{5C22544A-7EE6-4342-B048-85BDC9FD1C3A}</a:tableStyleId>
              </a:tblPr>
              <a:tblGrid>
                <a:gridCol w="2817820">
                  <a:extLst>
                    <a:ext uri="{9D8B030D-6E8A-4147-A177-3AD203B41FA5}">
                      <a16:colId xmlns:a16="http://schemas.microsoft.com/office/drawing/2014/main" val="2124166208"/>
                    </a:ext>
                  </a:extLst>
                </a:gridCol>
                <a:gridCol w="7006471">
                  <a:extLst>
                    <a:ext uri="{9D8B030D-6E8A-4147-A177-3AD203B41FA5}">
                      <a16:colId xmlns:a16="http://schemas.microsoft.com/office/drawing/2014/main" val="781638923"/>
                    </a:ext>
                  </a:extLst>
                </a:gridCol>
                <a:gridCol w="1675459">
                  <a:extLst>
                    <a:ext uri="{9D8B030D-6E8A-4147-A177-3AD203B41FA5}">
                      <a16:colId xmlns:a16="http://schemas.microsoft.com/office/drawing/2014/main" val="590883557"/>
                    </a:ext>
                  </a:extLst>
                </a:gridCol>
              </a:tblGrid>
              <a:tr h="399274">
                <a:tc>
                  <a:txBody>
                    <a:bodyPr/>
                    <a:lstStyle/>
                    <a:p>
                      <a:pPr marL="0" algn="ctr" rtl="0" eaLnBrk="1" latinLnBrk="0" hangingPunct="1">
                        <a:spcBef>
                          <a:spcPts val="0"/>
                        </a:spcBef>
                        <a:spcAft>
                          <a:spcPts val="0"/>
                        </a:spcAft>
                      </a:pPr>
                      <a:r>
                        <a:rPr lang="en-CA" sz="1400" kern="1200">
                          <a:effectLst/>
                        </a:rPr>
                        <a:t>KEY ACTIVITIES</a:t>
                      </a:r>
                      <a:endParaRPr lang="en-CA">
                        <a:effectLst/>
                      </a:endParaRPr>
                    </a:p>
                  </a:txBody>
                  <a:tcPr marL="0" marR="0" marT="0" marB="0" anchor="ctr"/>
                </a:tc>
                <a:tc>
                  <a:txBody>
                    <a:bodyPr/>
                    <a:lstStyle/>
                    <a:p>
                      <a:pPr marL="0" algn="ctr" rtl="0" eaLnBrk="1" latinLnBrk="0" hangingPunct="1">
                        <a:spcBef>
                          <a:spcPts val="0"/>
                        </a:spcBef>
                        <a:spcAft>
                          <a:spcPts val="0"/>
                        </a:spcAft>
                      </a:pPr>
                      <a:r>
                        <a:rPr lang="en-CA" sz="1400" kern="1200">
                          <a:effectLst/>
                        </a:rPr>
                        <a:t>DETAIL</a:t>
                      </a:r>
                      <a:endParaRPr lang="en-CA">
                        <a:effectLst/>
                      </a:endParaRPr>
                    </a:p>
                  </a:txBody>
                  <a:tcPr marL="0" marR="0" marT="0" marB="0" anchor="ctr"/>
                </a:tc>
                <a:tc>
                  <a:txBody>
                    <a:bodyPr/>
                    <a:lstStyle/>
                    <a:p>
                      <a:pPr marL="0" algn="ctr" rtl="0" eaLnBrk="1" latinLnBrk="0" hangingPunct="1">
                        <a:spcBef>
                          <a:spcPts val="0"/>
                        </a:spcBef>
                        <a:spcAft>
                          <a:spcPts val="0"/>
                        </a:spcAft>
                      </a:pPr>
                      <a:r>
                        <a:rPr lang="en-CA" sz="1400" kern="1200">
                          <a:effectLst/>
                        </a:rPr>
                        <a:t>STATUS</a:t>
                      </a:r>
                      <a:endParaRPr lang="en-CA">
                        <a:effectLst/>
                      </a:endParaRPr>
                    </a:p>
                  </a:txBody>
                  <a:tcPr marL="0" marR="0" marT="0" marB="0" anchor="ctr"/>
                </a:tc>
                <a:extLst>
                  <a:ext uri="{0D108BD9-81ED-4DB2-BD59-A6C34878D82A}">
                    <a16:rowId xmlns:a16="http://schemas.microsoft.com/office/drawing/2014/main" val="3895412336"/>
                  </a:ext>
                </a:extLst>
              </a:tr>
              <a:tr h="692075">
                <a:tc>
                  <a:txBody>
                    <a:bodyPr/>
                    <a:lstStyle/>
                    <a:p>
                      <a:pPr marL="0" marR="0" indent="0" rtl="0" latinLnBrk="0">
                        <a:spcBef>
                          <a:spcPts val="0"/>
                        </a:spcBef>
                        <a:spcAft>
                          <a:spcPts val="0"/>
                        </a:spcAft>
                      </a:pPr>
                      <a:r>
                        <a:rPr lang="en-US" sz="1200">
                          <a:effectLst/>
                        </a:rPr>
                        <a:t>QA Cross Impact Analysis with ADMs to identify any additional testing scenarios required </a:t>
                      </a:r>
                      <a:endParaRPr lang="en-US">
                        <a:effectLst/>
                      </a:endParaRPr>
                    </a:p>
                  </a:txBody>
                  <a:tcPr marL="0" marR="0" marT="0" marB="0" anchor="ctr">
                    <a:solidFill>
                      <a:schemeClr val="bg1">
                        <a:lumMod val="95000"/>
                      </a:schemeClr>
                    </a:solidFill>
                  </a:tcPr>
                </a:tc>
                <a:tc>
                  <a:txBody>
                    <a:bodyPr/>
                    <a:lstStyle/>
                    <a:p>
                      <a:pPr marL="0" marR="0" indent="0" rtl="0" latinLnBrk="0">
                        <a:spcBef>
                          <a:spcPts val="0"/>
                        </a:spcBef>
                        <a:spcAft>
                          <a:spcPts val="0"/>
                        </a:spcAft>
                      </a:pPr>
                      <a:r>
                        <a:rPr lang="en-US" sz="1200">
                          <a:effectLst/>
                        </a:rPr>
                        <a:t>QA leads and ADMs conducted release cross impact analysis meeting and result has been shared with ADM and QA teams, this activity is completed</a:t>
                      </a:r>
                    </a:p>
                  </a:txBody>
                  <a:tcPr marL="0" marR="0" marT="0" marB="0"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b="0" i="0" u="none" strike="noStrike" kern="1200" cap="none" spc="0" normalizeH="0" baseline="0" noProof="0">
                          <a:ln>
                            <a:noFill/>
                          </a:ln>
                          <a:solidFill>
                            <a:prstClr val="black"/>
                          </a:solidFill>
                          <a:effectLst/>
                          <a:uLnTx/>
                          <a:uFillTx/>
                          <a:latin typeface="Trebuchet MS"/>
                          <a:ea typeface="+mn-ea"/>
                          <a:cs typeface="+mn-cs"/>
                        </a:rPr>
                        <a:t>100</a:t>
                      </a:r>
                      <a:r>
                        <a:rPr kumimoji="0" lang="en-CA" sz="1800" b="0" i="0" u="none" strike="noStrike" kern="1200" cap="none" spc="0" normalizeH="0" baseline="0" noProof="0">
                          <a:ln>
                            <a:noFill/>
                          </a:ln>
                          <a:solidFill>
                            <a:prstClr val="black"/>
                          </a:solidFill>
                          <a:effectLst/>
                          <a:uLnTx/>
                          <a:uFillTx/>
                          <a:latin typeface="Trebuchet MS"/>
                          <a:ea typeface="+mn-ea"/>
                          <a:cs typeface="+mn-cs"/>
                        </a:rPr>
                        <a:t>%</a:t>
                      </a:r>
                    </a:p>
                  </a:txBody>
                  <a:tcPr marL="0" marR="0" marT="0" marB="0" anchor="ctr">
                    <a:solidFill>
                      <a:schemeClr val="accent4">
                        <a:lumMod val="40000"/>
                        <a:lumOff val="60000"/>
                      </a:schemeClr>
                    </a:solidFill>
                  </a:tcPr>
                </a:tc>
                <a:extLst>
                  <a:ext uri="{0D108BD9-81ED-4DB2-BD59-A6C34878D82A}">
                    <a16:rowId xmlns:a16="http://schemas.microsoft.com/office/drawing/2014/main" val="499621271"/>
                  </a:ext>
                </a:extLst>
              </a:tr>
              <a:tr h="399274">
                <a:tc>
                  <a:txBody>
                    <a:bodyPr/>
                    <a:lstStyle/>
                    <a:p>
                      <a:pPr marL="0" marR="0" indent="0" rtl="0" latinLnBrk="0">
                        <a:spcBef>
                          <a:spcPts val="0"/>
                        </a:spcBef>
                        <a:spcAft>
                          <a:spcPts val="0"/>
                        </a:spcAft>
                      </a:pPr>
                      <a:r>
                        <a:rPr lang="en-US" sz="1200">
                          <a:effectLst/>
                        </a:rPr>
                        <a:t>PIV Test Plan and/or PIV Test Cases Status</a:t>
                      </a:r>
                      <a:endParaRPr lang="en-US">
                        <a:effectLst/>
                      </a:endParaRPr>
                    </a:p>
                  </a:txBody>
                  <a:tcPr marL="0" marR="0" marT="0" marB="0" anchor="ctr">
                    <a:noFill/>
                  </a:tcPr>
                </a:tc>
                <a:tc>
                  <a:txBody>
                    <a:bodyPr/>
                    <a:lstStyle/>
                    <a:p>
                      <a:pPr marL="0" rtl="0" latinLnBrk="0">
                        <a:spcBef>
                          <a:spcPts val="0"/>
                        </a:spcBef>
                        <a:spcAft>
                          <a:spcPts val="0"/>
                        </a:spcAft>
                      </a:pPr>
                      <a:r>
                        <a:rPr lang="en-US" sz="1200">
                          <a:effectLst/>
                        </a:rPr>
                        <a:t>PIV Test Plan and Cases execution in progress</a:t>
                      </a:r>
                      <a:endParaRPr lang="en-US">
                        <a:effectLst/>
                      </a:endParaRPr>
                    </a:p>
                  </a:txBody>
                  <a:tcPr marL="0" marR="0" marT="0" marB="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a:ln>
                            <a:noFill/>
                          </a:ln>
                          <a:solidFill>
                            <a:prstClr val="black"/>
                          </a:solidFill>
                          <a:effectLst/>
                          <a:uLnTx/>
                          <a:uFillTx/>
                          <a:latin typeface="Trebuchet MS"/>
                          <a:ea typeface="+mn-ea"/>
                          <a:cs typeface="+mn-cs"/>
                        </a:rPr>
                        <a:t>0%</a:t>
                      </a:r>
                    </a:p>
                  </a:txBody>
                  <a:tcPr marL="0" marR="0" marT="0" marB="0" anchor="ctr">
                    <a:solidFill>
                      <a:srgbClr val="C7DCBB"/>
                    </a:solidFill>
                  </a:tcPr>
                </a:tc>
                <a:extLst>
                  <a:ext uri="{0D108BD9-81ED-4DB2-BD59-A6C34878D82A}">
                    <a16:rowId xmlns:a16="http://schemas.microsoft.com/office/drawing/2014/main" val="2816954685"/>
                  </a:ext>
                </a:extLst>
              </a:tr>
              <a:tr h="399274">
                <a:tc>
                  <a:txBody>
                    <a:bodyPr/>
                    <a:lstStyle/>
                    <a:p>
                      <a:pPr marL="0" marR="0" indent="0" rtl="0" latinLnBrk="0">
                        <a:spcBef>
                          <a:spcPts val="0"/>
                        </a:spcBef>
                        <a:spcAft>
                          <a:spcPts val="0"/>
                        </a:spcAft>
                      </a:pPr>
                      <a:r>
                        <a:rPr lang="en-US" sz="1200">
                          <a:effectLst/>
                        </a:rPr>
                        <a:t>UAT/Testing Exit Sign Offs </a:t>
                      </a:r>
                      <a:endParaRPr lang="en-US">
                        <a:effectLst/>
                      </a:endParaRPr>
                    </a:p>
                  </a:txBody>
                  <a:tcPr marL="0" marR="0" marT="0" marB="0" anchor="ctr">
                    <a:solidFill>
                      <a:schemeClr val="bg1">
                        <a:lumMod val="95000"/>
                      </a:schemeClr>
                    </a:solidFill>
                  </a:tcPr>
                </a:tc>
                <a:tc>
                  <a:txBody>
                    <a:bodyPr/>
                    <a:lstStyle/>
                    <a:p>
                      <a:pPr marL="0" marR="0" indent="0" rtl="0" latinLnBrk="0">
                        <a:spcBef>
                          <a:spcPts val="0"/>
                        </a:spcBef>
                        <a:spcAft>
                          <a:spcPts val="0"/>
                        </a:spcAft>
                      </a:pPr>
                      <a:r>
                        <a:rPr lang="en-US" sz="1200">
                          <a:effectLst/>
                        </a:rPr>
                        <a:t>UAT Exit sign off in progress</a:t>
                      </a:r>
                      <a:endParaRPr lang="en-US">
                        <a:effectLst/>
                      </a:endParaRPr>
                    </a:p>
                  </a:txBody>
                  <a:tcPr marL="0" marR="0" marT="0" marB="0"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a:ln>
                            <a:noFill/>
                          </a:ln>
                          <a:solidFill>
                            <a:prstClr val="black"/>
                          </a:solidFill>
                          <a:effectLst/>
                          <a:uLnTx/>
                          <a:uFillTx/>
                          <a:latin typeface="Trebuchet MS"/>
                          <a:ea typeface="+mn-ea"/>
                          <a:cs typeface="+mn-cs"/>
                        </a:rPr>
                        <a:t>0%</a:t>
                      </a:r>
                    </a:p>
                  </a:txBody>
                  <a:tcPr marL="0" marR="0" marT="0" marB="0" anchor="ctr">
                    <a:solidFill>
                      <a:srgbClr val="C7DCBB"/>
                    </a:solidFill>
                  </a:tcPr>
                </a:tc>
                <a:extLst>
                  <a:ext uri="{0D108BD9-81ED-4DB2-BD59-A6C34878D82A}">
                    <a16:rowId xmlns:a16="http://schemas.microsoft.com/office/drawing/2014/main" val="2670215879"/>
                  </a:ext>
                </a:extLst>
              </a:tr>
              <a:tr h="785239">
                <a:tc>
                  <a:txBody>
                    <a:bodyPr/>
                    <a:lstStyle/>
                    <a:p>
                      <a:pPr marL="0" marR="0" indent="0" rtl="0" latinLnBrk="0">
                        <a:spcBef>
                          <a:spcPts val="0"/>
                        </a:spcBef>
                        <a:spcAft>
                          <a:spcPts val="0"/>
                        </a:spcAft>
                      </a:pPr>
                      <a:r>
                        <a:rPr lang="en-US" sz="1200">
                          <a:effectLst/>
                        </a:rPr>
                        <a:t>CBPT Release Regression Testing</a:t>
                      </a:r>
                      <a:endParaRPr lang="en-US">
                        <a:effectLst/>
                      </a:endParaRPr>
                    </a:p>
                  </a:txBody>
                  <a:tcPr marL="0" marR="0" marT="0" marB="0" anchor="ctr">
                    <a:noFill/>
                  </a:tcPr>
                </a:tc>
                <a:tc>
                  <a:txBody>
                    <a:bodyPr/>
                    <a:lstStyle/>
                    <a:p>
                      <a:pPr marL="0" marR="0" indent="0" rtl="0" latinLnBrk="0">
                        <a:spcBef>
                          <a:spcPts val="0"/>
                        </a:spcBef>
                        <a:spcAft>
                          <a:spcPts val="0"/>
                        </a:spcAft>
                      </a:pPr>
                      <a:r>
                        <a:rPr lang="en-US" sz="1200">
                          <a:effectLst/>
                        </a:rPr>
                        <a:t>CBPT Release Regression Testing is in progress</a:t>
                      </a:r>
                    </a:p>
                  </a:txBody>
                  <a:tcPr marL="0" marR="0" marT="0" marB="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b="0" i="0" u="none" strike="noStrike" kern="1200" cap="none" spc="0" normalizeH="0" baseline="0" noProof="0">
                          <a:ln>
                            <a:noFill/>
                          </a:ln>
                          <a:solidFill>
                            <a:prstClr val="black"/>
                          </a:solidFill>
                          <a:effectLst/>
                          <a:uLnTx/>
                          <a:uFillTx/>
                          <a:latin typeface="Trebuchet MS"/>
                          <a:ea typeface="+mn-ea"/>
                          <a:cs typeface="+mn-cs"/>
                        </a:rPr>
                        <a:t>99</a:t>
                      </a:r>
                      <a:r>
                        <a:rPr kumimoji="0" lang="en-CA" sz="1800" b="0" i="0" u="none" strike="noStrike" kern="1200" cap="none" spc="0" normalizeH="0" baseline="0" noProof="0">
                          <a:ln>
                            <a:noFill/>
                          </a:ln>
                          <a:solidFill>
                            <a:prstClr val="black"/>
                          </a:solidFill>
                          <a:effectLst/>
                          <a:uLnTx/>
                          <a:uFillTx/>
                          <a:latin typeface="Trebuchet MS"/>
                          <a:ea typeface="+mn-ea"/>
                          <a:cs typeface="+mn-cs"/>
                        </a:rPr>
                        <a:t>%</a:t>
                      </a:r>
                    </a:p>
                  </a:txBody>
                  <a:tcPr marL="0" marR="0" marT="0" marB="0" anchor="ctr">
                    <a:solidFill>
                      <a:schemeClr val="accent4">
                        <a:lumMod val="40000"/>
                        <a:lumOff val="60000"/>
                      </a:schemeClr>
                    </a:solidFill>
                  </a:tcPr>
                </a:tc>
                <a:extLst>
                  <a:ext uri="{0D108BD9-81ED-4DB2-BD59-A6C34878D82A}">
                    <a16:rowId xmlns:a16="http://schemas.microsoft.com/office/drawing/2014/main" val="2500351361"/>
                  </a:ext>
                </a:extLst>
              </a:tr>
              <a:tr h="692075">
                <a:tc>
                  <a:txBody>
                    <a:bodyPr/>
                    <a:lstStyle/>
                    <a:p>
                      <a:pPr marL="0" marR="0" indent="0" rtl="0" latinLnBrk="0">
                        <a:spcBef>
                          <a:spcPts val="0"/>
                        </a:spcBef>
                        <a:spcAft>
                          <a:spcPts val="0"/>
                        </a:spcAft>
                      </a:pPr>
                      <a:r>
                        <a:rPr lang="en-US" sz="1200">
                          <a:effectLst/>
                        </a:rPr>
                        <a:t>Compass Release Regression Testing </a:t>
                      </a:r>
                      <a:endParaRPr lang="en-US">
                        <a:effectLst/>
                      </a:endParaRPr>
                    </a:p>
                  </a:txBody>
                  <a:tcPr marL="0" marR="0" marT="0" marB="0" anchor="ctr">
                    <a:solidFill>
                      <a:schemeClr val="bg1">
                        <a:lumMod val="95000"/>
                      </a:schemeClr>
                    </a:solidFill>
                  </a:tcPr>
                </a:tc>
                <a:tc>
                  <a:txBody>
                    <a:bodyPr/>
                    <a:lstStyle/>
                    <a:p>
                      <a:pPr marL="0" rtl="0" latinLnBrk="0">
                        <a:spcBef>
                          <a:spcPts val="0"/>
                        </a:spcBef>
                        <a:spcAft>
                          <a:spcPts val="0"/>
                        </a:spcAft>
                      </a:pPr>
                      <a:r>
                        <a:rPr lang="en-US" sz="1200">
                          <a:effectLst/>
                        </a:rPr>
                        <a:t>Compass Release Regression Testing in progress</a:t>
                      </a:r>
                      <a:endParaRPr lang="en-US">
                        <a:effectLst/>
                      </a:endParaRPr>
                    </a:p>
                  </a:txBody>
                  <a:tcPr marL="0" marR="0" marT="0" marB="0"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b="0" i="0" u="none" strike="noStrike" kern="1200" cap="none" spc="0" normalizeH="0" baseline="0" noProof="0">
                          <a:ln>
                            <a:noFill/>
                          </a:ln>
                          <a:solidFill>
                            <a:prstClr val="black"/>
                          </a:solidFill>
                          <a:effectLst/>
                          <a:uLnTx/>
                          <a:uFillTx/>
                          <a:latin typeface="Trebuchet MS"/>
                          <a:ea typeface="+mn-ea"/>
                          <a:cs typeface="+mn-cs"/>
                        </a:rPr>
                        <a:t>60</a:t>
                      </a:r>
                      <a:r>
                        <a:rPr kumimoji="0" lang="en-CA" sz="1800" b="0" i="0" u="none" strike="noStrike" kern="1200" cap="none" spc="0" normalizeH="0" baseline="0" noProof="0">
                          <a:ln>
                            <a:noFill/>
                          </a:ln>
                          <a:solidFill>
                            <a:prstClr val="black"/>
                          </a:solidFill>
                          <a:effectLst/>
                          <a:uLnTx/>
                          <a:uFillTx/>
                          <a:latin typeface="Trebuchet MS"/>
                          <a:ea typeface="+mn-ea"/>
                          <a:cs typeface="+mn-cs"/>
                        </a:rPr>
                        <a:t>%</a:t>
                      </a:r>
                    </a:p>
                  </a:txBody>
                  <a:tcPr marL="0" marR="0" marT="0" marB="0" anchor="ctr">
                    <a:solidFill>
                      <a:schemeClr val="accent4">
                        <a:lumMod val="40000"/>
                        <a:lumOff val="60000"/>
                      </a:schemeClr>
                    </a:solidFill>
                  </a:tcPr>
                </a:tc>
                <a:extLst>
                  <a:ext uri="{0D108BD9-81ED-4DB2-BD59-A6C34878D82A}">
                    <a16:rowId xmlns:a16="http://schemas.microsoft.com/office/drawing/2014/main" val="75686743"/>
                  </a:ext>
                </a:extLst>
              </a:tr>
              <a:tr h="707231">
                <a:tc>
                  <a:txBody>
                    <a:bodyPr/>
                    <a:lstStyle/>
                    <a:p>
                      <a:pPr marL="0" marR="0" indent="0" rtl="0" latinLnBrk="0">
                        <a:spcBef>
                          <a:spcPts val="0"/>
                        </a:spcBef>
                        <a:spcAft>
                          <a:spcPts val="0"/>
                        </a:spcAft>
                      </a:pPr>
                      <a:r>
                        <a:rPr lang="en-US" sz="1200">
                          <a:effectLst/>
                        </a:rPr>
                        <a:t>QA Backout Testing – create, review and execute of Backout testing scenarios</a:t>
                      </a:r>
                      <a:endParaRPr lang="en-US">
                        <a:effectLst/>
                      </a:endParaRPr>
                    </a:p>
                  </a:txBody>
                  <a:tcPr marL="0" marR="0" marT="0" marB="0" anchor="ctr">
                    <a:noFill/>
                  </a:tcPr>
                </a:tc>
                <a:tc>
                  <a:txBody>
                    <a:bodyPr/>
                    <a:lstStyle/>
                    <a:p>
                      <a:pPr marL="0" rtl="0" latinLnBrk="0">
                        <a:spcBef>
                          <a:spcPts val="0"/>
                        </a:spcBef>
                        <a:spcAft>
                          <a:spcPts val="0"/>
                        </a:spcAft>
                      </a:pPr>
                      <a:r>
                        <a:rPr lang="en-US" sz="1200">
                          <a:effectLst/>
                        </a:rPr>
                        <a:t>QA Backout Testing planning is done, exection from Sept 15-19</a:t>
                      </a:r>
                    </a:p>
                  </a:txBody>
                  <a:tcPr marL="0" marR="0" marT="0" marB="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b="0" i="0" u="none" strike="noStrike" kern="1200" cap="none" spc="0" normalizeH="0" baseline="0" noProof="0">
                          <a:ln>
                            <a:noFill/>
                          </a:ln>
                          <a:solidFill>
                            <a:prstClr val="black"/>
                          </a:solidFill>
                          <a:effectLst/>
                          <a:uLnTx/>
                          <a:uFillTx/>
                          <a:latin typeface="Trebuchet MS"/>
                          <a:ea typeface="+mn-ea"/>
                          <a:cs typeface="+mn-cs"/>
                        </a:rPr>
                        <a:t>50</a:t>
                      </a:r>
                      <a:r>
                        <a:rPr kumimoji="0" lang="en-CA" sz="1800" b="0" i="0" u="none" strike="noStrike" kern="1200" cap="none" spc="0" normalizeH="0" baseline="0" noProof="0">
                          <a:ln>
                            <a:noFill/>
                          </a:ln>
                          <a:solidFill>
                            <a:prstClr val="black"/>
                          </a:solidFill>
                          <a:effectLst/>
                          <a:uLnTx/>
                          <a:uFillTx/>
                          <a:latin typeface="Trebuchet MS"/>
                          <a:ea typeface="+mn-ea"/>
                          <a:cs typeface="+mn-cs"/>
                        </a:rPr>
                        <a:t>%</a:t>
                      </a:r>
                    </a:p>
                  </a:txBody>
                  <a:tcPr marL="0" marR="0" marT="0" marB="0" anchor="ctr">
                    <a:solidFill>
                      <a:schemeClr val="accent4">
                        <a:lumMod val="40000"/>
                        <a:lumOff val="60000"/>
                      </a:schemeClr>
                    </a:solidFill>
                  </a:tcPr>
                </a:tc>
                <a:extLst>
                  <a:ext uri="{0D108BD9-81ED-4DB2-BD59-A6C34878D82A}">
                    <a16:rowId xmlns:a16="http://schemas.microsoft.com/office/drawing/2014/main" val="389722941"/>
                  </a:ext>
                </a:extLst>
              </a:tr>
              <a:tr h="399274">
                <a:tc>
                  <a:txBody>
                    <a:bodyPr/>
                    <a:lstStyle/>
                    <a:p>
                      <a:pPr marL="0" marR="0" indent="0" rtl="0" latinLnBrk="0">
                        <a:spcBef>
                          <a:spcPts val="0"/>
                        </a:spcBef>
                        <a:spcAft>
                          <a:spcPts val="0"/>
                        </a:spcAft>
                      </a:pPr>
                      <a:r>
                        <a:rPr lang="en-US" sz="1200">
                          <a:effectLst/>
                        </a:rPr>
                        <a:t>PAT Testing</a:t>
                      </a:r>
                      <a:endParaRPr lang="en-US">
                        <a:effectLst/>
                      </a:endParaRPr>
                    </a:p>
                  </a:txBody>
                  <a:tcPr marL="0" marR="0" marT="0" marB="0" anchor="ctr">
                    <a:solidFill>
                      <a:schemeClr val="bg1">
                        <a:lumMod val="95000"/>
                      </a:schemeClr>
                    </a:solidFill>
                  </a:tcPr>
                </a:tc>
                <a:tc>
                  <a:txBody>
                    <a:bodyPr/>
                    <a:lstStyle/>
                    <a:p>
                      <a:pPr marL="0" rtl="0" latinLnBrk="0">
                        <a:spcBef>
                          <a:spcPts val="0"/>
                        </a:spcBef>
                        <a:spcAft>
                          <a:spcPts val="0"/>
                        </a:spcAft>
                      </a:pPr>
                      <a:r>
                        <a:rPr lang="en-US" sz="1200">
                          <a:effectLst/>
                        </a:rPr>
                        <a:t>PAT Testing in progress</a:t>
                      </a:r>
                    </a:p>
                  </a:txBody>
                  <a:tcPr marL="0" marR="0" marT="0" marB="0"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a:ln>
                            <a:noFill/>
                          </a:ln>
                          <a:solidFill>
                            <a:prstClr val="black"/>
                          </a:solidFill>
                          <a:effectLst/>
                          <a:uLnTx/>
                          <a:uFillTx/>
                          <a:latin typeface="Trebuchet MS"/>
                          <a:ea typeface="+mn-ea"/>
                          <a:cs typeface="+mn-cs"/>
                        </a:rPr>
                        <a:t>0%</a:t>
                      </a:r>
                    </a:p>
                  </a:txBody>
                  <a:tcPr marL="0" marR="0" marT="0" marB="0" anchor="ctr">
                    <a:solidFill>
                      <a:schemeClr val="accent4">
                        <a:lumMod val="40000"/>
                        <a:lumOff val="60000"/>
                      </a:schemeClr>
                    </a:solidFill>
                  </a:tcPr>
                </a:tc>
                <a:extLst>
                  <a:ext uri="{0D108BD9-81ED-4DB2-BD59-A6C34878D82A}">
                    <a16:rowId xmlns:a16="http://schemas.microsoft.com/office/drawing/2014/main" val="2983658577"/>
                  </a:ext>
                </a:extLst>
              </a:tr>
              <a:tr h="905022">
                <a:tc>
                  <a:txBody>
                    <a:bodyPr/>
                    <a:lstStyle/>
                    <a:p>
                      <a:pPr marL="0" marR="0" indent="0" rtl="0" latinLnBrk="0">
                        <a:spcBef>
                          <a:spcPts val="0"/>
                        </a:spcBef>
                        <a:spcAft>
                          <a:spcPts val="0"/>
                        </a:spcAft>
                      </a:pPr>
                      <a:r>
                        <a:rPr lang="en-US" sz="1200">
                          <a:effectLst/>
                        </a:rPr>
                        <a:t>TEM weekend support for applications and QA machines in test environment(s)</a:t>
                      </a:r>
                      <a:endParaRPr lang="en-US">
                        <a:effectLst/>
                      </a:endParaRPr>
                    </a:p>
                  </a:txBody>
                  <a:tcPr marL="0" marR="0" marT="0" marB="0" anchor="ctr">
                    <a:noFill/>
                  </a:tcPr>
                </a:tc>
                <a:tc>
                  <a:txBody>
                    <a:bodyPr/>
                    <a:lstStyle/>
                    <a:p>
                      <a:pPr marL="0" marR="0" indent="0" rtl="0" latinLnBrk="0">
                        <a:spcBef>
                          <a:spcPts val="0"/>
                        </a:spcBef>
                        <a:spcAft>
                          <a:spcPts val="0"/>
                        </a:spcAft>
                      </a:pPr>
                      <a:r>
                        <a:rPr lang="en-US" sz="1200">
                          <a:effectLst/>
                        </a:rPr>
                        <a:t>This activity is in progress</a:t>
                      </a:r>
                    </a:p>
                  </a:txBody>
                  <a:tcPr marL="0" marR="0" marT="0" marB="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a:ln>
                            <a:noFill/>
                          </a:ln>
                          <a:solidFill>
                            <a:prstClr val="black"/>
                          </a:solidFill>
                          <a:effectLst/>
                          <a:uLnTx/>
                          <a:uFillTx/>
                          <a:latin typeface="Trebuchet MS"/>
                          <a:ea typeface="+mn-ea"/>
                          <a:cs typeface="+mn-cs"/>
                        </a:rPr>
                        <a:t>0%</a:t>
                      </a:r>
                    </a:p>
                  </a:txBody>
                  <a:tcPr marL="0" marR="0" marT="0" marB="0" anchor="ctr">
                    <a:solidFill>
                      <a:srgbClr val="C7DCBB"/>
                    </a:solidFill>
                  </a:tcPr>
                </a:tc>
                <a:extLst>
                  <a:ext uri="{0D108BD9-81ED-4DB2-BD59-A6C34878D82A}">
                    <a16:rowId xmlns:a16="http://schemas.microsoft.com/office/drawing/2014/main" val="1145702025"/>
                  </a:ext>
                </a:extLst>
              </a:tr>
            </a:tbl>
          </a:graphicData>
        </a:graphic>
      </p:graphicFrame>
    </p:spTree>
    <p:extLst>
      <p:ext uri="{BB962C8B-B14F-4D97-AF65-F5344CB8AC3E}">
        <p14:creationId xmlns:p14="http://schemas.microsoft.com/office/powerpoint/2010/main" val="14365177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5FF1B75-9350-732A-C50A-7B72FAF99A11}"/>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5EE99F4-931E-C1CC-DE97-39EFEC4A107E}"/>
              </a:ext>
            </a:extLst>
          </p:cNvPr>
          <p:cNvGraphicFramePr>
            <a:graphicFrameLocks noGrp="1"/>
          </p:cNvGraphicFramePr>
          <p:nvPr>
            <p:ph idx="1"/>
            <p:extLst>
              <p:ext uri="{D42A27DB-BD31-4B8C-83A1-F6EECF244321}">
                <p14:modId xmlns:p14="http://schemas.microsoft.com/office/powerpoint/2010/main" val="1290905561"/>
              </p:ext>
            </p:extLst>
          </p:nvPr>
        </p:nvGraphicFramePr>
        <p:xfrm>
          <a:off x="297180" y="697790"/>
          <a:ext cx="11062971" cy="6135299"/>
        </p:xfrm>
        <a:graphic>
          <a:graphicData uri="http://schemas.openxmlformats.org/drawingml/2006/table">
            <a:tbl>
              <a:tblPr firstRow="1" bandRow="1">
                <a:tableStyleId>{2A488322-F2BA-4B5B-9748-0D474271808F}</a:tableStyleId>
              </a:tblPr>
              <a:tblGrid>
                <a:gridCol w="1994961">
                  <a:extLst>
                    <a:ext uri="{9D8B030D-6E8A-4147-A177-3AD203B41FA5}">
                      <a16:colId xmlns:a16="http://schemas.microsoft.com/office/drawing/2014/main" val="1181093207"/>
                    </a:ext>
                  </a:extLst>
                </a:gridCol>
                <a:gridCol w="3453401">
                  <a:extLst>
                    <a:ext uri="{9D8B030D-6E8A-4147-A177-3AD203B41FA5}">
                      <a16:colId xmlns:a16="http://schemas.microsoft.com/office/drawing/2014/main" val="1244493739"/>
                    </a:ext>
                  </a:extLst>
                </a:gridCol>
                <a:gridCol w="1987405">
                  <a:extLst>
                    <a:ext uri="{9D8B030D-6E8A-4147-A177-3AD203B41FA5}">
                      <a16:colId xmlns:a16="http://schemas.microsoft.com/office/drawing/2014/main" val="1292484054"/>
                    </a:ext>
                  </a:extLst>
                </a:gridCol>
                <a:gridCol w="1813602">
                  <a:extLst>
                    <a:ext uri="{9D8B030D-6E8A-4147-A177-3AD203B41FA5}">
                      <a16:colId xmlns:a16="http://schemas.microsoft.com/office/drawing/2014/main" val="2309768946"/>
                    </a:ext>
                  </a:extLst>
                </a:gridCol>
                <a:gridCol w="1813602">
                  <a:extLst>
                    <a:ext uri="{9D8B030D-6E8A-4147-A177-3AD203B41FA5}">
                      <a16:colId xmlns:a16="http://schemas.microsoft.com/office/drawing/2014/main" val="723753037"/>
                    </a:ext>
                  </a:extLst>
                </a:gridCol>
              </a:tblGrid>
              <a:tr h="348262">
                <a:tc>
                  <a:txBody>
                    <a:bodyPr/>
                    <a:lstStyle/>
                    <a:p>
                      <a:pPr algn="l"/>
                      <a:r>
                        <a:rPr lang="en-CA" sz="1200" b="1"/>
                        <a:t>Application</a:t>
                      </a:r>
                      <a:endParaRPr lang="en-US"/>
                    </a:p>
                  </a:txBody>
                  <a:tcPr marT="91440" marB="91440" anchor="ctr"/>
                </a:tc>
                <a:tc>
                  <a:txBody>
                    <a:bodyPr/>
                    <a:lstStyle/>
                    <a:p>
                      <a:pPr marL="0" marR="0" algn="l" defTabSz="914400" rtl="0" eaLnBrk="1" latinLnBrk="0" hangingPunct="1">
                        <a:spcBef>
                          <a:spcPts val="0"/>
                        </a:spcBef>
                        <a:spcAft>
                          <a:spcPts val="0"/>
                        </a:spcAft>
                      </a:pPr>
                      <a:r>
                        <a:rPr lang="en-CA" sz="1200" b="1" kern="1200">
                          <a:solidFill>
                            <a:schemeClr val="lt1"/>
                          </a:solidFill>
                        </a:rPr>
                        <a:t>Tech Lead</a:t>
                      </a:r>
                      <a:endParaRPr lang="en-US"/>
                    </a:p>
                  </a:txBody>
                  <a:tcPr marT="91440" marB="91440" anchor="ctr"/>
                </a:tc>
                <a:tc>
                  <a:txBody>
                    <a:bodyPr/>
                    <a:lstStyle/>
                    <a:p>
                      <a:pPr algn="ctr"/>
                      <a:r>
                        <a:rPr lang="en-CA" sz="1200" b="1"/>
                        <a:t>ACP Status</a:t>
                      </a:r>
                    </a:p>
                  </a:txBody>
                  <a:tcPr marT="91440" marB="91440" anchor="ctr"/>
                </a:tc>
                <a:tc>
                  <a:txBody>
                    <a:bodyPr/>
                    <a:lstStyle/>
                    <a:p>
                      <a:pPr algn="ctr"/>
                      <a:r>
                        <a:rPr lang="en-CA" sz="1200" b="1"/>
                        <a:t>OSI / Run Books</a:t>
                      </a:r>
                    </a:p>
                  </a:txBody>
                  <a:tcPr marT="91440" marB="91440" anchor="ctr"/>
                </a:tc>
                <a:tc>
                  <a:txBody>
                    <a:bodyPr/>
                    <a:lstStyle/>
                    <a:p>
                      <a:pPr algn="ctr"/>
                      <a:r>
                        <a:rPr lang="en-CA" sz="1200" b="1"/>
                        <a:t>SCM</a:t>
                      </a:r>
                    </a:p>
                  </a:txBody>
                  <a:tcPr marT="91440" marB="91440" anchor="ctr"/>
                </a:tc>
                <a:extLst>
                  <a:ext uri="{0D108BD9-81ED-4DB2-BD59-A6C34878D82A}">
                    <a16:rowId xmlns:a16="http://schemas.microsoft.com/office/drawing/2014/main" val="3957539819"/>
                  </a:ext>
                </a:extLst>
              </a:tr>
              <a:tr h="392230">
                <a:tc>
                  <a:txBody>
                    <a:bodyPr/>
                    <a:lstStyle/>
                    <a:p>
                      <a:pPr algn="l" fontAlgn="ctr"/>
                      <a:r>
                        <a:rPr lang="en-US" sz="900" b="0" i="0" u="none" strike="noStrike">
                          <a:solidFill>
                            <a:srgbClr val="000000"/>
                          </a:solidFill>
                          <a:effectLst/>
                          <a:latin typeface="+mn-lt"/>
                          <a:cs typeface="Arial" panose="020B0604020202020204" pitchFamily="34" charset="0"/>
                        </a:rPr>
                        <a:t>AAM</a:t>
                      </a:r>
                    </a:p>
                  </a:txBody>
                  <a:tcPr marL="6350" marR="6350" marT="6350" marB="0" anchor="ctr"/>
                </a:tc>
                <a:tc>
                  <a:txBody>
                    <a:bodyPr/>
                    <a:lstStyle/>
                    <a:p>
                      <a:pPr algn="l" fontAlgn="ctr"/>
                      <a:r>
                        <a:rPr lang="en-US" sz="900" b="0" i="0" u="none" strike="noStrike">
                          <a:solidFill>
                            <a:srgbClr val="000000"/>
                          </a:solidFill>
                          <a:effectLst/>
                          <a:latin typeface="+mn-lt"/>
                          <a:cs typeface="Arial" panose="020B0604020202020204" pitchFamily="34" charset="0"/>
                        </a:rPr>
                        <a:t>Botu, Atchyuta Ramarao;</a:t>
                      </a:r>
                      <a:br>
                        <a:rPr lang="en-US" sz="900" b="0" i="0" u="none" strike="noStrike">
                          <a:solidFill>
                            <a:srgbClr val="000000"/>
                          </a:solidFill>
                          <a:effectLst/>
                          <a:latin typeface="+mn-lt"/>
                          <a:cs typeface="Arial" panose="020B0604020202020204" pitchFamily="34" charset="0"/>
                        </a:rPr>
                      </a:br>
                      <a:r>
                        <a:rPr lang="en-US" sz="900" b="0" i="0" u="none" strike="noStrike">
                          <a:solidFill>
                            <a:srgbClr val="000000"/>
                          </a:solidFill>
                          <a:effectLst/>
                          <a:latin typeface="+mn-lt"/>
                          <a:cs typeface="Arial" panose="020B0604020202020204" pitchFamily="34" charset="0"/>
                        </a:rPr>
                        <a:t>Bucur, Alexandre</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rPr>
                        <a:t>Draft</a:t>
                      </a:r>
                    </a:p>
                  </a:txBody>
                  <a:tcPr marL="6350" marR="6350" marT="6350" marB="0" anchor="ctr"/>
                </a:tc>
                <a:tc>
                  <a:txBody>
                    <a:bodyPr/>
                    <a:lstStyle/>
                    <a:p>
                      <a:pPr algn="ctr" fontAlgn="ct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lang="en-US" sz="900" b="0" i="0" u="none" strike="noStrike">
                        <a:solidFill>
                          <a:srgbClr val="000000"/>
                        </a:solidFill>
                        <a:effectLst/>
                        <a:latin typeface="+mn-lt"/>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2012670244"/>
                  </a:ext>
                </a:extLst>
              </a:tr>
              <a:tr h="392230">
                <a:tc>
                  <a:txBody>
                    <a:bodyPr/>
                    <a:lstStyle/>
                    <a:p>
                      <a:pPr algn="l" fontAlgn="ctr"/>
                      <a:r>
                        <a:rPr lang="en-US" sz="900" b="0" i="0" u="none" strike="noStrike">
                          <a:solidFill>
                            <a:srgbClr val="000000"/>
                          </a:solidFill>
                          <a:effectLst/>
                          <a:latin typeface="+mn-lt"/>
                          <a:cs typeface="Arial" panose="020B0604020202020204" pitchFamily="34" charset="0"/>
                        </a:rPr>
                        <a:t> CI</a:t>
                      </a:r>
                    </a:p>
                  </a:txBody>
                  <a:tcPr marL="6350" marR="6350" marT="6350" marB="0" anchor="ctr"/>
                </a:tc>
                <a:tc>
                  <a:txBody>
                    <a:bodyPr/>
                    <a:lstStyle/>
                    <a:p>
                      <a:pPr algn="l" fontAlgn="ctr"/>
                      <a:r>
                        <a:rPr lang="en-US" sz="900" b="0" i="0" u="none" strike="noStrike">
                          <a:solidFill>
                            <a:srgbClr val="000000"/>
                          </a:solidFill>
                          <a:effectLst/>
                          <a:latin typeface="+mn-lt"/>
                          <a:cs typeface="Arial" panose="020B0604020202020204" pitchFamily="34" charset="0"/>
                        </a:rPr>
                        <a:t>Botu, Atchyuta Ramarao;</a:t>
                      </a:r>
                      <a:br>
                        <a:rPr lang="en-US" sz="900" b="0" i="0" u="none" strike="noStrike">
                          <a:solidFill>
                            <a:srgbClr val="000000"/>
                          </a:solidFill>
                          <a:effectLst/>
                          <a:latin typeface="+mn-lt"/>
                          <a:cs typeface="Arial" panose="020B0604020202020204" pitchFamily="34" charset="0"/>
                        </a:rPr>
                      </a:br>
                      <a:r>
                        <a:rPr lang="en-US" sz="900" b="0" i="0" u="none" strike="noStrike">
                          <a:solidFill>
                            <a:srgbClr val="000000"/>
                          </a:solidFill>
                          <a:effectLst/>
                          <a:latin typeface="+mn-lt"/>
                          <a:cs typeface="Arial" panose="020B0604020202020204" pitchFamily="34" charset="0"/>
                        </a:rPr>
                        <a:t>Bucur, Alexandre;</a:t>
                      </a:r>
                    </a:p>
                  </a:txBody>
                  <a:tcPr marL="6350" marR="6350" marT="6350" marB="0" anchor="ctr"/>
                </a:tc>
                <a:tc>
                  <a:txBody>
                    <a:bodyPr/>
                    <a:lstStyle/>
                    <a:p>
                      <a:pPr algn="ctr" fontAlgn="ct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lang="en-US" sz="900" b="0" i="0" u="none" strike="noStrike">
                        <a:solidFill>
                          <a:srgbClr val="000000"/>
                        </a:solidFill>
                        <a:effectLst/>
                        <a:latin typeface="+mn-lt"/>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312148132"/>
                  </a:ext>
                </a:extLst>
              </a:tr>
              <a:tr h="293835">
                <a:tc>
                  <a:txBody>
                    <a:bodyPr/>
                    <a:lstStyle/>
                    <a:p>
                      <a:pPr algn="l" fontAlgn="ctr"/>
                      <a:r>
                        <a:rPr lang="en-US" sz="900" b="0" i="0" u="none" strike="noStrike">
                          <a:solidFill>
                            <a:srgbClr val="000000"/>
                          </a:solidFill>
                          <a:effectLst/>
                          <a:latin typeface="+mn-lt"/>
                          <a:cs typeface="Arial" panose="020B0604020202020204" pitchFamily="34" charset="0"/>
                        </a:rPr>
                        <a:t>CIBC R.Term</a:t>
                      </a:r>
                    </a:p>
                  </a:txBody>
                  <a:tcPr marL="6350" marR="6350" marT="6350" marB="0" anchor="ctr"/>
                </a:tc>
                <a:tc>
                  <a:txBody>
                    <a:bodyPr/>
                    <a:lstStyle/>
                    <a:p>
                      <a:pPr algn="l" fontAlgn="ctr"/>
                      <a:r>
                        <a:rPr lang="fi-FI" sz="900" b="0" i="0" u="none" strike="noStrike">
                          <a:solidFill>
                            <a:srgbClr val="000000"/>
                          </a:solidFill>
                          <a:effectLst/>
                          <a:latin typeface="+mn-lt"/>
                          <a:cs typeface="Arial" panose="020B0604020202020204" pitchFamily="34" charset="0"/>
                        </a:rPr>
                        <a:t>Lakkakula, Siribindhu;</a:t>
                      </a:r>
                    </a:p>
                    <a:p>
                      <a:pPr algn="l" fontAlgn="ctr"/>
                      <a:r>
                        <a:rPr lang="en-US" sz="900" b="0" i="0" u="none" strike="noStrike">
                          <a:solidFill>
                            <a:srgbClr val="000000"/>
                          </a:solidFill>
                          <a:effectLst/>
                          <a:latin typeface="+mn-lt"/>
                          <a:cs typeface="Arial" panose="020B0604020202020204" pitchFamily="34" charset="0"/>
                        </a:rPr>
                        <a:t>Varghese, Kithu</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algn="ctr" fontAlgn="ct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lang="en-US" sz="900" b="0" i="0" u="none" strike="noStrike">
                        <a:solidFill>
                          <a:srgbClr val="000000"/>
                        </a:solidFill>
                        <a:effectLst/>
                        <a:latin typeface="+mn-lt"/>
                        <a:cs typeface="Arial" panose="020B0604020202020204" pitchFamily="34" charset="0"/>
                      </a:endParaRPr>
                    </a:p>
                  </a:txBody>
                  <a:tcPr marL="6350" marR="6350" marT="6350" marB="0" anchor="ctr"/>
                </a:tc>
                <a:tc>
                  <a:txBody>
                    <a:bodyPr/>
                    <a:lstStyle/>
                    <a:p>
                      <a:pPr algn="ctr" fontAlgn="ct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lang="en-US" sz="900" b="0" i="0" u="none" strike="noStrike">
                        <a:solidFill>
                          <a:srgbClr val="000000"/>
                        </a:solidFill>
                        <a:effectLst/>
                        <a:latin typeface="+mn-lt"/>
                        <a:cs typeface="Arial" panose="020B0604020202020204" pitchFamily="34" charset="0"/>
                      </a:endParaRPr>
                    </a:p>
                  </a:txBody>
                  <a:tcPr marL="6350" marR="6350" marT="6350" marB="0" anchor="ctr"/>
                </a:tc>
                <a:extLst>
                  <a:ext uri="{0D108BD9-81ED-4DB2-BD59-A6C34878D82A}">
                    <a16:rowId xmlns:a16="http://schemas.microsoft.com/office/drawing/2014/main" val="257918542"/>
                  </a:ext>
                </a:extLst>
              </a:tr>
              <a:tr h="267243">
                <a:tc>
                  <a:txBody>
                    <a:bodyPr/>
                    <a:lstStyle/>
                    <a:p>
                      <a:pPr algn="l" fontAlgn="ctr"/>
                      <a:r>
                        <a:rPr lang="en-US" sz="900" b="0" i="0" u="none" strike="noStrike">
                          <a:solidFill>
                            <a:srgbClr val="000000"/>
                          </a:solidFill>
                          <a:effectLst/>
                          <a:latin typeface="+mn-lt"/>
                          <a:cs typeface="Arial" panose="020B0604020202020204" pitchFamily="34" charset="0"/>
                        </a:rPr>
                        <a:t> CLASS</a:t>
                      </a:r>
                    </a:p>
                  </a:txBody>
                  <a:tcPr marL="6350" marR="6350" marT="6350" marB="0" anchor="ctr"/>
                </a:tc>
                <a:tc>
                  <a:txBody>
                    <a:bodyPr/>
                    <a:lstStyle/>
                    <a:p>
                      <a:pPr algn="l" fontAlgn="ctr"/>
                      <a:r>
                        <a:rPr lang="en-US" sz="900" b="0" i="0" u="none" strike="noStrike">
                          <a:solidFill>
                            <a:srgbClr val="000000"/>
                          </a:solidFill>
                          <a:effectLst/>
                          <a:latin typeface="+mn-lt"/>
                          <a:cs typeface="Arial" panose="020B0604020202020204" pitchFamily="34" charset="0"/>
                        </a:rPr>
                        <a:t>Singh, Madan;</a:t>
                      </a:r>
                      <a:br>
                        <a:rPr lang="en-US" sz="900" b="0" i="0" u="none" strike="noStrike">
                          <a:solidFill>
                            <a:srgbClr val="000000"/>
                          </a:solidFill>
                          <a:effectLst/>
                          <a:latin typeface="+mn-lt"/>
                          <a:cs typeface="Arial" panose="020B0604020202020204" pitchFamily="34" charset="0"/>
                        </a:rPr>
                      </a:br>
                      <a:r>
                        <a:rPr lang="en-US" sz="900" b="0" i="0" u="none" strike="noStrike">
                          <a:solidFill>
                            <a:srgbClr val="000000"/>
                          </a:solidFill>
                          <a:effectLst/>
                          <a:latin typeface="+mn-lt"/>
                          <a:cs typeface="Arial" panose="020B0604020202020204" pitchFamily="34" charset="0"/>
                        </a:rPr>
                        <a:t>Sahu, Rohit;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2329468855"/>
                  </a:ext>
                </a:extLst>
              </a:tr>
              <a:tr h="397841">
                <a:tc>
                  <a:txBody>
                    <a:bodyPr/>
                    <a:lstStyle/>
                    <a:p>
                      <a:pPr algn="l" fontAlgn="ctr"/>
                      <a:r>
                        <a:rPr lang="en-US" sz="900" b="0" i="0" u="none" strike="noStrike">
                          <a:solidFill>
                            <a:srgbClr val="000000"/>
                          </a:solidFill>
                          <a:effectLst/>
                          <a:latin typeface="+mn-lt"/>
                          <a:cs typeface="Arial" panose="020B0604020202020204" pitchFamily="34" charset="0"/>
                        </a:rPr>
                        <a:t> CSB</a:t>
                      </a:r>
                    </a:p>
                  </a:txBody>
                  <a:tcPr marL="6350" marR="6350" marT="6350" marB="0" anchor="ctr"/>
                </a:tc>
                <a:tc>
                  <a:txBody>
                    <a:bodyPr/>
                    <a:lstStyle/>
                    <a:p>
                      <a:pPr algn="l" fontAlgn="ctr"/>
                      <a:r>
                        <a:rPr lang="pt-BR" sz="900" b="0" i="0" u="none" strike="noStrike">
                          <a:solidFill>
                            <a:srgbClr val="000000"/>
                          </a:solidFill>
                          <a:effectLst/>
                          <a:latin typeface="+mn-lt"/>
                          <a:cs typeface="Arial" panose="020B0604020202020204" pitchFamily="34" charset="0"/>
                        </a:rPr>
                        <a:t>Botu, Atchyuta Ramarao;</a:t>
                      </a:r>
                    </a:p>
                    <a:p>
                      <a:pPr algn="l" fontAlgn="ctr"/>
                      <a:r>
                        <a:rPr lang="pt-BR" sz="900" b="0" i="0" u="none" strike="noStrike">
                          <a:solidFill>
                            <a:srgbClr val="000000"/>
                          </a:solidFill>
                          <a:effectLst/>
                          <a:latin typeface="+mn-lt"/>
                          <a:cs typeface="Arial" panose="020B0604020202020204" pitchFamily="34" charset="0"/>
                        </a:rPr>
                        <a:t>Cook, David R.;</a:t>
                      </a:r>
                    </a:p>
                    <a:p>
                      <a:pPr algn="l" fontAlgn="ctr"/>
                      <a:r>
                        <a:rPr lang="pt-BR" sz="900" b="0" i="0" u="none" strike="noStrike">
                          <a:solidFill>
                            <a:srgbClr val="000000"/>
                          </a:solidFill>
                          <a:effectLst/>
                          <a:latin typeface="+mn-lt"/>
                          <a:cs typeface="Arial" panose="020B0604020202020204" pitchFamily="34" charset="0"/>
                        </a:rPr>
                        <a:t>Bucur, Alexandre;</a:t>
                      </a:r>
                    </a:p>
                  </a:txBody>
                  <a:tcPr marL="6350" marR="6350" marT="6350" marB="0" anchor="ctr"/>
                </a:tc>
                <a:tc>
                  <a:txBody>
                    <a:bodyPr/>
                    <a:lstStyle/>
                    <a:p>
                      <a:pPr algn="ctr" fontAlgn="ct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lang="en-US" sz="900" b="0" i="0" u="none" strike="noStrike">
                        <a:solidFill>
                          <a:srgbClr val="000000"/>
                        </a:solidFill>
                        <a:effectLst/>
                        <a:latin typeface="+mn-lt"/>
                        <a:cs typeface="Arial" panose="020B0604020202020204" pitchFamily="34" charset="0"/>
                      </a:endParaRPr>
                    </a:p>
                  </a:txBody>
                  <a:tcPr marL="6350" marR="6350" marT="6350" marB="0" anchor="ctr"/>
                </a:tc>
                <a:tc>
                  <a:txBody>
                    <a:bodyPr/>
                    <a:lstStyle/>
                    <a:p>
                      <a:pPr algn="ctr" fontAlgn="ct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lang="en-US" sz="900" b="0" i="0" u="none" strike="noStrike">
                        <a:solidFill>
                          <a:srgbClr val="000000"/>
                        </a:solidFill>
                        <a:effectLst/>
                        <a:latin typeface="+mn-lt"/>
                        <a:cs typeface="Arial" panose="020B0604020202020204" pitchFamily="34" charset="0"/>
                      </a:endParaRPr>
                    </a:p>
                  </a:txBody>
                  <a:tcPr marL="6350" marR="6350" marT="6350" marB="0" anchor="ctr"/>
                </a:tc>
                <a:tc>
                  <a:txBody>
                    <a:bodyPr/>
                    <a:lstStyle/>
                    <a:p>
                      <a:pPr algn="ctr" fontAlgn="ct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lang="en-US" sz="900" b="0" i="0" u="none" strike="noStrike">
                        <a:solidFill>
                          <a:srgbClr val="000000"/>
                        </a:solidFill>
                        <a:effectLst/>
                        <a:latin typeface="+mn-lt"/>
                        <a:cs typeface="Arial" panose="020B0604020202020204" pitchFamily="34" charset="0"/>
                      </a:endParaRPr>
                    </a:p>
                  </a:txBody>
                  <a:tcPr marL="6350" marR="6350" marT="6350" marB="0" anchor="ctr"/>
                </a:tc>
                <a:extLst>
                  <a:ext uri="{0D108BD9-81ED-4DB2-BD59-A6C34878D82A}">
                    <a16:rowId xmlns:a16="http://schemas.microsoft.com/office/drawing/2014/main" val="3570476607"/>
                  </a:ext>
                </a:extLst>
              </a:tr>
              <a:tr h="397841">
                <a:tc>
                  <a:txBody>
                    <a:bodyPr/>
                    <a:lstStyle/>
                    <a:p>
                      <a:pPr algn="l" fontAlgn="ctr"/>
                      <a:r>
                        <a:rPr lang="en-US" sz="900" b="0" i="0" u="none" strike="noStrike">
                          <a:solidFill>
                            <a:srgbClr val="000000"/>
                          </a:solidFill>
                          <a:effectLst/>
                          <a:latin typeface="+mn-lt"/>
                          <a:cs typeface="Arial" panose="020B0604020202020204" pitchFamily="34" charset="0"/>
                        </a:rPr>
                        <a:t> DDGS</a:t>
                      </a:r>
                    </a:p>
                  </a:txBody>
                  <a:tcPr marL="6350" marR="6350" marT="6350" marB="0" anchor="ctr"/>
                </a:tc>
                <a:tc>
                  <a:txBody>
                    <a:bodyPr/>
                    <a:lstStyle/>
                    <a:p>
                      <a:pPr algn="l" fontAlgn="ctr"/>
                      <a:r>
                        <a:rPr lang="it-IT" sz="900" b="0" i="0" u="none" strike="noStrike">
                          <a:solidFill>
                            <a:srgbClr val="000000"/>
                          </a:solidFill>
                          <a:effectLst/>
                          <a:latin typeface="+mn-lt"/>
                          <a:cs typeface="Arial" panose="020B0604020202020204" pitchFamily="34" charset="0"/>
                        </a:rPr>
                        <a:t>Desai, Vini Virendra;</a:t>
                      </a:r>
                      <a:br>
                        <a:rPr lang="it-IT" sz="900" b="0" i="0" u="none" strike="noStrike">
                          <a:solidFill>
                            <a:srgbClr val="000000"/>
                          </a:solidFill>
                          <a:effectLst/>
                          <a:latin typeface="+mn-lt"/>
                          <a:cs typeface="Arial" panose="020B0604020202020204" pitchFamily="34" charset="0"/>
                        </a:rPr>
                      </a:br>
                      <a:r>
                        <a:rPr lang="it-IT" sz="900" b="0" i="0" u="none" strike="noStrike">
                          <a:solidFill>
                            <a:srgbClr val="000000"/>
                          </a:solidFill>
                          <a:effectLst/>
                          <a:latin typeface="+mn-lt"/>
                          <a:cs typeface="Arial" panose="020B0604020202020204" pitchFamily="34" charset="0"/>
                        </a:rPr>
                        <a:t>Singh, Avtar;</a:t>
                      </a:r>
                      <a:br>
                        <a:rPr lang="it-IT" sz="900" b="0" i="0" u="none" strike="noStrike">
                          <a:solidFill>
                            <a:srgbClr val="000000"/>
                          </a:solidFill>
                          <a:effectLst/>
                          <a:latin typeface="+mn-lt"/>
                          <a:cs typeface="Arial" panose="020B0604020202020204" pitchFamily="34" charset="0"/>
                        </a:rPr>
                      </a:br>
                      <a:r>
                        <a:rPr lang="it-IT" sz="900" b="0" i="0" u="none" strike="noStrike">
                          <a:solidFill>
                            <a:srgbClr val="000000"/>
                          </a:solidFill>
                          <a:effectLst/>
                          <a:latin typeface="+mn-lt"/>
                          <a:cs typeface="Arial" panose="020B0604020202020204" pitchFamily="34" charset="0"/>
                        </a:rPr>
                        <a:t>Chang, Cher;</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2869312949"/>
                  </a:ext>
                </a:extLst>
              </a:tr>
              <a:tr h="392230">
                <a:tc>
                  <a:txBody>
                    <a:bodyPr/>
                    <a:lstStyle/>
                    <a:p>
                      <a:pPr algn="l" fontAlgn="ctr"/>
                      <a:r>
                        <a:rPr lang="en-US" sz="900" b="0" i="0" u="none" strike="noStrike">
                          <a:solidFill>
                            <a:srgbClr val="000000"/>
                          </a:solidFill>
                          <a:effectLst/>
                          <a:latin typeface="+mn-lt"/>
                          <a:cs typeface="Arial" panose="020B0604020202020204" pitchFamily="34" charset="0"/>
                        </a:rPr>
                        <a:t>Envoy</a:t>
                      </a:r>
                    </a:p>
                  </a:txBody>
                  <a:tcPr marL="6350" marR="6350" marT="6350" marB="0" anchor="ctr"/>
                </a:tc>
                <a:tc>
                  <a:txBody>
                    <a:bodyPr/>
                    <a:lstStyle/>
                    <a:p>
                      <a:pPr algn="l" fontAlgn="ctr"/>
                      <a:r>
                        <a:rPr lang="sv-SE" sz="900" b="0" i="0" u="none" strike="noStrike">
                          <a:solidFill>
                            <a:srgbClr val="000000"/>
                          </a:solidFill>
                          <a:effectLst/>
                          <a:latin typeface="+mn-lt"/>
                          <a:cs typeface="Arial" panose="020B0604020202020204" pitchFamily="34" charset="0"/>
                        </a:rPr>
                        <a:t>PALREDDY, DAMODHAR REDDY;</a:t>
                      </a:r>
                    </a:p>
                    <a:p>
                      <a:pPr algn="l" fontAlgn="ctr"/>
                      <a:r>
                        <a:rPr lang="sv-SE" sz="900" b="0" i="0" u="none" strike="noStrike">
                          <a:solidFill>
                            <a:srgbClr val="000000"/>
                          </a:solidFill>
                          <a:effectLst/>
                          <a:latin typeface="+mn-lt"/>
                          <a:cs typeface="Arial" panose="020B0604020202020204" pitchFamily="34" charset="0"/>
                        </a:rPr>
                        <a:t>Sharma, Rishi Kant;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2827576960"/>
                  </a:ext>
                </a:extLst>
              </a:tr>
              <a:tr h="392230">
                <a:tc>
                  <a:txBody>
                    <a:bodyPr/>
                    <a:lstStyle/>
                    <a:p>
                      <a:pPr algn="l" fontAlgn="ctr"/>
                      <a:r>
                        <a:rPr lang="en-US" sz="900" b="0" i="0" u="none" strike="noStrike">
                          <a:solidFill>
                            <a:srgbClr val="000000"/>
                          </a:solidFill>
                          <a:effectLst/>
                          <a:latin typeface="+mn-lt"/>
                          <a:cs typeface="Arial" panose="020B0604020202020204" pitchFamily="34" charset="0"/>
                        </a:rPr>
                        <a:t> FX</a:t>
                      </a:r>
                    </a:p>
                  </a:txBody>
                  <a:tcPr marL="6350" marR="6350" marT="6350" marB="0" anchor="ctr"/>
                </a:tc>
                <a:tc>
                  <a:txBody>
                    <a:bodyPr/>
                    <a:lstStyle/>
                    <a:p>
                      <a:pPr algn="l" fontAlgn="ctr"/>
                      <a:r>
                        <a:rPr lang="en-US" sz="900" b="0" i="0" u="none" strike="noStrike">
                          <a:solidFill>
                            <a:srgbClr val="000000"/>
                          </a:solidFill>
                          <a:effectLst/>
                          <a:latin typeface="+mn-lt"/>
                          <a:cs typeface="Arial" panose="020B0604020202020204" pitchFamily="34" charset="0"/>
                        </a:rPr>
                        <a:t>Botu, Atchyuta Ramarao;</a:t>
                      </a:r>
                      <a:br>
                        <a:rPr lang="en-US" sz="900" b="0" i="0" u="none" strike="noStrike">
                          <a:solidFill>
                            <a:srgbClr val="000000"/>
                          </a:solidFill>
                          <a:effectLst/>
                          <a:latin typeface="+mn-lt"/>
                          <a:cs typeface="Arial" panose="020B0604020202020204" pitchFamily="34" charset="0"/>
                        </a:rPr>
                      </a:br>
                      <a:r>
                        <a:rPr lang="en-US" sz="900" b="0" i="0" u="none" strike="noStrike">
                          <a:solidFill>
                            <a:srgbClr val="000000"/>
                          </a:solidFill>
                          <a:effectLst/>
                          <a:latin typeface="+mn-lt"/>
                          <a:cs typeface="Arial" panose="020B0604020202020204" pitchFamily="34" charset="0"/>
                        </a:rPr>
                        <a:t>Bucur, Alexandre;</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3239632124"/>
                  </a:ext>
                </a:extLst>
              </a:tr>
              <a:tr h="392230">
                <a:tc>
                  <a:txBody>
                    <a:bodyPr/>
                    <a:lstStyle/>
                    <a:p>
                      <a:pPr algn="l" fontAlgn="ctr"/>
                      <a:r>
                        <a:rPr lang="en-US" sz="900" b="0" i="0" u="none" strike="noStrike">
                          <a:solidFill>
                            <a:srgbClr val="000000"/>
                          </a:solidFill>
                          <a:effectLst/>
                          <a:latin typeface="+mn-lt"/>
                          <a:cs typeface="Arial" panose="020B0604020202020204" pitchFamily="34" charset="0"/>
                        </a:rPr>
                        <a:t> IPS</a:t>
                      </a:r>
                    </a:p>
                  </a:txBody>
                  <a:tcPr marL="6350" marR="6350" marT="6350" marB="0" anchor="ctr"/>
                </a:tc>
                <a:tc>
                  <a:txBody>
                    <a:bodyPr/>
                    <a:lstStyle/>
                    <a:p>
                      <a:pPr algn="l" fontAlgn="ctr"/>
                      <a:r>
                        <a:rPr lang="en-US" sz="900" b="0" i="0" u="none" strike="noStrike">
                          <a:solidFill>
                            <a:srgbClr val="000000"/>
                          </a:solidFill>
                          <a:effectLst/>
                          <a:latin typeface="+mn-lt"/>
                          <a:cs typeface="Arial" panose="020B0604020202020204" pitchFamily="34" charset="0"/>
                        </a:rPr>
                        <a:t>Botu, Atchyuta Ramarao;</a:t>
                      </a:r>
                      <a:br>
                        <a:rPr lang="en-US" sz="900" b="0" i="0" u="none" strike="noStrike">
                          <a:solidFill>
                            <a:srgbClr val="000000"/>
                          </a:solidFill>
                          <a:effectLst/>
                          <a:latin typeface="+mn-lt"/>
                          <a:cs typeface="Arial" panose="020B0604020202020204" pitchFamily="34" charset="0"/>
                        </a:rPr>
                      </a:br>
                      <a:r>
                        <a:rPr lang="en-US" sz="900" b="0" i="0" u="none" strike="noStrike">
                          <a:solidFill>
                            <a:srgbClr val="000000"/>
                          </a:solidFill>
                          <a:effectLst/>
                          <a:latin typeface="+mn-lt"/>
                          <a:cs typeface="Arial" panose="020B0604020202020204" pitchFamily="34" charset="0"/>
                        </a:rPr>
                        <a:t>Bucur, Alexandre;</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3667299205"/>
                  </a:ext>
                </a:extLst>
              </a:tr>
              <a:tr h="149591">
                <a:tc>
                  <a:txBody>
                    <a:bodyPr/>
                    <a:lstStyle/>
                    <a:p>
                      <a:pPr algn="l" fontAlgn="ctr"/>
                      <a:r>
                        <a:rPr lang="en-US" sz="900" b="0" i="0" u="none" strike="noStrike">
                          <a:solidFill>
                            <a:srgbClr val="000000"/>
                          </a:solidFill>
                          <a:effectLst/>
                          <a:latin typeface="+mn-lt"/>
                          <a:cs typeface="Arial" panose="020B0604020202020204" pitchFamily="34" charset="0"/>
                        </a:rPr>
                        <a:t> LAS</a:t>
                      </a:r>
                    </a:p>
                  </a:txBody>
                  <a:tcPr marL="6350" marR="6350" marT="6350" marB="0" anchor="ctr"/>
                </a:tc>
                <a:tc>
                  <a:txBody>
                    <a:bodyPr/>
                    <a:lstStyle/>
                    <a:p>
                      <a:pPr algn="l" fontAlgn="ctr"/>
                      <a:r>
                        <a:rPr lang="en-US" sz="900" b="0" i="0" u="none" strike="noStrike">
                          <a:solidFill>
                            <a:srgbClr val="000000"/>
                          </a:solidFill>
                          <a:effectLst/>
                          <a:latin typeface="+mn-lt"/>
                          <a:cs typeface="Arial" panose="020B0604020202020204" pitchFamily="34" charset="0"/>
                        </a:rPr>
                        <a:t>Grantham, Ron</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2489261290"/>
                  </a:ext>
                </a:extLst>
              </a:tr>
              <a:tr h="504183">
                <a:tc>
                  <a:txBody>
                    <a:bodyPr/>
                    <a:lstStyle/>
                    <a:p>
                      <a:pPr algn="l" fontAlgn="ctr"/>
                      <a:r>
                        <a:rPr lang="en-US" sz="900" b="0" i="0" u="none" strike="noStrike">
                          <a:solidFill>
                            <a:srgbClr val="000000"/>
                          </a:solidFill>
                          <a:effectLst/>
                          <a:latin typeface="+mn-lt"/>
                          <a:cs typeface="Arial" panose="020B0604020202020204" pitchFamily="34" charset="0"/>
                        </a:rPr>
                        <a:t> LCMS</a:t>
                      </a:r>
                    </a:p>
                  </a:txBody>
                  <a:tcPr marL="6350" marR="6350" marT="6350" marB="0" anchor="ctr"/>
                </a:tc>
                <a:tc>
                  <a:txBody>
                    <a:bodyPr/>
                    <a:lstStyle/>
                    <a:p>
                      <a:pPr algn="l" fontAlgn="ctr"/>
                      <a:r>
                        <a:rPr lang="en-US" sz="900" b="0" i="0" u="none" strike="noStrike">
                          <a:solidFill>
                            <a:srgbClr val="000000"/>
                          </a:solidFill>
                          <a:effectLst/>
                          <a:latin typeface="+mn-lt"/>
                          <a:cs typeface="Arial"/>
                        </a:rPr>
                        <a:t>Panigrahi, Nrusinghnath;</a:t>
                      </a:r>
                      <a:br>
                        <a:rPr lang="en-US" sz="900" b="0" i="0" u="none" strike="noStrike">
                          <a:solidFill>
                            <a:srgbClr val="000000"/>
                          </a:solidFill>
                          <a:effectLst/>
                          <a:latin typeface="+mn-lt"/>
                          <a:cs typeface="Arial"/>
                        </a:rPr>
                      </a:br>
                      <a:r>
                        <a:rPr lang="en-US" sz="900" b="0" i="0" u="none" strike="noStrike">
                          <a:solidFill>
                            <a:srgbClr val="000000"/>
                          </a:solidFill>
                          <a:effectLst/>
                          <a:latin typeface="+mn-lt"/>
                          <a:cs typeface="Arial"/>
                        </a:rPr>
                        <a:t>Tiwari, Divya;</a:t>
                      </a:r>
                    </a:p>
                    <a:p>
                      <a:pPr lvl="0" algn="l">
                        <a:buNone/>
                      </a:pPr>
                      <a:r>
                        <a:rPr lang="en-US" sz="900" b="0" i="0" u="none" strike="noStrike" baseline="0" noProof="0">
                          <a:solidFill>
                            <a:srgbClr val="000000"/>
                          </a:solidFill>
                          <a:effectLst/>
                          <a:latin typeface="Trebuchet MS"/>
                        </a:rPr>
                        <a:t>Acharya, Smruti;</a:t>
                      </a:r>
                      <a:endParaRPr lang="en-US"/>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a:txBody>
                  <a:tcPr marL="6350" marR="6350" marT="6350" marB="0" anchor="ctr"/>
                </a:tc>
                <a:extLst>
                  <a:ext uri="{0D108BD9-81ED-4DB2-BD59-A6C34878D82A}">
                    <a16:rowId xmlns:a16="http://schemas.microsoft.com/office/drawing/2014/main" val="3482879388"/>
                  </a:ext>
                </a:extLst>
              </a:tr>
              <a:tr h="149930">
                <a:tc>
                  <a:txBody>
                    <a:bodyPr/>
                    <a:lstStyle/>
                    <a:p>
                      <a:pPr algn="l" fontAlgn="ctr"/>
                      <a:r>
                        <a:rPr lang="en-US" sz="900" b="0" i="0" u="none" strike="noStrike">
                          <a:solidFill>
                            <a:srgbClr val="000000"/>
                          </a:solidFill>
                          <a:effectLst/>
                          <a:latin typeface="+mn-lt"/>
                          <a:cs typeface="Arial" panose="020B0604020202020204" pitchFamily="34" charset="0"/>
                        </a:rPr>
                        <a:t> PCA/SAV</a:t>
                      </a:r>
                    </a:p>
                  </a:txBody>
                  <a:tcPr marL="6350" marR="6350" marT="6350" marB="0" anchor="ctr"/>
                </a:tc>
                <a:tc>
                  <a:txBody>
                    <a:bodyPr/>
                    <a:lstStyle/>
                    <a:p>
                      <a:pPr algn="l" fontAlgn="ctr"/>
                      <a:r>
                        <a:rPr lang="en-US" sz="900" b="0" i="0" u="none" strike="noStrike">
                          <a:solidFill>
                            <a:srgbClr val="000000"/>
                          </a:solidFill>
                          <a:effectLst/>
                          <a:latin typeface="+mn-lt"/>
                          <a:cs typeface="Arial" panose="020B0604020202020204" pitchFamily="34" charset="0"/>
                        </a:rPr>
                        <a:t>MacNeil, Natalie</a:t>
                      </a:r>
                    </a:p>
                  </a:txBody>
                  <a:tcPr marL="6350" marR="6350" marT="6350" marB="0" anchor="ctr"/>
                </a:tc>
                <a:tc>
                  <a:txBody>
                    <a:bodyPr/>
                    <a:lstStyle/>
                    <a:p>
                      <a:pPr algn="ctr" fontAlgn="ct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lang="en-US" sz="900" b="0" i="0" u="none" strike="noStrike">
                        <a:solidFill>
                          <a:srgbClr val="000000"/>
                        </a:solidFill>
                        <a:effectLst/>
                        <a:latin typeface="+mn-lt"/>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a:txBody>
                  <a:tcPr marL="6350" marR="6350" marT="6350" marB="0" anchor="ctr"/>
                </a:tc>
                <a:tc>
                  <a:txBody>
                    <a:bodyPr/>
                    <a:lstStyle/>
                    <a:p>
                      <a:pPr algn="ctr" fontAlgn="ct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lang="en-US" sz="900" b="0" i="0" u="none" strike="noStrike">
                        <a:solidFill>
                          <a:srgbClr val="000000"/>
                        </a:solidFill>
                        <a:effectLst/>
                        <a:latin typeface="+mn-lt"/>
                        <a:cs typeface="Arial" panose="020B0604020202020204" pitchFamily="34" charset="0"/>
                      </a:endParaRPr>
                    </a:p>
                  </a:txBody>
                  <a:tcPr marL="6350" marR="6350" marT="6350" marB="0" anchor="ctr"/>
                </a:tc>
                <a:extLst>
                  <a:ext uri="{0D108BD9-81ED-4DB2-BD59-A6C34878D82A}">
                    <a16:rowId xmlns:a16="http://schemas.microsoft.com/office/drawing/2014/main" val="2265729731"/>
                  </a:ext>
                </a:extLst>
              </a:tr>
              <a:tr h="392230">
                <a:tc>
                  <a:txBody>
                    <a:bodyPr/>
                    <a:lstStyle/>
                    <a:p>
                      <a:pPr algn="l" fontAlgn="ctr"/>
                      <a:r>
                        <a:rPr lang="en-US" sz="900" b="0" i="0" u="none" strike="noStrike">
                          <a:solidFill>
                            <a:srgbClr val="000000"/>
                          </a:solidFill>
                          <a:effectLst/>
                          <a:latin typeface="+mn-lt"/>
                          <a:cs typeface="Arial" panose="020B0604020202020204" pitchFamily="34" charset="0"/>
                        </a:rPr>
                        <a:t> RRIF Printing</a:t>
                      </a:r>
                    </a:p>
                  </a:txBody>
                  <a:tcPr marL="6350" marR="6350" marT="6350" marB="0" anchor="ctr"/>
                </a:tc>
                <a:tc>
                  <a:txBody>
                    <a:bodyPr/>
                    <a:lstStyle/>
                    <a:p>
                      <a:pPr algn="l" fontAlgn="ctr"/>
                      <a:r>
                        <a:rPr lang="en-US" sz="900" b="0" i="0" u="none" strike="noStrike">
                          <a:solidFill>
                            <a:srgbClr val="000000"/>
                          </a:solidFill>
                          <a:effectLst/>
                          <a:latin typeface="+mn-lt"/>
                          <a:cs typeface="Arial" panose="020B0604020202020204" pitchFamily="34" charset="0"/>
                        </a:rPr>
                        <a:t>Botu, Atchyuta Ramarao;</a:t>
                      </a:r>
                      <a:br>
                        <a:rPr lang="en-US" sz="900" b="0" i="0" u="none" strike="noStrike">
                          <a:solidFill>
                            <a:srgbClr val="000000"/>
                          </a:solidFill>
                          <a:effectLst/>
                          <a:latin typeface="+mn-lt"/>
                          <a:cs typeface="Arial" panose="020B0604020202020204" pitchFamily="34" charset="0"/>
                        </a:rPr>
                      </a:br>
                      <a:r>
                        <a:rPr lang="en-US" sz="900" b="0" i="0" u="none" strike="noStrike">
                          <a:solidFill>
                            <a:srgbClr val="000000"/>
                          </a:solidFill>
                          <a:effectLst/>
                          <a:latin typeface="+mn-lt"/>
                          <a:cs typeface="Arial" panose="020B0604020202020204" pitchFamily="34" charset="0"/>
                        </a:rPr>
                        <a:t>Bucur, Alexandre;</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3936136598"/>
                  </a:ext>
                </a:extLst>
              </a:tr>
              <a:tr h="392230">
                <a:tc>
                  <a:txBody>
                    <a:bodyPr/>
                    <a:lstStyle/>
                    <a:p>
                      <a:pPr algn="l" fontAlgn="ctr"/>
                      <a:r>
                        <a:rPr lang="en-US" sz="900" b="0" i="0" u="none" strike="noStrike">
                          <a:solidFill>
                            <a:srgbClr val="000000"/>
                          </a:solidFill>
                          <a:effectLst/>
                          <a:latin typeface="+mn-lt"/>
                          <a:cs typeface="Arial" panose="020B0604020202020204" pitchFamily="34" charset="0"/>
                        </a:rPr>
                        <a:t> RRSP/TFSA</a:t>
                      </a:r>
                    </a:p>
                  </a:txBody>
                  <a:tcPr marL="6350" marR="6350" marT="6350" marB="0" anchor="ctr"/>
                </a:tc>
                <a:tc>
                  <a:txBody>
                    <a:bodyPr/>
                    <a:lstStyle/>
                    <a:p>
                      <a:pPr algn="l" fontAlgn="ctr"/>
                      <a:r>
                        <a:rPr lang="en-US" sz="900" b="0" i="0" u="none" strike="noStrike">
                          <a:solidFill>
                            <a:srgbClr val="000000"/>
                          </a:solidFill>
                          <a:effectLst/>
                          <a:latin typeface="+mn-lt"/>
                          <a:cs typeface="Arial" panose="020B0604020202020204" pitchFamily="34" charset="0"/>
                        </a:rPr>
                        <a:t>Botu, Atchyuta Ramarao;</a:t>
                      </a:r>
                      <a:br>
                        <a:rPr lang="en-US" sz="900" b="0" i="0" u="none" strike="noStrike">
                          <a:solidFill>
                            <a:srgbClr val="000000"/>
                          </a:solidFill>
                          <a:effectLst/>
                          <a:latin typeface="+mn-lt"/>
                          <a:cs typeface="Arial" panose="020B0604020202020204" pitchFamily="34" charset="0"/>
                        </a:rPr>
                      </a:br>
                      <a:r>
                        <a:rPr lang="en-US" sz="900" b="0" i="0" u="none" strike="noStrike">
                          <a:solidFill>
                            <a:srgbClr val="000000"/>
                          </a:solidFill>
                          <a:effectLst/>
                          <a:latin typeface="+mn-lt"/>
                          <a:cs typeface="Arial" panose="020B0604020202020204" pitchFamily="34" charset="0"/>
                        </a:rPr>
                        <a:t>Bucur, Alexandre;</a:t>
                      </a:r>
                    </a:p>
                  </a:txBody>
                  <a:tcPr marL="6350" marR="6350" marT="6350" marB="0" anchor="ctr"/>
                </a:tc>
                <a:tc>
                  <a:txBody>
                    <a:bodyPr/>
                    <a:lstStyle/>
                    <a:p>
                      <a:pPr algn="ctr" fontAlgn="ct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lang="en-US" sz="900" b="0" i="0" u="none" strike="noStrike">
                        <a:solidFill>
                          <a:srgbClr val="000000"/>
                        </a:solidFill>
                        <a:effectLst/>
                        <a:latin typeface="+mn-lt"/>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529598291"/>
                  </a:ext>
                </a:extLst>
              </a:tr>
              <a:tr h="392230">
                <a:tc>
                  <a:txBody>
                    <a:bodyPr/>
                    <a:lstStyle/>
                    <a:p>
                      <a:pPr algn="l" fontAlgn="ctr"/>
                      <a:r>
                        <a:rPr lang="en-US" sz="900" b="0" i="0" u="none" strike="noStrike">
                          <a:solidFill>
                            <a:srgbClr val="000000"/>
                          </a:solidFill>
                          <a:effectLst/>
                          <a:latin typeface="+mn-lt"/>
                          <a:cs typeface="Arial" panose="020B0604020202020204" pitchFamily="34" charset="0"/>
                        </a:rPr>
                        <a:t> SDB</a:t>
                      </a:r>
                    </a:p>
                  </a:txBody>
                  <a:tcPr marL="6350" marR="6350" marT="6350" marB="0" anchor="ctr"/>
                </a:tc>
                <a:tc>
                  <a:txBody>
                    <a:bodyPr/>
                    <a:lstStyle/>
                    <a:p>
                      <a:pPr algn="l" fontAlgn="ctr"/>
                      <a:r>
                        <a:rPr lang="en-US" sz="900" b="0" i="0" u="none" strike="noStrike">
                          <a:solidFill>
                            <a:srgbClr val="000000"/>
                          </a:solidFill>
                          <a:effectLst/>
                          <a:latin typeface="+mn-lt"/>
                          <a:cs typeface="Arial" panose="020B0604020202020204" pitchFamily="34" charset="0"/>
                        </a:rPr>
                        <a:t>Botu, Atchyuta Ramarao;</a:t>
                      </a:r>
                      <a:br>
                        <a:rPr lang="en-US" sz="900" b="0" i="0" u="none" strike="noStrike">
                          <a:solidFill>
                            <a:srgbClr val="000000"/>
                          </a:solidFill>
                          <a:effectLst/>
                          <a:latin typeface="+mn-lt"/>
                          <a:cs typeface="Arial" panose="020B0604020202020204" pitchFamily="34" charset="0"/>
                        </a:rPr>
                      </a:br>
                      <a:r>
                        <a:rPr lang="en-US" sz="900" b="0" i="0" u="none" strike="noStrike">
                          <a:solidFill>
                            <a:srgbClr val="000000"/>
                          </a:solidFill>
                          <a:effectLst/>
                          <a:latin typeface="+mn-lt"/>
                          <a:cs typeface="Arial" panose="020B0604020202020204" pitchFamily="34" charset="0"/>
                        </a:rPr>
                        <a:t>Bucur, Alexandre;</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391075533"/>
                  </a:ext>
                </a:extLst>
              </a:tr>
              <a:tr h="397841">
                <a:tc>
                  <a:txBody>
                    <a:bodyPr/>
                    <a:lstStyle/>
                    <a:p>
                      <a:pPr algn="l" fontAlgn="ctr"/>
                      <a:r>
                        <a:rPr lang="en-US" sz="900" b="0" i="0" u="none" strike="noStrike">
                          <a:solidFill>
                            <a:srgbClr val="000000"/>
                          </a:solidFill>
                          <a:effectLst/>
                          <a:latin typeface="+mn-lt"/>
                          <a:cs typeface="Arial" panose="020B0604020202020204" pitchFamily="34" charset="0"/>
                        </a:rPr>
                        <a:t> STB</a:t>
                      </a:r>
                    </a:p>
                  </a:txBody>
                  <a:tcPr marL="6350" marR="6350" marT="6350" marB="0" anchor="ctr"/>
                </a:tc>
                <a:tc>
                  <a:txBody>
                    <a:bodyPr/>
                    <a:lstStyle/>
                    <a:p>
                      <a:pPr algn="l" fontAlgn="ctr"/>
                      <a:endParaRPr lang="en-US" sz="900" b="0" i="0" u="none" strike="noStrike">
                        <a:solidFill>
                          <a:srgbClr val="000000"/>
                        </a:solidFill>
                        <a:effectLst/>
                        <a:latin typeface="+mn-lt"/>
                        <a:cs typeface="Arial" panose="020B0604020202020204" pitchFamily="34" charset="0"/>
                      </a:endParaRPr>
                    </a:p>
                    <a:p>
                      <a:pPr algn="l" fontAlgn="ctr"/>
                      <a:r>
                        <a:rPr lang="en-US" sz="900" b="0" i="0" u="none" strike="noStrike">
                          <a:solidFill>
                            <a:srgbClr val="000000"/>
                          </a:solidFill>
                          <a:effectLst/>
                          <a:latin typeface="+mn-lt"/>
                          <a:cs typeface="Arial" panose="020B0604020202020204" pitchFamily="34" charset="0"/>
                        </a:rPr>
                        <a:t>Foster, Shannon</a:t>
                      </a:r>
                    </a:p>
                    <a:p>
                      <a:pPr algn="l" fontAlgn="ctr"/>
                      <a:endParaRPr lang="en-US" sz="900" b="0" i="0" u="none" strike="noStrike">
                        <a:solidFill>
                          <a:srgbClr val="000000"/>
                        </a:solidFill>
                        <a:effectLst/>
                        <a:latin typeface="+mn-lt"/>
                        <a:cs typeface="Arial" panose="020B060402020202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Trebuchet MS"/>
                          <a:ea typeface="+mn-ea"/>
                          <a:cs typeface="Arial" panose="020B0604020202020204" pitchFamily="34" charset="0"/>
                        </a:rPr>
                        <a:t>Draft</a:t>
                      </a:r>
                    </a:p>
                  </a:txBody>
                  <a:tcPr marL="6350" marR="6350" marT="6350" marB="0" anchor="ctr"/>
                </a:tc>
                <a:extLst>
                  <a:ext uri="{0D108BD9-81ED-4DB2-BD59-A6C34878D82A}">
                    <a16:rowId xmlns:a16="http://schemas.microsoft.com/office/drawing/2014/main" val="2466399591"/>
                  </a:ext>
                </a:extLst>
              </a:tr>
            </a:tbl>
          </a:graphicData>
        </a:graphic>
      </p:graphicFrame>
      <p:sp>
        <p:nvSpPr>
          <p:cNvPr id="5" name="Title 1">
            <a:extLst>
              <a:ext uri="{FF2B5EF4-FFF2-40B4-BE49-F238E27FC236}">
                <a16:creationId xmlns:a16="http://schemas.microsoft.com/office/drawing/2014/main" id="{547E28FA-5C48-C653-EA6A-AF609C12C908}"/>
              </a:ext>
            </a:extLst>
          </p:cNvPr>
          <p:cNvSpPr txBox="1">
            <a:spLocks/>
          </p:cNvSpPr>
          <p:nvPr/>
        </p:nvSpPr>
        <p:spPr>
          <a:xfrm>
            <a:off x="297180" y="115807"/>
            <a:ext cx="10933748" cy="581983"/>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CA" sz="2800"/>
              <a:t>Sep 21</a:t>
            </a:r>
            <a:r>
              <a:rPr lang="en-CA" sz="2800" baseline="30000"/>
              <a:t>st</a:t>
            </a:r>
            <a:r>
              <a:rPr lang="en-CA" sz="2800"/>
              <a:t> </a:t>
            </a:r>
            <a:r>
              <a:rPr kumimoji="0" lang="en-CA" sz="2800" b="1" i="0" u="none" strike="noStrike" kern="1200" cap="none" spc="0" normalizeH="0" baseline="0" noProof="0">
                <a:ln>
                  <a:noFill/>
                </a:ln>
                <a:solidFill>
                  <a:srgbClr val="D40139"/>
                </a:solidFill>
                <a:effectLst/>
                <a:uLnTx/>
                <a:uFillTx/>
                <a:latin typeface="Trebuchet MS"/>
                <a:ea typeface="+mj-ea"/>
                <a:cs typeface="+mj-cs"/>
              </a:rPr>
              <a:t>Release ADM Tracker</a:t>
            </a:r>
            <a:endParaRPr kumimoji="0" lang="en-US" sz="2800" b="1" i="0" u="none" strike="noStrike" kern="1200" cap="none" spc="0" normalizeH="0" baseline="0" noProof="0">
              <a:ln>
                <a:noFill/>
              </a:ln>
              <a:solidFill>
                <a:srgbClr val="D40139"/>
              </a:solidFill>
              <a:effectLst/>
              <a:uLnTx/>
              <a:uFillTx/>
              <a:latin typeface="Trebuchet MS"/>
              <a:ea typeface="+mj-ea"/>
              <a:cs typeface="+mj-cs"/>
            </a:endParaRPr>
          </a:p>
        </p:txBody>
      </p:sp>
    </p:spTree>
    <p:extLst>
      <p:ext uri="{BB962C8B-B14F-4D97-AF65-F5344CB8AC3E}">
        <p14:creationId xmlns:p14="http://schemas.microsoft.com/office/powerpoint/2010/main" val="39770771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07C699-07D2-40D9-D589-F10FD9350EF6}"/>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FA711D1C-2BFC-D985-EC1A-BE76828A97AE}"/>
              </a:ext>
            </a:extLst>
          </p:cNvPr>
          <p:cNvGraphicFramePr>
            <a:graphicFrameLocks noGrp="1"/>
          </p:cNvGraphicFramePr>
          <p:nvPr>
            <p:ph idx="1"/>
            <p:extLst>
              <p:ext uri="{D42A27DB-BD31-4B8C-83A1-F6EECF244321}">
                <p14:modId xmlns:p14="http://schemas.microsoft.com/office/powerpoint/2010/main" val="1139119721"/>
              </p:ext>
            </p:extLst>
          </p:nvPr>
        </p:nvGraphicFramePr>
        <p:xfrm>
          <a:off x="310570" y="697790"/>
          <a:ext cx="11266060" cy="4438534"/>
        </p:xfrm>
        <a:graphic>
          <a:graphicData uri="http://schemas.openxmlformats.org/drawingml/2006/table">
            <a:tbl>
              <a:tblPr firstRow="1" bandRow="1">
                <a:tableStyleId>{2A488322-F2BA-4B5B-9748-0D474271808F}</a:tableStyleId>
              </a:tblPr>
              <a:tblGrid>
                <a:gridCol w="1119324">
                  <a:extLst>
                    <a:ext uri="{9D8B030D-6E8A-4147-A177-3AD203B41FA5}">
                      <a16:colId xmlns:a16="http://schemas.microsoft.com/office/drawing/2014/main" val="2486246951"/>
                    </a:ext>
                  </a:extLst>
                </a:gridCol>
                <a:gridCol w="1241698">
                  <a:extLst>
                    <a:ext uri="{9D8B030D-6E8A-4147-A177-3AD203B41FA5}">
                      <a16:colId xmlns:a16="http://schemas.microsoft.com/office/drawing/2014/main" val="1707083591"/>
                    </a:ext>
                  </a:extLst>
                </a:gridCol>
                <a:gridCol w="1946590">
                  <a:extLst>
                    <a:ext uri="{9D8B030D-6E8A-4147-A177-3AD203B41FA5}">
                      <a16:colId xmlns:a16="http://schemas.microsoft.com/office/drawing/2014/main" val="3674080757"/>
                    </a:ext>
                  </a:extLst>
                </a:gridCol>
                <a:gridCol w="2429004">
                  <a:extLst>
                    <a:ext uri="{9D8B030D-6E8A-4147-A177-3AD203B41FA5}">
                      <a16:colId xmlns:a16="http://schemas.microsoft.com/office/drawing/2014/main" val="700112739"/>
                    </a:ext>
                  </a:extLst>
                </a:gridCol>
                <a:gridCol w="4529444">
                  <a:extLst>
                    <a:ext uri="{9D8B030D-6E8A-4147-A177-3AD203B41FA5}">
                      <a16:colId xmlns:a16="http://schemas.microsoft.com/office/drawing/2014/main" val="1814946742"/>
                    </a:ext>
                  </a:extLst>
                </a:gridCol>
              </a:tblGrid>
              <a:tr h="221274">
                <a:tc>
                  <a:txBody>
                    <a:bodyPr/>
                    <a:lstStyle/>
                    <a:p>
                      <a:pPr algn="ctr"/>
                      <a:r>
                        <a:rPr lang="en-CA" sz="1100"/>
                        <a:t>App / Group</a:t>
                      </a:r>
                      <a:endParaRPr lang="en-US" sz="1100">
                        <a:latin typeface="+mn-lt"/>
                      </a:endParaRPr>
                    </a:p>
                  </a:txBody>
                  <a:tcPr anchor="ctr"/>
                </a:tc>
                <a:tc>
                  <a:txBody>
                    <a:bodyPr/>
                    <a:lstStyle/>
                    <a:p>
                      <a:pPr algn="ctr"/>
                      <a:r>
                        <a:rPr lang="en-CA" sz="1100"/>
                        <a:t>PM/Lead</a:t>
                      </a:r>
                      <a:endParaRPr lang="en-US" sz="1100">
                        <a:latin typeface="+mn-lt"/>
                      </a:endParaRPr>
                    </a:p>
                  </a:txBody>
                  <a:tcPr anchor="ctr"/>
                </a:tc>
                <a:tc>
                  <a:txBody>
                    <a:bodyPr/>
                    <a:lstStyle/>
                    <a:p>
                      <a:pPr algn="ctr"/>
                      <a:r>
                        <a:rPr lang="en-CA" sz="1100"/>
                        <a:t>Available 5am-12pm</a:t>
                      </a:r>
                      <a:endParaRPr lang="en-CA" sz="1100">
                        <a:latin typeface="+mn-lt"/>
                      </a:endParaRPr>
                    </a:p>
                  </a:txBody>
                  <a:tcPr anchor="ctr"/>
                </a:tc>
                <a:tc>
                  <a:txBody>
                    <a:bodyPr/>
                    <a:lstStyle/>
                    <a:p>
                      <a:pPr algn="ctr"/>
                      <a:r>
                        <a:rPr lang="en-CA" sz="1100"/>
                        <a:t>Changes planned</a:t>
                      </a:r>
                      <a:endParaRPr lang="en-CA" sz="1100">
                        <a:latin typeface="+mn-lt"/>
                      </a:endParaRPr>
                    </a:p>
                  </a:txBody>
                  <a:tcPr anchor="ctr"/>
                </a:tc>
                <a:tc>
                  <a:txBody>
                    <a:bodyPr/>
                    <a:lstStyle/>
                    <a:p>
                      <a:pPr algn="ctr"/>
                      <a:r>
                        <a:rPr lang="en-CA" sz="1100"/>
                        <a:t>Contact Name &amp; Phone Number</a:t>
                      </a:r>
                      <a:endParaRPr lang="en-US" sz="1100">
                        <a:latin typeface="+mn-lt"/>
                      </a:endParaRPr>
                    </a:p>
                  </a:txBody>
                  <a:tcPr anchor="ctr"/>
                </a:tc>
                <a:extLst>
                  <a:ext uri="{0D108BD9-81ED-4DB2-BD59-A6C34878D82A}">
                    <a16:rowId xmlns:a16="http://schemas.microsoft.com/office/drawing/2014/main" val="3571902798"/>
                  </a:ext>
                </a:extLst>
              </a:tr>
              <a:tr h="557894">
                <a:tc>
                  <a:txBody>
                    <a:bodyPr/>
                    <a:lstStyle/>
                    <a:p>
                      <a:pPr algn="l" rtl="0" fontAlgn="ctr"/>
                      <a:r>
                        <a:rPr lang="en-CA" sz="1000" b="0" u="none" strike="noStrike">
                          <a:solidFill>
                            <a:srgbClr val="000000"/>
                          </a:solidFill>
                          <a:effectLst/>
                        </a:rPr>
                        <a:t>ECIF Services</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Divyanshu</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r>
                        <a:rPr lang="fr-FR" sz="1000" kern="1200">
                          <a:solidFill>
                            <a:schemeClr val="dk1"/>
                          </a:solidFill>
                          <a:effectLst/>
                          <a:latin typeface="+mn-lt"/>
                          <a:ea typeface="+mn-ea"/>
                          <a:cs typeface="+mn-cs"/>
                        </a:rPr>
                        <a:t>a. </a:t>
                      </a:r>
                      <a:r>
                        <a:rPr lang="fr-FR" sz="1000" u="sng" kern="1200">
                          <a:solidFill>
                            <a:schemeClr val="dk1"/>
                          </a:solidFill>
                          <a:effectLst/>
                          <a:latin typeface="+mn-lt"/>
                          <a:ea typeface="+mn-ea"/>
                          <a:cs typeface="+mn-cs"/>
                          <a:hlinkClick r:id="rId3"/>
                        </a:rPr>
                        <a:t>Mailbox.ECIFBaseEssential@cibc.com</a:t>
                      </a:r>
                      <a:r>
                        <a:rPr lang="en-CA" sz="1000" kern="1200">
                          <a:solidFill>
                            <a:schemeClr val="dk1"/>
                          </a:solidFill>
                          <a:effectLst/>
                          <a:latin typeface="+mn-lt"/>
                          <a:ea typeface="+mn-ea"/>
                          <a:cs typeface="+mn-cs"/>
                        </a:rPr>
                        <a:t> </a:t>
                      </a:r>
                      <a:r>
                        <a:rPr lang="fr-FR" sz="1000" kern="1200">
                          <a:solidFill>
                            <a:schemeClr val="dk1"/>
                          </a:solidFill>
                          <a:effectLst/>
                          <a:latin typeface="+mn-lt"/>
                          <a:ea typeface="+mn-ea"/>
                          <a:cs typeface="+mn-cs"/>
                        </a:rPr>
                        <a:t>/ Pager - 416 725 7107 (24*7 Support)​</a:t>
                      </a:r>
                      <a:endParaRPr lang="en-US" sz="1000" kern="1200">
                        <a:solidFill>
                          <a:schemeClr val="dk1"/>
                        </a:solidFill>
                        <a:effectLst/>
                        <a:latin typeface="+mn-lt"/>
                        <a:ea typeface="+mn-ea"/>
                        <a:cs typeface="+mn-cs"/>
                      </a:endParaRPr>
                    </a:p>
                    <a:p>
                      <a:r>
                        <a:rPr lang="fr-FR" sz="1000" kern="1200">
                          <a:solidFill>
                            <a:schemeClr val="dk1"/>
                          </a:solidFill>
                          <a:effectLst/>
                          <a:latin typeface="+mn-lt"/>
                          <a:ea typeface="+mn-ea"/>
                          <a:cs typeface="+mn-cs"/>
                        </a:rPr>
                        <a:t>b. </a:t>
                      </a:r>
                      <a:r>
                        <a:rPr lang="fr-FR" sz="1000" u="sng" kern="1200">
                          <a:solidFill>
                            <a:schemeClr val="dk1"/>
                          </a:solidFill>
                          <a:effectLst/>
                          <a:latin typeface="+mn-lt"/>
                          <a:ea typeface="+mn-ea"/>
                          <a:cs typeface="+mn-cs"/>
                          <a:hlinkClick r:id="rId4"/>
                        </a:rPr>
                        <a:t>harish1.kumar@cibc.com</a:t>
                      </a:r>
                      <a:r>
                        <a:rPr lang="en-US" sz="1000" u="none" strike="noStrike" kern="1200">
                          <a:solidFill>
                            <a:schemeClr val="dk1"/>
                          </a:solidFill>
                          <a:effectLst/>
                          <a:latin typeface="+mn-lt"/>
                          <a:ea typeface="+mn-ea"/>
                          <a:cs typeface="+mn-cs"/>
                        </a:rPr>
                        <a:t> </a:t>
                      </a:r>
                      <a:r>
                        <a:rPr lang="fr-FR" sz="1000" kern="1200">
                          <a:solidFill>
                            <a:schemeClr val="dk1"/>
                          </a:solidFill>
                          <a:effectLst/>
                          <a:latin typeface="+mn-lt"/>
                          <a:ea typeface="+mn-ea"/>
                          <a:cs typeface="+mn-cs"/>
                        </a:rPr>
                        <a:t>|  647-270-2619</a:t>
                      </a:r>
                      <a:endParaRPr lang="en-US" sz="1000" kern="1200">
                        <a:solidFill>
                          <a:schemeClr val="dk1"/>
                        </a:solidFill>
                        <a:effectLst/>
                        <a:latin typeface="+mn-lt"/>
                        <a:ea typeface="+mn-ea"/>
                        <a:cs typeface="+mn-cs"/>
                      </a:endParaRPr>
                    </a:p>
                    <a:p>
                      <a:r>
                        <a:rPr lang="en-US" sz="1000" kern="1200">
                          <a:solidFill>
                            <a:schemeClr val="dk1"/>
                          </a:solidFill>
                          <a:effectLst/>
                          <a:latin typeface="+mn-lt"/>
                          <a:ea typeface="+mn-ea"/>
                          <a:cs typeface="+mn-cs"/>
                        </a:rPr>
                        <a:t>c. </a:t>
                      </a:r>
                      <a:r>
                        <a:rPr lang="en-US" sz="1000" u="sng" kern="1200">
                          <a:solidFill>
                            <a:schemeClr val="dk1"/>
                          </a:solidFill>
                          <a:effectLst/>
                          <a:latin typeface="+mn-lt"/>
                          <a:ea typeface="+mn-ea"/>
                          <a:cs typeface="+mn-cs"/>
                          <a:hlinkClick r:id="rId5"/>
                        </a:rPr>
                        <a:t>AdeshKumar.Bhati@CIBC.com</a:t>
                      </a:r>
                      <a:r>
                        <a:rPr lang="en-US" sz="1000" kern="1200">
                          <a:solidFill>
                            <a:schemeClr val="dk1"/>
                          </a:solidFill>
                          <a:effectLst/>
                          <a:latin typeface="+mn-lt"/>
                          <a:ea typeface="+mn-ea"/>
                          <a:cs typeface="+mn-cs"/>
                        </a:rPr>
                        <a:t> / Adesh Kumar Bhati, (416-272-3493)</a:t>
                      </a:r>
                    </a:p>
                  </a:txBody>
                  <a:tcPr marT="182880" marB="91440" anchor="ctr"/>
                </a:tc>
                <a:extLst>
                  <a:ext uri="{0D108BD9-81ED-4DB2-BD59-A6C34878D82A}">
                    <a16:rowId xmlns:a16="http://schemas.microsoft.com/office/drawing/2014/main" val="1534647818"/>
                  </a:ext>
                </a:extLst>
              </a:tr>
              <a:tr h="342669">
                <a:tc>
                  <a:txBody>
                    <a:bodyPr/>
                    <a:lstStyle/>
                    <a:p>
                      <a:pPr algn="l" rtl="0" fontAlgn="ctr"/>
                      <a:r>
                        <a:rPr lang="en-CA" sz="1000" b="0" u="none" strike="noStrike">
                          <a:solidFill>
                            <a:srgbClr val="000000"/>
                          </a:solidFill>
                          <a:effectLst/>
                        </a:rPr>
                        <a:t>CGMI</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Divyanshu</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rPr>
                        <a:t>Ken Plowman</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rPr>
                        <a:t>Telephone 416-640-8927 | Cell 416-315-9413</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rPr>
                        <a:t>Toll Free 866-414-9109 x 8927</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000" kern="1200">
                          <a:solidFill>
                            <a:schemeClr val="tx1"/>
                          </a:solidFill>
                          <a:effectLst/>
                          <a:latin typeface="+mn-lt"/>
                          <a:ea typeface="+mn-ea"/>
                          <a:cs typeface="+mn-cs"/>
                          <a:hlinkClick r:id="rId6"/>
                        </a:rPr>
                        <a:t>ken.plowman@canadaguaranty.ca</a:t>
                      </a:r>
                      <a:r>
                        <a:rPr lang="en-CA" sz="1000" kern="1200">
                          <a:solidFill>
                            <a:schemeClr val="tx1"/>
                          </a:solidFill>
                          <a:effectLst/>
                          <a:latin typeface="+mn-lt"/>
                          <a:ea typeface="+mn-ea"/>
                          <a:cs typeface="+mn-cs"/>
                        </a:rPr>
                        <a:t> </a:t>
                      </a:r>
                    </a:p>
                  </a:txBody>
                  <a:tcPr marT="182880" marB="91440" anchor="ctr"/>
                </a:tc>
                <a:extLst>
                  <a:ext uri="{0D108BD9-81ED-4DB2-BD59-A6C34878D82A}">
                    <a16:rowId xmlns:a16="http://schemas.microsoft.com/office/drawing/2014/main" val="403363805"/>
                  </a:ext>
                </a:extLst>
              </a:tr>
              <a:tr h="377468">
                <a:tc>
                  <a:txBody>
                    <a:bodyPr/>
                    <a:lstStyle/>
                    <a:p>
                      <a:pPr marL="0" algn="l" defTabSz="914400" rtl="0" eaLnBrk="1" fontAlgn="ctr" latinLnBrk="0" hangingPunct="1"/>
                      <a:r>
                        <a:rPr lang="en-CA" sz="1000" b="0" u="none" strike="noStrike" kern="1200">
                          <a:solidFill>
                            <a:srgbClr val="000000"/>
                          </a:solidFill>
                          <a:effectLst/>
                        </a:rPr>
                        <a:t>CMHC</a:t>
                      </a:r>
                      <a:endParaRPr lang="en-CA" sz="1000" b="0" i="0" u="none" strike="noStrike" kern="1200">
                        <a:solidFill>
                          <a:srgbClr val="000000"/>
                        </a:solidFill>
                        <a:effectLst/>
                        <a:latin typeface="+mn-lt"/>
                        <a:ea typeface="+mn-ea"/>
                        <a:cs typeface="+mn-cs"/>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Divyanshu</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lvl="0" indent="0">
                        <a:spcBef>
                          <a:spcPts val="0"/>
                        </a:spcBef>
                        <a:spcAft>
                          <a:spcPts val="0"/>
                        </a:spcAft>
                        <a:buFont typeface="+mj-lt"/>
                        <a:buNone/>
                      </a:pPr>
                      <a:r>
                        <a:rPr lang="en-CA" sz="1000" kern="1200">
                          <a:solidFill>
                            <a:schemeClr val="tx1"/>
                          </a:solidFill>
                          <a:effectLst/>
                          <a:latin typeface="+mn-lt"/>
                          <a:ea typeface="+mn-ea"/>
                          <a:cs typeface="+mn-cs"/>
                        </a:rPr>
                        <a:t>On Call: (613) 292-2880</a:t>
                      </a:r>
                    </a:p>
                  </a:txBody>
                  <a:tcPr marT="182880" marB="91440" anchor="ctr"/>
                </a:tc>
                <a:extLst>
                  <a:ext uri="{0D108BD9-81ED-4DB2-BD59-A6C34878D82A}">
                    <a16:rowId xmlns:a16="http://schemas.microsoft.com/office/drawing/2014/main" val="278203015"/>
                  </a:ext>
                </a:extLst>
              </a:tr>
              <a:tr h="377468">
                <a:tc>
                  <a:txBody>
                    <a:bodyPr/>
                    <a:lstStyle/>
                    <a:p>
                      <a:pPr algn="l" rtl="0" fontAlgn="ctr"/>
                      <a:r>
                        <a:rPr lang="en-CA" sz="1000" b="0" u="none" strike="noStrike">
                          <a:solidFill>
                            <a:srgbClr val="000000"/>
                          </a:solidFill>
                          <a:effectLst/>
                        </a:rPr>
                        <a:t>GEMI</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Divyanshu</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r>
                        <a:rPr lang="en-CA" sz="1000" b="0">
                          <a:effectLst/>
                        </a:rPr>
                        <a:t>Level 1:​​​</a:t>
                      </a:r>
                    </a:p>
                    <a:p>
                      <a:r>
                        <a:rPr lang="en-CA" sz="1000" b="0">
                          <a:effectLst/>
                          <a:hlinkClick r:id="rId7"/>
                        </a:rPr>
                        <a:t>applicationhotline@sagen.ca</a:t>
                      </a:r>
                      <a:r>
                        <a:rPr lang="en-CA" sz="1000" b="0">
                          <a:effectLst/>
                        </a:rPr>
                        <a:t> </a:t>
                      </a:r>
                    </a:p>
                    <a:p>
                      <a:r>
                        <a:rPr lang="en-CA" sz="1000" b="0">
                          <a:effectLst/>
                        </a:rPr>
                        <a:t>Level 2:​​​</a:t>
                      </a:r>
                    </a:p>
                    <a:p>
                      <a:r>
                        <a:rPr lang="en-CA" sz="1000" b="0">
                          <a:effectLst/>
                          <a:hlinkClick r:id="rId8"/>
                        </a:rPr>
                        <a:t>Sabri.Madaoui@Sagen.ca</a:t>
                      </a:r>
                      <a:r>
                        <a:rPr lang="en-CA" sz="1000" b="0">
                          <a:effectLst/>
                        </a:rPr>
                        <a:t> </a:t>
                      </a:r>
                    </a:p>
                  </a:txBody>
                  <a:tcPr anchor="ctr"/>
                </a:tc>
                <a:extLst>
                  <a:ext uri="{0D108BD9-81ED-4DB2-BD59-A6C34878D82A}">
                    <a16:rowId xmlns:a16="http://schemas.microsoft.com/office/drawing/2014/main" val="3126654484"/>
                  </a:ext>
                </a:extLst>
              </a:tr>
              <a:tr h="430414">
                <a:tc>
                  <a:txBody>
                    <a:bodyPr/>
                    <a:lstStyle/>
                    <a:p>
                      <a:pPr algn="l" rtl="0" fontAlgn="ctr"/>
                      <a:r>
                        <a:rPr lang="en-CA" sz="1000" b="0" u="none" strike="noStrike">
                          <a:solidFill>
                            <a:srgbClr val="000000"/>
                          </a:solidFill>
                          <a:effectLst/>
                        </a:rPr>
                        <a:t>TransUnion</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Divyanshu</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a:spcBef>
                          <a:spcPts val="0"/>
                        </a:spcBef>
                        <a:spcAft>
                          <a:spcPts val="0"/>
                        </a:spcAft>
                      </a:pPr>
                      <a:r>
                        <a:rPr lang="fr-FR" sz="1000" kern="1200">
                          <a:solidFill>
                            <a:schemeClr val="tx1"/>
                          </a:solidFill>
                          <a:effectLst/>
                          <a:latin typeface="+mn-lt"/>
                          <a:ea typeface="+mn-ea"/>
                          <a:cs typeface="+mn-cs"/>
                          <a:hlinkClick r:id="rId9"/>
                        </a:rPr>
                        <a:t>servicedesk@transunion.ca</a:t>
                      </a:r>
                      <a:r>
                        <a:rPr lang="fr-FR" sz="1000" kern="1200">
                          <a:solidFill>
                            <a:schemeClr val="tx1"/>
                          </a:solidFill>
                          <a:effectLst/>
                          <a:latin typeface="+mn-lt"/>
                          <a:ea typeface="+mn-ea"/>
                          <a:cs typeface="+mn-cs"/>
                        </a:rPr>
                        <a:t> | Support Desk: 905-570-1952</a:t>
                      </a:r>
                      <a:endParaRPr lang="en-CA" sz="1000" kern="1200">
                        <a:solidFill>
                          <a:schemeClr val="tx1"/>
                        </a:solidFill>
                        <a:effectLst/>
                        <a:latin typeface="+mn-lt"/>
                        <a:ea typeface="+mn-ea"/>
                        <a:cs typeface="+mn-cs"/>
                      </a:endParaRPr>
                    </a:p>
                  </a:txBody>
                  <a:tcPr marT="182880" marB="91440" anchor="ctr"/>
                </a:tc>
                <a:extLst>
                  <a:ext uri="{0D108BD9-81ED-4DB2-BD59-A6C34878D82A}">
                    <a16:rowId xmlns:a16="http://schemas.microsoft.com/office/drawing/2014/main" val="3946806855"/>
                  </a:ext>
                </a:extLst>
              </a:tr>
              <a:tr h="377468">
                <a:tc>
                  <a:txBody>
                    <a:bodyPr/>
                    <a:lstStyle/>
                    <a:p>
                      <a:pPr algn="l" rtl="0" fontAlgn="ctr"/>
                      <a:r>
                        <a:rPr lang="en-CA" sz="1000" b="0" u="none" strike="noStrike">
                          <a:solidFill>
                            <a:srgbClr val="000000"/>
                          </a:solidFill>
                          <a:effectLst/>
                        </a:rPr>
                        <a:t>Equifax</a:t>
                      </a: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Trebuchet MS"/>
                          <a:ea typeface="+mn-ea"/>
                          <a:cs typeface="+mn-cs"/>
                        </a:rPr>
                        <a:t>Divyanshu</a:t>
                      </a: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mn-lt"/>
                        <a:ea typeface="+mn-ea"/>
                        <a:cs typeface="+mn-cs"/>
                      </a:endParaRPr>
                    </a:p>
                  </a:txBody>
                  <a:tcPr marT="18288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a:solidFill>
                            <a:schemeClr val="tx1"/>
                          </a:solidFill>
                          <a:effectLst/>
                          <a:latin typeface="+mn-lt"/>
                          <a:ea typeface="+mn-ea"/>
                          <a:cs typeface="+mn-cs"/>
                        </a:rPr>
                        <a:t>Support Desk: 1-800-387-9986 </a:t>
                      </a:r>
                    </a:p>
                  </a:txBody>
                  <a:tcPr marT="182880" marB="91440" anchor="ctr"/>
                </a:tc>
                <a:extLst>
                  <a:ext uri="{0D108BD9-81ED-4DB2-BD59-A6C34878D82A}">
                    <a16:rowId xmlns:a16="http://schemas.microsoft.com/office/drawing/2014/main" val="2272077427"/>
                  </a:ext>
                </a:extLst>
              </a:tr>
              <a:tr h="377468">
                <a:tc>
                  <a:txBody>
                    <a:bodyPr/>
                    <a:lstStyle/>
                    <a:p>
                      <a:pPr algn="l" rtl="0" fontAlgn="ctr"/>
                      <a:r>
                        <a:rPr lang="en-CA" sz="1000" b="0" u="none" strike="noStrike">
                          <a:solidFill>
                            <a:srgbClr val="000000"/>
                          </a:solidFill>
                          <a:effectLst/>
                        </a:rPr>
                        <a:t>TEM</a:t>
                      </a:r>
                      <a:endParaRPr lang="en-CA" sz="1000" b="0" i="0" u="none" strike="noStrike">
                        <a:solidFill>
                          <a:srgbClr val="000000"/>
                        </a:solidFill>
                        <a:effectLst/>
                        <a:latin typeface="+mn-lt"/>
                      </a:endParaRPr>
                    </a:p>
                  </a:txBody>
                  <a:tcPr marL="18288" marR="6350" marT="182880" marB="91440" anchor="ctr"/>
                </a:tc>
                <a:tc>
                  <a:txBody>
                    <a:bodyPr/>
                    <a:lstStyle/>
                    <a:p>
                      <a:pPr marL="0" marR="0" algn="ctr" fontAlgn="base">
                        <a:lnSpc>
                          <a:spcPct val="107000"/>
                        </a:lnSpc>
                        <a:spcBef>
                          <a:spcPts val="0"/>
                        </a:spcBef>
                        <a:spcAft>
                          <a:spcPts val="0"/>
                        </a:spcAft>
                      </a:pPr>
                      <a:r>
                        <a:rPr kumimoji="0" lang="en-US" sz="1000" b="0" i="0" u="none" strike="noStrike" kern="1200" cap="none" spc="0" normalizeH="0" baseline="0">
                          <a:ln>
                            <a:noFill/>
                          </a:ln>
                          <a:solidFill>
                            <a:prstClr val="black"/>
                          </a:solidFill>
                          <a:effectLst/>
                          <a:uLnTx/>
                          <a:uFillTx/>
                          <a:latin typeface="+mn-lt"/>
                          <a:ea typeface="+mn-ea"/>
                          <a:cs typeface="+mn-cs"/>
                        </a:rPr>
                        <a:t>Pritesh R. Sahoo</a:t>
                      </a:r>
                    </a:p>
                  </a:txBody>
                  <a:tcPr marL="0" marR="0" marT="0" marB="0" anchor="ctr"/>
                </a:tc>
                <a:tc>
                  <a:txBody>
                    <a:bodyPr/>
                    <a:lstStyle/>
                    <a:p>
                      <a:pPr marL="0" marR="0" algn="ctr" fontAlgn="base">
                        <a:lnSpc>
                          <a:spcPct val="107000"/>
                        </a:lnSpc>
                        <a:spcBef>
                          <a:spcPts val="0"/>
                        </a:spcBef>
                        <a:spcAft>
                          <a:spcPts val="0"/>
                        </a:spcAft>
                      </a:pPr>
                      <a:endParaRPr kumimoji="0" lang="en-US" sz="1000" b="0" i="0" u="none" strike="noStrike" kern="1200" cap="none" spc="0" normalizeH="0" baseline="0">
                        <a:ln>
                          <a:noFill/>
                        </a:ln>
                        <a:solidFill>
                          <a:prstClr val="black"/>
                        </a:solidFill>
                        <a:effectLst/>
                        <a:uLnTx/>
                        <a:uFillTx/>
                        <a:latin typeface="+mn-lt"/>
                        <a:ea typeface="+mn-ea"/>
                        <a:cs typeface="+mn-cs"/>
                      </a:endParaRPr>
                    </a:p>
                  </a:txBody>
                  <a:tcPr marL="0" marR="0" marT="0" marB="0" anchor="ctr"/>
                </a:tc>
                <a:tc>
                  <a:txBody>
                    <a:bodyPr/>
                    <a:lstStyle/>
                    <a:p>
                      <a:pPr marL="0" marR="0" algn="ctr" fontAlgn="base">
                        <a:lnSpc>
                          <a:spcPct val="107000"/>
                        </a:lnSpc>
                        <a:spcBef>
                          <a:spcPts val="0"/>
                        </a:spcBef>
                        <a:spcAft>
                          <a:spcPts val="0"/>
                        </a:spcAft>
                      </a:pPr>
                      <a:endParaRPr kumimoji="0" lang="en-US" sz="1000" b="0" i="0" u="none" strike="noStrike" kern="1200" cap="none" spc="0" normalizeH="0" baseline="0">
                        <a:ln>
                          <a:noFill/>
                        </a:ln>
                        <a:solidFill>
                          <a:prstClr val="black"/>
                        </a:solidFill>
                        <a:effectLst/>
                        <a:uLnTx/>
                        <a:uFillTx/>
                        <a:latin typeface="+mn-lt"/>
                        <a:ea typeface="+mn-ea"/>
                        <a:cs typeface="+mn-cs"/>
                      </a:endParaRPr>
                    </a:p>
                  </a:txBody>
                  <a:tcPr marL="0" marR="0" marT="0" marB="0" anchor="ctr"/>
                </a:tc>
                <a:tc>
                  <a:txBody>
                    <a:bodyPr/>
                    <a:lstStyle/>
                    <a:p>
                      <a:pPr marL="0" marR="0" fontAlgn="base">
                        <a:lnSpc>
                          <a:spcPct val="107000"/>
                        </a:lnSpc>
                        <a:spcBef>
                          <a:spcPts val="0"/>
                        </a:spcBef>
                        <a:spcAft>
                          <a:spcPts val="0"/>
                        </a:spcAft>
                      </a:pPr>
                      <a:r>
                        <a:rPr kumimoji="0" lang="en-US" sz="1000" b="0" i="0" u="none" strike="noStrike" kern="1200" cap="none" spc="0" normalizeH="0" baseline="0">
                          <a:ln>
                            <a:noFill/>
                          </a:ln>
                          <a:solidFill>
                            <a:prstClr val="black"/>
                          </a:solidFill>
                          <a:effectLst/>
                          <a:uLnTx/>
                          <a:uFillTx/>
                          <a:latin typeface="+mn-lt"/>
                          <a:ea typeface="+mn-ea"/>
                          <a:cs typeface="+mn-cs"/>
                        </a:rPr>
                        <a:t>PA, T4, +91-9035905870</a:t>
                      </a:r>
                    </a:p>
                  </a:txBody>
                  <a:tcPr marL="0" marR="0" marT="0" marB="0" anchor="ctr"/>
                </a:tc>
                <a:extLst>
                  <a:ext uri="{0D108BD9-81ED-4DB2-BD59-A6C34878D82A}">
                    <a16:rowId xmlns:a16="http://schemas.microsoft.com/office/drawing/2014/main" val="3347288025"/>
                  </a:ext>
                </a:extLst>
              </a:tr>
            </a:tbl>
          </a:graphicData>
        </a:graphic>
      </p:graphicFrame>
      <p:sp>
        <p:nvSpPr>
          <p:cNvPr id="5" name="Title 1">
            <a:extLst>
              <a:ext uri="{FF2B5EF4-FFF2-40B4-BE49-F238E27FC236}">
                <a16:creationId xmlns:a16="http://schemas.microsoft.com/office/drawing/2014/main" id="{D13EC3F1-9FD7-EA5A-AE5B-9BE04AC428C1}"/>
              </a:ext>
            </a:extLst>
          </p:cNvPr>
          <p:cNvSpPr txBox="1">
            <a:spLocks/>
          </p:cNvSpPr>
          <p:nvPr/>
        </p:nvSpPr>
        <p:spPr>
          <a:xfrm>
            <a:off x="297180" y="115807"/>
            <a:ext cx="10933748" cy="581983"/>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CA" sz="2800"/>
              <a:t>Sep 21</a:t>
            </a:r>
            <a:r>
              <a:rPr lang="en-CA" sz="2800" baseline="30000"/>
              <a:t>st</a:t>
            </a:r>
            <a:r>
              <a:rPr lang="en-CA" sz="2800"/>
              <a:t> </a:t>
            </a:r>
            <a:r>
              <a:rPr kumimoji="0" lang="en-CA" sz="2800" b="1" i="0" u="none" strike="noStrike" kern="1200" cap="none" spc="0" normalizeH="0" baseline="0" noProof="0">
                <a:ln>
                  <a:noFill/>
                </a:ln>
                <a:solidFill>
                  <a:srgbClr val="D40139"/>
                </a:solidFill>
                <a:effectLst/>
                <a:uLnTx/>
                <a:uFillTx/>
                <a:latin typeface="Trebuchet MS"/>
                <a:ea typeface="+mj-ea"/>
                <a:cs typeface="+mj-cs"/>
              </a:rPr>
              <a:t>Release App Availability </a:t>
            </a:r>
            <a:endParaRPr kumimoji="0" lang="en-US" sz="2800" b="1" i="0" u="none" strike="noStrike" kern="1200" cap="none" spc="0" normalizeH="0" baseline="0" noProof="0">
              <a:ln>
                <a:noFill/>
              </a:ln>
              <a:solidFill>
                <a:srgbClr val="D40139"/>
              </a:solidFill>
              <a:effectLst/>
              <a:uLnTx/>
              <a:uFillTx/>
              <a:latin typeface="Trebuchet MS"/>
              <a:ea typeface="+mj-ea"/>
              <a:cs typeface="+mj-cs"/>
            </a:endParaRPr>
          </a:p>
        </p:txBody>
      </p:sp>
    </p:spTree>
    <p:extLst>
      <p:ext uri="{BB962C8B-B14F-4D97-AF65-F5344CB8AC3E}">
        <p14:creationId xmlns:p14="http://schemas.microsoft.com/office/powerpoint/2010/main" val="32844149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7E98A5-1258-F173-CEC5-8F3D4F0ECFC2}"/>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66E935D1-A7D8-F9E7-2230-9568EEDF03DA}"/>
              </a:ext>
            </a:extLst>
          </p:cNvPr>
          <p:cNvGraphicFramePr>
            <a:graphicFrameLocks noGrp="1"/>
          </p:cNvGraphicFramePr>
          <p:nvPr>
            <p:ph idx="1"/>
            <p:extLst>
              <p:ext uri="{D42A27DB-BD31-4B8C-83A1-F6EECF244321}">
                <p14:modId xmlns:p14="http://schemas.microsoft.com/office/powerpoint/2010/main" val="2927949944"/>
              </p:ext>
            </p:extLst>
          </p:nvPr>
        </p:nvGraphicFramePr>
        <p:xfrm>
          <a:off x="310570" y="697790"/>
          <a:ext cx="11279450" cy="4654880"/>
        </p:xfrm>
        <a:graphic>
          <a:graphicData uri="http://schemas.openxmlformats.org/drawingml/2006/table">
            <a:tbl>
              <a:tblPr firstRow="1" bandRow="1">
                <a:tableStyleId>{2A488322-F2BA-4B5B-9748-0D474271808F}</a:tableStyleId>
              </a:tblPr>
              <a:tblGrid>
                <a:gridCol w="2769689">
                  <a:extLst>
                    <a:ext uri="{9D8B030D-6E8A-4147-A177-3AD203B41FA5}">
                      <a16:colId xmlns:a16="http://schemas.microsoft.com/office/drawing/2014/main" val="2486246951"/>
                    </a:ext>
                  </a:extLst>
                </a:gridCol>
                <a:gridCol w="3352923">
                  <a:extLst>
                    <a:ext uri="{9D8B030D-6E8A-4147-A177-3AD203B41FA5}">
                      <a16:colId xmlns:a16="http://schemas.microsoft.com/office/drawing/2014/main" val="1707083591"/>
                    </a:ext>
                  </a:extLst>
                </a:gridCol>
                <a:gridCol w="5156838">
                  <a:extLst>
                    <a:ext uri="{9D8B030D-6E8A-4147-A177-3AD203B41FA5}">
                      <a16:colId xmlns:a16="http://schemas.microsoft.com/office/drawing/2014/main" val="1814946742"/>
                    </a:ext>
                  </a:extLst>
                </a:gridCol>
              </a:tblGrid>
              <a:tr h="221274">
                <a:tc>
                  <a:txBody>
                    <a:bodyPr/>
                    <a:lstStyle/>
                    <a:p>
                      <a:pPr algn="ctr"/>
                      <a:r>
                        <a:rPr lang="en-CA" sz="1100"/>
                        <a:t>Concern</a:t>
                      </a:r>
                      <a:endParaRPr lang="en-US" sz="1100">
                        <a:latin typeface="+mn-lt"/>
                      </a:endParaRPr>
                    </a:p>
                  </a:txBody>
                  <a:tcPr anchor="ctr"/>
                </a:tc>
                <a:tc>
                  <a:txBody>
                    <a:bodyPr/>
                    <a:lstStyle/>
                    <a:p>
                      <a:pPr algn="ctr"/>
                      <a:r>
                        <a:rPr lang="en-CA" sz="1100"/>
                        <a:t>Options</a:t>
                      </a:r>
                      <a:endParaRPr lang="en-US" sz="1100">
                        <a:latin typeface="+mn-lt"/>
                      </a:endParaRPr>
                    </a:p>
                  </a:txBody>
                  <a:tcPr anchor="ctr"/>
                </a:tc>
                <a:tc>
                  <a:txBody>
                    <a:bodyPr/>
                    <a:lstStyle/>
                    <a:p>
                      <a:pPr algn="ctr"/>
                      <a:r>
                        <a:rPr lang="en-CA" sz="1100"/>
                        <a:t>Final Direction</a:t>
                      </a:r>
                      <a:endParaRPr lang="en-US" sz="1100">
                        <a:latin typeface="+mn-lt"/>
                      </a:endParaRPr>
                    </a:p>
                  </a:txBody>
                  <a:tcPr anchor="ctr"/>
                </a:tc>
                <a:extLst>
                  <a:ext uri="{0D108BD9-81ED-4DB2-BD59-A6C34878D82A}">
                    <a16:rowId xmlns:a16="http://schemas.microsoft.com/office/drawing/2014/main" val="3571902798"/>
                  </a:ext>
                </a:extLst>
              </a:tr>
              <a:tr h="557894">
                <a:tc>
                  <a:txBody>
                    <a:bodyPr/>
                    <a:lstStyle/>
                    <a:p>
                      <a:pPr algn="l" rtl="0" fontAlgn="ct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marT="182880" marB="91440" anchor="ctr"/>
                </a:tc>
                <a:tc>
                  <a:txBody>
                    <a:bodyPr/>
                    <a:lstStyle/>
                    <a:p>
                      <a:endParaRPr lang="en-US" sz="1000" kern="1200">
                        <a:solidFill>
                          <a:schemeClr val="tx1"/>
                        </a:solidFill>
                        <a:effectLst/>
                        <a:latin typeface="+mn-lt"/>
                        <a:ea typeface="+mn-ea"/>
                        <a:cs typeface="+mn-cs"/>
                      </a:endParaRPr>
                    </a:p>
                  </a:txBody>
                  <a:tcPr marT="182880" marB="91440" anchor="ctr"/>
                </a:tc>
                <a:extLst>
                  <a:ext uri="{0D108BD9-81ED-4DB2-BD59-A6C34878D82A}">
                    <a16:rowId xmlns:a16="http://schemas.microsoft.com/office/drawing/2014/main" val="871434428"/>
                  </a:ext>
                </a:extLst>
              </a:tr>
              <a:tr h="424872">
                <a:tc>
                  <a:txBody>
                    <a:bodyPr/>
                    <a:lstStyle/>
                    <a:p>
                      <a:pPr algn="l" rtl="0" fontAlgn="ct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Trebuchet MS"/>
                        <a:ea typeface="+mn-ea"/>
                        <a:cs typeface="+mn-cs"/>
                      </a:endParaRPr>
                    </a:p>
                  </a:txBody>
                  <a:tcPr marT="182880" marB="91440" anchor="ctr"/>
                </a:tc>
                <a:tc>
                  <a:txBody>
                    <a:bodyPr/>
                    <a:lstStyle/>
                    <a:p>
                      <a:endParaRPr lang="en-US" sz="1000" kern="1200">
                        <a:solidFill>
                          <a:schemeClr val="tx1"/>
                        </a:solidFill>
                        <a:effectLst/>
                        <a:latin typeface="+mn-lt"/>
                        <a:ea typeface="+mn-ea"/>
                        <a:cs typeface="+mn-cs"/>
                      </a:endParaRPr>
                    </a:p>
                  </a:txBody>
                  <a:tcPr marT="182880" marB="91440" anchor="ctr"/>
                </a:tc>
                <a:extLst>
                  <a:ext uri="{0D108BD9-81ED-4DB2-BD59-A6C34878D82A}">
                    <a16:rowId xmlns:a16="http://schemas.microsoft.com/office/drawing/2014/main" val="2127911946"/>
                  </a:ext>
                </a:extLst>
              </a:tr>
              <a:tr h="557894">
                <a:tc>
                  <a:txBody>
                    <a:bodyPr/>
                    <a:lstStyle/>
                    <a:p>
                      <a:pPr algn="l" rtl="0" fontAlgn="ct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Trebuchet MS"/>
                        <a:ea typeface="+mn-ea"/>
                        <a:cs typeface="+mn-cs"/>
                      </a:endParaRPr>
                    </a:p>
                  </a:txBody>
                  <a:tcPr marT="182880" marB="91440" anchor="ctr"/>
                </a:tc>
                <a:tc>
                  <a:txBody>
                    <a:bodyPr/>
                    <a:lstStyle/>
                    <a:p>
                      <a:endParaRPr lang="en-US" sz="1000" kern="1200">
                        <a:solidFill>
                          <a:schemeClr val="dk1"/>
                        </a:solidFill>
                        <a:effectLst/>
                        <a:latin typeface="+mn-lt"/>
                        <a:ea typeface="+mn-ea"/>
                        <a:cs typeface="+mn-cs"/>
                      </a:endParaRPr>
                    </a:p>
                  </a:txBody>
                  <a:tcPr marT="182880" marB="91440" anchor="ctr"/>
                </a:tc>
                <a:extLst>
                  <a:ext uri="{0D108BD9-81ED-4DB2-BD59-A6C34878D82A}">
                    <a16:rowId xmlns:a16="http://schemas.microsoft.com/office/drawing/2014/main" val="1534647818"/>
                  </a:ext>
                </a:extLst>
              </a:tr>
              <a:tr h="342669">
                <a:tc>
                  <a:txBody>
                    <a:bodyPr/>
                    <a:lstStyle/>
                    <a:p>
                      <a:pPr algn="l" rtl="0" fontAlgn="ct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Trebuchet MS"/>
                        <a:ea typeface="+mn-ea"/>
                        <a:cs typeface="+mn-cs"/>
                      </a:endParaRPr>
                    </a:p>
                  </a:txBody>
                  <a:tcPr marT="18288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kern="1200">
                        <a:solidFill>
                          <a:schemeClr val="tx1"/>
                        </a:solidFill>
                        <a:effectLst/>
                        <a:latin typeface="+mn-lt"/>
                        <a:ea typeface="+mn-ea"/>
                        <a:cs typeface="+mn-cs"/>
                      </a:endParaRPr>
                    </a:p>
                  </a:txBody>
                  <a:tcPr marT="182880" marB="91440" anchor="ctr"/>
                </a:tc>
                <a:extLst>
                  <a:ext uri="{0D108BD9-81ED-4DB2-BD59-A6C34878D82A}">
                    <a16:rowId xmlns:a16="http://schemas.microsoft.com/office/drawing/2014/main" val="403363805"/>
                  </a:ext>
                </a:extLst>
              </a:tr>
              <a:tr h="715998">
                <a:tc>
                  <a:txBody>
                    <a:bodyPr/>
                    <a:lstStyle/>
                    <a:p>
                      <a:pPr marL="0" algn="l" defTabSz="914400" rtl="0" eaLnBrk="1" fontAlgn="ctr" latinLnBrk="0" hangingPunct="1"/>
                      <a:endParaRPr lang="en-CA" sz="1000" b="0" i="0" u="none" strike="noStrike" kern="1200">
                        <a:solidFill>
                          <a:srgbClr val="000000"/>
                        </a:solidFill>
                        <a:effectLst/>
                        <a:latin typeface="+mn-lt"/>
                        <a:ea typeface="+mn-ea"/>
                        <a:cs typeface="+mn-cs"/>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Trebuchet MS"/>
                        <a:ea typeface="+mn-ea"/>
                        <a:cs typeface="+mn-cs"/>
                      </a:endParaRPr>
                    </a:p>
                  </a:txBody>
                  <a:tcPr marT="182880" marB="91440" anchor="ctr"/>
                </a:tc>
                <a:tc>
                  <a:txBody>
                    <a:bodyPr/>
                    <a:lstStyle/>
                    <a:p>
                      <a:pPr marL="0" marR="0" lvl="0" indent="0">
                        <a:spcBef>
                          <a:spcPts val="0"/>
                        </a:spcBef>
                        <a:spcAft>
                          <a:spcPts val="0"/>
                        </a:spcAft>
                        <a:buFont typeface="+mj-lt"/>
                        <a:buNone/>
                      </a:pPr>
                      <a:endParaRPr lang="en-CA" sz="1000" kern="1200">
                        <a:solidFill>
                          <a:schemeClr val="tx1"/>
                        </a:solidFill>
                        <a:effectLst/>
                        <a:latin typeface="+mn-lt"/>
                        <a:ea typeface="+mn-ea"/>
                        <a:cs typeface="+mn-cs"/>
                      </a:endParaRPr>
                    </a:p>
                  </a:txBody>
                  <a:tcPr marT="182880" marB="91440" anchor="ctr"/>
                </a:tc>
                <a:extLst>
                  <a:ext uri="{0D108BD9-81ED-4DB2-BD59-A6C34878D82A}">
                    <a16:rowId xmlns:a16="http://schemas.microsoft.com/office/drawing/2014/main" val="278203015"/>
                  </a:ext>
                </a:extLst>
              </a:tr>
              <a:tr h="377468">
                <a:tc>
                  <a:txBody>
                    <a:bodyPr/>
                    <a:lstStyle/>
                    <a:p>
                      <a:pPr algn="l" rtl="0" fontAlgn="ct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Trebuchet MS"/>
                        <a:ea typeface="+mn-ea"/>
                        <a:cs typeface="+mn-cs"/>
                      </a:endParaRPr>
                    </a:p>
                  </a:txBody>
                  <a:tcPr marT="182880" marB="91440" anchor="ctr"/>
                </a:tc>
                <a:tc>
                  <a:txBody>
                    <a:bodyPr/>
                    <a:lstStyle/>
                    <a:p>
                      <a:endParaRPr lang="en-CA" sz="1000" b="0">
                        <a:effectLst/>
                      </a:endParaRPr>
                    </a:p>
                  </a:txBody>
                  <a:tcPr anchor="ctr"/>
                </a:tc>
                <a:extLst>
                  <a:ext uri="{0D108BD9-81ED-4DB2-BD59-A6C34878D82A}">
                    <a16:rowId xmlns:a16="http://schemas.microsoft.com/office/drawing/2014/main" val="3126654484"/>
                  </a:ext>
                </a:extLst>
              </a:tr>
              <a:tr h="430414">
                <a:tc>
                  <a:txBody>
                    <a:bodyPr/>
                    <a:lstStyle/>
                    <a:p>
                      <a:pPr algn="l" rtl="0" fontAlgn="ct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Trebuchet MS"/>
                        <a:ea typeface="+mn-ea"/>
                        <a:cs typeface="+mn-cs"/>
                      </a:endParaRPr>
                    </a:p>
                  </a:txBody>
                  <a:tcPr marT="182880" marB="91440" anchor="ctr"/>
                </a:tc>
                <a:tc>
                  <a:txBody>
                    <a:bodyPr/>
                    <a:lstStyle/>
                    <a:p>
                      <a:pPr marL="0" marR="0">
                        <a:spcBef>
                          <a:spcPts val="0"/>
                        </a:spcBef>
                        <a:spcAft>
                          <a:spcPts val="0"/>
                        </a:spcAft>
                      </a:pPr>
                      <a:endParaRPr lang="en-CA" sz="1000" kern="1200">
                        <a:solidFill>
                          <a:schemeClr val="tx1"/>
                        </a:solidFill>
                        <a:effectLst/>
                        <a:latin typeface="+mn-lt"/>
                        <a:ea typeface="+mn-ea"/>
                        <a:cs typeface="+mn-cs"/>
                      </a:endParaRPr>
                    </a:p>
                  </a:txBody>
                  <a:tcPr marT="182880" marB="91440" anchor="ctr"/>
                </a:tc>
                <a:extLst>
                  <a:ext uri="{0D108BD9-81ED-4DB2-BD59-A6C34878D82A}">
                    <a16:rowId xmlns:a16="http://schemas.microsoft.com/office/drawing/2014/main" val="3946806855"/>
                  </a:ext>
                </a:extLst>
              </a:tr>
              <a:tr h="377468">
                <a:tc>
                  <a:txBody>
                    <a:bodyPr/>
                    <a:lstStyle/>
                    <a:p>
                      <a:pPr algn="l" rtl="0" fontAlgn="ctr"/>
                      <a:endParaRPr lang="en-CA" sz="1000" b="0" i="0" u="none" strike="noStrike">
                        <a:solidFill>
                          <a:srgbClr val="000000"/>
                        </a:solidFill>
                        <a:effectLst/>
                        <a:latin typeface="+mn-lt"/>
                      </a:endParaRPr>
                    </a:p>
                  </a:txBody>
                  <a:tcPr marL="18288" marR="6350" marT="18288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Trebuchet MS"/>
                        <a:ea typeface="+mn-ea"/>
                        <a:cs typeface="+mn-cs"/>
                      </a:endParaRPr>
                    </a:p>
                  </a:txBody>
                  <a:tcPr marT="18288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a:solidFill>
                          <a:schemeClr val="tx1"/>
                        </a:solidFill>
                        <a:effectLst/>
                        <a:latin typeface="+mn-lt"/>
                        <a:ea typeface="+mn-ea"/>
                        <a:cs typeface="+mn-cs"/>
                      </a:endParaRPr>
                    </a:p>
                  </a:txBody>
                  <a:tcPr marT="182880" marB="91440" anchor="ctr"/>
                </a:tc>
                <a:extLst>
                  <a:ext uri="{0D108BD9-81ED-4DB2-BD59-A6C34878D82A}">
                    <a16:rowId xmlns:a16="http://schemas.microsoft.com/office/drawing/2014/main" val="2272077427"/>
                  </a:ext>
                </a:extLst>
              </a:tr>
              <a:tr h="377468">
                <a:tc>
                  <a:txBody>
                    <a:bodyPr/>
                    <a:lstStyle/>
                    <a:p>
                      <a:pPr algn="l" rtl="0" fontAlgn="ctr"/>
                      <a:endParaRPr lang="en-CA" sz="1000" b="0" i="0" u="none" strike="noStrike">
                        <a:solidFill>
                          <a:srgbClr val="000000"/>
                        </a:solidFill>
                        <a:effectLst/>
                        <a:latin typeface="+mn-lt"/>
                      </a:endParaRPr>
                    </a:p>
                  </a:txBody>
                  <a:tcPr marL="18288" marR="6350" marT="182880" marB="91440" anchor="ctr"/>
                </a:tc>
                <a:tc>
                  <a:txBody>
                    <a:bodyPr/>
                    <a:lstStyle/>
                    <a:p>
                      <a:pPr marL="0" marR="0" algn="ctr" fontAlgn="base">
                        <a:lnSpc>
                          <a:spcPct val="107000"/>
                        </a:lnSpc>
                        <a:spcBef>
                          <a:spcPts val="0"/>
                        </a:spcBef>
                        <a:spcAft>
                          <a:spcPts val="0"/>
                        </a:spcAft>
                      </a:pPr>
                      <a:endParaRPr kumimoji="0" lang="en-US" sz="1000" b="0" i="0" u="none" strike="noStrike" kern="1200" cap="none" spc="0" normalizeH="0" baseline="0">
                        <a:ln>
                          <a:noFill/>
                        </a:ln>
                        <a:solidFill>
                          <a:prstClr val="black"/>
                        </a:solidFill>
                        <a:effectLst/>
                        <a:uLnTx/>
                        <a:uFillTx/>
                        <a:latin typeface="+mn-lt"/>
                        <a:ea typeface="+mn-ea"/>
                        <a:cs typeface="+mn-cs"/>
                      </a:endParaRPr>
                    </a:p>
                  </a:txBody>
                  <a:tcPr marL="0" marR="0" marT="0" marB="0" anchor="ctr"/>
                </a:tc>
                <a:tc>
                  <a:txBody>
                    <a:bodyPr/>
                    <a:lstStyle/>
                    <a:p>
                      <a:pPr marL="0" marR="0" fontAlgn="base">
                        <a:lnSpc>
                          <a:spcPct val="107000"/>
                        </a:lnSpc>
                        <a:spcBef>
                          <a:spcPts val="0"/>
                        </a:spcBef>
                        <a:spcAft>
                          <a:spcPts val="0"/>
                        </a:spcAft>
                      </a:pPr>
                      <a:endParaRPr kumimoji="0" lang="en-US" sz="1000" b="0" i="0" u="none" strike="noStrike" kern="1200" cap="none" spc="0" normalizeH="0" baseline="0">
                        <a:ln>
                          <a:noFill/>
                        </a:ln>
                        <a:solidFill>
                          <a:prstClr val="black"/>
                        </a:solidFill>
                        <a:effectLst/>
                        <a:uLnTx/>
                        <a:uFillTx/>
                        <a:latin typeface="+mn-lt"/>
                        <a:ea typeface="+mn-ea"/>
                        <a:cs typeface="+mn-cs"/>
                      </a:endParaRPr>
                    </a:p>
                  </a:txBody>
                  <a:tcPr marL="0" marR="0" marT="0" marB="0" anchor="ctr"/>
                </a:tc>
                <a:extLst>
                  <a:ext uri="{0D108BD9-81ED-4DB2-BD59-A6C34878D82A}">
                    <a16:rowId xmlns:a16="http://schemas.microsoft.com/office/drawing/2014/main" val="3347288025"/>
                  </a:ext>
                </a:extLst>
              </a:tr>
            </a:tbl>
          </a:graphicData>
        </a:graphic>
      </p:graphicFrame>
      <p:sp>
        <p:nvSpPr>
          <p:cNvPr id="5" name="Title 1">
            <a:extLst>
              <a:ext uri="{FF2B5EF4-FFF2-40B4-BE49-F238E27FC236}">
                <a16:creationId xmlns:a16="http://schemas.microsoft.com/office/drawing/2014/main" id="{5B490C8F-8D27-66E5-D392-4D508D423321}"/>
              </a:ext>
            </a:extLst>
          </p:cNvPr>
          <p:cNvSpPr txBox="1">
            <a:spLocks/>
          </p:cNvSpPr>
          <p:nvPr/>
        </p:nvSpPr>
        <p:spPr>
          <a:xfrm>
            <a:off x="297180" y="115807"/>
            <a:ext cx="10933748" cy="581983"/>
          </a:xfrm>
          <a:prstGeom prst="rect">
            <a:avLst/>
          </a:prstGeom>
        </p:spPr>
        <p:txBody>
          <a:bodyPr vert="horz" lIns="0" tIns="0" rIns="0" bIns="109728" rtlCol="0" anchor="b" anchorCtr="0">
            <a:noAutofit/>
          </a:bodyPr>
          <a:lstStyle>
            <a:lvl1pPr algn="l" defTabSz="914400" rtl="0" eaLnBrk="1" latinLnBrk="0" hangingPunct="1">
              <a:spcBef>
                <a:spcPct val="0"/>
              </a:spcBef>
              <a:buNone/>
              <a:defRPr sz="3200" b="1" kern="1200">
                <a:solidFill>
                  <a:schemeClr val="accent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CA" sz="2800"/>
              <a:t>Sep 21</a:t>
            </a:r>
            <a:r>
              <a:rPr lang="en-CA" sz="2800" baseline="30000"/>
              <a:t>st</a:t>
            </a:r>
            <a:r>
              <a:rPr lang="en-CA" sz="2800"/>
              <a:t> </a:t>
            </a:r>
            <a:r>
              <a:rPr kumimoji="0" lang="en-CA" sz="2800" b="1" i="0" u="none" strike="noStrike" kern="1200" cap="none" spc="0" normalizeH="0" baseline="0" noProof="0">
                <a:ln>
                  <a:noFill/>
                </a:ln>
                <a:solidFill>
                  <a:srgbClr val="D40139"/>
                </a:solidFill>
                <a:effectLst/>
                <a:uLnTx/>
                <a:uFillTx/>
                <a:latin typeface="Trebuchet MS"/>
                <a:ea typeface="+mj-ea"/>
                <a:cs typeface="+mj-cs"/>
              </a:rPr>
              <a:t>Release - PIR</a:t>
            </a:r>
            <a:endParaRPr kumimoji="0" lang="en-US" sz="2800" b="1" i="0" u="none" strike="noStrike" kern="1200" cap="none" spc="0" normalizeH="0" baseline="0" noProof="0">
              <a:ln>
                <a:noFill/>
              </a:ln>
              <a:solidFill>
                <a:srgbClr val="D40139"/>
              </a:solidFill>
              <a:effectLst/>
              <a:uLnTx/>
              <a:uFillTx/>
              <a:latin typeface="Trebuchet MS"/>
              <a:ea typeface="+mj-ea"/>
              <a:cs typeface="+mj-cs"/>
            </a:endParaRPr>
          </a:p>
        </p:txBody>
      </p:sp>
    </p:spTree>
    <p:extLst>
      <p:ext uri="{BB962C8B-B14F-4D97-AF65-F5344CB8AC3E}">
        <p14:creationId xmlns:p14="http://schemas.microsoft.com/office/powerpoint/2010/main" val="1337779895"/>
      </p:ext>
    </p:extLst>
  </p:cSld>
  <p:clrMapOvr>
    <a:masterClrMapping/>
  </p:clrMapOvr>
</p:sld>
</file>

<file path=ppt/theme/theme1.xml><?xml version="1.0" encoding="utf-8"?>
<a:theme xmlns:a="http://schemas.openxmlformats.org/drawingml/2006/main" name="CIBC PowerPoint Template (2010)_Onscreen_EN">
  <a:themeElements>
    <a:clrScheme name="CIBC New Palette 3">
      <a:dk1>
        <a:sysClr val="windowText" lastClr="000000"/>
      </a:dk1>
      <a:lt1>
        <a:sysClr val="window" lastClr="FFFFFF"/>
      </a:lt1>
      <a:dk2>
        <a:srgbClr val="AAAAAA"/>
      </a:dk2>
      <a:lt2>
        <a:srgbClr val="D2ECF2"/>
      </a:lt2>
      <a:accent1>
        <a:srgbClr val="AF0B1C"/>
      </a:accent1>
      <a:accent2>
        <a:srgbClr val="FFD400"/>
      </a:accent2>
      <a:accent3>
        <a:srgbClr val="006C97"/>
      </a:accent3>
      <a:accent4>
        <a:srgbClr val="74A855"/>
      </a:accent4>
      <a:accent5>
        <a:srgbClr val="A6DAE6"/>
      </a:accent5>
      <a:accent6>
        <a:srgbClr val="D40139"/>
      </a:accent6>
      <a:hlink>
        <a:srgbClr val="686868"/>
      </a:hlink>
      <a:folHlink>
        <a:srgbClr val="0000FF"/>
      </a:folHlink>
    </a:clrScheme>
    <a:fontScheme name="CIBC">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7E7E7"/>
        </a:solidFill>
      </a:spPr>
      <a:bodyPr wrap="none" rtlCol="0" anchor="ctr">
        <a:spAutoFit/>
      </a:bodyPr>
      <a:lstStyle>
        <a:defPPr algn="ctr">
          <a:defRPr sz="1100" dirty="0"/>
        </a:defPPr>
      </a:lstStyle>
    </a:spDef>
    <a:lnDef>
      <a:spPr>
        <a:ln w="635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solidFill>
          <a:srgbClr val="E7E7E7"/>
        </a:solidFill>
      </a:spPr>
      <a:bodyPr wrap="square" rtlCol="0">
        <a:spAutoFit/>
      </a:bodyPr>
      <a:lstStyle>
        <a:defPPr>
          <a:defRPr sz="2000" dirty="0"/>
        </a:defPPr>
      </a:lstStyle>
    </a:tx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
  <a:themeElements>
    <a:clrScheme name="Tetris 2021">
      <a:dk1>
        <a:srgbClr val="383B3E"/>
      </a:dk1>
      <a:lt1>
        <a:sysClr val="window" lastClr="FFFFFF"/>
      </a:lt1>
      <a:dk2>
        <a:srgbClr val="606366"/>
      </a:dk2>
      <a:lt2>
        <a:srgbClr val="F2F3F2"/>
      </a:lt2>
      <a:accent1>
        <a:srgbClr val="8C1934"/>
      </a:accent1>
      <a:accent2>
        <a:srgbClr val="606366"/>
      </a:accent2>
      <a:accent3>
        <a:srgbClr val="C17200"/>
      </a:accent3>
      <a:accent4>
        <a:srgbClr val="3885BA"/>
      </a:accent4>
      <a:accent5>
        <a:srgbClr val="C41F3E"/>
      </a:accent5>
      <a:accent6>
        <a:srgbClr val="089E94"/>
      </a:accent6>
      <a:hlink>
        <a:srgbClr val="606366"/>
      </a:hlink>
      <a:folHlink>
        <a:srgbClr val="6063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400" dirty="0" smtClean="0"/>
        </a:defPPr>
      </a:lstStyle>
    </a:txDef>
  </a:objectDefaults>
  <a:extraClrSchemeLst/>
  <a:extLst>
    <a:ext uri="{05A4C25C-085E-4340-85A3-A5531E510DB2}">
      <thm15:themeFamily xmlns:thm15="http://schemas.microsoft.com/office/thememl/2012/main" name="Master Brand_Widescreen (Tetris).potx" id="{0BB3546E-5567-4D6F-9E4D-CF2370A3A0BB}" vid="{BB8285F7-6CE1-4E94-ADE4-8D6B06482769}"/>
    </a:ext>
  </a:extLst>
</a:theme>
</file>

<file path=ppt/theme/theme4.xml><?xml version="1.0" encoding="utf-8"?>
<a:theme xmlns:a="http://schemas.openxmlformats.org/drawingml/2006/main" name="Office Theme">
  <a:themeElements>
    <a:clrScheme name="CIBC New Palette 3">
      <a:dk1>
        <a:sysClr val="windowText" lastClr="000000"/>
      </a:dk1>
      <a:lt1>
        <a:sysClr val="window" lastClr="FFFFFF"/>
      </a:lt1>
      <a:dk2>
        <a:srgbClr val="AAAAAA"/>
      </a:dk2>
      <a:lt2>
        <a:srgbClr val="D2ECF2"/>
      </a:lt2>
      <a:accent1>
        <a:srgbClr val="AF0B1C"/>
      </a:accent1>
      <a:accent2>
        <a:srgbClr val="FFD400"/>
      </a:accent2>
      <a:accent3>
        <a:srgbClr val="006C97"/>
      </a:accent3>
      <a:accent4>
        <a:srgbClr val="74A855"/>
      </a:accent4>
      <a:accent5>
        <a:srgbClr val="A6DAE6"/>
      </a:accent5>
      <a:accent6>
        <a:srgbClr val="D40139"/>
      </a:accent6>
      <a:hlink>
        <a:srgbClr val="D8D1CA"/>
      </a:hlink>
      <a:folHlink>
        <a:srgbClr val="0000FF"/>
      </a:folHlink>
    </a:clrScheme>
    <a:fontScheme name="CIBC">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CIBC New Palette 3">
      <a:dk1>
        <a:sysClr val="windowText" lastClr="000000"/>
      </a:dk1>
      <a:lt1>
        <a:sysClr val="window" lastClr="FFFFFF"/>
      </a:lt1>
      <a:dk2>
        <a:srgbClr val="AAAAAA"/>
      </a:dk2>
      <a:lt2>
        <a:srgbClr val="D2ECF2"/>
      </a:lt2>
      <a:accent1>
        <a:srgbClr val="AF0B1C"/>
      </a:accent1>
      <a:accent2>
        <a:srgbClr val="FFD400"/>
      </a:accent2>
      <a:accent3>
        <a:srgbClr val="006C97"/>
      </a:accent3>
      <a:accent4>
        <a:srgbClr val="74A855"/>
      </a:accent4>
      <a:accent5>
        <a:srgbClr val="A6DAE6"/>
      </a:accent5>
      <a:accent6>
        <a:srgbClr val="D40139"/>
      </a:accent6>
      <a:hlink>
        <a:srgbClr val="D8D1CA"/>
      </a:hlink>
      <a:folHlink>
        <a:srgbClr val="0000FF"/>
      </a:folHlink>
    </a:clrScheme>
    <a:fontScheme name="CIBC">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0581A9F8FBB394BA513B76CDD16E0F8" ma:contentTypeVersion="15" ma:contentTypeDescription="Create a new document." ma:contentTypeScope="" ma:versionID="1ad0f8a0b3c0dea78dd2fede6cbb80a7">
  <xsd:schema xmlns:xsd="http://www.w3.org/2001/XMLSchema" xmlns:xs="http://www.w3.org/2001/XMLSchema" xmlns:p="http://schemas.microsoft.com/office/2006/metadata/properties" xmlns:ns2="628eb525-0f0b-4be7-a020-3fa1b1037aca" xmlns:ns3="42ecba3f-ae9b-42ca-bcd7-a3d4e38ae66b" targetNamespace="http://schemas.microsoft.com/office/2006/metadata/properties" ma:root="true" ma:fieldsID="7cad266f3f57314075763c86f5523a43" ns2:_="" ns3:_="">
    <xsd:import namespace="628eb525-0f0b-4be7-a020-3fa1b1037aca"/>
    <xsd:import namespace="42ecba3f-ae9b-42ca-bcd7-a3d4e38ae66b"/>
    <xsd:element name="properties">
      <xsd:complexType>
        <xsd:sequence>
          <xsd:element name="documentManagement">
            <xsd:complexType>
              <xsd:all>
                <xsd:element ref="ns2:MediaServiceMetadata" minOccurs="0"/>
                <xsd:element ref="ns2:MediaServiceFastMetadata" minOccurs="0"/>
                <xsd:element ref="ns2:_Flow_SignoffStatu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8eb525-0f0b-4be7-a020-3fa1b1037a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Flow_SignoffStatus" ma:index="10" nillable="true" ma:displayName="Sign-off status" ma:internalName="Sign_x002d_off_x0020_status">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2ecba3f-ae9b-42ca-bcd7-a3d4e38ae66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_Flow_SignoffStatus xmlns="628eb525-0f0b-4be7-a020-3fa1b1037ac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95CDF90-EDFF-4CA8-9C02-67A7A30C68FA}">
  <ds:schemaRefs>
    <ds:schemaRef ds:uri="42ecba3f-ae9b-42ca-bcd7-a3d4e38ae66b"/>
    <ds:schemaRef ds:uri="628eb525-0f0b-4be7-a020-3fa1b1037ac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E05326D-A56E-4AA3-89C6-0E80DE787BAC}">
  <ds:schemaRefs>
    <ds:schemaRef ds:uri="42ecba3f-ae9b-42ca-bcd7-a3d4e38ae66b"/>
    <ds:schemaRef ds:uri="628eb525-0f0b-4be7-a020-3fa1b1037ac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2DBD50A-E4B0-479E-8819-DA54B7C6FA0F}">
  <ds:schemaRefs>
    <ds:schemaRef ds:uri="http://schemas.microsoft.com/sharepoint/v3/contenttype/forms"/>
  </ds:schemaRefs>
</ds:datastoreItem>
</file>

<file path=docMetadata/LabelInfo.xml><?xml version="1.0" encoding="utf-8"?>
<clbl:labelList xmlns:clbl="http://schemas.microsoft.com/office/2020/mipLabelMetadata">
  <clbl:label id="{222fcaf7-15d0-455f-97e1-8fda2eaad539}" enabled="0" method="" siteId="{222fcaf7-15d0-455f-97e1-8fda2eaad539}"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56</Slides>
  <Notes>49</Notes>
  <HiddenSlides>23</HiddenSlides>
  <ScaleCrop>false</ScaleCrop>
  <HeadingPairs>
    <vt:vector size="4" baseType="variant">
      <vt:variant>
        <vt:lpstr>Theme</vt:lpstr>
      </vt:variant>
      <vt:variant>
        <vt:i4>3</vt:i4>
      </vt:variant>
      <vt:variant>
        <vt:lpstr>Slide Titles</vt:lpstr>
      </vt:variant>
      <vt:variant>
        <vt:i4>56</vt:i4>
      </vt:variant>
    </vt:vector>
  </HeadingPairs>
  <TitlesOfParts>
    <vt:vector size="59" baseType="lpstr">
      <vt:lpstr>CIBC PowerPoint Template (2010)_Onscreen_EN</vt:lpstr>
      <vt:lpstr>Custom Design</vt:lpstr>
      <vt:lpstr>Content</vt:lpstr>
      <vt:lpstr>PowerPoint Presentation</vt:lpstr>
      <vt:lpstr>PowerPoint Presentation</vt:lpstr>
      <vt:lpstr>PowerPoint Presentation</vt:lpstr>
      <vt:lpstr>Apr Rel - Overview</vt:lpstr>
      <vt:lpstr>Sep Rel – Issue Count Overview - FY ‘24 vs FY ‘25 Releases</vt:lpstr>
      <vt:lpstr>Production Issues FY ‘24 vs FY ‘25 (based on issue open month)</vt:lpstr>
      <vt:lpstr>Prod Issue Weight Calculation Matrix</vt:lpstr>
      <vt:lpstr>Prod Issue Weight Calculation Matrix – July Release</vt:lpstr>
      <vt:lpstr>PowerPoint Presentation</vt:lpstr>
      <vt:lpstr>PowerPoint Presentation</vt:lpstr>
      <vt:lpstr>PowerPoint Presentation</vt:lpstr>
      <vt:lpstr>PowerPoint Presentation</vt:lpstr>
      <vt:lpstr>PowerPoint Presentation</vt:lpstr>
      <vt:lpstr>November 16th Release Scope</vt:lpstr>
      <vt:lpstr>November 16th Release Scope</vt:lpstr>
      <vt:lpstr>PowerPoint Presentation</vt:lpstr>
      <vt:lpstr>PowerPoint Presentation</vt:lpstr>
      <vt:lpstr>PowerPoint Presentation</vt:lpstr>
      <vt:lpstr>PowerPoint Presentation</vt:lpstr>
      <vt:lpstr>November 16th Release Infrastructure Dependencies </vt:lpstr>
      <vt:lpstr>November 16th Release PIV – Initiatives with PIV</vt:lpstr>
      <vt:lpstr>November 16th Release PIV – Initiatives without PIV</vt:lpstr>
      <vt:lpstr>November 16th Release Readiness</vt:lpstr>
      <vt:lpstr>November 16th Release Project Backout Matrix</vt:lpstr>
      <vt:lpstr>November 16th Release Out of Release Scope</vt:lpstr>
      <vt:lpstr>November 16th Release Projects Backout Testing </vt:lpstr>
      <vt:lpstr>PowerPoint Presentation</vt:lpstr>
      <vt:lpstr>PowerPoint Presentation</vt:lpstr>
      <vt:lpstr>Core Banking Release - Nov 16th – Outstanding Items</vt:lpstr>
      <vt:lpstr>PowerPoint Presentation</vt:lpstr>
      <vt:lpstr>February 1st Release Scope</vt:lpstr>
      <vt:lpstr>PowerPoint Presentation</vt:lpstr>
      <vt:lpstr>February 1st Release Infrastructure Dependencies </vt:lpstr>
      <vt:lpstr>February 1st Release PIV – Initiatives with PIV</vt:lpstr>
      <vt:lpstr>February 1st Release PIV – Initiatives without PIV</vt:lpstr>
      <vt:lpstr>February 1st Release Readiness</vt:lpstr>
      <vt:lpstr>February 1st Release Project Backout Matrix</vt:lpstr>
      <vt:lpstr>February 1st Release Out of Release Scope</vt:lpstr>
      <vt:lpstr>February 1st Release Projects Backout Testing </vt:lpstr>
      <vt:lpstr>PowerPoint Presentation</vt:lpstr>
      <vt:lpstr>PowerPoint Presentation</vt:lpstr>
      <vt:lpstr>February 1st Outstanding Items</vt:lpstr>
      <vt:lpstr>September COINS, Deposit and Lending Release - Scheduling</vt:lpstr>
      <vt:lpstr>September Release Scope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Oct 18th – Remaining Scope</vt:lpstr>
      <vt:lpstr>PowerPoint Presentation</vt:lpstr>
      <vt:lpstr>PowerPoint Presentation</vt:lpstr>
      <vt:lpstr>PowerPoint Presentation</vt:lpstr>
      <vt:lpstr>PowerPoint Presentation</vt:lpstr>
    </vt:vector>
  </TitlesOfParts>
  <Company>CIBC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Multimedia Publishing</dc:creator>
  <cp:revision>1</cp:revision>
  <cp:lastPrinted>2025-10-09T18:00:12Z</cp:lastPrinted>
  <dcterms:created xsi:type="dcterms:W3CDTF">2015-07-31T16:11:08Z</dcterms:created>
  <dcterms:modified xsi:type="dcterms:W3CDTF">2025-10-10T15:55:54Z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0x01010090581A9F8FBB394BA513B76CDD16E0F8</vt:lpwstr>
  </property>
  <property fmtid="{D5CDD505-2E9C-101B-9397-08002B2CF9AE}" pid="3" name="Order">
    <vt:r8>30400</vt:r8>
  </property>
  <property fmtid="{D5CDD505-2E9C-101B-9397-08002B2CF9AE}" pid="4" name="xd_ProgID">
    <vt:lpwstr/>
  </property>
  <property fmtid="{D5CDD505-2E9C-101B-9397-08002B2CF9AE}" pid="5" name="_CopySource">
    <vt:lpwstr/>
  </property>
  <property fmtid="{D5CDD505-2E9C-101B-9397-08002B2CF9AE}" pid="6" name="TemplateUrl">
    <vt:lpwstr/>
  </property>
  <property fmtid="{D5CDD505-2E9C-101B-9397-08002B2CF9AE}" pid="7" name="CIBCDocumentType">
    <vt:lpwstr/>
  </property>
</Properties>
</file>